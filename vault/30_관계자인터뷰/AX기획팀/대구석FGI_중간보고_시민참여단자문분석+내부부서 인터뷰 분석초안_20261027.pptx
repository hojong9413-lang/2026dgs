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8"/>
  </p:notesMasterIdLst>
  <p:sldIdLst>
    <p:sldId id="81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818" r:id="rId10"/>
    <p:sldId id="811" r:id="rId11"/>
    <p:sldId id="812" r:id="rId12"/>
    <p:sldId id="813" r:id="rId13"/>
    <p:sldId id="814" r:id="rId14"/>
    <p:sldId id="815" r:id="rId15"/>
    <p:sldId id="816" r:id="rId16"/>
    <p:sldId id="817" r:id="rId17"/>
  </p:sldIdLst>
  <p:sldSz cx="12192000" cy="6858000"/>
  <p:notesSz cx="6786563" cy="9923463"/>
  <p:embeddedFontLst>
    <p:embeddedFont>
      <p:font typeface="THE명품고딕B" panose="02020603020101020101" pitchFamily="18" charset="-127"/>
      <p:regular r:id="rId19"/>
    </p:embeddedFont>
    <p:embeddedFont>
      <p:font typeface="Pretendard" panose="02000503000000020004" pitchFamily="50" charset="-127"/>
      <p:regular r:id="rId20"/>
      <p:bold r:id="rId21"/>
    </p:embeddedFont>
    <p:embeddedFont>
      <p:font typeface="Pretendard ExtraBold" panose="02000903000000020004" pitchFamily="50" charset="-127"/>
      <p:bold r:id="rId22"/>
    </p:embeddedFont>
    <p:embeddedFont>
      <p:font typeface="Pretendard Medium" panose="02000603000000020004" pitchFamily="50" charset="-127"/>
      <p:regular r:id="rId23"/>
    </p:embeddedFont>
    <p:embeddedFont>
      <p:font typeface="Pretendard SemiBold" panose="02000703000000020004" pitchFamily="50" charset="-127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353"/>
    <a:srgbClr val="163A4A"/>
    <a:srgbClr val="1264A2"/>
    <a:srgbClr val="337FB3"/>
    <a:srgbClr val="0D4B79"/>
    <a:srgbClr val="122136"/>
    <a:srgbClr val="1D3657"/>
    <a:srgbClr val="264774"/>
    <a:srgbClr val="E5E5E5"/>
    <a:srgbClr val="072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8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27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CF73264F-5A3C-4BB9-A056-35720E56AC34}" type="datetimeFigureOut">
              <a:rPr lang="ko-KR" altLang="en-US" smtClean="0"/>
              <a:pPr/>
              <a:t>2026-10-26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D7A27531-C170-4B10-9E65-37A82A0DB2C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94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9E1E25A0-40C6-C464-8B9F-FF9595AF60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328163"/>
            <a:ext cx="12192000" cy="646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6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28EB9D8-0586-A09A-2090-1AEE92F2B45F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539" b="6755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94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71357741-A066-E469-A743-EEBFC953A952}"/>
              </a:ext>
            </a:extLst>
          </p:cNvPr>
          <p:cNvPicPr>
            <a:picLocks noChangeAspect="1"/>
          </p:cNvPicPr>
          <p:nvPr userDrawn="1"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alphaModFix amt="6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98323"/>
            <a:ext cx="12193200" cy="6461354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A43D082-7454-7E39-9A30-D19C0B5EE610}"/>
              </a:ext>
            </a:extLst>
          </p:cNvPr>
          <p:cNvPicPr>
            <a:picLocks noChangeAspect="1"/>
          </p:cNvPicPr>
          <p:nvPr userDrawn="1"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alphaModFix amt="2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735" t="8593" r="24020"/>
          <a:stretch>
            <a:fillRect/>
          </a:stretch>
        </p:blipFill>
        <p:spPr>
          <a:xfrm rot="5400000">
            <a:off x="561373" y="-562575"/>
            <a:ext cx="6858002" cy="798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7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17D7EBEE-4FFD-87BA-3B5F-ABF2B30DB122}"/>
              </a:ext>
            </a:extLst>
          </p:cNvPr>
          <p:cNvPicPr>
            <a:picLocks noChangeAspect="1"/>
          </p:cNvPicPr>
          <p:nvPr userDrawn="1"/>
        </p:nvPicPr>
        <p:blipFill>
          <a:blip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2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6F6B7-3585-9362-596C-B092704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F404530-DD4F-12C0-A13A-7811FF7B34EE}"/>
              </a:ext>
            </a:extLst>
          </p:cNvPr>
          <p:cNvSpPr/>
          <p:nvPr userDrawn="1"/>
        </p:nvSpPr>
        <p:spPr>
          <a:xfrm>
            <a:off x="0" y="0"/>
            <a:ext cx="12192000" cy="604507"/>
          </a:xfrm>
          <a:custGeom>
            <a:avLst/>
            <a:gdLst>
              <a:gd name="csX0" fmla="*/ 0 w 12192000"/>
              <a:gd name="csY0" fmla="*/ 0 h 604507"/>
              <a:gd name="csX1" fmla="*/ 12192000 w 12192000"/>
              <a:gd name="csY1" fmla="*/ 0 h 604507"/>
              <a:gd name="csX2" fmla="*/ 12192000 w 12192000"/>
              <a:gd name="csY2" fmla="*/ 344086 h 604507"/>
              <a:gd name="csX3" fmla="*/ 11931579 w 12192000"/>
              <a:gd name="csY3" fmla="*/ 604507 h 604507"/>
              <a:gd name="csX4" fmla="*/ 260421 w 12192000"/>
              <a:gd name="csY4" fmla="*/ 604507 h 604507"/>
              <a:gd name="csX5" fmla="*/ 0 w 12192000"/>
              <a:gd name="csY5" fmla="*/ 344086 h 60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2000" h="604507">
                <a:moveTo>
                  <a:pt x="0" y="0"/>
                </a:moveTo>
                <a:lnTo>
                  <a:pt x="12192000" y="0"/>
                </a:lnTo>
                <a:lnTo>
                  <a:pt x="12192000" y="344086"/>
                </a:lnTo>
                <a:cubicBezTo>
                  <a:pt x="12192000" y="487913"/>
                  <a:pt x="12075406" y="604507"/>
                  <a:pt x="11931579" y="604507"/>
                </a:cubicBezTo>
                <a:lnTo>
                  <a:pt x="260421" y="604507"/>
                </a:lnTo>
                <a:cubicBezTo>
                  <a:pt x="116594" y="604507"/>
                  <a:pt x="0" y="487913"/>
                  <a:pt x="0" y="344086"/>
                </a:cubicBezTo>
                <a:close/>
              </a:path>
            </a:pathLst>
          </a:custGeom>
          <a:gradFill flip="none" rotWithShape="1">
            <a:gsLst>
              <a:gs pos="0">
                <a:srgbClr val="1F4657"/>
              </a:gs>
              <a:gs pos="100000">
                <a:srgbClr val="37A8DD"/>
              </a:gs>
              <a:gs pos="72000">
                <a:srgbClr val="0A4C6C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1A1B1777-3944-3989-4D1C-6559CA97896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18" b="5314"/>
          <a:stretch>
            <a:fillRect/>
          </a:stretch>
        </p:blipFill>
        <p:spPr>
          <a:xfrm rot="19981146">
            <a:off x="6686634" y="-981695"/>
            <a:ext cx="5379445" cy="2743563"/>
          </a:xfrm>
          <a:custGeom>
            <a:avLst/>
            <a:gdLst>
              <a:gd name="csX0" fmla="*/ 872319 w 5379445"/>
              <a:gd name="csY0" fmla="*/ 0 h 2743563"/>
              <a:gd name="csX1" fmla="*/ 5379445 w 5379445"/>
              <a:gd name="csY1" fmla="*/ 2294603 h 2743563"/>
              <a:gd name="csX2" fmla="*/ 5223335 w 5379445"/>
              <a:gd name="csY2" fmla="*/ 2601238 h 2743563"/>
              <a:gd name="csX3" fmla="*/ 4873108 w 5379445"/>
              <a:gd name="csY3" fmla="*/ 2715163 h 2743563"/>
              <a:gd name="csX4" fmla="*/ 0 w 5379445"/>
              <a:gd name="csY4" fmla="*/ 234236 h 2743563"/>
              <a:gd name="csX5" fmla="*/ 0 w 5379445"/>
              <a:gd name="csY5" fmla="*/ 0 h 2743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379445" h="2743563">
                <a:moveTo>
                  <a:pt x="872319" y="0"/>
                </a:moveTo>
                <a:lnTo>
                  <a:pt x="5379445" y="2294603"/>
                </a:lnTo>
                <a:lnTo>
                  <a:pt x="5223335" y="2601238"/>
                </a:lnTo>
                <a:cubicBezTo>
                  <a:pt x="5158082" y="2729411"/>
                  <a:pt x="5001280" y="2780416"/>
                  <a:pt x="4873108" y="2715163"/>
                </a:cubicBezTo>
                <a:lnTo>
                  <a:pt x="0" y="234236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097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6F6B7-3585-9362-596C-B092704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F404530-DD4F-12C0-A13A-7811FF7B34EE}"/>
              </a:ext>
            </a:extLst>
          </p:cNvPr>
          <p:cNvSpPr/>
          <p:nvPr userDrawn="1"/>
        </p:nvSpPr>
        <p:spPr>
          <a:xfrm>
            <a:off x="0" y="0"/>
            <a:ext cx="12192000" cy="604507"/>
          </a:xfrm>
          <a:custGeom>
            <a:avLst/>
            <a:gdLst>
              <a:gd name="csX0" fmla="*/ 0 w 12192000"/>
              <a:gd name="csY0" fmla="*/ 0 h 604507"/>
              <a:gd name="csX1" fmla="*/ 12192000 w 12192000"/>
              <a:gd name="csY1" fmla="*/ 0 h 604507"/>
              <a:gd name="csX2" fmla="*/ 12192000 w 12192000"/>
              <a:gd name="csY2" fmla="*/ 344086 h 604507"/>
              <a:gd name="csX3" fmla="*/ 11931579 w 12192000"/>
              <a:gd name="csY3" fmla="*/ 604507 h 604507"/>
              <a:gd name="csX4" fmla="*/ 260421 w 12192000"/>
              <a:gd name="csY4" fmla="*/ 604507 h 604507"/>
              <a:gd name="csX5" fmla="*/ 0 w 12192000"/>
              <a:gd name="csY5" fmla="*/ 344086 h 60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2000" h="604507">
                <a:moveTo>
                  <a:pt x="0" y="0"/>
                </a:moveTo>
                <a:lnTo>
                  <a:pt x="12192000" y="0"/>
                </a:lnTo>
                <a:lnTo>
                  <a:pt x="12192000" y="344086"/>
                </a:lnTo>
                <a:cubicBezTo>
                  <a:pt x="12192000" y="487913"/>
                  <a:pt x="12075406" y="604507"/>
                  <a:pt x="11931579" y="604507"/>
                </a:cubicBezTo>
                <a:lnTo>
                  <a:pt x="260421" y="604507"/>
                </a:lnTo>
                <a:cubicBezTo>
                  <a:pt x="116594" y="604507"/>
                  <a:pt x="0" y="487913"/>
                  <a:pt x="0" y="344086"/>
                </a:cubicBezTo>
                <a:close/>
              </a:path>
            </a:pathLst>
          </a:custGeom>
          <a:gradFill flip="none" rotWithShape="1">
            <a:gsLst>
              <a:gs pos="0">
                <a:srgbClr val="1F4657"/>
              </a:gs>
              <a:gs pos="100000">
                <a:srgbClr val="37A8DD"/>
              </a:gs>
              <a:gs pos="72000">
                <a:srgbClr val="0A4C6C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1A1B1777-3944-3989-4D1C-6559CA97896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18" b="5314"/>
          <a:stretch>
            <a:fillRect/>
          </a:stretch>
        </p:blipFill>
        <p:spPr>
          <a:xfrm rot="19981146">
            <a:off x="6686634" y="-981695"/>
            <a:ext cx="5379445" cy="2743563"/>
          </a:xfrm>
          <a:custGeom>
            <a:avLst/>
            <a:gdLst>
              <a:gd name="csX0" fmla="*/ 872319 w 5379445"/>
              <a:gd name="csY0" fmla="*/ 0 h 2743563"/>
              <a:gd name="csX1" fmla="*/ 5379445 w 5379445"/>
              <a:gd name="csY1" fmla="*/ 2294603 h 2743563"/>
              <a:gd name="csX2" fmla="*/ 5223335 w 5379445"/>
              <a:gd name="csY2" fmla="*/ 2601238 h 2743563"/>
              <a:gd name="csX3" fmla="*/ 4873108 w 5379445"/>
              <a:gd name="csY3" fmla="*/ 2715163 h 2743563"/>
              <a:gd name="csX4" fmla="*/ 0 w 5379445"/>
              <a:gd name="csY4" fmla="*/ 234236 h 2743563"/>
              <a:gd name="csX5" fmla="*/ 0 w 5379445"/>
              <a:gd name="csY5" fmla="*/ 0 h 2743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379445" h="2743563">
                <a:moveTo>
                  <a:pt x="872319" y="0"/>
                </a:moveTo>
                <a:lnTo>
                  <a:pt x="5379445" y="2294603"/>
                </a:lnTo>
                <a:lnTo>
                  <a:pt x="5223335" y="2601238"/>
                </a:lnTo>
                <a:cubicBezTo>
                  <a:pt x="5158082" y="2729411"/>
                  <a:pt x="5001280" y="2780416"/>
                  <a:pt x="4873108" y="2715163"/>
                </a:cubicBezTo>
                <a:lnTo>
                  <a:pt x="0" y="234236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99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6F6B7-3585-9362-596C-B092704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F404530-DD4F-12C0-A13A-7811FF7B34EE}"/>
              </a:ext>
            </a:extLst>
          </p:cNvPr>
          <p:cNvSpPr/>
          <p:nvPr userDrawn="1"/>
        </p:nvSpPr>
        <p:spPr>
          <a:xfrm>
            <a:off x="0" y="0"/>
            <a:ext cx="12192000" cy="604507"/>
          </a:xfrm>
          <a:custGeom>
            <a:avLst/>
            <a:gdLst>
              <a:gd name="csX0" fmla="*/ 0 w 12192000"/>
              <a:gd name="csY0" fmla="*/ 0 h 604507"/>
              <a:gd name="csX1" fmla="*/ 12192000 w 12192000"/>
              <a:gd name="csY1" fmla="*/ 0 h 604507"/>
              <a:gd name="csX2" fmla="*/ 12192000 w 12192000"/>
              <a:gd name="csY2" fmla="*/ 344086 h 604507"/>
              <a:gd name="csX3" fmla="*/ 11931579 w 12192000"/>
              <a:gd name="csY3" fmla="*/ 604507 h 604507"/>
              <a:gd name="csX4" fmla="*/ 260421 w 12192000"/>
              <a:gd name="csY4" fmla="*/ 604507 h 604507"/>
              <a:gd name="csX5" fmla="*/ 0 w 12192000"/>
              <a:gd name="csY5" fmla="*/ 344086 h 604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2000" h="604507">
                <a:moveTo>
                  <a:pt x="0" y="0"/>
                </a:moveTo>
                <a:lnTo>
                  <a:pt x="12192000" y="0"/>
                </a:lnTo>
                <a:lnTo>
                  <a:pt x="12192000" y="344086"/>
                </a:lnTo>
                <a:cubicBezTo>
                  <a:pt x="12192000" y="487913"/>
                  <a:pt x="12075406" y="604507"/>
                  <a:pt x="11931579" y="604507"/>
                </a:cubicBezTo>
                <a:lnTo>
                  <a:pt x="260421" y="604507"/>
                </a:lnTo>
                <a:cubicBezTo>
                  <a:pt x="116594" y="604507"/>
                  <a:pt x="0" y="487913"/>
                  <a:pt x="0" y="344086"/>
                </a:cubicBezTo>
                <a:close/>
              </a:path>
            </a:pathLst>
          </a:custGeom>
          <a:gradFill flip="none" rotWithShape="1">
            <a:gsLst>
              <a:gs pos="0">
                <a:srgbClr val="2E568D"/>
              </a:gs>
              <a:gs pos="100000">
                <a:srgbClr val="37A8DD"/>
              </a:gs>
              <a:gs pos="72000">
                <a:srgbClr val="136BA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1A1B1777-3944-3989-4D1C-6559CA978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18" b="5314"/>
          <a:stretch>
            <a:fillRect/>
          </a:stretch>
        </p:blipFill>
        <p:spPr>
          <a:xfrm rot="19981146">
            <a:off x="6686634" y="-981695"/>
            <a:ext cx="5379445" cy="2743563"/>
          </a:xfrm>
          <a:custGeom>
            <a:avLst/>
            <a:gdLst>
              <a:gd name="csX0" fmla="*/ 872319 w 5379445"/>
              <a:gd name="csY0" fmla="*/ 0 h 2743563"/>
              <a:gd name="csX1" fmla="*/ 5379445 w 5379445"/>
              <a:gd name="csY1" fmla="*/ 2294603 h 2743563"/>
              <a:gd name="csX2" fmla="*/ 5223335 w 5379445"/>
              <a:gd name="csY2" fmla="*/ 2601238 h 2743563"/>
              <a:gd name="csX3" fmla="*/ 4873108 w 5379445"/>
              <a:gd name="csY3" fmla="*/ 2715163 h 2743563"/>
              <a:gd name="csX4" fmla="*/ 0 w 5379445"/>
              <a:gd name="csY4" fmla="*/ 234236 h 2743563"/>
              <a:gd name="csX5" fmla="*/ 0 w 5379445"/>
              <a:gd name="csY5" fmla="*/ 0 h 2743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379445" h="2743563">
                <a:moveTo>
                  <a:pt x="872319" y="0"/>
                </a:moveTo>
                <a:lnTo>
                  <a:pt x="5379445" y="2294603"/>
                </a:lnTo>
                <a:lnTo>
                  <a:pt x="5223335" y="2601238"/>
                </a:lnTo>
                <a:cubicBezTo>
                  <a:pt x="5158082" y="2729411"/>
                  <a:pt x="5001280" y="2780416"/>
                  <a:pt x="4873108" y="2715163"/>
                </a:cubicBezTo>
                <a:lnTo>
                  <a:pt x="0" y="234236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6581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4C58286-1381-C988-6F01-13A633432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C9EB7CC-2BDD-E4F5-9505-D51E9CCF6D9E}"/>
              </a:ext>
            </a:extLst>
          </p:cNvPr>
          <p:cNvSpPr/>
          <p:nvPr userDrawn="1"/>
        </p:nvSpPr>
        <p:spPr>
          <a:xfrm>
            <a:off x="8096250" y="3990975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B476932-7F73-9E66-5FBB-4C047FA9BE2A}"/>
              </a:ext>
            </a:extLst>
          </p:cNvPr>
          <p:cNvSpPr/>
          <p:nvPr userDrawn="1"/>
        </p:nvSpPr>
        <p:spPr>
          <a:xfrm>
            <a:off x="6286500" y="3400425"/>
            <a:ext cx="257175" cy="25717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8718E71-7352-397E-AD64-30D59D539927}"/>
              </a:ext>
            </a:extLst>
          </p:cNvPr>
          <p:cNvSpPr/>
          <p:nvPr userDrawn="1"/>
        </p:nvSpPr>
        <p:spPr>
          <a:xfrm>
            <a:off x="10665084" y="2144402"/>
            <a:ext cx="647999" cy="64799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8F8F869-E54D-5DDC-7706-9811F39E8D67}"/>
              </a:ext>
            </a:extLst>
          </p:cNvPr>
          <p:cNvSpPr/>
          <p:nvPr userDrawn="1"/>
        </p:nvSpPr>
        <p:spPr>
          <a:xfrm>
            <a:off x="904718" y="5646671"/>
            <a:ext cx="762158" cy="762158"/>
          </a:xfrm>
          <a:prstGeom prst="ellipse">
            <a:avLst/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E692B44-44F3-AB36-5B59-490660EA7E07}"/>
              </a:ext>
            </a:extLst>
          </p:cNvPr>
          <p:cNvSpPr/>
          <p:nvPr userDrawn="1"/>
        </p:nvSpPr>
        <p:spPr>
          <a:xfrm>
            <a:off x="2162175" y="613245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601ED1D-073F-62B9-CBD1-9BA85EA22982}"/>
              </a:ext>
            </a:extLst>
          </p:cNvPr>
          <p:cNvSpPr/>
          <p:nvPr userDrawn="1"/>
        </p:nvSpPr>
        <p:spPr>
          <a:xfrm>
            <a:off x="8536045" y="1094416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B93136C-7E5D-26AD-C7CA-0B535404E8A2}"/>
              </a:ext>
            </a:extLst>
          </p:cNvPr>
          <p:cNvSpPr/>
          <p:nvPr userDrawn="1"/>
        </p:nvSpPr>
        <p:spPr>
          <a:xfrm>
            <a:off x="11313083" y="4137789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0780CE2-E409-16E3-813E-91C722E3D018}"/>
              </a:ext>
            </a:extLst>
          </p:cNvPr>
          <p:cNvSpPr/>
          <p:nvPr userDrawn="1"/>
        </p:nvSpPr>
        <p:spPr>
          <a:xfrm>
            <a:off x="5868611" y="5991103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1C5C3B1-214F-9E13-A070-58A7450E45F1}"/>
              </a:ext>
            </a:extLst>
          </p:cNvPr>
          <p:cNvSpPr/>
          <p:nvPr userDrawn="1"/>
        </p:nvSpPr>
        <p:spPr>
          <a:xfrm>
            <a:off x="9991533" y="295275"/>
            <a:ext cx="358009" cy="35800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39C197F-82C2-6F24-D032-1F11DAD9BAE7}"/>
              </a:ext>
            </a:extLst>
          </p:cNvPr>
          <p:cNvSpPr/>
          <p:nvPr userDrawn="1"/>
        </p:nvSpPr>
        <p:spPr>
          <a:xfrm>
            <a:off x="459171" y="3148012"/>
            <a:ext cx="324000" cy="32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E923650-1E75-DCDC-D535-DFEEB6ADB20F}"/>
              </a:ext>
            </a:extLst>
          </p:cNvPr>
          <p:cNvSpPr/>
          <p:nvPr userDrawn="1"/>
        </p:nvSpPr>
        <p:spPr>
          <a:xfrm>
            <a:off x="3975424" y="4075043"/>
            <a:ext cx="144000" cy="14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0F6FB02-60CF-54E8-E746-D50A915A722B}"/>
              </a:ext>
            </a:extLst>
          </p:cNvPr>
          <p:cNvSpPr/>
          <p:nvPr userDrawn="1"/>
        </p:nvSpPr>
        <p:spPr>
          <a:xfrm>
            <a:off x="9767467" y="2731042"/>
            <a:ext cx="108000" cy="108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1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F229A10-559A-AFC5-8EB9-AA34D0C32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6736"/>
          <a:stretch>
            <a:fillRect/>
          </a:stretch>
        </p:blipFill>
        <p:spPr>
          <a:xfrm rot="5400000">
            <a:off x="2665372" y="-2668624"/>
            <a:ext cx="6861253" cy="12192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03888A8-3906-6FE9-7F1F-ED4467499720}"/>
              </a:ext>
            </a:extLst>
          </p:cNvPr>
          <p:cNvSpPr/>
          <p:nvPr userDrawn="1"/>
        </p:nvSpPr>
        <p:spPr>
          <a:xfrm>
            <a:off x="1695450" y="-3251"/>
            <a:ext cx="57150" cy="2988000"/>
          </a:xfrm>
          <a:prstGeom prst="rect">
            <a:avLst/>
          </a:prstGeom>
          <a:gradFill flip="none" rotWithShape="1">
            <a:gsLst>
              <a:gs pos="0">
                <a:srgbClr val="E38AC1"/>
              </a:gs>
              <a:gs pos="33000">
                <a:srgbClr val="ED88A3"/>
              </a:gs>
              <a:gs pos="100000">
                <a:srgbClr val="F4998A">
                  <a:alpha val="0"/>
                </a:srgbClr>
              </a:gs>
              <a:gs pos="71000">
                <a:srgbClr val="F4998A">
                  <a:alpha val="5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CA88198-D013-C5F0-160B-8008BDC67FAA}"/>
              </a:ext>
            </a:extLst>
          </p:cNvPr>
          <p:cNvSpPr/>
          <p:nvPr userDrawn="1"/>
        </p:nvSpPr>
        <p:spPr>
          <a:xfrm>
            <a:off x="8096250" y="3990975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F385D49-245F-8338-42C8-9E3F782929A5}"/>
              </a:ext>
            </a:extLst>
          </p:cNvPr>
          <p:cNvSpPr/>
          <p:nvPr userDrawn="1"/>
        </p:nvSpPr>
        <p:spPr>
          <a:xfrm>
            <a:off x="6286500" y="3400425"/>
            <a:ext cx="257175" cy="25717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C433FF9-A8D1-9F27-48BC-87C975E707D2}"/>
              </a:ext>
            </a:extLst>
          </p:cNvPr>
          <p:cNvSpPr/>
          <p:nvPr userDrawn="1"/>
        </p:nvSpPr>
        <p:spPr>
          <a:xfrm>
            <a:off x="10665084" y="2144402"/>
            <a:ext cx="647999" cy="64799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73FCCD9-D128-0948-0EA2-805E0D19E114}"/>
              </a:ext>
            </a:extLst>
          </p:cNvPr>
          <p:cNvSpPr/>
          <p:nvPr userDrawn="1"/>
        </p:nvSpPr>
        <p:spPr>
          <a:xfrm>
            <a:off x="904718" y="5646671"/>
            <a:ext cx="762158" cy="762158"/>
          </a:xfrm>
          <a:prstGeom prst="ellipse">
            <a:avLst/>
          </a:prstGeom>
          <a:noFill/>
          <a:ln w="254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06DAD68-86E5-5903-DAE5-BAB1C512A42B}"/>
              </a:ext>
            </a:extLst>
          </p:cNvPr>
          <p:cNvSpPr/>
          <p:nvPr userDrawn="1"/>
        </p:nvSpPr>
        <p:spPr>
          <a:xfrm>
            <a:off x="2162175" y="613245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6253A24-435B-B76F-E8EF-731FA029B671}"/>
              </a:ext>
            </a:extLst>
          </p:cNvPr>
          <p:cNvSpPr/>
          <p:nvPr userDrawn="1"/>
        </p:nvSpPr>
        <p:spPr>
          <a:xfrm>
            <a:off x="8536045" y="1094416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A1DA437-6A54-1C38-A5B9-6D0C94DC2EF6}"/>
              </a:ext>
            </a:extLst>
          </p:cNvPr>
          <p:cNvSpPr/>
          <p:nvPr userDrawn="1"/>
        </p:nvSpPr>
        <p:spPr>
          <a:xfrm>
            <a:off x="11313083" y="4137789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52E86D1-6F16-0FD1-1B28-512094EFA5F3}"/>
              </a:ext>
            </a:extLst>
          </p:cNvPr>
          <p:cNvSpPr/>
          <p:nvPr userDrawn="1"/>
        </p:nvSpPr>
        <p:spPr>
          <a:xfrm>
            <a:off x="5868611" y="5991103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DAF81D3-2394-94E3-E56B-7C0F951FAC6D}"/>
              </a:ext>
            </a:extLst>
          </p:cNvPr>
          <p:cNvSpPr/>
          <p:nvPr userDrawn="1"/>
        </p:nvSpPr>
        <p:spPr>
          <a:xfrm>
            <a:off x="9991533" y="295275"/>
            <a:ext cx="358009" cy="35800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2EB0FD5-0CC0-A0FF-9625-25C13829D609}"/>
              </a:ext>
            </a:extLst>
          </p:cNvPr>
          <p:cNvSpPr/>
          <p:nvPr userDrawn="1"/>
        </p:nvSpPr>
        <p:spPr>
          <a:xfrm>
            <a:off x="459171" y="3148012"/>
            <a:ext cx="324000" cy="32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EB1BB87-876A-518F-9D9D-5C3563084F58}"/>
              </a:ext>
            </a:extLst>
          </p:cNvPr>
          <p:cNvSpPr/>
          <p:nvPr userDrawn="1"/>
        </p:nvSpPr>
        <p:spPr>
          <a:xfrm>
            <a:off x="3975424" y="4075043"/>
            <a:ext cx="144000" cy="14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B318B15-739D-2A6B-8F4F-D242922B25B8}"/>
              </a:ext>
            </a:extLst>
          </p:cNvPr>
          <p:cNvSpPr/>
          <p:nvPr userDrawn="1"/>
        </p:nvSpPr>
        <p:spPr>
          <a:xfrm>
            <a:off x="9767467" y="2731042"/>
            <a:ext cx="108000" cy="108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89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2CB85A-8F59-BCF1-D5B4-B53AC9E1ED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6858000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CB4F25F-A619-0626-BAC0-D8F0DD06F431}"/>
              </a:ext>
            </a:extLst>
          </p:cNvPr>
          <p:cNvSpPr/>
          <p:nvPr userDrawn="1"/>
        </p:nvSpPr>
        <p:spPr>
          <a:xfrm>
            <a:off x="297171" y="5185342"/>
            <a:ext cx="647999" cy="64799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AD9124B-DF31-4F82-112E-1152408A875A}"/>
              </a:ext>
            </a:extLst>
          </p:cNvPr>
          <p:cNvSpPr/>
          <p:nvPr userDrawn="1"/>
        </p:nvSpPr>
        <p:spPr>
          <a:xfrm>
            <a:off x="1228725" y="630390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1BE393D-AC30-FD2D-4162-9C2CFBDA12CD}"/>
              </a:ext>
            </a:extLst>
          </p:cNvPr>
          <p:cNvSpPr/>
          <p:nvPr userDrawn="1"/>
        </p:nvSpPr>
        <p:spPr>
          <a:xfrm>
            <a:off x="733975" y="3657600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B9DF8D7-8AA9-8525-27E3-62492A5CDD25}"/>
              </a:ext>
            </a:extLst>
          </p:cNvPr>
          <p:cNvSpPr/>
          <p:nvPr userDrawn="1"/>
        </p:nvSpPr>
        <p:spPr>
          <a:xfrm>
            <a:off x="4582736" y="257053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ADF08B5-52DD-703A-1D40-79F06302B596}"/>
              </a:ext>
            </a:extLst>
          </p:cNvPr>
          <p:cNvSpPr/>
          <p:nvPr userDrawn="1"/>
        </p:nvSpPr>
        <p:spPr>
          <a:xfrm>
            <a:off x="3133533" y="504825"/>
            <a:ext cx="358009" cy="35800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F40F61-F310-0947-3CC7-171E072ED53B}"/>
              </a:ext>
            </a:extLst>
          </p:cNvPr>
          <p:cNvSpPr/>
          <p:nvPr userDrawn="1"/>
        </p:nvSpPr>
        <p:spPr>
          <a:xfrm>
            <a:off x="459171" y="3148012"/>
            <a:ext cx="324000" cy="32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1924C6F-A4CF-EB41-7542-213C4561999D}"/>
              </a:ext>
            </a:extLst>
          </p:cNvPr>
          <p:cNvSpPr/>
          <p:nvPr userDrawn="1"/>
        </p:nvSpPr>
        <p:spPr>
          <a:xfrm>
            <a:off x="801170" y="2376671"/>
            <a:ext cx="144000" cy="144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91559F1-2D36-B3CB-3482-F0BE9A3E4FC2}"/>
              </a:ext>
            </a:extLst>
          </p:cNvPr>
          <p:cNvSpPr/>
          <p:nvPr userDrawn="1"/>
        </p:nvSpPr>
        <p:spPr>
          <a:xfrm>
            <a:off x="459171" y="1398365"/>
            <a:ext cx="108000" cy="108000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932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29FA7CBA-C789-757B-5178-BA8C4F0671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0077"/>
          <a:stretch>
            <a:fillRect/>
          </a:stretch>
        </p:blipFill>
        <p:spPr>
          <a:xfrm rot="5400000">
            <a:off x="778492" y="-778493"/>
            <a:ext cx="6858000" cy="8414987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CB4F25F-A619-0626-BAC0-D8F0DD06F431}"/>
              </a:ext>
            </a:extLst>
          </p:cNvPr>
          <p:cNvSpPr/>
          <p:nvPr userDrawn="1"/>
        </p:nvSpPr>
        <p:spPr>
          <a:xfrm>
            <a:off x="4014146" y="5252017"/>
            <a:ext cx="647999" cy="64799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AD9124B-DF31-4F82-112E-1152408A875A}"/>
              </a:ext>
            </a:extLst>
          </p:cNvPr>
          <p:cNvSpPr/>
          <p:nvPr userDrawn="1"/>
        </p:nvSpPr>
        <p:spPr>
          <a:xfrm>
            <a:off x="5343525" y="603720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B9DF8D7-8AA9-8525-27E3-62492A5CDD25}"/>
              </a:ext>
            </a:extLst>
          </p:cNvPr>
          <p:cNvSpPr/>
          <p:nvPr userDrawn="1"/>
        </p:nvSpPr>
        <p:spPr>
          <a:xfrm>
            <a:off x="6016591" y="5741198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ADF08B5-52DD-703A-1D40-79F06302B596}"/>
              </a:ext>
            </a:extLst>
          </p:cNvPr>
          <p:cNvSpPr/>
          <p:nvPr userDrawn="1"/>
        </p:nvSpPr>
        <p:spPr>
          <a:xfrm>
            <a:off x="1023340" y="1394167"/>
            <a:ext cx="358009" cy="35800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B229C10-D724-2606-9205-805A20375576}"/>
              </a:ext>
            </a:extLst>
          </p:cNvPr>
          <p:cNvGrpSpPr/>
          <p:nvPr userDrawn="1"/>
        </p:nvGrpSpPr>
        <p:grpSpPr>
          <a:xfrm rot="18797615">
            <a:off x="1621220" y="1865090"/>
            <a:ext cx="485999" cy="2470430"/>
            <a:chOff x="1230696" y="2665190"/>
            <a:chExt cx="485999" cy="24704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BE393D-AC30-FD2D-4162-9C2CFBDA12CD}"/>
                </a:ext>
              </a:extLst>
            </p:cNvPr>
            <p:cNvSpPr/>
            <p:nvPr userDrawn="1"/>
          </p:nvSpPr>
          <p:spPr>
            <a:xfrm>
              <a:off x="1505500" y="4924425"/>
              <a:ext cx="211195" cy="211195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EF40F61-F310-0947-3CC7-171E072ED53B}"/>
                </a:ext>
              </a:extLst>
            </p:cNvPr>
            <p:cNvSpPr/>
            <p:nvPr userDrawn="1"/>
          </p:nvSpPr>
          <p:spPr>
            <a:xfrm>
              <a:off x="1230696" y="4414837"/>
              <a:ext cx="324000" cy="324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1924C6F-A4CF-EB41-7542-213C4561999D}"/>
                </a:ext>
              </a:extLst>
            </p:cNvPr>
            <p:cNvSpPr/>
            <p:nvPr userDrawn="1"/>
          </p:nvSpPr>
          <p:spPr>
            <a:xfrm>
              <a:off x="1572695" y="3643496"/>
              <a:ext cx="144000" cy="144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91559F1-2D36-B3CB-3482-F0BE9A3E4FC2}"/>
                </a:ext>
              </a:extLst>
            </p:cNvPr>
            <p:cNvSpPr/>
            <p:nvPr userDrawn="1"/>
          </p:nvSpPr>
          <p:spPr>
            <a:xfrm>
              <a:off x="1230696" y="266519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5DC8BAA7-52DF-2D1A-3458-B4D5A74EA09D}"/>
              </a:ext>
            </a:extLst>
          </p:cNvPr>
          <p:cNvSpPr/>
          <p:nvPr userDrawn="1"/>
        </p:nvSpPr>
        <p:spPr>
          <a:xfrm>
            <a:off x="1140080" y="3222356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133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CED40C9-5B88-750D-00EE-BA97E9FD3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33CA52A-D6B4-8AFB-A3F5-DDE432FE7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0"/>
            <a:ext cx="12192000" cy="6848000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CB4F25F-A619-0626-BAC0-D8F0DD06F431}"/>
              </a:ext>
            </a:extLst>
          </p:cNvPr>
          <p:cNvSpPr/>
          <p:nvPr userDrawn="1"/>
        </p:nvSpPr>
        <p:spPr>
          <a:xfrm>
            <a:off x="3642671" y="5496607"/>
            <a:ext cx="647999" cy="64799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AD9124B-DF31-4F82-112E-1152408A875A}"/>
              </a:ext>
            </a:extLst>
          </p:cNvPr>
          <p:cNvSpPr/>
          <p:nvPr userDrawn="1"/>
        </p:nvSpPr>
        <p:spPr>
          <a:xfrm>
            <a:off x="5343525" y="603720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B9DF8D7-8AA9-8525-27E3-62492A5CDD25}"/>
              </a:ext>
            </a:extLst>
          </p:cNvPr>
          <p:cNvSpPr/>
          <p:nvPr userDrawn="1"/>
        </p:nvSpPr>
        <p:spPr>
          <a:xfrm>
            <a:off x="6016591" y="5741198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ADF08B5-52DD-703A-1D40-79F06302B596}"/>
              </a:ext>
            </a:extLst>
          </p:cNvPr>
          <p:cNvSpPr/>
          <p:nvPr userDrawn="1"/>
        </p:nvSpPr>
        <p:spPr>
          <a:xfrm>
            <a:off x="1023340" y="1394167"/>
            <a:ext cx="358009" cy="358009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B229C10-D724-2606-9205-805A20375576}"/>
              </a:ext>
            </a:extLst>
          </p:cNvPr>
          <p:cNvGrpSpPr/>
          <p:nvPr userDrawn="1"/>
        </p:nvGrpSpPr>
        <p:grpSpPr>
          <a:xfrm rot="18797615">
            <a:off x="2025028" y="1819859"/>
            <a:ext cx="485999" cy="2470430"/>
            <a:chOff x="1230696" y="2665190"/>
            <a:chExt cx="485999" cy="2470430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BE393D-AC30-FD2D-4162-9C2CFBDA12CD}"/>
                </a:ext>
              </a:extLst>
            </p:cNvPr>
            <p:cNvSpPr/>
            <p:nvPr userDrawn="1"/>
          </p:nvSpPr>
          <p:spPr>
            <a:xfrm>
              <a:off x="1505500" y="4924425"/>
              <a:ext cx="211195" cy="211195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EF40F61-F310-0947-3CC7-171E072ED53B}"/>
                </a:ext>
              </a:extLst>
            </p:cNvPr>
            <p:cNvSpPr/>
            <p:nvPr userDrawn="1"/>
          </p:nvSpPr>
          <p:spPr>
            <a:xfrm>
              <a:off x="1230696" y="4414837"/>
              <a:ext cx="324000" cy="324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1924C6F-A4CF-EB41-7542-213C4561999D}"/>
                </a:ext>
              </a:extLst>
            </p:cNvPr>
            <p:cNvSpPr/>
            <p:nvPr userDrawn="1"/>
          </p:nvSpPr>
          <p:spPr>
            <a:xfrm>
              <a:off x="1572695" y="3643496"/>
              <a:ext cx="144000" cy="144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B91559F1-2D36-B3CB-3482-F0BE9A3E4FC2}"/>
                </a:ext>
              </a:extLst>
            </p:cNvPr>
            <p:cNvSpPr/>
            <p:nvPr userDrawn="1"/>
          </p:nvSpPr>
          <p:spPr>
            <a:xfrm>
              <a:off x="1230696" y="2665190"/>
              <a:ext cx="108000" cy="108000"/>
            </a:xfrm>
            <a:prstGeom prst="ellipse">
              <a:avLst/>
            </a:prstGeom>
            <a:noFill/>
            <a:ln w="25400">
              <a:solidFill>
                <a:schemeClr val="bg1">
                  <a:alpha val="2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5DC8BAA7-52DF-2D1A-3458-B4D5A74EA09D}"/>
              </a:ext>
            </a:extLst>
          </p:cNvPr>
          <p:cNvSpPr/>
          <p:nvPr userDrawn="1"/>
        </p:nvSpPr>
        <p:spPr>
          <a:xfrm>
            <a:off x="3254630" y="4215328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9928F3E-AD99-1FE2-2830-375D43071383}"/>
              </a:ext>
            </a:extLst>
          </p:cNvPr>
          <p:cNvSpPr/>
          <p:nvPr userDrawn="1"/>
        </p:nvSpPr>
        <p:spPr>
          <a:xfrm>
            <a:off x="6112130" y="4215328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47DF8E-CC39-79A5-C99A-15C342191A42}"/>
              </a:ext>
            </a:extLst>
          </p:cNvPr>
          <p:cNvSpPr/>
          <p:nvPr userDrawn="1"/>
        </p:nvSpPr>
        <p:spPr>
          <a:xfrm>
            <a:off x="10550780" y="5890389"/>
            <a:ext cx="504825" cy="50482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8A948B-341F-2E52-4A57-023FB21E3B52}"/>
              </a:ext>
            </a:extLst>
          </p:cNvPr>
          <p:cNvSpPr/>
          <p:nvPr userDrawn="1"/>
        </p:nvSpPr>
        <p:spPr>
          <a:xfrm>
            <a:off x="8550241" y="5741198"/>
            <a:ext cx="158818" cy="158818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F73CCF5-52D9-FEDF-C6F0-8E0E02C73419}"/>
              </a:ext>
            </a:extLst>
          </p:cNvPr>
          <p:cNvSpPr/>
          <p:nvPr userDrawn="1"/>
        </p:nvSpPr>
        <p:spPr>
          <a:xfrm>
            <a:off x="11363325" y="6037205"/>
            <a:ext cx="211195" cy="211195"/>
          </a:xfrm>
          <a:prstGeom prst="ellipse">
            <a:avLst/>
          </a:prstGeom>
          <a:noFill/>
          <a:ln w="25400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163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7DE24-902B-02C7-F4AD-F7E337B5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591FC-C437-8627-AB4E-944802AE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BD6B97-B872-F2DE-388F-9B568AB3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20C3B-CD5F-1096-6F1C-0B360D5E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A93AAC-F91F-B4D6-B936-E61804C2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520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FE5B0-E429-86E2-8766-683C790F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2A74E1-19FA-B0DB-572B-14E946E76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0234B6-507F-9868-0424-6D6EAFC0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41434-ADDC-B219-877C-B01072B9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8C55D4-CAE5-ACE5-C960-D7C9CC88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368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2A130-F858-9611-55D8-6BFCE416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5AB46-899B-9892-396D-8694C9C3A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DC76D0-64B5-F3B7-A58C-607F20351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A7D1F4-2BCD-B511-9B56-0889EF49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C0A399-6652-DDA9-7717-213AB0332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0AA56E-0F61-6917-FF08-1C2EEBA8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134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7F2CE-32FB-EA2F-3E25-808C16D8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F80714-311F-3D86-6F1F-C63B724C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54FFC1-B97D-347F-0FD2-DD16B8ED9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33F4D0-ABAB-1EFE-E645-528E0B10F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70A0A1-1D1C-9ACD-39C4-5F4B73D49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042E3D-1BF5-4465-9987-1EC1B2D9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A602F1-DFA7-ADE7-8240-77A68555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F92EBE-0EBA-183D-291C-AE8C1B85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05393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C4EDA-8F72-8188-C4CC-CB86E36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87E00-D158-5215-D00F-8BE91D94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CAF6FA-5F9B-CCFE-D61C-618D7758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F128E8-322B-B255-E80B-D1D0ED2A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8844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6A0464-7225-2FDB-56DE-1D39D862C27A}"/>
              </a:ext>
            </a:extLst>
          </p:cNvPr>
          <p:cNvSpPr/>
          <p:nvPr userDrawn="1"/>
        </p:nvSpPr>
        <p:spPr>
          <a:xfrm>
            <a:off x="0" y="-4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2574ED7-7923-679A-C8BC-A461976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309CD5-E32E-D64F-50DC-B72319E28243}"/>
              </a:ext>
            </a:extLst>
          </p:cNvPr>
          <p:cNvSpPr/>
          <p:nvPr userDrawn="1"/>
        </p:nvSpPr>
        <p:spPr>
          <a:xfrm>
            <a:off x="0" y="4"/>
            <a:ext cx="12192000" cy="648000"/>
          </a:xfrm>
          <a:prstGeom prst="rect">
            <a:avLst/>
          </a:prstGeom>
          <a:gradFill>
            <a:gsLst>
              <a:gs pos="0">
                <a:srgbClr val="7862B5"/>
              </a:gs>
              <a:gs pos="50000">
                <a:srgbClr val="508FB2"/>
              </a:gs>
              <a:gs pos="25000">
                <a:srgbClr val="6478B3"/>
              </a:gs>
              <a:gs pos="100000">
                <a:srgbClr val="6ECCBA"/>
              </a:gs>
              <a:gs pos="75000">
                <a:srgbClr val="46B5B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C7CBD0A1-C5D9-1336-3114-0AC951A6B66F}"/>
              </a:ext>
            </a:extLst>
          </p:cNvPr>
          <p:cNvSpPr/>
          <p:nvPr userDrawn="1"/>
        </p:nvSpPr>
        <p:spPr>
          <a:xfrm>
            <a:off x="0" y="0"/>
            <a:ext cx="2438400" cy="648004"/>
          </a:xfrm>
          <a:prstGeom prst="homePlate">
            <a:avLst/>
          </a:prstGeom>
          <a:gradFill>
            <a:gsLst>
              <a:gs pos="0">
                <a:srgbClr val="7862B5"/>
              </a:gs>
              <a:gs pos="72000">
                <a:srgbClr val="508FB2"/>
              </a:gs>
              <a:gs pos="34000">
                <a:srgbClr val="6478B3"/>
              </a:gs>
              <a:gs pos="100000">
                <a:srgbClr val="3A9896"/>
              </a:gs>
            </a:gsLst>
            <a:lin ang="0" scaled="0"/>
          </a:gradFill>
          <a:ln>
            <a:noFill/>
          </a:ln>
          <a:effectLst>
            <a:outerShdw blurRad="50800" dist="508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DE5E0E67-7408-2B9B-EC58-D2D327E888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1540" y="120773"/>
            <a:ext cx="1224000" cy="4103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38998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6A0464-7225-2FDB-56DE-1D39D862C27A}"/>
              </a:ext>
            </a:extLst>
          </p:cNvPr>
          <p:cNvSpPr/>
          <p:nvPr userDrawn="1"/>
        </p:nvSpPr>
        <p:spPr>
          <a:xfrm>
            <a:off x="0" y="-4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2574ED7-7923-679A-C8BC-A461976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15877F-6FF4-3775-D448-C8D0DD626A94}"/>
              </a:ext>
            </a:extLst>
          </p:cNvPr>
          <p:cNvSpPr/>
          <p:nvPr userDrawn="1"/>
        </p:nvSpPr>
        <p:spPr>
          <a:xfrm>
            <a:off x="0" y="4"/>
            <a:ext cx="12192000" cy="648000"/>
          </a:xfrm>
          <a:prstGeom prst="rect">
            <a:avLst/>
          </a:prstGeom>
          <a:gradFill>
            <a:gsLst>
              <a:gs pos="0">
                <a:srgbClr val="7862B5"/>
              </a:gs>
              <a:gs pos="50000">
                <a:srgbClr val="508FB2"/>
              </a:gs>
              <a:gs pos="25000">
                <a:srgbClr val="6478B3"/>
              </a:gs>
              <a:gs pos="100000">
                <a:srgbClr val="6ECCBA"/>
              </a:gs>
              <a:gs pos="75000">
                <a:srgbClr val="46B5B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48A75AF1-A0A1-BD1F-E5CA-EC074F55CA2E}"/>
              </a:ext>
            </a:extLst>
          </p:cNvPr>
          <p:cNvSpPr/>
          <p:nvPr userDrawn="1"/>
        </p:nvSpPr>
        <p:spPr>
          <a:xfrm>
            <a:off x="0" y="0"/>
            <a:ext cx="2800350" cy="648004"/>
          </a:xfrm>
          <a:prstGeom prst="homePlate">
            <a:avLst/>
          </a:prstGeom>
          <a:gradFill>
            <a:gsLst>
              <a:gs pos="0">
                <a:srgbClr val="7862B5"/>
              </a:gs>
              <a:gs pos="72000">
                <a:srgbClr val="508FB2"/>
              </a:gs>
              <a:gs pos="34000">
                <a:srgbClr val="6478B3"/>
              </a:gs>
              <a:gs pos="100000">
                <a:srgbClr val="3A9896"/>
              </a:gs>
            </a:gsLst>
            <a:lin ang="0" scaled="0"/>
          </a:gradFill>
          <a:ln>
            <a:noFill/>
          </a:ln>
          <a:effectLst>
            <a:outerShdw blurRad="50800" dist="508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88EEF6D4-8D5F-6869-4028-6C83B85D34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1540" y="120773"/>
            <a:ext cx="1224000" cy="4103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3884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6A0464-7225-2FDB-56DE-1D39D862C27A}"/>
              </a:ext>
            </a:extLst>
          </p:cNvPr>
          <p:cNvSpPr/>
          <p:nvPr userDrawn="1"/>
        </p:nvSpPr>
        <p:spPr>
          <a:xfrm>
            <a:off x="0" y="-4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2574ED7-7923-679A-C8BC-A461976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15877F-6FF4-3775-D448-C8D0DD626A94}"/>
              </a:ext>
            </a:extLst>
          </p:cNvPr>
          <p:cNvSpPr/>
          <p:nvPr userDrawn="1"/>
        </p:nvSpPr>
        <p:spPr>
          <a:xfrm>
            <a:off x="0" y="4"/>
            <a:ext cx="12192000" cy="648000"/>
          </a:xfrm>
          <a:prstGeom prst="rect">
            <a:avLst/>
          </a:prstGeom>
          <a:gradFill>
            <a:gsLst>
              <a:gs pos="0">
                <a:srgbClr val="7862B5"/>
              </a:gs>
              <a:gs pos="50000">
                <a:srgbClr val="508FB2"/>
              </a:gs>
              <a:gs pos="25000">
                <a:srgbClr val="6478B3"/>
              </a:gs>
              <a:gs pos="100000">
                <a:srgbClr val="6ECCBA"/>
              </a:gs>
              <a:gs pos="75000">
                <a:srgbClr val="46B5B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48A75AF1-A0A1-BD1F-E5CA-EC074F55CA2E}"/>
              </a:ext>
            </a:extLst>
          </p:cNvPr>
          <p:cNvSpPr/>
          <p:nvPr userDrawn="1"/>
        </p:nvSpPr>
        <p:spPr>
          <a:xfrm>
            <a:off x="0" y="0"/>
            <a:ext cx="3200400" cy="648004"/>
          </a:xfrm>
          <a:prstGeom prst="homePlate">
            <a:avLst/>
          </a:prstGeom>
          <a:gradFill>
            <a:gsLst>
              <a:gs pos="0">
                <a:srgbClr val="7862B5"/>
              </a:gs>
              <a:gs pos="72000">
                <a:srgbClr val="508FB2"/>
              </a:gs>
              <a:gs pos="34000">
                <a:srgbClr val="6478B3"/>
              </a:gs>
              <a:gs pos="100000">
                <a:srgbClr val="3A9896"/>
              </a:gs>
            </a:gsLst>
            <a:lin ang="0" scaled="0"/>
          </a:gradFill>
          <a:ln>
            <a:noFill/>
          </a:ln>
          <a:effectLst>
            <a:outerShdw blurRad="50800" dist="508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88EEF6D4-8D5F-6869-4028-6C83B85D34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1540" y="120773"/>
            <a:ext cx="1224000" cy="4103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94847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5D02D63-4938-5165-FA49-6BC452B3DC9E}"/>
              </a:ext>
            </a:extLst>
          </p:cNvPr>
          <p:cNvSpPr/>
          <p:nvPr userDrawn="1"/>
        </p:nvSpPr>
        <p:spPr>
          <a:xfrm>
            <a:off x="0" y="-4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632EA2-C82F-1745-FEC9-6CB2FB9667C6}"/>
              </a:ext>
            </a:extLst>
          </p:cNvPr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gradFill>
            <a:gsLst>
              <a:gs pos="0">
                <a:srgbClr val="237ADC"/>
              </a:gs>
              <a:gs pos="50000">
                <a:srgbClr val="545DE8"/>
              </a:gs>
              <a:gs pos="25000">
                <a:srgbClr val="3770E0"/>
              </a:gs>
              <a:gs pos="100000">
                <a:srgbClr val="B124FD"/>
              </a:gs>
              <a:gs pos="75000">
                <a:srgbClr val="7D5DE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D222844E-7718-36BB-7F68-BF1ECB81618A}"/>
              </a:ext>
            </a:extLst>
          </p:cNvPr>
          <p:cNvSpPr/>
          <p:nvPr userDrawn="1"/>
        </p:nvSpPr>
        <p:spPr>
          <a:xfrm>
            <a:off x="-714" y="0"/>
            <a:ext cx="3182064" cy="648000"/>
          </a:xfrm>
          <a:prstGeom prst="homePlate">
            <a:avLst/>
          </a:prstGeom>
          <a:solidFill>
            <a:srgbClr val="515FE7"/>
          </a:solidFill>
          <a:ln>
            <a:noFill/>
          </a:ln>
          <a:effectLst>
            <a:outerShdw blurRad="762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07191B01-593A-5F85-9A70-E3AE15BFF9C9}"/>
              </a:ext>
            </a:extLst>
          </p:cNvPr>
          <p:cNvSpPr/>
          <p:nvPr userDrawn="1"/>
        </p:nvSpPr>
        <p:spPr>
          <a:xfrm rot="5400000">
            <a:off x="151412" y="-151410"/>
            <a:ext cx="859228" cy="1162052"/>
          </a:xfrm>
          <a:prstGeom prst="rtTriangle">
            <a:avLst/>
          </a:prstGeom>
          <a:solidFill>
            <a:srgbClr val="247ADC"/>
          </a:solidFill>
          <a:ln>
            <a:noFill/>
          </a:ln>
          <a:effectLst>
            <a:outerShdw blurRad="76200" dist="762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69C4DF3-378A-0268-BC54-A2B549EBF7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1540" y="123003"/>
            <a:ext cx="1224000" cy="410399"/>
          </a:xfrm>
          <a:prstGeom prst="rect">
            <a:avLst/>
          </a:prstGeom>
          <a:effectLst/>
        </p:spPr>
      </p:pic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2574ED7-7923-679A-C8BC-A461976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061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9179F57-7B6E-FE85-6D79-3F49DC96122C}"/>
              </a:ext>
            </a:extLst>
          </p:cNvPr>
          <p:cNvSpPr/>
          <p:nvPr userDrawn="1"/>
        </p:nvSpPr>
        <p:spPr>
          <a:xfrm>
            <a:off x="0" y="-4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6F6F6"/>
              </a:gs>
              <a:gs pos="100000">
                <a:srgbClr val="DCDCDC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632EA2-C82F-1745-FEC9-6CB2FB9667C6}"/>
              </a:ext>
            </a:extLst>
          </p:cNvPr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0348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D222844E-7718-36BB-7F68-BF1ECB81618A}"/>
              </a:ext>
            </a:extLst>
          </p:cNvPr>
          <p:cNvSpPr/>
          <p:nvPr userDrawn="1"/>
        </p:nvSpPr>
        <p:spPr>
          <a:xfrm>
            <a:off x="-714" y="0"/>
            <a:ext cx="2886789" cy="648000"/>
          </a:xfrm>
          <a:prstGeom prst="homePlate">
            <a:avLst/>
          </a:prstGeom>
          <a:solidFill>
            <a:srgbClr val="117F9A"/>
          </a:solidFill>
          <a:ln>
            <a:noFill/>
          </a:ln>
          <a:effectLst>
            <a:outerShdw blurRad="762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07191B01-593A-5F85-9A70-E3AE15BFF9C9}"/>
              </a:ext>
            </a:extLst>
          </p:cNvPr>
          <p:cNvSpPr/>
          <p:nvPr userDrawn="1"/>
        </p:nvSpPr>
        <p:spPr>
          <a:xfrm rot="5400000">
            <a:off x="53428" y="-53426"/>
            <a:ext cx="859228" cy="966083"/>
          </a:xfrm>
          <a:prstGeom prst="rtTriangle">
            <a:avLst/>
          </a:prstGeom>
          <a:solidFill>
            <a:srgbClr val="0FA1B8"/>
          </a:solidFill>
          <a:ln>
            <a:noFill/>
          </a:ln>
          <a:effectLst>
            <a:outerShdw blurRad="76200" dist="762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069C4DF3-378A-0268-BC54-A2B549EBF7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21540" y="123003"/>
            <a:ext cx="1224000" cy="410399"/>
          </a:xfrm>
          <a:prstGeom prst="rect">
            <a:avLst/>
          </a:prstGeom>
          <a:effectLst/>
        </p:spPr>
      </p:pic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E2574ED7-7923-679A-C8BC-A4619762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765" y="6492875"/>
            <a:ext cx="571235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0674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B0EAF-DBC1-8D34-5C53-326601A5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521186-B1E5-A4A1-B71F-C2F207B65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4800E4-F337-4FF9-3550-35D49DA8F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89996-95FF-2777-A24A-020E93C7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CECC7D-D4B2-F466-8AA3-16192BB7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9DC4E-4C30-EAA2-B6B6-99B6A66B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170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49AA6-FDB9-564D-2634-2F15EF0F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3DDA33-9B53-5021-3F19-6B51E72D4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F16D02-D2EC-3AA3-1926-63E84787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693EED-41A0-337B-642C-F5F06277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3BA0CB-3660-9257-899B-7E645D33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1308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ABFFCF-DCB3-FD95-8EC2-EF5F39908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FCB981-69B1-3F53-C266-26C8D6A4F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680893-7706-AF0E-454D-F07AD6D4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480EA4-9A85-C93A-F139-3F843BF5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9D3DC9-240E-3D3B-18B5-886FDBBE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6A31904E-91D6-440F-887A-B5C2A4E0C4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951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2" r:id="rId3"/>
    <p:sldLayoutId id="2147483670" r:id="rId4"/>
    <p:sldLayoutId id="2147483675" r:id="rId5"/>
    <p:sldLayoutId id="2147483649" r:id="rId6"/>
    <p:sldLayoutId id="2147483676" r:id="rId7"/>
    <p:sldLayoutId id="2147483674" r:id="rId8"/>
    <p:sldLayoutId id="2147483665" r:id="rId9"/>
    <p:sldLayoutId id="2147483664" r:id="rId10"/>
    <p:sldLayoutId id="2147483666" r:id="rId11"/>
    <p:sldLayoutId id="2147483667" r:id="rId12"/>
    <p:sldLayoutId id="2147483668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6" r:id="rId19"/>
    <p:sldLayoutId id="2147483663" r:id="rId20"/>
    <p:sldLayoutId id="2147483669" r:id="rId21"/>
    <p:sldLayoutId id="2147483661" r:id="rId22"/>
    <p:sldLayoutId id="2147483662" r:id="rId23"/>
    <p:sldLayoutId id="2147483657" r:id="rId24"/>
    <p:sldLayoutId id="2147483658" r:id="rId25"/>
    <p:sldLayoutId id="2147483659" r:id="rId2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2E85-A785-A2DE-4C20-E1BE03EEB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340DBB-2A79-FFC0-4979-25D37D58F4A0}"/>
              </a:ext>
            </a:extLst>
          </p:cNvPr>
          <p:cNvSpPr/>
          <p:nvPr/>
        </p:nvSpPr>
        <p:spPr>
          <a:xfrm>
            <a:off x="3237614" y="1108586"/>
            <a:ext cx="5184000" cy="8280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19553E-B0C4-D4A2-EDB0-A7CAD35A944F}"/>
              </a:ext>
            </a:extLst>
          </p:cNvPr>
          <p:cNvSpPr txBox="1"/>
          <p:nvPr/>
        </p:nvSpPr>
        <p:spPr>
          <a:xfrm>
            <a:off x="1290808" y="4442598"/>
            <a:ext cx="144302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ko-KR" spc="300" dirty="0">
                <a:solidFill>
                  <a:srgbClr val="43666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2026.10.</a:t>
            </a:r>
            <a:endParaRPr lang="ko-KR" altLang="en-US" spc="300" dirty="0">
              <a:solidFill>
                <a:srgbClr val="43666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6B69E1A1-8403-B285-C5D2-B94EBFC0EC9B}"/>
              </a:ext>
            </a:extLst>
          </p:cNvPr>
          <p:cNvSpPr/>
          <p:nvPr/>
        </p:nvSpPr>
        <p:spPr>
          <a:xfrm rot="16200000">
            <a:off x="8267126" y="1783110"/>
            <a:ext cx="176213" cy="176213"/>
          </a:xfrm>
          <a:prstGeom prst="corner">
            <a:avLst>
              <a:gd name="adj1" fmla="val 26087"/>
              <a:gd name="adj2" fmla="val 28261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L 도형 10">
            <a:extLst>
              <a:ext uri="{FF2B5EF4-FFF2-40B4-BE49-F238E27FC236}">
                <a16:creationId xmlns:a16="http://schemas.microsoft.com/office/drawing/2014/main" id="{19C5DC12-1275-7CE2-6EC6-8026D8F124C2}"/>
              </a:ext>
            </a:extLst>
          </p:cNvPr>
          <p:cNvSpPr/>
          <p:nvPr/>
        </p:nvSpPr>
        <p:spPr>
          <a:xfrm rot="5400000">
            <a:off x="3213508" y="1083833"/>
            <a:ext cx="176213" cy="176213"/>
          </a:xfrm>
          <a:prstGeom prst="corner">
            <a:avLst>
              <a:gd name="adj1" fmla="val 26087"/>
              <a:gd name="adj2" fmla="val 28261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6730CE-DF3B-6C0B-8F58-01B141C01651}"/>
              </a:ext>
            </a:extLst>
          </p:cNvPr>
          <p:cNvSpPr txBox="1"/>
          <p:nvPr/>
        </p:nvSpPr>
        <p:spPr>
          <a:xfrm>
            <a:off x="1290808" y="1067165"/>
            <a:ext cx="7303602" cy="16568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ko-KR" sz="5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</a:t>
            </a:r>
            <a:r>
              <a:rPr lang="ko-KR" altLang="en-US" sz="5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대한민국 구석구석 </a:t>
            </a:r>
            <a:endParaRPr lang="en-US" altLang="ko-KR" sz="5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Bef>
                <a:spcPts val="200"/>
              </a:spcBef>
            </a:pPr>
            <a:r>
              <a:rPr lang="ko-KR" altLang="en-US" sz="4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유형별 심층 인터뷰 조사</a:t>
            </a:r>
            <a:r>
              <a:rPr lang="en-US" altLang="ko-KR" sz="4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en-US" altLang="ko-KR" sz="4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FGI</a:t>
            </a:r>
            <a:r>
              <a:rPr lang="en-US" altLang="ko-KR" sz="4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sz="4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B5B08-CAE5-28AF-EEF5-244639F205F4}"/>
              </a:ext>
            </a:extLst>
          </p:cNvPr>
          <p:cNvSpPr txBox="1"/>
          <p:nvPr/>
        </p:nvSpPr>
        <p:spPr>
          <a:xfrm>
            <a:off x="1290808" y="2978107"/>
            <a:ext cx="7772400" cy="6863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 err="1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외부</a:t>
            </a:r>
            <a:r>
              <a:rPr lang="en-US" sz="2200" b="0" dirty="0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200" b="0" dirty="0" err="1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자료</a:t>
            </a:r>
            <a:r>
              <a:rPr sz="2200" b="0" dirty="0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200" b="0" dirty="0" err="1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endParaRPr sz="2200" b="0" dirty="0">
              <a:solidFill>
                <a:srgbClr val="1C4976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KTO </a:t>
            </a:r>
            <a:r>
              <a:rPr sz="1400" b="0" dirty="0" err="1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시민참여단</a:t>
            </a:r>
            <a:r>
              <a:rPr sz="1400" b="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 제2차 </a:t>
            </a:r>
            <a:r>
              <a:rPr sz="1400" b="0" dirty="0" err="1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자문</a:t>
            </a:r>
            <a:r>
              <a:rPr sz="1400" b="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b="0" dirty="0" err="1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sz="1400" b="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400" b="0" dirty="0" err="1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endParaRPr sz="1400" b="0" dirty="0">
              <a:solidFill>
                <a:srgbClr val="43666D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1728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120640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관광AX기획팀의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사업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자문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자료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로</a:t>
            </a:r>
            <a:r>
              <a:rPr lang="en-US" altLang="ko-KR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공사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관광정보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이용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경험과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통합·AI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에 대한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기대를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담고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있어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, 2단계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내부자료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에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외부자료로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포함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국디마팀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요청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사용자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FGI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및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AX팀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대면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인터뷰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문항에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반영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lang="ko-KR" altLang="en-US" sz="1200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자료 기능</a:t>
              </a:r>
              <a:endPara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1. 자문 개요와 연구질문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관광 </a:t>
            </a:r>
            <a:r>
              <a:rPr lang="en-US" altLang="ko-KR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AX 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기획팀의 자문 </a:t>
            </a:r>
            <a:r>
              <a:rPr lang="en-US" altLang="ko-KR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개 문항</a:t>
            </a:r>
            <a:r>
              <a:rPr lang="ko-KR" altLang="en-US" sz="1400" dirty="0">
                <a:solidFill>
                  <a:schemeClr val="tx1"/>
                </a:solidFill>
                <a:latin typeface="THE명품고딕B" panose="02020603020101020101" pitchFamily="18" charset="-127"/>
                <a:ea typeface="THE명품고딕B" panose="02020603020101020101" pitchFamily="18" charset="-127"/>
                <a:cs typeface="Pretendard SemiBold"/>
              </a:rPr>
              <a:t>에 대한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시민 </a:t>
            </a:r>
            <a:r>
              <a:rPr lang="ko-KR" altLang="en-US"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참여단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명의 서면 응답 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59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건을 분석하고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본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과업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조사질문과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연</a:t>
            </a:r>
            <a:r>
              <a:rPr lang="ko-KR" altLang="en-US"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계한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연구 질문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(RQ)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개를 설정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1) 개요·연구질문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5733288" y="1783080"/>
            <a:ext cx="5980176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5800" y="1874519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자문 개요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174383"/>
              </p:ext>
            </p:extLst>
          </p:nvPr>
        </p:nvGraphicFramePr>
        <p:xfrm>
          <a:off x="685800" y="2240280"/>
          <a:ext cx="4617719" cy="2444496"/>
        </p:xfrm>
        <a:graphic>
          <a:graphicData uri="http://schemas.openxmlformats.org/drawingml/2006/table">
            <a:tbl>
              <a:tblPr/>
              <a:tblGrid>
                <a:gridCol w="1108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9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자문명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2026년도 KTO 시민참여단 제2차 자문회의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주관·진행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한국관광공사 ESG경영팀 · 2026. 10. 6.~10. 16. 서면 진행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전체 안건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11건 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기획조정팀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1 ·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관광AX기획팀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5 ·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ESG경영팀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분석 대상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관광AX기획팀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「AI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기반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관광정보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플랫폼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구축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사업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」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자문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5문항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참여 위원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12명 (시민위원 7 · 전문위원 5)  ※ 명단 5번 결번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전달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경로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국내디지털마케팅팀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공유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(2026. 10. 21.)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5989320" y="1874519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자문 문항의 구조 (기획 단계 순)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52079"/>
              </p:ext>
            </p:extLst>
          </p:nvPr>
        </p:nvGraphicFramePr>
        <p:xfrm>
          <a:off x="5989320" y="2240280"/>
          <a:ext cx="5486400" cy="241858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질문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  <a:endParaRPr sz="11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기획단계별 역할</a:t>
                      </a:r>
                      <a:endParaRPr sz="11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사업기획 반영 사항</a:t>
                      </a:r>
                      <a:endParaRPr sz="11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이용해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본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불편·개선점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문제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정의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(As-Is)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 필요성 근거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시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반드시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포함할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기능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요구사항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도출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기능 범위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상용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구분되는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AI의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가치제안·포지셔닝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공사가 AI를 만드는 이유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전·중·후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중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단계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우선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단계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우선</a:t>
                      </a: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순위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일정·위치·이용기록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기반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선제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추천·알림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데이터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활용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수용성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개인정보·동의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원칙</a:t>
                      </a:r>
                      <a:endParaRPr sz="10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429768" y="555955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29768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21207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5" y="4919370"/>
            <a:ext cx="2148840" cy="49398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이용자는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특히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구석구석을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어떻게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인식하며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어</a:t>
            </a:r>
            <a:r>
              <a:rPr lang="ko-KR" altLang="en-US"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느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지점에서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불편·이탈을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겪는가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96695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Q1 → 과업 Q1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73552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364992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4992466"/>
            <a:ext cx="214884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플랫폼·AI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비서에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기대하는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가치와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기능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AI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차별점은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무엇인가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840480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Q2·Q3 → 과업 Q3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17336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208775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84264" y="4992466"/>
            <a:ext cx="214884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여행비서가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가장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필요한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언제인가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684264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Q4 → 과업 Q1·Q3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61120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052560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8048" y="4992466"/>
            <a:ext cx="214884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개인정보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맞춤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추천·알림의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우려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사항은 무엇인가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528048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Q5 → 과업 Q2·Q3</a:t>
            </a:r>
          </a:p>
        </p:txBody>
      </p:sp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3931920" cy="36118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2. 데이터 확인과 분석방법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2616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응답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분량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편차가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큰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소규모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서면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개방형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자료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의 특성을 고려하여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응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답자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수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기준으로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집계하는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프레임워크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분석을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주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방법으로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택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함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459736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2) 데이터·방법·절차</a:t>
            </a: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544568" y="1783080"/>
            <a:ext cx="7168896" cy="36118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5800" y="1874519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데이터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12명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2724912"/>
            <a:ext cx="1143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응답자</a:t>
            </a:r>
          </a:p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시민 7 · 전문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4708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59건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47088" y="2724912"/>
            <a:ext cx="1143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응답 수</a:t>
            </a:r>
          </a:p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Q4는 11건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580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5문항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5808" y="2724912"/>
            <a:ext cx="1143000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dirty="0" err="1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서면</a:t>
            </a:r>
            <a:r>
              <a:rPr lang="en-US" sz="850" b="0" dirty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850" b="0" dirty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개방형 응답</a:t>
            </a:r>
            <a:endParaRPr sz="850" b="0" dirty="0">
              <a:solidFill>
                <a:srgbClr val="073349"/>
              </a:solidFill>
              <a:latin typeface="Pretendard Medium"/>
              <a:ea typeface="Pretendard Medium"/>
              <a:cs typeface="Pretendard Medium"/>
            </a:endParaRPr>
          </a:p>
          <a:p>
            <a:pPr algn="ctr"/>
            <a:r>
              <a:rPr sz="850" b="0" dirty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2~3문장</a:t>
            </a:r>
            <a:r>
              <a:rPr lang="ko-KR" altLang="en-US" sz="850" b="0" dirty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에서 </a:t>
            </a:r>
            <a:r>
              <a:rPr sz="850" b="0" dirty="0" err="1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장문</a:t>
            </a:r>
            <a:r>
              <a:rPr lang="ko-KR" altLang="en-US" sz="850" b="0" dirty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까지</a:t>
            </a:r>
            <a:endParaRPr sz="850" b="0" dirty="0">
              <a:solidFill>
                <a:srgbClr val="073349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5800" y="3246120"/>
            <a:ext cx="3474720" cy="16481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dirty="0" err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r>
              <a:rPr lang="ko-KR" altLang="en-US" sz="1100" b="1" dirty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시</a:t>
            </a:r>
            <a:r>
              <a:rPr sz="1100" b="1" dirty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100" b="1" dirty="0" err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유의점</a:t>
            </a:r>
            <a:endParaRPr sz="1100" b="1" dirty="0">
              <a:solidFill>
                <a:srgbClr val="073349"/>
              </a:solidFill>
              <a:latin typeface="Pretendard SemiBold"/>
              <a:ea typeface="Pretendard SemiBold"/>
              <a:cs typeface="Pretendard SemiBold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 분량의 편차를 고려해 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언급 건수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 아닌 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응답자 수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 집계</a:t>
            </a:r>
          </a:p>
          <a:p>
            <a:pPr>
              <a:spcAft>
                <a:spcPts val="30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배포한 사업 자료의 영향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(‘11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 서비스’ 등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으로 자발적 요구와 사업안에 대한 반응이 혼재되어 있음</a:t>
            </a:r>
          </a:p>
          <a:p>
            <a:pPr>
              <a:spcAft>
                <a:spcPts val="30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고관여 집단의 의견으로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콜드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잠재 이용자의 관점은 확인하기 어려움</a:t>
            </a:r>
          </a:p>
          <a:p>
            <a:pPr>
              <a:spcAft>
                <a:spcPts val="30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서면 응답으로 추가 질문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(Probe)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 어려워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응답자별 답변의 일관성을 확인해 보완</a:t>
            </a:r>
          </a:p>
          <a:p>
            <a:pPr>
              <a:spcAft>
                <a:spcPts val="30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 여정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후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 플랫폼 이용 여정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유입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~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재방문</a:t>
            </a:r>
            <a:r>
              <a:rPr lang="en-US" altLang="ko-KR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을 구분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1874519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분석방법 탐색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7531"/>
              </p:ext>
            </p:extLst>
          </p:nvPr>
        </p:nvGraphicFramePr>
        <p:xfrm>
          <a:off x="4800600" y="2240280"/>
          <a:ext cx="6675118" cy="2502408"/>
        </p:xfrm>
        <a:graphic>
          <a:graphicData uri="http://schemas.openxmlformats.org/drawingml/2006/table">
            <a:tbl>
              <a:tblPr/>
              <a:tblGrid>
                <a:gridCol w="1201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방법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적합성 검토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채택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프레임워크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분석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응답자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(12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명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)×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문항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(5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매트릭스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요약·코딩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br>
                        <a:rPr 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</a:b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연역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사업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구조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)+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귀납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응답에서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를 결합해 집계 근거와 응답자별 의견을 추적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25E83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채택 (주 방법)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주제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분석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자문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문항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이미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주제를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구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분하고 있어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귀납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코드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단계에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집단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비교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전문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위원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의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차이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교차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분석해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경향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을 파악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채택 (보조)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텍스트마이닝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응답이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59건으로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적고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분량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편차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 커 장문 응답이 결과를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좌우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할 수 있음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미채택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여정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매핑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Q1·Q2·Q4를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여정과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플랫폼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이용여정에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배치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해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현황분석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틀과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연결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채택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보조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4800600" y="4773168"/>
            <a:ext cx="66751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dirty="0" err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집계</a:t>
            </a:r>
            <a:r>
              <a:rPr sz="1000" b="1" dirty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000" b="1" dirty="0" err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원칙</a:t>
            </a:r>
            <a:r>
              <a:rPr sz="1000" b="1" dirty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언급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건수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아님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 · ‘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(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시민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전문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)’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표기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명시적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언급에만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부여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소수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의견은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빈도와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별개로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쟁점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항목에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정리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연구자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1인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코딩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보고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전 제2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연구자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교차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  <a:endParaRPr sz="100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29768" y="548640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분석 절차</a:t>
            </a:r>
          </a:p>
        </p:txBody>
      </p:sp>
      <p:sp>
        <p:nvSpPr>
          <p:cNvPr id="74" name="Pentagon 73"/>
          <p:cNvSpPr/>
          <p:nvPr/>
        </p:nvSpPr>
        <p:spPr>
          <a:xfrm>
            <a:off x="429768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① 원문 전사 확인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59건 분리</a:t>
            </a:r>
          </a:p>
        </p:txBody>
      </p:sp>
      <p:sp>
        <p:nvSpPr>
          <p:cNvPr id="75" name="Pentagon 74"/>
          <p:cNvSpPr/>
          <p:nvPr/>
        </p:nvSpPr>
        <p:spPr>
          <a:xfrm>
            <a:off x="2322576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② 매트릭스 구성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12×5 요약</a:t>
            </a:r>
          </a:p>
        </p:txBody>
      </p:sp>
      <p:sp>
        <p:nvSpPr>
          <p:cNvPr id="76" name="Pentagon 75"/>
          <p:cNvSpPr/>
          <p:nvPr/>
        </p:nvSpPr>
        <p:spPr>
          <a:xfrm>
            <a:off x="4215383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③ 코드북 작성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연역+귀납</a:t>
            </a:r>
          </a:p>
        </p:txBody>
      </p:sp>
      <p:sp>
        <p:nvSpPr>
          <p:cNvPr id="77" name="Pentagon 76"/>
          <p:cNvSpPr/>
          <p:nvPr/>
        </p:nvSpPr>
        <p:spPr>
          <a:xfrm>
            <a:off x="6108191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④ 코딩·집계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응답자 수 기준</a:t>
            </a:r>
          </a:p>
        </p:txBody>
      </p:sp>
      <p:sp>
        <p:nvSpPr>
          <p:cNvPr id="78" name="Pentagon 77"/>
          <p:cNvSpPr/>
          <p:nvPr/>
        </p:nvSpPr>
        <p:spPr>
          <a:xfrm>
            <a:off x="8001000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⑤ 교차 분석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시민/전문·소수의견</a:t>
            </a:r>
          </a:p>
        </p:txBody>
      </p:sp>
      <p:sp>
        <p:nvSpPr>
          <p:cNvPr id="79" name="Pentagon 78"/>
          <p:cNvSpPr/>
          <p:nvPr/>
        </p:nvSpPr>
        <p:spPr>
          <a:xfrm>
            <a:off x="9893808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⑥ 해석·활용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조사질문·가설 대응</a:t>
            </a:r>
          </a:p>
        </p:txBody>
      </p:sp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53212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전문위원은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분산·여정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재구조화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등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구조</a:t>
            </a:r>
            <a:r>
              <a:rPr lang="ko-KR" altLang="en-US" sz="130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적 문제를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시민위원은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최신성·정보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깊이·탐색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부담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등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이용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경험을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지적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함</a:t>
            </a:r>
            <a:br>
              <a:rPr lang="en-US" altLang="ko-KR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en-US" altLang="ko-KR" sz="1300" b="0" dirty="0">
                <a:solidFill>
                  <a:srgbClr val="025E8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→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결론은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유사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하나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근거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다름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읽기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① 현 서비스 인식과 필수 기능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구석구석은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공사의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대표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정보 서비스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로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인식되나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(8/12),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최신성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에 대한 불신과 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낮은 검색 </a:t>
            </a:r>
            <a:r>
              <a:rPr lang="en-US" altLang="ko-KR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노출 수준이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이탈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지점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. </a:t>
            </a:r>
            <a:b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주요 기능 요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맞춤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일정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통합검색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실시간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정보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원스톱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로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수렴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3-1) Q1 · Q2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6144768" y="1783080"/>
            <a:ext cx="556869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301752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Q1. 현 서비스의 불편·개선점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17280"/>
              </p:ext>
            </p:extLst>
          </p:nvPr>
        </p:nvGraphicFramePr>
        <p:xfrm>
          <a:off x="621792" y="2103120"/>
          <a:ext cx="5166359" cy="3337560"/>
        </p:xfrm>
        <a:graphic>
          <a:graphicData uri="http://schemas.openxmlformats.org/drawingml/2006/table">
            <a:tbl>
              <a:tblPr/>
              <a:tblGrid>
                <a:gridCol w="1704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 (시민/전문)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대표 응답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구석구석 직접 언급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8 (5/3)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전반을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물었으나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2/3가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구석구석을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거론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함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 분산·중복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 (2/4)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분산되어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웹·앱을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이동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 최신성·정확성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 (4/1)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“운영시간·요금이 실제와 달라 다른 포털에서 재확인”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낮은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인지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검색 노출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(1/2)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“검색엔진·SNS·LLM에서 찾아 KTO 서비스는 기억 안 남”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깊이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부족·유명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관광지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편중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(2/0)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역사·문화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배경은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다른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사이트에서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찾아야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함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/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로그인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장벽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/ 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여러 단계의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클릭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· AI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플래너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로그인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디민증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발급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절차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여정 기준 재구조화 제안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(0/2)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물리적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아닌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기준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재구조화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309360" y="1581912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Q2. 통합 시 필수 기능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668234"/>
              </p:ext>
            </p:extLst>
          </p:nvPr>
        </p:nvGraphicFramePr>
        <p:xfrm>
          <a:off x="6336792" y="2103120"/>
          <a:ext cx="5193791" cy="2948178"/>
        </p:xfrm>
        <a:graphic>
          <a:graphicData uri="http://schemas.openxmlformats.org/drawingml/2006/table">
            <a:tbl>
              <a:tblPr/>
              <a:tblGrid>
                <a:gridCol w="186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 (시민/전문)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맞춤 일정·AI 추천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 (2/5)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목적·기간·동반자·이동수단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을 반영한 실행 가능 일정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상황 변화에 따른 일정 조정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통합검색 (한 화면·한 계정)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 (3/3)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관광지·숙박·음식·축제·교통·예약을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번에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실시간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현장정보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 (3/3)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휴무·주차·날씨·혼잡도·예약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예약·혜택 원스톱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 (3/2)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검색→예약→결제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 계정·보관함·이용기록 연계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(2/1)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저장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코스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중·후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에도 활용</a:t>
                      </a: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접근성·안전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(0/3)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무장애·고령·반려동물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응급·신고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구석구석 명칭·서비스 유지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(2/0)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인지도를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이름은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그대로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612648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“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상용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AI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에이전트가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이미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구현하고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있어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‘또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하나의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비서’는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성공하기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어렵다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. 왜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필요한지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먼저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정의해야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”(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전문위원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1명)</a:t>
            </a:r>
            <a:r>
              <a:rPr 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br>
              <a:rPr 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다수의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공신력·책임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’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요구와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종합하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면 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차별화의 핵심은 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‘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대화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품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질</a:t>
            </a:r>
            <a:r>
              <a:rPr lang="en-US" altLang="ko-KR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’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보다 </a:t>
            </a:r>
            <a:r>
              <a:rPr lang="en-US" altLang="ko-KR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‘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r>
              <a:rPr lang="ko-KR" altLang="en-US" sz="130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와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책임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체계</a:t>
            </a:r>
            <a:r>
              <a:rPr 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’ </a:t>
            </a:r>
            <a:r>
              <a:rPr lang="ko-KR" altLang="en-US"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에 있음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소수 의견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② 차별 역할과 기대 단계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차별점은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기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능은 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공신력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’(9/12)과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책임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체계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에 </a:t>
            </a:r>
            <a:r>
              <a:rPr lang="ko-KR" altLang="en-US"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있으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며, AI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여행비서가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가장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필요한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단계는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여행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중’(7/11) </a:t>
            </a:r>
            <a:b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단,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실시간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데이터가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선행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조건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3-2) Q3 · Q4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6739128" y="1783080"/>
            <a:ext cx="497433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32918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Q3. 상용 AI와 구분되는 역할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94179"/>
              </p:ext>
            </p:extLst>
          </p:nvPr>
        </p:nvGraphicFramePr>
        <p:xfrm>
          <a:off x="621792" y="2103120"/>
          <a:ext cx="5760720" cy="3266694"/>
        </p:xfrm>
        <a:graphic>
          <a:graphicData uri="http://schemas.openxmlformats.org/drawingml/2006/table">
            <a:tbl>
              <a:tblPr/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 (시민/전문)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 보유·검증 데이터 기반 공신력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9 (5/4)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“정보량이 아닌 공식성·신뢰성·현장성으로 경쟁”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 └ 출처·최종 업데이트 시점 표시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 (3/4)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가장 구체적인 공통 요구 (Q1 최신성 불만과 직결)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지역 분산·숨은 자원·소상공인 연결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4 (2/2)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스타트업 판로, 지자체·관광두레 연계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불확실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구분·오류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정정·후속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안내 연계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(1/2)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“접수→담당기관 확인→정정→결과 안내”, 1330 연계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접근성·다국어·컨시어지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(0/2)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외국인·고령·장애인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맞춤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안내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기타 개별 의견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각 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친환경 / 큐레이팅 / 세이프스테이 통합 / 추천 기준 공개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회의론: 차별화 어려움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 (0/1)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AI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에이전트가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하단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참조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903720" y="1581912"/>
            <a:ext cx="301752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Q4. 기대하는 여행 단계 (11명)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40880" y="2194560"/>
            <a:ext cx="1463040" cy="1143000"/>
          </a:xfrm>
          <a:prstGeom prst="roundRect">
            <a:avLst>
              <a:gd name="adj" fmla="val 9600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40880" y="2212848"/>
            <a:ext cx="14630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400" b="0">
                <a:solidFill>
                  <a:srgbClr val="1C4976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2880360"/>
            <a:ext cx="1463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여행 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13648" y="2194560"/>
            <a:ext cx="1463040" cy="1143000"/>
          </a:xfrm>
          <a:prstGeom prst="roundRect">
            <a:avLst>
              <a:gd name="adj" fmla="val 9600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13648" y="2212848"/>
            <a:ext cx="14630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400" b="0">
                <a:solidFill>
                  <a:srgbClr val="337FB3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3648" y="2880360"/>
            <a:ext cx="1463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여행 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86416" y="2194560"/>
            <a:ext cx="1463040" cy="1143000"/>
          </a:xfrm>
          <a:prstGeom prst="roundRect">
            <a:avLst>
              <a:gd name="adj" fmla="val 9600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186416" y="2212848"/>
            <a:ext cx="14630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400" b="0">
                <a:solidFill>
                  <a:srgbClr val="BFBFBF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86416" y="2880360"/>
            <a:ext cx="1463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판단 유보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40880" y="347472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1C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돌발</a:t>
            </a:r>
            <a:r>
              <a:rPr lang="en-US"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상황</a:t>
            </a:r>
            <a:r>
              <a: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대응</a:t>
            </a:r>
            <a:r>
              <a:rPr lang="ko-KR" altLang="en-US"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의</a:t>
            </a:r>
            <a:r>
              <a: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필요</a:t>
            </a:r>
            <a:r>
              <a:rPr lang="ko-KR" altLang="en-US"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성</a:t>
            </a:r>
            <a:r>
              <a: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언급</a:t>
            </a:r>
            <a:r>
              <a: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  <a:r>
              <a:rPr sz="1500" b="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10 / 11명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4023360"/>
            <a:ext cx="4572000" cy="94025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전을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꼽은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3명 중 2명도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대응을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함께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언급</a:t>
            </a:r>
            <a:endParaRPr sz="100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“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전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일정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수립은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상용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AI로도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차별적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가치는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중”(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전문위원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요구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위치·남은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시간·동반자</a:t>
            </a:r>
            <a:r>
              <a:rPr lang="ko-KR" altLang="en-US" sz="1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를 고려한 대안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추천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오프라인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저장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위치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미제공</a:t>
            </a:r>
            <a:r>
              <a:rPr lang="en-US"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이용자 대상 기</a:t>
            </a:r>
            <a:r>
              <a:rPr sz="100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 </a:t>
            </a:r>
            <a:r>
              <a:rPr sz="100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안내</a:t>
            </a:r>
            <a:endParaRPr sz="100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C00000"/>
                </a:solidFill>
                <a:latin typeface="Pretendard SemiBold"/>
                <a:ea typeface="Pretendard SemiBold"/>
                <a:cs typeface="Pretendard SemiBold"/>
              </a:rPr>
              <a:t>• </a:t>
            </a:r>
            <a:r>
              <a:rPr sz="1000" b="1" dirty="0" err="1">
                <a:solidFill>
                  <a:srgbClr val="C00000"/>
                </a:solidFill>
                <a:latin typeface="Pretendard SemiBold"/>
                <a:ea typeface="Pretendard SemiBold"/>
                <a:cs typeface="Pretendard SemiBold"/>
              </a:rPr>
              <a:t>간극</a:t>
            </a:r>
            <a:r>
              <a:rPr sz="1000" b="1" dirty="0">
                <a:solidFill>
                  <a:srgbClr val="C00000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운영·혼잡·예약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ko-KR" altLang="en-US"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가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필요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vs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공사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데이터는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정적</a:t>
            </a:r>
            <a:r>
              <a:rPr sz="1000" b="0" dirty="0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 DB </a:t>
            </a:r>
            <a:r>
              <a:rPr sz="1000" b="0" dirty="0" err="1">
                <a:solidFill>
                  <a:srgbClr val="C00000"/>
                </a:solidFill>
                <a:latin typeface="Pretendard Medium"/>
                <a:ea typeface="Pretendard Medium"/>
                <a:cs typeface="Pretendard Medium"/>
              </a:rPr>
              <a:t>중심</a:t>
            </a:r>
            <a:endParaRPr sz="1000" b="0" dirty="0">
              <a:solidFill>
                <a:srgbClr val="C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760720" cy="29260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③ 개인화 수용 조건과 쟁점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43784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개인화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조건부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찬성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’(11/12)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하며 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개 조건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이용자 통제권</a:t>
            </a:r>
            <a: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알림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빈도</a:t>
            </a:r>
            <a:r>
              <a:rPr 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투명성</a:t>
            </a:r>
            <a: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전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제</a:t>
            </a:r>
            <a:br>
              <a:rPr 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알림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방식과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서비스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vs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기존 자산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보존에는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이견이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있어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FGI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대상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660904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3-3) Q5 · 비교 · 쟁점</a:t>
            </a: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6373368" y="1783080"/>
            <a:ext cx="5340096" cy="29260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310896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Q5. 선제적 맞춤 추천·알림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15757"/>
              </p:ext>
            </p:extLst>
          </p:nvPr>
        </p:nvGraphicFramePr>
        <p:xfrm>
          <a:off x="621792" y="2103120"/>
          <a:ext cx="5394959" cy="2514594"/>
        </p:xfrm>
        <a:graphic>
          <a:graphicData uri="http://schemas.openxmlformats.org/drawingml/2006/table">
            <a:tbl>
              <a:tblPr/>
              <a:tblGrid>
                <a:gridCol w="226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38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코드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 (시민/전문)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83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기본 입장: 조건부 찬성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 (7/4)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명은 이용 맥락의 이해와 사전 허락을 전제로 신중한 입장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83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동의·선택권 (목적별 동의·철회·수신 선택)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 (6/5)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위치·기록·추천·마케팅을 구분해 각각 동의·철회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83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알림 과다·피로 우려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 (5/2)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디지털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”, “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광고로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”, “또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하나의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스팸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광고·제휴 구분·추천 이유 표시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4 (1/3)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가능한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추천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383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개인정보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수집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/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감시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우려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/ 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“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많이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수집하느냐보다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안심하고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쓸 수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있느냐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83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추천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소규모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사업자·지역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균형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 (1/1)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후기·검색량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많은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곳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집중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되면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소외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우려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537960" y="1581912"/>
            <a:ext cx="292608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집단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비교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시민</a:t>
            </a:r>
            <a:r>
              <a:rPr lang="ko-KR" altLang="en-US"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위원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vs 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전문</a:t>
            </a:r>
            <a:r>
              <a:rPr lang="ko-KR" altLang="en-US"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위원</a:t>
            </a:r>
            <a:endParaRPr sz="1300" b="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51607"/>
              </p:ext>
            </p:extLst>
          </p:nvPr>
        </p:nvGraphicFramePr>
        <p:xfrm>
          <a:off x="6565392" y="2103120"/>
          <a:ext cx="4983478" cy="1828038"/>
        </p:xfrm>
        <a:graphic>
          <a:graphicData uri="http://schemas.openxmlformats.org/drawingml/2006/table">
            <a:tbl>
              <a:tblPr/>
              <a:tblGrid>
                <a:gridCol w="89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시민위원 (7)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전문위원 (5)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문제 인식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최신성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(4),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깊이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직접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경험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분산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(4),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재구조화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(2)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등 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구조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적 문제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기능 요구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원스톱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보관함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브랜드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경험의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연속성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맞춤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(5),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접근성·안전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(3)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체계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신뢰 장치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공신력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(5),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지역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상생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출처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표시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(4),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광고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이유를 설명하는 추천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개인화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알림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피로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 대한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우려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강함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동의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구조·투명성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429768" y="4773168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쟁점과 소수 의견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9768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21207" y="513892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AI 비</a:t>
            </a:r>
            <a:r>
              <a:rPr lang="ko-KR" altLang="en-US"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서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필요성</a:t>
            </a:r>
            <a:endParaRPr sz="1050" b="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02919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상용 AI 에이전트로 충분하다는 회의론(1) vs 공신력·책임 요구(9) → 데이터·책임 체계로 차별화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06624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798064" y="513892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서비스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vs</a:t>
            </a:r>
            <a:r>
              <a:rPr lang="ko-KR" altLang="en-US" sz="105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기존 자산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보존</a:t>
            </a:r>
            <a:endParaRPr sz="1050" b="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79776" y="5504688"/>
            <a:ext cx="2057400" cy="4939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여정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재구조화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2) vs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브랜드·전문기능·이용기록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3)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간 관점 차이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983480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074920" y="513892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알림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56632" y="5504688"/>
            <a:ext cx="2057400" cy="4939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시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(pull) vs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재난문자형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선별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알림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촉진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도구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 보는 관점이 공존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콜드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유저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푸시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반응과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함께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260336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7351776" y="513892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요구 vs 실현 가능성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33488" y="5504688"/>
            <a:ext cx="2057400" cy="4939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대응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(10) vs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정적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DB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간 간극을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AX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인터뷰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에서 확인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9537192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9628632" y="513892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규범</a:t>
            </a:r>
            <a:r>
              <a:rPr lang="ko-KR" altLang="en-US"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적 요구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vs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실제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가치</a:t>
            </a:r>
            <a:endParaRPr sz="1050" b="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610344" y="5504688"/>
            <a:ext cx="2057400" cy="4939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출처·업데이트일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표시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는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전문위원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(4/5) —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일반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이용자가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가치를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두는지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FGI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448056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①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최종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수정일·출처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표시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화면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예시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 ②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공공·제휴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정보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구분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방식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A/B/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C안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 ③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여행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중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대응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우천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시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대체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추천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) —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AX팀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미확정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기능은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검토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중인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방안’으로</a:t>
            </a:r>
            <a:r>
              <a:rPr sz="1300" b="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표시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자극물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4. 결과 해석과 FGI 활용 방안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시민참여단은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고관여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집단이므로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분석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결과를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검증할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가설’로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활용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하고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콜드·잠재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유저에게도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해당하는지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FGI에서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확인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4) 해석·활용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5093208" y="1783080"/>
            <a:ext cx="662025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연구질문별 해석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" y="2103120"/>
            <a:ext cx="1051560" cy="713232"/>
          </a:xfrm>
          <a:prstGeom prst="roundRect">
            <a:avLst>
              <a:gd name="adj" fmla="val 1538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RQ1 인식·이탈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37360" y="2226460"/>
            <a:ext cx="3017520" cy="49398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인식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(8/12)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되나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최신성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불신이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‘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재확인→이탈’로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이어짐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낮은 검색 및 노출 수준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은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주요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탐색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포털·SNS·LLM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에서 접하기 어려움을 시사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21792" y="2926079"/>
            <a:ext cx="1051560" cy="713232"/>
          </a:xfrm>
          <a:prstGeom prst="roundRect">
            <a:avLst>
              <a:gd name="adj" fmla="val 1538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RQ2 가치·차별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37360" y="3122517"/>
            <a:ext cx="301752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요구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기능은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민간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공공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고유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가치는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공신력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(9)·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지역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(4)·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정정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책임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(3)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이며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수준과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책임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체계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21792" y="3749039"/>
            <a:ext cx="1051560" cy="713232"/>
          </a:xfrm>
          <a:prstGeom prst="roundRect">
            <a:avLst>
              <a:gd name="adj" fmla="val 1538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RQ3 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7360" y="3872382"/>
            <a:ext cx="3017520" cy="49398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 대한 기대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(7/11)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는 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AX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초기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우선순위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전)와 다</a:t>
            </a:r>
            <a:r>
              <a:rPr lang="ko-KR" altLang="en-US"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름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필요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하다는 점에서 기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여건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간극으로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해석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21792" y="4572000"/>
            <a:ext cx="1051560" cy="713232"/>
          </a:xfrm>
          <a:prstGeom prst="roundRect">
            <a:avLst>
              <a:gd name="adj" fmla="val 1538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RQ4 개인화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37360" y="4768438"/>
            <a:ext cx="3017520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찬성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(11/12).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통제권·빈도·투명성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조건을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충족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시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알림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방식은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이용자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유형별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필요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257800" y="1581912"/>
            <a:ext cx="32918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사용자 FGI: 검증 가설과 확인 사항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719784"/>
              </p:ext>
            </p:extLst>
          </p:nvPr>
        </p:nvGraphicFramePr>
        <p:xfrm>
          <a:off x="5285232" y="2103120"/>
          <a:ext cx="6263638" cy="3272028"/>
        </p:xfrm>
        <a:graphic>
          <a:graphicData uri="http://schemas.openxmlformats.org/drawingml/2006/table">
            <a:tbl>
              <a:tblPr/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자문에서 도출한 가설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FGI에서 확인할 것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우선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그룹</a:t>
                      </a:r>
                      <a:endParaRPr sz="100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예비가설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최신성 불신이 재확인과 이탈을 부른다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잘못된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타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포털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재확인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복귀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G1·G2·G3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출처·업데이트일 표시가 신뢰를 높인다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실제로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확인하고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가치를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두는지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규범적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주장인지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 그룹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H7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구석구석은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주요 정보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경로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에서 접하기 어렵다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(LLM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포함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여부·시점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G4·G3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H3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차별 가치는 여행 중에 있다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돌발상황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당시 이용한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AI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에 대한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 그룹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H6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로그인 요구가 진입 장벽이다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로그인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비로그인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체험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반응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G3·G4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H4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브랜드·저장 데이터를 유지해야 한다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브랜드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인지·애착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저장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반응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G1·G2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H5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개인화는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통제권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알림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빈도·투명성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 </a:t>
                      </a:r>
                      <a:r>
                        <a:rPr lang="ko-KR" altLang="en-US"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확보될때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수용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동의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세분화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요구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선호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알림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방식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 그룹(G3)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외부자료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667512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① 고관여 소집단 </a:t>
            </a:r>
            <a:r>
              <a:rPr lang="en-US" altLang="ko-KR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  <a:r>
              <a:rPr lang="ko-KR" altLang="en-US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명의 의견으로 일반화 불가</a:t>
            </a:r>
            <a:r>
              <a:rPr lang="en-US" altLang="ko-KR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lang="ko-KR" altLang="en-US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콜드</a:t>
            </a:r>
            <a:r>
              <a:rPr lang="en-US" altLang="ko-KR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·</a:t>
            </a:r>
            <a:r>
              <a:rPr lang="ko-KR" altLang="en-US" sz="1150" dirty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잠재 이용자 관점은 간접적 단서에 한정  ② 사전 배포한 사업 자료의 영향  ③ 서면 응답으로 추가 질문 불가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한계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5. 시사점과 분석의 한계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이용자·콘텐츠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제공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부서·기획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부서에서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공통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요구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최신성·출처·정정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를 제시했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으나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구체적인 방안은 모두 미정</a:t>
            </a:r>
            <a:br>
              <a:rPr lang="en-US" altLang="ko-KR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</a:b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설계에서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우선 결정할 사항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5) 시사점·한계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7287768" y="1783080"/>
            <a:ext cx="442569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384048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내·외부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자료 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교차</a:t>
            </a:r>
            <a:r>
              <a:rPr lang="en-US"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분석의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시사점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(</a:t>
            </a:r>
            <a:r>
              <a:rPr sz="130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삼각검증</a:t>
            </a:r>
            <a:r>
              <a:rPr sz="13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28864"/>
              </p:ext>
            </p:extLst>
          </p:nvPr>
        </p:nvGraphicFramePr>
        <p:xfrm>
          <a:off x="621792" y="2103120"/>
          <a:ext cx="6309359" cy="3107436"/>
        </p:xfrm>
        <a:graphic>
          <a:graphicData uri="http://schemas.openxmlformats.org/drawingml/2006/table">
            <a:tbl>
              <a:tblPr/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쟁점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이용자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(시민참여단)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콘텐츠 제공자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(테마관 부서)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기획자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(AX팀 서면)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최신성·출처 표시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공신력 9, 출처·업데이트 7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 부서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AI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활용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으로 제시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최우선 가치, 구현은 검토중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일치, 구현 미정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시효</a:t>
                      </a:r>
                      <a:r>
                        <a:rPr lang="ko-KR" altLang="en-US" sz="95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지난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정보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관리</a:t>
                      </a:r>
                      <a:endParaRPr sz="950" b="1" dirty="0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최신성 불만 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종료된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캠페인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제외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활용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제한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미언급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공백</a:t>
                      </a:r>
                      <a:endParaRPr sz="950" b="0" dirty="0">
                        <a:solidFill>
                          <a:srgbClr val="C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광고·제휴 구분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4~5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검토중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(D-1)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오류 정정 체계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 (접수→정정→안내)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CMS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오류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개선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검토중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(E-2)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우선 단계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 중 7/11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초기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전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우선 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(A-2)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불일치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자산 보존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브랜드 2, 이용기록 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콘텐츠만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AI콕콕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연계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없음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부분 불일치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개인화 단계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조건부 찬성 11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정보→초개인화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단계적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확대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방향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동의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7452360" y="1581912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후속 활용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79" y="2103120"/>
            <a:ext cx="402336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lang="ko-KR" altLang="en-US"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관광 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AX </a:t>
            </a:r>
            <a:r>
              <a:rPr lang="ko-KR" altLang="en-US" sz="105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기획팀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대면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인터뷰</a:t>
            </a:r>
            <a:r>
              <a:rPr sz="105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(10.28.)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2414015"/>
            <a:ext cx="4023360" cy="4939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Q3·Q4·Q5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제시하고</a:t>
            </a:r>
            <a:r>
              <a:rPr lang="en-US" altLang="ko-KR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프로브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후속 질문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우선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판단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근거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표시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방안</a:t>
            </a:r>
            <a:r>
              <a:rPr lang="en-US" altLang="ko-KR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정정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절차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‘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최소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개인정보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’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항목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br>
              <a:rPr 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</a:b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관련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‘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어떻게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해석하셨나요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79" y="3218687"/>
            <a:ext cx="402336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업계 FGI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79" y="3529583"/>
            <a:ext cx="4023360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정정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창구·반영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소요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시간·성과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데이터·추천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공정성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 대한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요구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수준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AX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협업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(E-1)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미정이므로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수요 탐색형으로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설계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498079" y="4334256"/>
            <a:ext cx="402336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결과보고서 제언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4645152"/>
            <a:ext cx="4023360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시나리오와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선행</a:t>
            </a:r>
            <a:r>
              <a:rPr 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유지나 계승 </a:t>
            </a:r>
            <a:r>
              <a:rPr lang="ko-KR" altLang="en-US"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브랜드·저장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코스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추가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·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수정일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비로그인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95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상세 수준의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단계화는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단기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  <a:r>
              <a:rPr sz="950" b="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후보</a:t>
            </a:r>
            <a:endParaRPr sz="950" b="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6146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DCB3-2BCB-66DE-FE7C-0E2CDCC5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346927-52F1-236F-6FC5-23D2BB3524BD}"/>
              </a:ext>
            </a:extLst>
          </p:cNvPr>
          <p:cNvSpPr/>
          <p:nvPr/>
        </p:nvSpPr>
        <p:spPr>
          <a:xfrm>
            <a:off x="3237614" y="1108586"/>
            <a:ext cx="5184000" cy="8280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DBECC1-D302-CE7F-A8DD-69561298F371}"/>
              </a:ext>
            </a:extLst>
          </p:cNvPr>
          <p:cNvSpPr txBox="1"/>
          <p:nvPr/>
        </p:nvSpPr>
        <p:spPr>
          <a:xfrm>
            <a:off x="1290808" y="4442598"/>
            <a:ext cx="144302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ko-KR" spc="300" dirty="0">
                <a:solidFill>
                  <a:srgbClr val="43666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2026.10.</a:t>
            </a:r>
            <a:endParaRPr lang="ko-KR" altLang="en-US" spc="300" dirty="0">
              <a:solidFill>
                <a:srgbClr val="43666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F5D70D44-FE39-F3C7-00EE-957C67A6FC80}"/>
              </a:ext>
            </a:extLst>
          </p:cNvPr>
          <p:cNvSpPr/>
          <p:nvPr/>
        </p:nvSpPr>
        <p:spPr>
          <a:xfrm rot="16200000">
            <a:off x="8267126" y="1783110"/>
            <a:ext cx="176213" cy="176213"/>
          </a:xfrm>
          <a:prstGeom prst="corner">
            <a:avLst>
              <a:gd name="adj1" fmla="val 26087"/>
              <a:gd name="adj2" fmla="val 28261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L 도형 10">
            <a:extLst>
              <a:ext uri="{FF2B5EF4-FFF2-40B4-BE49-F238E27FC236}">
                <a16:creationId xmlns:a16="http://schemas.microsoft.com/office/drawing/2014/main" id="{F05B9071-54F9-BB95-439A-D07B08EE7415}"/>
              </a:ext>
            </a:extLst>
          </p:cNvPr>
          <p:cNvSpPr/>
          <p:nvPr/>
        </p:nvSpPr>
        <p:spPr>
          <a:xfrm rot="5400000">
            <a:off x="3213508" y="1083833"/>
            <a:ext cx="176213" cy="176213"/>
          </a:xfrm>
          <a:prstGeom prst="corner">
            <a:avLst>
              <a:gd name="adj1" fmla="val 26087"/>
              <a:gd name="adj2" fmla="val 28261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98426B-8A65-CFCD-F4F1-69E9C1E47EF6}"/>
              </a:ext>
            </a:extLst>
          </p:cNvPr>
          <p:cNvSpPr txBox="1"/>
          <p:nvPr/>
        </p:nvSpPr>
        <p:spPr>
          <a:xfrm>
            <a:off x="1290808" y="1067165"/>
            <a:ext cx="7303602" cy="16568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ko-KR" sz="5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</a:t>
            </a:r>
            <a:r>
              <a:rPr lang="ko-KR" altLang="en-US" sz="5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대한민국 구석구석 </a:t>
            </a:r>
            <a:endParaRPr lang="en-US" altLang="ko-KR" sz="5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>
              <a:spcBef>
                <a:spcPts val="200"/>
              </a:spcBef>
            </a:pPr>
            <a:r>
              <a:rPr lang="ko-KR" altLang="en-US" sz="4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유형별 심층 인터뷰 조사</a:t>
            </a:r>
            <a:r>
              <a:rPr lang="en-US" altLang="ko-KR" sz="4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en-US" altLang="ko-KR" sz="46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FGI</a:t>
            </a:r>
            <a:r>
              <a:rPr lang="en-US" altLang="ko-KR" sz="4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sz="4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C7C85-3DBC-B3CD-C7AF-0BF54A291A7B}"/>
              </a:ext>
            </a:extLst>
          </p:cNvPr>
          <p:cNvSpPr txBox="1"/>
          <p:nvPr/>
        </p:nvSpPr>
        <p:spPr>
          <a:xfrm>
            <a:off x="1290808" y="2978107"/>
            <a:ext cx="7772400" cy="6863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2200" b="0" dirty="0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내부 부서 인터뷰</a:t>
            </a:r>
            <a:r>
              <a:rPr lang="en-US" sz="2200" b="0" dirty="0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200" b="0" dirty="0" err="1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자료</a:t>
            </a:r>
            <a:r>
              <a:rPr sz="2200" b="0" dirty="0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2200" b="0" dirty="0" err="1">
                <a:solidFill>
                  <a:srgbClr val="1C4976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endParaRPr sz="2200" b="0" dirty="0">
              <a:solidFill>
                <a:srgbClr val="1C4976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spcAft>
                <a:spcPts val="600"/>
              </a:spcAft>
            </a:pPr>
            <a:r>
              <a:rPr lang="ko-KR" altLang="en-US" sz="1400" b="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관광 </a:t>
            </a:r>
            <a:r>
              <a:rPr lang="en-US" altLang="ko-KR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AX </a:t>
            </a:r>
            <a:r>
              <a:rPr lang="ko-KR" altLang="en-US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기획팀 및 테마관 운영부서</a:t>
            </a:r>
            <a:r>
              <a:rPr lang="en-US" altLang="ko-KR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(3</a:t>
            </a:r>
            <a:r>
              <a:rPr lang="ko-KR" altLang="en-US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개 부서</a:t>
            </a:r>
            <a:r>
              <a:rPr lang="en-US" altLang="ko-KR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) </a:t>
            </a:r>
            <a:r>
              <a:rPr lang="ko-KR" altLang="en-US" sz="1400" dirty="0">
                <a:solidFill>
                  <a:srgbClr val="43666D"/>
                </a:solidFill>
                <a:latin typeface="Pretendard Medium"/>
                <a:ea typeface="Pretendard Medium"/>
                <a:cs typeface="Pretendard Medium"/>
              </a:rPr>
              <a:t>대상</a:t>
            </a:r>
            <a:endParaRPr sz="1400" b="0" dirty="0">
              <a:solidFill>
                <a:srgbClr val="43666D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289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 dirty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</a:t>
            </a:r>
            <a:r>
              <a:rPr lang="en-US" altLang="ko-KR" sz="1600" dirty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</a:t>
            </a:r>
            <a:r>
              <a:rPr sz="1600" b="0" dirty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120640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계획 단계의 서면 답변으로 확정 사항이 아님 — 결과보고서에는 ‘2026.10 기준 검토 방향’으로 인용. 부서 회신 원문은 국디마팀 내부 검토용이며 타 부서 전달 시 취합(안)만 사용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성격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1. 조사 개요와 확인 질문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플랫폼·AI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여행비서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전환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방향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AX팀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)과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테마관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실태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운영부서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)를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사전에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파악해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FGI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설계에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반영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1) 개요·질문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5733288" y="1783080"/>
            <a:ext cx="5980176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5800" y="1874519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조사 개요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53133"/>
              </p:ext>
            </p:extLst>
          </p:nvPr>
        </p:nvGraphicFramePr>
        <p:xfrm>
          <a:off x="685800" y="2240280"/>
          <a:ext cx="4617720" cy="2392680"/>
        </p:xfrm>
        <a:graphic>
          <a:graphicData uri="http://schemas.openxmlformats.org/drawingml/2006/table">
            <a:tbl>
              <a:tblPr/>
              <a:tblGrid>
                <a:gridCol w="923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목적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플랫폼·AI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여행비서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추진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방향과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테마관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현황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파악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→ 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사용자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업계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FGI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문항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반영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대상·방식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관광AX기획팀 사전 질의서 14문항(필수 7·선택 7) / 테마관 운영부서 서면 의견조사 7문항 · 서면 회신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1건,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테마관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운영부서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3건(DMZ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평화관광·바다여행·전통시장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K-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관광마켓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) · 2026. 10. 20.~10. 23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활용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2단계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내부자료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분석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→ 3단계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관계자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인터뷰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→ 4단계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조사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설계</a:t>
                      </a:r>
                      <a:endParaRPr sz="100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5989320" y="1874519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질의서 구성과 확인하고자 한 것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498198"/>
              </p:ext>
            </p:extLst>
          </p:nvPr>
        </p:nvGraphicFramePr>
        <p:xfrm>
          <a:off x="5989320" y="2240280"/>
          <a:ext cx="5486400" cy="2714942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55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대상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확인 사항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반영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0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AX팀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플랫폼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우선 가치, 대구석 유지 요소, AI 우선 단계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0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B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AI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여행비서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활용 콘텐츠·단계, 음성 모드, AI콕콕 연계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01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C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참여형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이벤트 운영 구도, 회원·디민증 연계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0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D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제휴·정보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신뢰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공공/제휴 구분 표시, 실시간 가격·예약 방식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60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업계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협업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협업 기준·출처 원칙, 정정 창구, 홍보관 상품, 데이터 제공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업계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01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F</a:t>
                      </a:r>
                      <a:r>
                        <a:rPr lang="en-US"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FGI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준비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2027 초 서비스와 통합 이후의 차이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60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테마관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운영·효과·향후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 편의, 업데이트, 효과·노출, 통합 후 운영 방식, 유지·개선, AI 활용 조건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관계자</a:t>
                      </a:r>
                      <a:endParaRPr sz="950" b="0" dirty="0">
                        <a:solidFill>
                          <a:srgbClr val="000000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" name="Rounded Rectangle 65"/>
          <p:cNvSpPr/>
          <p:nvPr/>
        </p:nvSpPr>
        <p:spPr>
          <a:xfrm>
            <a:off x="429768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21207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CQ1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5" y="4937760"/>
            <a:ext cx="21488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AX팀 계획 중 확정·방향·미정은 어디까지이며, 미정 사항은 어떤 선택지 사이에 있는가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5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→ AX 대면 인터뷰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73552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3364992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CQ2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0" y="4937760"/>
            <a:ext cx="21488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테마관 운영부서는 통합 이후 어떤 운영 방식과 지원을 원하는가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→ 운영 모델 제언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17336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208775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CQ3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84264" y="4937760"/>
            <a:ext cx="21488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AI가 테마관 콘텐츠를 활용할 때 부서가 요구하는 조건은 무엇인가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84264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→ 콘텐츠 정보 구조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20" y="4937760"/>
            <a:ext cx="2743200" cy="658368"/>
          </a:xfrm>
          <a:prstGeom prst="roundRect">
            <a:avLst>
              <a:gd name="adj" fmla="val 13888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052560" y="5047488"/>
            <a:ext cx="438912" cy="438912"/>
          </a:xfrm>
          <a:prstGeom prst="ellipse">
            <a:avLst/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CQ4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28048" y="4937760"/>
            <a:ext cx="21488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부서 간 계획·요구는 정합하며, 이용자 기대(시민참여단)와는 어떻게 다른가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28048" y="5385816"/>
            <a:ext cx="214884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→ 국디마팀 협의 의제</a:t>
            </a:r>
          </a:p>
        </p:txBody>
      </p:sp>
    </p:spTree>
    <p:extLst>
      <p:ext uri="{BB962C8B-B14F-4D97-AF65-F5344CB8AC3E}">
        <p14:creationId xmlns:p14="http://schemas.microsoft.com/office/powerpoint/2010/main" val="2361777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3931920" cy="36118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2. 데이터 확인과 분석방법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2616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AX팀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회신은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문항별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구체성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코딩으로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테마관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회신은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3개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사례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비교로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분석하고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두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결과를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부서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간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정합성과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이용자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시민참여단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)에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대조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459736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2) 데이터·방법·절차</a:t>
            </a: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544568" y="1783080"/>
            <a:ext cx="7168896" cy="361188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5800" y="1874519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데이터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14문항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2724912"/>
            <a:ext cx="1143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AX팀 회신</a:t>
            </a:r>
          </a:p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필수 7 · 선택 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4708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3건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47088" y="2724912"/>
            <a:ext cx="1143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테마관 회신</a:t>
            </a:r>
          </a:p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7문항 × 3부서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35808" y="2240280"/>
            <a:ext cx="1143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0">
                <a:solidFill>
                  <a:srgbClr val="1264A2"/>
                </a:solidFill>
                <a:latin typeface="Pretendard ExtraBold"/>
                <a:ea typeface="Pretendard ExtraBold"/>
                <a:cs typeface="Pretendard ExtraBold"/>
              </a:rPr>
              <a:t>4부서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5808" y="2724912"/>
            <a:ext cx="1143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분석 대상</a:t>
            </a:r>
          </a:p>
          <a:p>
            <a:pPr algn="ctr"/>
            <a:r>
              <a:rPr sz="850" b="0">
                <a:solidFill>
                  <a:srgbClr val="073349"/>
                </a:solidFill>
                <a:latin typeface="Pretendard Medium"/>
                <a:ea typeface="Pretendard Medium"/>
                <a:cs typeface="Pretendard Medium"/>
              </a:rPr>
              <a:t>AX 1 + 운영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3246120"/>
            <a:ext cx="3474720" cy="2103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자료 특성과 유의점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AX 회신: 계획 단계. ‘검토중’이 4문항, 답변 구체성 편차 큼 → 확정 여부와 분리해 코딩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테마관 회신: 3건으로 수량 집계보다 사례 비교가 적합. 1건은 선택지 번호만 기재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신규조성부서(양식 B) 회신 없음 → 신규 테마관 수요는 미확인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작성 부서명 2건 미기재 → 회신 기준으로 표기, 최종 확인 중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서면 응답 → 프로브 불가, 10.28. 대면 인터뷰로 보완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1874519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분석방법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4800600" y="2240280"/>
          <a:ext cx="6675119" cy="2225040"/>
        </p:xfrm>
        <a:graphic>
          <a:graphicData uri="http://schemas.openxmlformats.org/drawingml/2006/table">
            <a:tbl>
              <a:tblPr/>
              <a:tblGrid>
                <a:gridCol w="106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8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방법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AX팀 회신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문서분석 · 구체성 코딩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구체(방침·방식 명시) / 방향(원칙만, 범위·시점 미정) / 계획 없음 / 검토중 4단계로 코딩 → 영역·반영 대상(이용자·업계·공통)별 교차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테마관 회신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사례 간 비교분석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선택형 문항은 분포, 서술형은 사유·조건 추출. 3개 사례를 문항별로 나란히 비교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내부 종합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정합성 분석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계획과 운영부서 요구를 쟁점별로 대조 → 일치 / 불일치 / 공백 / 범위 미확인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내·외부 종합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삼각검증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이용자(시민참여단)·콘텐츠 제공자(테마관)·기획자(AX) 세 집단에서 공통으로 나온 요구 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4800600" y="4663440"/>
            <a:ext cx="66751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코딩 원칙  </a:t>
            </a: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답변 구체성과 계획의 확정 여부는 별개로 다룸 · ‘계획 없음’은 현재 상태로 해석하고 서비스 종료·제공 불가로 확대 해석하지 않음 · 해석과 제안은 대면 인터뷰 후 보완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" y="548640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분석 절차</a:t>
            </a:r>
          </a:p>
        </p:txBody>
      </p:sp>
      <p:sp>
        <p:nvSpPr>
          <p:cNvPr id="74" name="Pentagon 73"/>
          <p:cNvSpPr/>
          <p:nvPr/>
        </p:nvSpPr>
        <p:spPr>
          <a:xfrm>
            <a:off x="429768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① 회신 수집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AX 1 · 테마관 3</a:t>
            </a:r>
          </a:p>
        </p:txBody>
      </p:sp>
      <p:sp>
        <p:nvSpPr>
          <p:cNvPr id="75" name="Pentagon 74"/>
          <p:cNvSpPr/>
          <p:nvPr/>
        </p:nvSpPr>
        <p:spPr>
          <a:xfrm>
            <a:off x="2322576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② 문항별 정리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질문·답변 요지</a:t>
            </a:r>
          </a:p>
        </p:txBody>
      </p:sp>
      <p:sp>
        <p:nvSpPr>
          <p:cNvPr id="76" name="Pentagon 75"/>
          <p:cNvSpPr/>
          <p:nvPr/>
        </p:nvSpPr>
        <p:spPr>
          <a:xfrm>
            <a:off x="4215383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③ 코딩·비교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구체성 / 사례</a:t>
            </a:r>
          </a:p>
        </p:txBody>
      </p:sp>
      <p:sp>
        <p:nvSpPr>
          <p:cNvPr id="77" name="Pentagon 76"/>
          <p:cNvSpPr/>
          <p:nvPr/>
        </p:nvSpPr>
        <p:spPr>
          <a:xfrm>
            <a:off x="6108191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④ 정합성 검토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부서 간 대조</a:t>
            </a:r>
          </a:p>
        </p:txBody>
      </p:sp>
      <p:sp>
        <p:nvSpPr>
          <p:cNvPr id="78" name="Pentagon 77"/>
          <p:cNvSpPr/>
          <p:nvPr/>
        </p:nvSpPr>
        <p:spPr>
          <a:xfrm>
            <a:off x="8001000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⑤ 외부 대조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시민참여단 결과</a:t>
            </a:r>
          </a:p>
        </p:txBody>
      </p:sp>
      <p:sp>
        <p:nvSpPr>
          <p:cNvPr id="79" name="Pentagon 78"/>
          <p:cNvSpPr/>
          <p:nvPr/>
        </p:nvSpPr>
        <p:spPr>
          <a:xfrm>
            <a:off x="9893808" y="5760720"/>
            <a:ext cx="2011680" cy="658368"/>
          </a:xfrm>
          <a:prstGeom prst="homePlate">
            <a:avLst/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64592" bIns="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⑥ 확인 사항 도출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대면 질문·조치</a:t>
            </a:r>
          </a:p>
        </p:txBody>
      </p:sp>
    </p:spTree>
    <p:extLst>
      <p:ext uri="{BB962C8B-B14F-4D97-AF65-F5344CB8AC3E}">
        <p14:creationId xmlns:p14="http://schemas.microsoft.com/office/powerpoint/2010/main" val="421746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411480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계획 문서(AI 여행비서 착수보고의 여행 중 시나리오)와 서면 답변(초기 여행 전 우선)이 다르고, 최우선 가치로 꼽은 ‘신뢰’의 구현 수단(D-1·E-1·E-2)이 모두 검토중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읽기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① 관광AX기획팀 회신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플랫폼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구조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회원·이벤트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)는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구체적이나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규칙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표시·협업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기준·정정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절차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)은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미정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lang="en-US"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/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—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필수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7문항 중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답변은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A-1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하나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3-1) AX팀 14문항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727448" y="1783080"/>
            <a:ext cx="698601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회신 수준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214884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167128"/>
            <a:ext cx="73152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000" b="0">
                <a:solidFill>
                  <a:srgbClr val="1C4976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2167128"/>
            <a:ext cx="10058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구체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14600" y="214884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14600" y="2167128"/>
            <a:ext cx="73152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000" b="0">
                <a:solidFill>
                  <a:srgbClr val="337FB3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2167128"/>
            <a:ext cx="10058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방향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306324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080" y="3081528"/>
            <a:ext cx="73152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000" b="0">
                <a:solidFill>
                  <a:srgbClr val="B26A00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3081528"/>
            <a:ext cx="10058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계획 없음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14600" y="306324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514600" y="3081528"/>
            <a:ext cx="73152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000" b="0">
                <a:solidFill>
                  <a:srgbClr val="C00000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3081528"/>
            <a:ext cx="10058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검토중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023360"/>
            <a:ext cx="3657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필수 7문항: 구체 1(A-1) · 방향 4 · 검토중 2(D-1, E-1)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이용자 FGI용 8문항: 구체 3 · 방향 3 · 계획 없음 1 · 검토중 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• 업계 FGI용 4문항: 방향 1 · 계획 없음 1 · 검토중 2 → 업계 영역 공백이 큼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• 구조 설계가 운영 규칙 설계보다 앞서 진행되는 단계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892040" y="1581912"/>
            <a:ext cx="292608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영역별 확인 내용과 미정 사항</a:t>
            </a:r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4919472" y="2103120"/>
          <a:ext cx="6583679" cy="3337558"/>
        </p:xfrm>
        <a:graphic>
          <a:graphicData uri="http://schemas.openxmlformats.org/drawingml/2006/table">
            <a:tbl>
              <a:tblPr/>
              <a:tblGrid>
                <a:gridCol w="111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4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확인된 내용 (서면 회신)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미정 · 공백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가치·역할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신뢰할 수 있는 관광정보 기반 여행 준비·공공서비스 지원. 지역·테마 기사와 지역 콘텐츠 유지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‘구석구석’ 명칭·브랜드 처리 미언급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서비스 단계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초기는 여행 전 탐색·계획 중심. 여행 중 안내는 위치·실시간 데이터 여건에 따라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실시간 데이터 연계 범위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활용 콘텐츠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대구석 콘텐츠를 폭넓게 활용 (예시: 디민증 혜택, 주말 축제·코스)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개시 시점 범위, 기사·테마관 활용 방식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61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서비스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B26A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AI콕콕 플래너 연계 계획 없음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플래너 존폐, 저장 코스 처리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91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회원·이벤트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기존 회원 → 통합 회원 전환, 디민증·반값여행 연계. 공통 이벤트 기능은 AX, 사업별 운영은 담당부서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전환 시 동의 절차, 디민증 분리와의 관계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제휴·예약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예약은 협력사 사이트로 이동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실시간 가격, 공공·제휴 구분 표시(D-1)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업계 협업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B26A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협업처 데이터 제공 계획 없음. 홍보관 상품 추천은 담당부서 협의 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협업 기준·출처 원칙(E-1), 외부 정정 창구(E-2)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2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단계 구분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2027 초 최소 개인정보로 기본 맞춤 → 이후 초개인화 단계적 고도화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‘최소 개인정보’의 항목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7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740664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선택지 ②(공통 기능 활용 운영)를 택한 부서가 없음 — 공통 기능 제공만으로는 운영 부담이 해소되지 않는다는 신호. 수탁 주체 후보(국디마팀 직접 / 대구석 운영사 과업 확대 / 통합 플랫폼 운영업체)별 국디마팀 역할 변화 검토 필요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lang="ko-KR" altLang="en-US" sz="1200" b="0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해석 </a:t>
              </a:r>
              <a:endParaRPr sz="1200" b="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② 테마관 운영부서 회신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3개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부서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모두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이후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위탁’을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희망하고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AI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활용에는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조건부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동의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 </a:t>
            </a:r>
            <a:endParaRPr lang="en-US"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/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—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편의는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모두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보통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’,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효과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체감은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메인·푸시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노출에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의존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3-2) 테마관 3건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8019288" y="1783080"/>
            <a:ext cx="369417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문항별 사례 비교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21792" y="2103120"/>
          <a:ext cx="7040879" cy="3162300"/>
        </p:xfrm>
        <a:graphic>
          <a:graphicData uri="http://schemas.openxmlformats.org/drawingml/2006/table">
            <a:tbl>
              <a:tblPr/>
              <a:tblGrid>
                <a:gridCol w="105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DMZ 평화관광 (2021)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바다여행 (2025)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전통시장 K-관광마켓 (2024)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콘텐츠·업데이트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기사형 · 매월, 이슈 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기사형 · 캠페인 시작·종료 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기사·DB·배너 · 매주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50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운영 편의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보통 — 코드 자동 변형, 컴포넌트 중복, 지역 분류 임의 변경 오류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보통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보통 — 등록·수정 자료가 많음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50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효과·노출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그렇다 — 기사 보고 문의, 자체 SNS보다 높은 도달 / 노출 효과 잘 모름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잘 모르겠다 / 노출 시 유입 증가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그렇다 — 푸시 때만 체감 / 푸시 1회로 사전예약 급증, 유입 약 20%↑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C497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통합 후 운영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위탁 — 공통 지침·정책 준수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위탁 — 방치 테마관 다수, 톤앤매너 통일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③ 위탁 — 운영 시간 절감, 콘텐츠 집중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유지·개선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기사형 업로드·이벤트 기능 유지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투어라즈 수준 편집 환경, 내부망 접속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없음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C497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활용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조건부 — 변동 정보는 현지 확인 안내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조건부 — 출처 표기, 캠페인 종료 제외, 최신 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C4976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② 조건부 — 일정 기간 이내 콘텐츠만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8183879" y="158191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AI 활용 조건 4유형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83879" y="2148840"/>
            <a:ext cx="868680" cy="603504"/>
          </a:xfrm>
          <a:prstGeom prst="roundRect">
            <a:avLst>
              <a:gd name="adj" fmla="val 18181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5712" y="2130552"/>
            <a:ext cx="242316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캠페인 종료 후 제외 · 일정 기간(n년) 이내 콘텐츠만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83879" y="2862072"/>
            <a:ext cx="868680" cy="603504"/>
          </a:xfrm>
          <a:prstGeom prst="roundRect">
            <a:avLst>
              <a:gd name="adj" fmla="val 18181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권리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2843784"/>
            <a:ext cx="242316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저작권·초상권 출처 표기 (출처 표기 ≠ 이용 권한 확인)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83879" y="3575304"/>
            <a:ext cx="868680" cy="603504"/>
          </a:xfrm>
          <a:prstGeom prst="roundRect">
            <a:avLst>
              <a:gd name="adj" fmla="val 18181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최신성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25712" y="3557016"/>
            <a:ext cx="242316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최신 정보 확인, ‘재확인 권고’ 안내 병행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83879" y="4288536"/>
            <a:ext cx="868680" cy="603504"/>
          </a:xfrm>
          <a:prstGeom prst="roundRect">
            <a:avLst>
              <a:gd name="adj" fmla="val 18181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변동성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25712" y="4270248"/>
            <a:ext cx="242316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운영시간·예약이 자주 바뀌는 콘텐츠는 ‘현지 확인’ 안내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83879" y="5029200"/>
            <a:ext cx="3364992" cy="411480"/>
          </a:xfrm>
          <a:prstGeom prst="roundRect">
            <a:avLst>
              <a:gd name="adj" fmla="val 26666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→ 등록 단계에 게시일·종료일·이용 권한·변동 가능성 관리항목 필요</a:t>
            </a:r>
          </a:p>
        </p:txBody>
      </p:sp>
    </p:spTree>
    <p:extLst>
      <p:ext uri="{BB962C8B-B14F-4D97-AF65-F5344CB8AC3E}">
        <p14:creationId xmlns:p14="http://schemas.microsoft.com/office/powerpoint/2010/main" val="3631925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577840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3. 분석 결과 ③ 부서 간 정합성과 이용자 기대 대조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주체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(AX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담당부서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 vs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테마관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위탁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희망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’)가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불일치하고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세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집단이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공통으로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요구한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최신성·출처·정정은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모두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미정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3-3) 정합성·대조</a:t>
            </a: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6190488" y="1783080"/>
            <a:ext cx="5522976" cy="3063240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부서 간 정합성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21792" y="2103120"/>
          <a:ext cx="5212080" cy="2415540"/>
        </p:xfrm>
        <a:graphic>
          <a:graphicData uri="http://schemas.openxmlformats.org/drawingml/2006/table">
            <a:tbl>
              <a:tblPr/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쟁점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관광AX기획팀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테마관 운영부서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운영 주체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사업별 운영은 담당부서 (C-1)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3곳 모두 위탁 희망 (A-5)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불일치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콘텐츠 활용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폭넓게 활용 (B-2)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3곳 모두 조건부 (A-7)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 미정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이벤트 기능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공통 기능 설계 (C-1)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이벤트 기능 유지 희망 (A-6)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성과 데이터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협업처 제공 계획 없음 (E-4)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성과 근거 부족 (A-3·A-4)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편집 환경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백오피스는 AI 수정 중심 언급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CMS 오류·불편 (A-1·A-6)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범위 미확인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355080" y="1581912"/>
            <a:ext cx="329184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이용자 기대(시민참여단)와의 대조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6382512" y="2103120"/>
          <a:ext cx="5166358" cy="2415540"/>
        </p:xfrm>
        <a:graphic>
          <a:graphicData uri="http://schemas.openxmlformats.org/drawingml/2006/table">
            <a:tbl>
              <a:tblPr/>
              <a:tblGrid>
                <a:gridCol w="144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쟁점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이용자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테마관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AX팀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판정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최신성·출처 표시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공신력 9, 표시 7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3곳 조건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구현 검토중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일치, 구현 미정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시효 지난 정보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최신성 불만 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종료 제외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미언급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광고·제휴 구분 / 정정 체계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4~5 / 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 / CMS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검토중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미정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AI 우선 단계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여행 중 7/11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초기 여행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불일치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자산 보존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브랜드 2, 기록 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콘텐츠만, 콕콕 없음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부분 불일치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429768" y="4773168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073349"/>
                </a:solidFill>
                <a:latin typeface="Pretendard SemiBold"/>
                <a:ea typeface="Pretendard SemiBold"/>
                <a:cs typeface="Pretendard SemiBold"/>
              </a:rPr>
              <a:t>발견 사항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9768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21207" y="51389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① 운영 주체 공백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19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부서는 운영에서 빠지려 하고 AX는 부서가 운영한다고 가정 — 그 사이 주체를 정해야 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06624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798064" y="51389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② 조건 → 정보 구조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79776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시효·권리·최신성·변동성 조건은 등록 시 관리항목이 있어야 지킬 수 있음. 기사형 콘텐츠는 시점에 묶임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83480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074920" y="51389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③ 우선 단계 간극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56632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AX 초기 여행 전 vs 이용자 기대 여행 중. 실시간 데이터 여건이 선행조건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60336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7351776" y="51389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④ 자산 단절 위험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33488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AI콕콕 저장 코스, 브랜드, 회원 전환 동의가 미정 — 핫 유저 이탈 요인 가능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37192" y="5285232"/>
            <a:ext cx="2185416" cy="1069848"/>
          </a:xfrm>
          <a:prstGeom prst="roundRect">
            <a:avLst>
              <a:gd name="adj" fmla="val 8547"/>
            </a:avLst>
          </a:prstGeom>
          <a:solidFill>
            <a:srgbClr val="F2F5F8"/>
          </a:solidFill>
          <a:ln w="9525">
            <a:solidFill>
              <a:srgbClr val="C9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9628632" y="51389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⑤ 성과 미환류 · CMS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10344" y="5504688"/>
            <a:ext cx="2057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효과는 체감 수준, 데이터 제공 계획 없음. 지역 분류 오류는 AI 오답으로 연결 가능</a:t>
            </a:r>
          </a:p>
        </p:txBody>
      </p:sp>
    </p:spTree>
    <p:extLst>
      <p:ext uri="{BB962C8B-B14F-4D97-AF65-F5344CB8AC3E}">
        <p14:creationId xmlns:p14="http://schemas.microsoft.com/office/powerpoint/2010/main" val="416019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640080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결정 대신 기준을 묻기 · 선택지 카드(콘텐츠 7종 / 정보 구분 A·B·C / 개인정보 항목)와 시나리오(우천 가족여행, 축제 일정 변경 정정) 제시 · 담당자 개인 의견 허용 · ‘AX 단독 / 국디마 협의’ 구분 기록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대면 원칙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4. 결과 해석과 과업 활용 방안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7440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미정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사항을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‘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결정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시점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’(AI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도입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전 /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통합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전)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으로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구분하고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, AX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대면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인터뷰에서는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결정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여부가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아니라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판단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기준과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선택지를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확인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194560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4) 해석·활용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7013448" y="1783080"/>
            <a:ext cx="470001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310896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추가 확인이 필요한 사항 (7)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21792" y="2103120"/>
          <a:ext cx="6035039" cy="3337556"/>
        </p:xfrm>
        <a:graphic>
          <a:graphicData uri="http://schemas.openxmlformats.org/drawingml/2006/table">
            <a:tbl>
              <a:tblPr/>
              <a:tblGrid>
                <a:gridCol w="1327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82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확인 사항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결정 시점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확인 경로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5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① 운영 역할 분담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콘텐츠 기획·제작·갱신과 게시·시스템 운영의 책임 주체, 위탁 가능 범위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 → 국디마 협의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② AI 활용 조건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유효기간·출처·이용 권한·갱신일·변동성 관리 방식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도입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③ 초기 범위 vs 여행 중 기대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단계별 제공 범위, 실시간 정보 연계 계획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도입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 → 사용자 FGI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④ 서비스 연속성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AI콕콕 저장 코스 / 명칭·브랜드 / 회원 전환·이용기록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도입 전(코스) · 통합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 → 사용자 FGI G1·G2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⑤ 성과정보 공유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내부 부서·외부 협업처별 필요 정보와 제공 계획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 → 업계 FGI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⑥ CMS 개선 범위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지역 분류·편집 오류 현황, 데이터 정비 계획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도입 전(정비) · 통합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4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⑦ 노출 기준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메인·앱 푸시·AI 답변 노출 방식과 담당 주체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7178040" y="1581912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과업 설계 반영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23760" y="2103120"/>
            <a:ext cx="429768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사용자 FGI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2414015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 구분 표시·외부 예약 이동·여행 전/중 지원을 시나리오로 제시해 선호·불편 확인. 저장 코스·브랜드 유지는 유도 없이 질문. 설명자료는 F-1 기준, 미확정 기능은 ‘검토 중’ 표시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23760" y="3218687"/>
            <a:ext cx="429768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업계 FGI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3529583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AX 협업 기준(E-1) 미정 → 기준 검증이 아닌 니즈 도출로 설계. 정정 창구·반영 시간·성과 데이터·추천 기준 공정성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23760" y="4334256"/>
            <a:ext cx="4297680" cy="292608"/>
          </a:xfrm>
          <a:prstGeom prst="roundRect">
            <a:avLst>
              <a:gd name="adj" fmla="val 375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0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결과보고서 제언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4645152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콘텐츠 관리항목(시효·출처·변동성), 테마관 운영 역할 모델, 서비스 전환 시 고려사항을 중장기 제언에 반영. 계승 기능에 브랜드·저장 코스 추가</a:t>
            </a:r>
          </a:p>
        </p:txBody>
      </p:sp>
    </p:spTree>
    <p:extLst>
      <p:ext uri="{BB962C8B-B14F-4D97-AF65-F5344CB8AC3E}">
        <p14:creationId xmlns:p14="http://schemas.microsoft.com/office/powerpoint/2010/main" val="1966840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57AF-F478-3310-6608-0FB9F109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B24448-2BD1-E42D-0A84-60F9A47B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1904E-91D6-440F-887A-B5C2A4E0C4C9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C85E4C-9149-1B96-8A05-4D5403B4C354}"/>
              </a:ext>
            </a:extLst>
          </p:cNvPr>
          <p:cNvSpPr txBox="1"/>
          <p:nvPr/>
        </p:nvSpPr>
        <p:spPr>
          <a:xfrm>
            <a:off x="481124" y="139107"/>
            <a:ext cx="2103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내부자료 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D9182-80AD-3623-7DD6-BD87420EADCD}"/>
              </a:ext>
            </a:extLst>
          </p:cNvPr>
          <p:cNvSpPr/>
          <p:nvPr/>
        </p:nvSpPr>
        <p:spPr>
          <a:xfrm>
            <a:off x="161084" y="126844"/>
            <a:ext cx="320040" cy="3200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0">
                <a:solidFill>
                  <a:srgbClr val="1C3658"/>
                </a:solidFill>
                <a:latin typeface="Pretendard SemiBold"/>
                <a:ea typeface="Pretendard SemiBold"/>
                <a:cs typeface="Pretendard SemiBold"/>
              </a:rPr>
              <a:t>II</a:t>
            </a:r>
            <a:endParaRPr lang="ko-KR" altLang="en-US" sz="1600" dirty="0">
              <a:solidFill>
                <a:srgbClr val="1C3658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429768" y="1783080"/>
            <a:ext cx="5760720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559EE15-3220-4E1F-008F-69A48F02FC0F}"/>
              </a:ext>
            </a:extLst>
          </p:cNvPr>
          <p:cNvSpPr/>
          <p:nvPr/>
        </p:nvSpPr>
        <p:spPr>
          <a:xfrm>
            <a:off x="433304" y="5657713"/>
            <a:ext cx="11291740" cy="663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3697E222-6A76-68CC-E1F0-029CF639FC86}"/>
              </a:ext>
            </a:extLst>
          </p:cNvPr>
          <p:cNvSpPr txBox="1"/>
          <p:nvPr/>
        </p:nvSpPr>
        <p:spPr>
          <a:xfrm>
            <a:off x="2129121" y="5657713"/>
            <a:ext cx="9243729" cy="66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800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50" b="0">
                <a:solidFill>
                  <a:srgbClr val="025E83"/>
                </a:solidFill>
                <a:latin typeface="Pretendard SemiBold"/>
                <a:ea typeface="Pretendard SemiBold"/>
                <a:cs typeface="Pretendard SemiBold"/>
              </a:rPr>
              <a:t>① 계획 단계 서면 답변, 확정 사항 아님  ② 테마관 3건·신규조성 무응답, 부서명 2건 미기재  ③ 프로브 불가 → 대면 보완  ④ 시민참여단 대조는 고관여 12명 기준, 일반화하지 않음</a:t>
            </a:r>
            <a:endParaRPr lang="ko-KR" altLang="en-US" sz="1400" dirty="0">
              <a:solidFill>
                <a:srgbClr val="025E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377FC5F-7A84-20DB-513B-681691FB5386}"/>
              </a:ext>
            </a:extLst>
          </p:cNvPr>
          <p:cNvGrpSpPr/>
          <p:nvPr/>
        </p:nvGrpSpPr>
        <p:grpSpPr>
          <a:xfrm>
            <a:off x="618352" y="5829360"/>
            <a:ext cx="1181873" cy="327746"/>
            <a:chOff x="2151984" y="5530258"/>
            <a:chExt cx="1664793" cy="46166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87B38DE-9928-210E-5A04-A4A7323E9BE9}"/>
                </a:ext>
              </a:extLst>
            </p:cNvPr>
            <p:cNvSpPr/>
            <p:nvPr/>
          </p:nvSpPr>
          <p:spPr>
            <a:xfrm>
              <a:off x="2151984" y="5530258"/>
              <a:ext cx="1664793" cy="461665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27CA6"/>
                </a:gs>
                <a:gs pos="43000">
                  <a:srgbClr val="0F4B67"/>
                </a:gs>
                <a:gs pos="0">
                  <a:srgbClr val="1A475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0" rIns="0" bIns="0" rtlCol="0" anchor="ctr"/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한계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E821BFC-B337-9D8F-E519-FFE7ACDB2CF3}"/>
                </a:ext>
              </a:extLst>
            </p:cNvPr>
            <p:cNvGrpSpPr/>
            <p:nvPr/>
          </p:nvGrpSpPr>
          <p:grpSpPr>
            <a:xfrm>
              <a:off x="2232050" y="5605274"/>
              <a:ext cx="311633" cy="311633"/>
              <a:chOff x="5774524" y="1773498"/>
              <a:chExt cx="507549" cy="507549"/>
            </a:xfrm>
          </p:grpSpPr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9731DB1C-D102-3D0B-1AE3-E064F3150E77}"/>
                  </a:ext>
                </a:extLst>
              </p:cNvPr>
              <p:cNvSpPr/>
              <p:nvPr/>
            </p:nvSpPr>
            <p:spPr>
              <a:xfrm>
                <a:off x="5774524" y="1773498"/>
                <a:ext cx="507549" cy="5075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A4C6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6715D397-668B-88C0-7D84-F57A2AFF8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8788" y="1886675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0C7F20-61F8-E534-3769-1638093A7ABC}"/>
              </a:ext>
            </a:extLst>
          </p:cNvPr>
          <p:cNvSpPr txBox="1"/>
          <p:nvPr/>
        </p:nvSpPr>
        <p:spPr>
          <a:xfrm>
            <a:off x="2651760" y="6555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5. 시사점, 국디마팀 조치 사항과 한계</a:t>
            </a:r>
            <a:endParaRPr lang="ko-KR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88463B-BD98-A873-B4C9-02C1AB2D2630}"/>
              </a:ext>
            </a:extLst>
          </p:cNvPr>
          <p:cNvSpPr/>
          <p:nvPr/>
        </p:nvSpPr>
        <p:spPr>
          <a:xfrm>
            <a:off x="433303" y="826882"/>
            <a:ext cx="11284753" cy="636139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C4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642616" rIns="0" rtlCol="0" anchor="ctr"/>
          <a:lstStyle/>
          <a:p>
            <a:pPr algn="l"/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테마관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운영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주체와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홍보관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추천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기준은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국디마팀이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입장을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정해야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AX팀과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협의가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가능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lang="en-US"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/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— 10.28.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대면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전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정리가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필요한</a:t>
            </a:r>
            <a:r>
              <a:rPr sz="1400" b="0" dirty="0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0" dirty="0" err="1">
                <a:solidFill>
                  <a:schemeClr val="tx1"/>
                </a:solidFill>
                <a:latin typeface="Pretendard SemiBold"/>
                <a:ea typeface="Pretendard SemiBold"/>
                <a:cs typeface="Pretendard SemiBold"/>
              </a:rPr>
              <a:t>의제</a:t>
            </a:r>
            <a:endParaRPr sz="1400" b="0" dirty="0">
              <a:solidFill>
                <a:schemeClr val="tx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EEF0A10E-4D0F-B322-4057-C41F778F8695}"/>
              </a:ext>
            </a:extLst>
          </p:cNvPr>
          <p:cNvSpPr/>
          <p:nvPr/>
        </p:nvSpPr>
        <p:spPr>
          <a:xfrm>
            <a:off x="433303" y="826882"/>
            <a:ext cx="2459736" cy="636139"/>
          </a:xfrm>
          <a:custGeom>
            <a:avLst/>
            <a:gdLst>
              <a:gd name="csX0" fmla="*/ 318070 w 2476640"/>
              <a:gd name="csY0" fmla="*/ 0 h 636139"/>
              <a:gd name="csX1" fmla="*/ 2476640 w 2476640"/>
              <a:gd name="csY1" fmla="*/ 0 h 636139"/>
              <a:gd name="csX2" fmla="*/ 2476640 w 2476640"/>
              <a:gd name="csY2" fmla="*/ 636139 h 636139"/>
              <a:gd name="csX3" fmla="*/ 318070 w 2476640"/>
              <a:gd name="csY3" fmla="*/ 636139 h 636139"/>
              <a:gd name="csX4" fmla="*/ 24996 w 2476640"/>
              <a:gd name="csY4" fmla="*/ 441876 h 636139"/>
              <a:gd name="csX5" fmla="*/ 0 w 2476640"/>
              <a:gd name="csY5" fmla="*/ 318070 h 636139"/>
              <a:gd name="csX6" fmla="*/ 24996 w 2476640"/>
              <a:gd name="csY6" fmla="*/ 194263 h 636139"/>
              <a:gd name="csX7" fmla="*/ 318070 w 2476640"/>
              <a:gd name="csY7" fmla="*/ 0 h 636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76640" h="636139">
                <a:moveTo>
                  <a:pt x="318070" y="0"/>
                </a:moveTo>
                <a:lnTo>
                  <a:pt x="2476640" y="0"/>
                </a:lnTo>
                <a:lnTo>
                  <a:pt x="2476640" y="636139"/>
                </a:lnTo>
                <a:lnTo>
                  <a:pt x="318070" y="636139"/>
                </a:lnTo>
                <a:cubicBezTo>
                  <a:pt x="186322" y="636139"/>
                  <a:pt x="73281" y="556036"/>
                  <a:pt x="24996" y="441876"/>
                </a:cubicBezTo>
                <a:lnTo>
                  <a:pt x="0" y="318070"/>
                </a:lnTo>
                <a:lnTo>
                  <a:pt x="24996" y="194263"/>
                </a:lnTo>
                <a:cubicBezTo>
                  <a:pt x="73281" y="80103"/>
                  <a:pt x="186322" y="0"/>
                  <a:pt x="318070" y="0"/>
                </a:cubicBezTo>
                <a:close/>
              </a:path>
            </a:pathLst>
          </a:custGeom>
          <a:gradFill>
            <a:gsLst>
              <a:gs pos="100000">
                <a:srgbClr val="227CA6"/>
              </a:gs>
              <a:gs pos="43000">
                <a:srgbClr val="0F4B67"/>
              </a:gs>
              <a:gs pos="0">
                <a:srgbClr val="1A475C"/>
              </a:gs>
            </a:gsLst>
            <a:lin ang="2700000" scaled="0"/>
          </a:gra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0" rIns="0" bIns="0" rtlCol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5) 시사점·조치·한계</a:t>
            </a:r>
          </a:p>
        </p:txBody>
      </p:sp>
      <p:sp>
        <p:nvSpPr>
          <p:cNvPr id="8" name="사각형: 둥근 모서리 3">
            <a:extLst>
              <a:ext uri="{FF2B5EF4-FFF2-40B4-BE49-F238E27FC236}">
                <a16:creationId xmlns:a16="http://schemas.microsoft.com/office/drawing/2014/main" id="{F921D961-30E2-1CD6-8DD6-45662D990ECA}"/>
              </a:ext>
            </a:extLst>
          </p:cNvPr>
          <p:cNvSpPr/>
          <p:nvPr/>
        </p:nvSpPr>
        <p:spPr>
          <a:xfrm>
            <a:off x="6373368" y="1783080"/>
            <a:ext cx="5340096" cy="3749039"/>
          </a:xfrm>
          <a:prstGeom prst="roundRect">
            <a:avLst>
              <a:gd name="adj" fmla="val 4090"/>
            </a:avLst>
          </a:prstGeom>
          <a:solidFill>
            <a:schemeClr val="bg1"/>
          </a:solidFill>
          <a:ln w="9525">
            <a:solidFill>
              <a:srgbClr val="C9D6DF"/>
            </a:solidFill>
          </a:ln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0" tIns="144000" rIns="0" bIns="0" rtlCol="0" anchor="t"/>
          <a:lstStyle/>
          <a:p>
            <a:endParaRPr lang="ko-KR" altLang="en-US" sz="16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94360" y="1581912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종합 시사점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" y="2103120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운영 주체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680" y="2084831"/>
            <a:ext cx="402336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운영부서 3곳 모두 위탁 희망, 선택지 ② 미선택 → 수탁 주체 후보별 국디마팀 역할 변화 검토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" y="2761487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콘텐츠 정보 구조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2743199"/>
            <a:ext cx="402336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 집단 공통 요구(최신성·출처·정정)가 모두 미정 → 통합 설계에서 가장 먼저 결정할 항목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" y="3419856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우선 단계·데이터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11680" y="3401568"/>
            <a:ext cx="402336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여행 중 기대 vs 여행 전 계획 — 실시간 데이터 확보 계획이 쟁점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" y="4078224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이용자 자산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4059936"/>
            <a:ext cx="402336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저장 코스·브랜드·회원 전환 동의 미정 → FGI 확인 후 통합 설계 반영 요청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" y="4736592"/>
            <a:ext cx="1325880" cy="548640"/>
          </a:xfrm>
          <a:prstGeom prst="roundRect">
            <a:avLst>
              <a:gd name="adj" fmla="val 20000"/>
            </a:avLst>
          </a:prstGeom>
          <a:solidFill>
            <a:srgbClr val="0D4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성과·CMS·노출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11680" y="4718304"/>
            <a:ext cx="402336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성과 미환류는 내부에도 해당. CMS 정비·노출 기준의 범위와 주체 확인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37960" y="1581912"/>
            <a:ext cx="3108960" cy="384048"/>
          </a:xfrm>
          <a:prstGeom prst="roundRect">
            <a:avLst>
              <a:gd name="adj" fmla="val 28571"/>
            </a:avLst>
          </a:prstGeom>
          <a:solidFill>
            <a:srgbClr val="12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국디마팀 협의·확인 요청사항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6565392" y="2103120"/>
          <a:ext cx="4983479" cy="2953512"/>
        </p:xfrm>
        <a:graphic>
          <a:graphicData uri="http://schemas.openxmlformats.org/drawingml/2006/table">
            <a:tbl>
              <a:tblPr/>
              <a:tblGrid>
                <a:gridCol w="348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No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사항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성격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시점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테마관 회신의 AX팀 공유 범위 — 국디마팀 명의 취합(안) 전달 기본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공유 협의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10.26.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대면 인터뷰 동석 여부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참석 협의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10.26.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테마관 운영 역할 분담·수탁 주체 후보에 대한 국디마팀 입장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협의 의제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10.28. 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86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‘구석구석’ 명칭·브랜드 의견 전달 경로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AX 협의 의제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10.28.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신규조성부서 회신 여부, 작성 부서명 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10월 5주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홍보관(국디마 소관) 상품의 AI 추천 기준·표시 방식(안) 준비 후 협의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국디마 준비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7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내부 부서 이용 현황 자료 제공 방안 검토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검토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11월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69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35824</TotalTime>
  <Words>5157</Words>
  <Application>Microsoft Office PowerPoint</Application>
  <PresentationFormat>와이드스크린</PresentationFormat>
  <Paragraphs>776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Pretendard SemiBold</vt:lpstr>
      <vt:lpstr>Pretendard</vt:lpstr>
      <vt:lpstr>Pretendard ExtraBold</vt:lpstr>
      <vt:lpstr>맑은 고딕</vt:lpstr>
      <vt:lpstr>THE명품고딕B</vt:lpstr>
      <vt:lpstr>Arial</vt:lpstr>
      <vt:lpstr>Pretendard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투어리즘인사이트</dc:creator>
  <cp:lastModifiedBy>JiHo Lee</cp:lastModifiedBy>
  <cp:revision>972</cp:revision>
  <cp:lastPrinted>2026-09-13T06:45:39Z</cp:lastPrinted>
  <dcterms:created xsi:type="dcterms:W3CDTF">2024-11-26T06:45:13Z</dcterms:created>
  <dcterms:modified xsi:type="dcterms:W3CDTF">2026-10-26T15:35:01Z</dcterms:modified>
</cp:coreProperties>
</file>