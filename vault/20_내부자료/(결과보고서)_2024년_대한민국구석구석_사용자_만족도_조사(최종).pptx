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drawings/drawing2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6.xml" ContentType="application/vnd.openxmlformats-officedocument.presentationml.notesSlide+xml"/>
  <Override PartName="/ppt/charts/chart16.xml" ContentType="application/vnd.openxmlformats-officedocument.drawingml.chart+xml"/>
  <Override PartName="/ppt/notesSlides/notesSlide7.xml" ContentType="application/vnd.openxmlformats-officedocument.presentationml.notesSlide+xml"/>
  <Override PartName="/ppt/charts/chart17.xml" ContentType="application/vnd.openxmlformats-officedocument.drawingml.chart+xml"/>
  <Override PartName="/ppt/notesSlides/notesSlide8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9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Slides/notesSlide10.xml" ContentType="application/vnd.openxmlformats-officedocument.presentationml.notes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notesSlides/notesSlide11.xml" ContentType="application/vnd.openxmlformats-officedocument.presentationml.notes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notesSlides/notesSlide12.xml" ContentType="application/vnd.openxmlformats-officedocument.presentationml.notesSlide+xml"/>
  <Override PartName="/ppt/charts/chart26.xml" ContentType="application/vnd.openxmlformats-officedocument.drawingml.chart+xml"/>
  <Override PartName="/ppt/notesSlides/notesSlide13.xml" ContentType="application/vnd.openxmlformats-officedocument.presentationml.notesSlide+xml"/>
  <Override PartName="/ppt/charts/chart27.xml" ContentType="application/vnd.openxmlformats-officedocument.drawingml.chart+xml"/>
  <Override PartName="/ppt/notesSlides/notesSlide14.xml" ContentType="application/vnd.openxmlformats-officedocument.presentationml.notes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notesSlides/notesSlide15.xml" ContentType="application/vnd.openxmlformats-officedocument.presentationml.notes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drawings/drawing3.xml" ContentType="application/vnd.openxmlformats-officedocument.drawingml.chartshapes+xml"/>
  <Override PartName="/ppt/charts/chart32.xml" ContentType="application/vnd.openxmlformats-officedocument.drawingml.chart+xml"/>
  <Override PartName="/ppt/drawings/drawing4.xml" ContentType="application/vnd.openxmlformats-officedocument.drawingml.chartshapes+xml"/>
  <Override PartName="/ppt/charts/chart33.xml" ContentType="application/vnd.openxmlformats-officedocument.drawingml.chart+xml"/>
  <Override PartName="/ppt/notesSlides/notesSlide16.xml" ContentType="application/vnd.openxmlformats-officedocument.presentationml.notesSlide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notesSlides/notesSlide17.xml" ContentType="application/vnd.openxmlformats-officedocument.presentationml.notesSlide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drawings/drawing5.xml" ContentType="application/vnd.openxmlformats-officedocument.drawingml.chartshapes+xml"/>
  <Override PartName="/ppt/charts/chart39.xml" ContentType="application/vnd.openxmlformats-officedocument.drawingml.chart+xml"/>
  <Override PartName="/ppt/drawings/drawing6.xml" ContentType="application/vnd.openxmlformats-officedocument.drawingml.chartshapes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drawings/drawing7.xml" ContentType="application/vnd.openxmlformats-officedocument.drawingml.chartshapes+xml"/>
  <Override PartName="/ppt/charts/chart42.xml" ContentType="application/vnd.openxmlformats-officedocument.drawingml.chart+xml"/>
  <Override PartName="/ppt/drawings/drawing8.xml" ContentType="application/vnd.openxmlformats-officedocument.drawingml.chartshapes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drawings/drawing9.xml" ContentType="application/vnd.openxmlformats-officedocument.drawingml.chartshapes+xml"/>
  <Override PartName="/ppt/charts/chart45.xml" ContentType="application/vnd.openxmlformats-officedocument.drawingml.chart+xml"/>
  <Override PartName="/ppt/drawings/drawing10.xml" ContentType="application/vnd.openxmlformats-officedocument.drawingml.chartshapes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drawings/drawing11.xml" ContentType="application/vnd.openxmlformats-officedocument.drawingml.chartshapes+xml"/>
  <Override PartName="/ppt/charts/chart48.xml" ContentType="application/vnd.openxmlformats-officedocument.drawingml.chart+xml"/>
  <Override PartName="/ppt/drawings/drawing12.xml" ContentType="application/vnd.openxmlformats-officedocument.drawingml.chartshapes+xml"/>
  <Override PartName="/ppt/charts/chart49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50.xml" ContentType="application/vnd.openxmlformats-officedocument.drawingml.chart+xml"/>
  <Override PartName="/ppt/drawings/drawing13.xml" ContentType="application/vnd.openxmlformats-officedocument.drawingml.chartshapes+xml"/>
  <Override PartName="/ppt/charts/chart51.xml" ContentType="application/vnd.openxmlformats-officedocument.drawingml.chart+xml"/>
  <Override PartName="/ppt/drawings/drawing14.xml" ContentType="application/vnd.openxmlformats-officedocument.drawingml.chartshapes+xml"/>
  <Override PartName="/ppt/charts/chart52.xml" ContentType="application/vnd.openxmlformats-officedocument.drawingml.chart+xml"/>
  <Override PartName="/ppt/notesSlides/notesSlide20.xml" ContentType="application/vnd.openxmlformats-officedocument.presentationml.notesSlide+xml"/>
  <Override PartName="/ppt/charts/chart53.xml" ContentType="application/vnd.openxmlformats-officedocument.drawingml.chart+xml"/>
  <Override PartName="/ppt/notesSlides/notesSlide21.xml" ContentType="application/vnd.openxmlformats-officedocument.presentationml.notesSlide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drawings/drawing15.xml" ContentType="application/vnd.openxmlformats-officedocument.drawingml.chartshapes+xml"/>
  <Override PartName="/ppt/charts/chart56.xml" ContentType="application/vnd.openxmlformats-officedocument.drawingml.chart+xml"/>
  <Override PartName="/ppt/drawings/drawing16.xml" ContentType="application/vnd.openxmlformats-officedocument.drawingml.chartshapes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drawings/drawing17.xml" ContentType="application/vnd.openxmlformats-officedocument.drawingml.chartshapes+xml"/>
  <Override PartName="/ppt/charts/chart59.xml" ContentType="application/vnd.openxmlformats-officedocument.drawingml.chart+xml"/>
  <Override PartName="/ppt/drawings/drawing18.xml" ContentType="application/vnd.openxmlformats-officedocument.drawingml.chartshapes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drawings/drawing19.xml" ContentType="application/vnd.openxmlformats-officedocument.drawingml.chartshapes+xml"/>
  <Override PartName="/ppt/charts/chart62.xml" ContentType="application/vnd.openxmlformats-officedocument.drawingml.chart+xml"/>
  <Override PartName="/ppt/drawings/drawing20.xml" ContentType="application/vnd.openxmlformats-officedocument.drawingml.chartshapes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drawings/drawing21.xml" ContentType="application/vnd.openxmlformats-officedocument.drawingml.chartshapes+xml"/>
  <Override PartName="/ppt/charts/chart65.xml" ContentType="application/vnd.openxmlformats-officedocument.drawingml.chart+xml"/>
  <Override PartName="/ppt/drawings/drawing22.xml" ContentType="application/vnd.openxmlformats-officedocument.drawingml.chartshapes+xml"/>
  <Override PartName="/ppt/charts/chart66.xml" ContentType="application/vnd.openxmlformats-officedocument.drawingml.chart+xml"/>
  <Override PartName="/ppt/notesSlides/notesSlide22.xml" ContentType="application/vnd.openxmlformats-officedocument.presentationml.notesSlide+xml"/>
  <Override PartName="/ppt/charts/chart67.xml" ContentType="application/vnd.openxmlformats-officedocument.drawingml.chart+xml"/>
  <Override PartName="/ppt/notesSlides/notesSlide23.xml" ContentType="application/vnd.openxmlformats-officedocument.presentationml.notesSlide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0.xml" ContentType="application/vnd.openxmlformats-officedocument.drawingml.chart+xml"/>
  <Override PartName="/ppt/drawings/drawing23.xml" ContentType="application/vnd.openxmlformats-officedocument.drawingml.chartshapes+xml"/>
  <Override PartName="/ppt/charts/chart71.xml" ContentType="application/vnd.openxmlformats-officedocument.drawingml.chart+xml"/>
  <Override PartName="/ppt/drawings/drawing24.xml" ContentType="application/vnd.openxmlformats-officedocument.drawingml.chartshapes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drawings/drawing25.xml" ContentType="application/vnd.openxmlformats-officedocument.drawingml.chartshapes+xml"/>
  <Override PartName="/ppt/charts/chart75.xml" ContentType="application/vnd.openxmlformats-officedocument.drawingml.chart+xml"/>
  <Override PartName="/ppt/drawings/drawing26.xml" ContentType="application/vnd.openxmlformats-officedocument.drawingml.chartshapes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notesSlides/notesSlide24.xml" ContentType="application/vnd.openxmlformats-officedocument.presentationml.notesSlide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notesSlides/notesSlide25.xml" ContentType="application/vnd.openxmlformats-officedocument.presentationml.notesSlide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0.xml" ContentType="application/vnd.openxmlformats-officedocument.drawingml.chart+xml"/>
  <Override PartName="/ppt/notesSlides/notesSlide26.xml" ContentType="application/vnd.openxmlformats-officedocument.presentationml.notesSlide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notesSlides/notesSlide27.xml" ContentType="application/vnd.openxmlformats-officedocument.presentationml.notesSlide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notesSlides/notesSlide28.xml" ContentType="application/vnd.openxmlformats-officedocument.presentationml.notesSlide+xml"/>
  <Override PartName="/ppt/charts/chart98.xml" ContentType="application/vnd.openxmlformats-officedocument.drawingml.chart+xml"/>
  <Override PartName="/ppt/drawings/drawing27.xml" ContentType="application/vnd.openxmlformats-officedocument.drawingml.chartshapes+xml"/>
  <Override PartName="/ppt/charts/chart99.xml" ContentType="application/vnd.openxmlformats-officedocument.drawingml.chart+xml"/>
  <Override PartName="/ppt/drawings/drawing28.xml" ContentType="application/vnd.openxmlformats-officedocument.drawingml.chartshapes+xml"/>
  <Override PartName="/ppt/charts/chart100.xml" ContentType="application/vnd.openxmlformats-officedocument.drawingml.chart+xml"/>
  <Override PartName="/ppt/drawings/drawing29.xml" ContentType="application/vnd.openxmlformats-officedocument.drawingml.chartshapes+xml"/>
  <Override PartName="/ppt/charts/chart101.xml" ContentType="application/vnd.openxmlformats-officedocument.drawingml.chart+xml"/>
  <Override PartName="/ppt/drawings/drawing30.xml" ContentType="application/vnd.openxmlformats-officedocument.drawingml.chartshapes+xml"/>
  <Override PartName="/ppt/charts/chart102.xml" ContentType="application/vnd.openxmlformats-officedocument.drawingml.chart+xml"/>
  <Override PartName="/ppt/charts/chart103.xml" ContentType="application/vnd.openxmlformats-officedocument.drawingml.chart+xml"/>
  <Override PartName="/ppt/drawings/drawing31.xml" ContentType="application/vnd.openxmlformats-officedocument.drawingml.chartshapes+xml"/>
  <Override PartName="/ppt/charts/chart104.xml" ContentType="application/vnd.openxmlformats-officedocument.drawingml.chart+xml"/>
  <Override PartName="/ppt/drawings/drawing32.xml" ContentType="application/vnd.openxmlformats-officedocument.drawingml.chartshapes+xml"/>
  <Override PartName="/ppt/notesSlides/notesSlide29.xml" ContentType="application/vnd.openxmlformats-officedocument.presentationml.notesSlide+xml"/>
  <Override PartName="/ppt/charts/chart105.xml" ContentType="application/vnd.openxmlformats-officedocument.drawingml.chart+xml"/>
  <Override PartName="/ppt/drawings/drawing33.xml" ContentType="application/vnd.openxmlformats-officedocument.drawingml.chartshapes+xml"/>
  <Override PartName="/ppt/charts/chart106.xml" ContentType="application/vnd.openxmlformats-officedocument.drawingml.chart+xml"/>
  <Override PartName="/ppt/charts/chart107.xml" ContentType="application/vnd.openxmlformats-officedocument.drawingml.chart+xml"/>
  <Override PartName="/ppt/charts/chart108.xml" ContentType="application/vnd.openxmlformats-officedocument.drawingml.chart+xml"/>
  <Override PartName="/ppt/charts/chart109.xml" ContentType="application/vnd.openxmlformats-officedocument.drawingml.chart+xml"/>
  <Override PartName="/ppt/charts/chart110.xml" ContentType="application/vnd.openxmlformats-officedocument.drawingml.chart+xml"/>
  <Override PartName="/ppt/drawings/drawing34.xml" ContentType="application/vnd.openxmlformats-officedocument.drawingml.chartshapes+xml"/>
  <Override PartName="/ppt/charts/chart111.xml" ContentType="application/vnd.openxmlformats-officedocument.drawingml.chart+xml"/>
  <Override PartName="/ppt/drawings/drawing35.xml" ContentType="application/vnd.openxmlformats-officedocument.drawingml.chartshapes+xml"/>
  <Override PartName="/ppt/charts/chart112.xml" ContentType="application/vnd.openxmlformats-officedocument.drawingml.chart+xml"/>
  <Override PartName="/ppt/drawings/drawing36.xml" ContentType="application/vnd.openxmlformats-officedocument.drawingml.chartshapes+xml"/>
  <Override PartName="/ppt/notesSlides/notesSlide30.xml" ContentType="application/vnd.openxmlformats-officedocument.presentationml.notesSlide+xml"/>
  <Override PartName="/ppt/charts/chart113.xml" ContentType="application/vnd.openxmlformats-officedocument.drawingml.chart+xml"/>
  <Override PartName="/ppt/charts/chart114.xml" ContentType="application/vnd.openxmlformats-officedocument.drawingml.chart+xml"/>
  <Override PartName="/ppt/notesSlides/notesSlide31.xml" ContentType="application/vnd.openxmlformats-officedocument.presentationml.notesSlide+xml"/>
  <Override PartName="/ppt/charts/chart115.xml" ContentType="application/vnd.openxmlformats-officedocument.drawingml.chart+xml"/>
  <Override PartName="/ppt/charts/chart116.xml" ContentType="application/vnd.openxmlformats-officedocument.drawingml.chart+xml"/>
  <Override PartName="/ppt/notesSlides/notesSlide32.xml" ContentType="application/vnd.openxmlformats-officedocument.presentationml.notesSlide+xml"/>
  <Override PartName="/ppt/charts/chart117.xml" ContentType="application/vnd.openxmlformats-officedocument.drawingml.chart+xml"/>
  <Override PartName="/ppt/charts/chart118.xml" ContentType="application/vnd.openxmlformats-officedocument.drawingml.chart+xml"/>
  <Override PartName="/ppt/notesSlides/notesSlide33.xml" ContentType="application/vnd.openxmlformats-officedocument.presentationml.notesSlide+xml"/>
  <Override PartName="/ppt/charts/chart119.xml" ContentType="application/vnd.openxmlformats-officedocument.drawingml.chart+xml"/>
  <Override PartName="/ppt/notesSlides/notesSlide34.xml" ContentType="application/vnd.openxmlformats-officedocument.presentationml.notesSlide+xml"/>
  <Override PartName="/ppt/charts/chart120.xml" ContentType="application/vnd.openxmlformats-officedocument.drawingml.chart+xml"/>
  <Override PartName="/ppt/charts/chart121.xml" ContentType="application/vnd.openxmlformats-officedocument.drawingml.chart+xml"/>
  <Override PartName="/ppt/notesSlides/notesSlide35.xml" ContentType="application/vnd.openxmlformats-officedocument.presentationml.notesSlide+xml"/>
  <Override PartName="/ppt/charts/chart122.xml" ContentType="application/vnd.openxmlformats-officedocument.drawingml.chart+xml"/>
  <Override PartName="/ppt/charts/chart123.xml" ContentType="application/vnd.openxmlformats-officedocument.drawingml.chart+xml"/>
  <Override PartName="/ppt/charts/chart124.xml" ContentType="application/vnd.openxmlformats-officedocument.drawingml.chart+xml"/>
  <Override PartName="/ppt/charts/chart125.xml" ContentType="application/vnd.openxmlformats-officedocument.drawingml.chart+xml"/>
  <Override PartName="/ppt/charts/chart126.xml" ContentType="application/vnd.openxmlformats-officedocument.drawingml.chart+xml"/>
  <Override PartName="/ppt/notesSlides/notesSlide36.xml" ContentType="application/vnd.openxmlformats-officedocument.presentationml.notesSlide+xml"/>
  <Override PartName="/ppt/charts/chart127.xml" ContentType="application/vnd.openxmlformats-officedocument.drawingml.chart+xml"/>
  <Override PartName="/ppt/charts/chart128.xml" ContentType="application/vnd.openxmlformats-officedocument.drawingml.chart+xml"/>
  <Override PartName="/ppt/charts/chart129.xml" ContentType="application/vnd.openxmlformats-officedocument.drawingml.chart+xml"/>
  <Override PartName="/ppt/charts/chart130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4"/>
  </p:sldMasterIdLst>
  <p:notesMasterIdLst>
    <p:notesMasterId r:id="rId76"/>
  </p:notesMasterIdLst>
  <p:handoutMasterIdLst>
    <p:handoutMasterId r:id="rId77"/>
  </p:handoutMasterIdLst>
  <p:sldIdLst>
    <p:sldId id="501" r:id="rId5"/>
    <p:sldId id="509" r:id="rId6"/>
    <p:sldId id="525" r:id="rId7"/>
    <p:sldId id="655" r:id="rId8"/>
    <p:sldId id="624" r:id="rId9"/>
    <p:sldId id="570" r:id="rId10"/>
    <p:sldId id="583" r:id="rId11"/>
    <p:sldId id="586" r:id="rId12"/>
    <p:sldId id="653" r:id="rId13"/>
    <p:sldId id="585" r:id="rId14"/>
    <p:sldId id="587" r:id="rId15"/>
    <p:sldId id="589" r:id="rId16"/>
    <p:sldId id="588" r:id="rId17"/>
    <p:sldId id="593" r:id="rId18"/>
    <p:sldId id="591" r:id="rId19"/>
    <p:sldId id="594" r:id="rId20"/>
    <p:sldId id="595" r:id="rId21"/>
    <p:sldId id="596" r:id="rId22"/>
    <p:sldId id="597" r:id="rId23"/>
    <p:sldId id="598" r:id="rId24"/>
    <p:sldId id="599" r:id="rId25"/>
    <p:sldId id="603" r:id="rId26"/>
    <p:sldId id="577" r:id="rId27"/>
    <p:sldId id="605" r:id="rId28"/>
    <p:sldId id="606" r:id="rId29"/>
    <p:sldId id="607" r:id="rId30"/>
    <p:sldId id="608" r:id="rId31"/>
    <p:sldId id="609" r:id="rId32"/>
    <p:sldId id="610" r:id="rId33"/>
    <p:sldId id="614" r:id="rId34"/>
    <p:sldId id="615" r:id="rId35"/>
    <p:sldId id="611" r:id="rId36"/>
    <p:sldId id="612" r:id="rId37"/>
    <p:sldId id="617" r:id="rId38"/>
    <p:sldId id="616" r:id="rId39"/>
    <p:sldId id="618" r:id="rId40"/>
    <p:sldId id="621" r:id="rId41"/>
    <p:sldId id="622" r:id="rId42"/>
    <p:sldId id="623" r:id="rId43"/>
    <p:sldId id="625" r:id="rId44"/>
    <p:sldId id="627" r:id="rId45"/>
    <p:sldId id="626" r:id="rId46"/>
    <p:sldId id="628" r:id="rId47"/>
    <p:sldId id="631" r:id="rId48"/>
    <p:sldId id="630" r:id="rId49"/>
    <p:sldId id="629" r:id="rId50"/>
    <p:sldId id="632" r:id="rId51"/>
    <p:sldId id="633" r:id="rId52"/>
    <p:sldId id="634" r:id="rId53"/>
    <p:sldId id="635" r:id="rId54"/>
    <p:sldId id="636" r:id="rId55"/>
    <p:sldId id="641" r:id="rId56"/>
    <p:sldId id="644" r:id="rId57"/>
    <p:sldId id="602" r:id="rId58"/>
    <p:sldId id="647" r:id="rId59"/>
    <p:sldId id="648" r:id="rId60"/>
    <p:sldId id="646" r:id="rId61"/>
    <p:sldId id="649" r:id="rId62"/>
    <p:sldId id="650" r:id="rId63"/>
    <p:sldId id="654" r:id="rId64"/>
    <p:sldId id="656" r:id="rId65"/>
    <p:sldId id="657" r:id="rId66"/>
    <p:sldId id="658" r:id="rId67"/>
    <p:sldId id="659" r:id="rId68"/>
    <p:sldId id="660" r:id="rId69"/>
    <p:sldId id="661" r:id="rId70"/>
    <p:sldId id="662" r:id="rId71"/>
    <p:sldId id="663" r:id="rId72"/>
    <p:sldId id="664" r:id="rId73"/>
    <p:sldId id="665" r:id="rId74"/>
    <p:sldId id="504" r:id="rId75"/>
  </p:sldIdLst>
  <p:sldSz cx="9906000" cy="6858000" type="A4"/>
  <p:notesSz cx="6807200" cy="9939338"/>
  <p:embeddedFontLst>
    <p:embeddedFont>
      <p:font typeface="함초롬돋움" panose="02030504000101010101" pitchFamily="18" charset="-127"/>
      <p:regular r:id="rId78"/>
      <p:bold r:id="rId79"/>
    </p:embeddedFont>
    <p:embeddedFont>
      <p:font typeface="Tahoma" panose="020B0604030504040204" pitchFamily="34" charset="0"/>
      <p:regular r:id="rId80"/>
      <p:bold r:id="rId81"/>
    </p:embeddedFont>
    <p:embeddedFont>
      <p:font typeface="KoPub돋움체 Medium" panose="00000600000000000000" pitchFamily="2" charset="-127"/>
      <p:regular r:id="rId82"/>
    </p:embeddedFont>
    <p:embeddedFont>
      <p:font typeface="KoPubWorld돋움체 Bold" panose="00000800000000000000" pitchFamily="2" charset="-127"/>
      <p:bold r:id="rId83"/>
    </p:embeddedFont>
    <p:embeddedFont>
      <p:font typeface="맑은 고딕" panose="020B0503020000020004" pitchFamily="50" charset="-127"/>
      <p:regular r:id="rId84"/>
      <p:bold r:id="rId85"/>
    </p:embeddedFont>
    <p:embeddedFont>
      <p:font typeface="맑은 고딕 Semilight" panose="020B0502040204020203" pitchFamily="50" charset="-127"/>
      <p:regular r:id="rId86"/>
    </p:embeddedFont>
    <p:embeddedFont>
      <p:font typeface="현대하모니 B" panose="020B0600000101010101" charset="-127"/>
      <p:regular r:id="rId87"/>
    </p:embeddedFont>
    <p:embeddedFont>
      <p:font typeface="KoPub돋움체 Bold" panose="00000800000000000000" pitchFamily="2" charset="-127"/>
      <p:regular r:id="rId88"/>
      <p:bold r:id="rId89"/>
    </p:embeddedFont>
    <p:embeddedFont>
      <p:font typeface="Calibri Light" panose="020F0302020204030204" pitchFamily="34" charset="0"/>
      <p:regular r:id="rId90"/>
      <p:italic r:id="rId9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2" pos="6023" userDrawn="1">
          <p15:clr>
            <a:srgbClr val="A4A3A4"/>
          </p15:clr>
        </p15:guide>
        <p15:guide id="40" pos="3120" userDrawn="1">
          <p15:clr>
            <a:srgbClr val="A4A3A4"/>
          </p15:clr>
        </p15:guide>
        <p15:guide id="50" orient="horz" pos="4156" userDrawn="1">
          <p15:clr>
            <a:srgbClr val="A4A3A4"/>
          </p15:clr>
        </p15:guide>
        <p15:guide id="51" pos="217" userDrawn="1">
          <p15:clr>
            <a:srgbClr val="A4A3A4"/>
          </p15:clr>
        </p15:guide>
        <p15:guide id="52" orient="horz" pos="1434" userDrawn="1">
          <p15:clr>
            <a:srgbClr val="A4A3A4"/>
          </p15:clr>
        </p15:guide>
        <p15:guide id="53" orient="horz" pos="2432" userDrawn="1">
          <p15:clr>
            <a:srgbClr val="A4A3A4"/>
          </p15:clr>
        </p15:guide>
        <p15:guide id="55" orient="horz" pos="2387" userDrawn="1">
          <p15:clr>
            <a:srgbClr val="A4A3A4"/>
          </p15:clr>
        </p15:guide>
        <p15:guide id="57" orient="horz" pos="2659" userDrawn="1">
          <p15:clr>
            <a:srgbClr val="A4A3A4"/>
          </p15:clr>
        </p15:guide>
        <p15:guide id="58" orient="horz" pos="2568" userDrawn="1">
          <p15:clr>
            <a:srgbClr val="A4A3A4"/>
          </p15:clr>
        </p15:guide>
        <p15:guide id="60" pos="4027" userDrawn="1">
          <p15:clr>
            <a:srgbClr val="A4A3A4"/>
          </p15:clr>
        </p15:guide>
        <p15:guide id="61" pos="1669" userDrawn="1">
          <p15:clr>
            <a:srgbClr val="A4A3A4"/>
          </p15:clr>
        </p15:guide>
        <p15:guide id="62" orient="horz" pos="3067" userDrawn="1">
          <p15:clr>
            <a:srgbClr val="A4A3A4"/>
          </p15:clr>
        </p15:guide>
        <p15:guide id="63" pos="1306" userDrawn="1">
          <p15:clr>
            <a:srgbClr val="A4A3A4"/>
          </p15:clr>
        </p15:guide>
        <p15:guide id="64" orient="horz" pos="527" userDrawn="1">
          <p15:clr>
            <a:srgbClr val="A4A3A4"/>
          </p15:clr>
        </p15:guide>
        <p15:guide id="65" pos="5841" userDrawn="1">
          <p15:clr>
            <a:srgbClr val="A4A3A4"/>
          </p15:clr>
        </p15:guide>
        <p15:guide id="66" pos="3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4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orient="horz" pos="313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연경" initials="이" lastIdx="1" clrIdx="0">
    <p:extLst>
      <p:ext uri="{19B8F6BF-5375-455C-9EA6-DF929625EA0E}">
        <p15:presenceInfo xmlns:p15="http://schemas.microsoft.com/office/powerpoint/2012/main" userId="S::yklee@globalri.co.kr::acc42d67-aa32-42eb-84a7-973216c453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CB"/>
    <a:srgbClr val="2F527A"/>
    <a:srgbClr val="0070C0"/>
    <a:srgbClr val="A6A6A6"/>
    <a:srgbClr val="7F7F7F"/>
    <a:srgbClr val="F0F7FE"/>
    <a:srgbClr val="0B58A5"/>
    <a:srgbClr val="C00000"/>
    <a:srgbClr val="D9656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69" autoAdjust="0"/>
    <p:restoredTop sz="94809" autoAdjust="0"/>
  </p:normalViewPr>
  <p:slideViewPr>
    <p:cSldViewPr showGuides="1">
      <p:cViewPr>
        <p:scale>
          <a:sx n="50" d="100"/>
          <a:sy n="50" d="100"/>
        </p:scale>
        <p:origin x="1412" y="468"/>
      </p:cViewPr>
      <p:guideLst>
        <p:guide pos="6023"/>
        <p:guide pos="3120"/>
        <p:guide orient="horz" pos="4156"/>
        <p:guide pos="217"/>
        <p:guide orient="horz" pos="1434"/>
        <p:guide orient="horz" pos="2432"/>
        <p:guide orient="horz" pos="2387"/>
        <p:guide orient="horz" pos="2659"/>
        <p:guide orient="horz" pos="2568"/>
        <p:guide pos="4027"/>
        <p:guide pos="1669"/>
        <p:guide orient="horz" pos="3067"/>
        <p:guide pos="1306"/>
        <p:guide orient="horz" pos="527"/>
        <p:guide pos="5841"/>
        <p:guide pos="3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0" d="100"/>
        <a:sy n="200" d="100"/>
      </p:scale>
      <p:origin x="0" y="-126"/>
    </p:cViewPr>
  </p:sorterViewPr>
  <p:notesViewPr>
    <p:cSldViewPr showGuides="1">
      <p:cViewPr varScale="1">
        <p:scale>
          <a:sx n="74" d="100"/>
          <a:sy n="74" d="100"/>
        </p:scale>
        <p:origin x="5106" y="54"/>
      </p:cViewPr>
      <p:guideLst>
        <p:guide orient="horz" pos="3130"/>
        <p:guide pos="2144"/>
        <p:guide orient="horz" pos="3132"/>
        <p:guide orient="horz" pos="313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7.fntdata"/><Relationship Id="rId89" Type="http://schemas.openxmlformats.org/officeDocument/2006/relationships/font" Target="fonts/font12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font" Target="fonts/font2.fntdata"/><Relationship Id="rId5" Type="http://schemas.openxmlformats.org/officeDocument/2006/relationships/slide" Target="slides/slide1.xml"/><Relationship Id="rId90" Type="http://schemas.openxmlformats.org/officeDocument/2006/relationships/font" Target="fonts/font13.fntdata"/><Relationship Id="rId95" Type="http://schemas.openxmlformats.org/officeDocument/2006/relationships/theme" Target="theme/theme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font" Target="fonts/font3.fntdata"/><Relationship Id="rId85" Type="http://schemas.openxmlformats.org/officeDocument/2006/relationships/font" Target="fonts/font8.fntdata"/><Relationship Id="rId93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font" Target="fonts/font6.fntdata"/><Relationship Id="rId88" Type="http://schemas.openxmlformats.org/officeDocument/2006/relationships/font" Target="fonts/font11.fntdata"/><Relationship Id="rId91" Type="http://schemas.openxmlformats.org/officeDocument/2006/relationships/font" Target="fonts/font14.fntdata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font" Target="fonts/font9.fntdata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10.fntdata"/><Relationship Id="rId61" Type="http://schemas.openxmlformats.org/officeDocument/2006/relationships/slide" Target="slides/slide57.xml"/><Relationship Id="rId82" Type="http://schemas.openxmlformats.org/officeDocument/2006/relationships/font" Target="fonts/font5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9.xlsx"/></Relationships>
</file>

<file path=ppt/charts/_rels/chart3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____30.xlsx"/></Relationships>
</file>

<file path=ppt/charts/_rels/chart3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____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6.xlsx"/></Relationships>
</file>

<file path=ppt/charts/_rels/chart3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package" Target="../embeddings/Microsoft_Excel_____37.xlsx"/></Relationships>
</file>

<file path=ppt/charts/_rels/chart3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package" Target="../embeddings/Microsoft_Excel_____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9.xlsx"/></Relationships>
</file>

<file path=ppt/charts/_rels/chart4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7.xml"/><Relationship Id="rId1" Type="http://schemas.openxmlformats.org/officeDocument/2006/relationships/package" Target="../embeddings/Microsoft_Excel_____40.xlsx"/></Relationships>
</file>

<file path=ppt/charts/_rels/chart4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8.xml"/><Relationship Id="rId1" Type="http://schemas.openxmlformats.org/officeDocument/2006/relationships/package" Target="../embeddings/Microsoft_Excel_____41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2.xlsx"/></Relationships>
</file>

<file path=ppt/charts/_rels/chart4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9.xml"/><Relationship Id="rId1" Type="http://schemas.openxmlformats.org/officeDocument/2006/relationships/package" Target="../embeddings/Microsoft_Excel_____43.xlsx"/></Relationships>
</file>

<file path=ppt/charts/_rels/chart4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0.xml"/><Relationship Id="rId1" Type="http://schemas.openxmlformats.org/officeDocument/2006/relationships/package" Target="../embeddings/Microsoft_Excel_____44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5.xlsx"/></Relationships>
</file>

<file path=ppt/charts/_rels/chart4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1.xml"/><Relationship Id="rId1" Type="http://schemas.openxmlformats.org/officeDocument/2006/relationships/package" Target="../embeddings/Microsoft_Excel_____46.xlsx"/></Relationships>
</file>

<file path=ppt/charts/_rels/chart4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2.xml"/><Relationship Id="rId1" Type="http://schemas.openxmlformats.org/officeDocument/2006/relationships/package" Target="../embeddings/Microsoft_Excel_____47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8.xlsx"/></Relationships>
</file>

<file path=ppt/charts/_rels/chart5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3.xml"/><Relationship Id="rId1" Type="http://schemas.openxmlformats.org/officeDocument/2006/relationships/package" Target="../embeddings/Microsoft_Excel_____49.xlsx"/></Relationships>
</file>

<file path=ppt/charts/_rels/chart5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4.xml"/><Relationship Id="rId1" Type="http://schemas.openxmlformats.org/officeDocument/2006/relationships/package" Target="../embeddings/Microsoft_Excel_____50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1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2.xlsx"/></Relationships>
</file>

<file path=ppt/charts/_rels/chart5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3.xlsx"/></Relationships>
</file>

<file path=ppt/charts/_rels/chart5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5.xml"/><Relationship Id="rId1" Type="http://schemas.openxmlformats.org/officeDocument/2006/relationships/package" Target="../embeddings/Microsoft_Excel_____54.xlsx"/></Relationships>
</file>

<file path=ppt/charts/_rels/chart5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6.xml"/><Relationship Id="rId1" Type="http://schemas.openxmlformats.org/officeDocument/2006/relationships/package" Target="../embeddings/Microsoft_Excel_____55.xlsx"/></Relationships>
</file>

<file path=ppt/charts/_rels/chart5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6.xlsx"/></Relationships>
</file>

<file path=ppt/charts/_rels/chart5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7.xml"/><Relationship Id="rId1" Type="http://schemas.openxmlformats.org/officeDocument/2006/relationships/package" Target="../embeddings/Microsoft_Excel_____57.xlsx"/></Relationships>
</file>

<file path=ppt/charts/_rels/chart5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8.xml"/><Relationship Id="rId1" Type="http://schemas.openxmlformats.org/officeDocument/2006/relationships/package" Target="../embeddings/Microsoft_Excel_____58.xlsx"/></Relationships>
</file>

<file path=ppt/charts/_rels/chart6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9.xlsx"/></Relationships>
</file>

<file path=ppt/charts/_rels/chart6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9.xml"/><Relationship Id="rId1" Type="http://schemas.openxmlformats.org/officeDocument/2006/relationships/package" Target="../embeddings/Microsoft_Excel_____60.xlsx"/></Relationships>
</file>

<file path=ppt/charts/_rels/chart6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0.xml"/><Relationship Id="rId1" Type="http://schemas.openxmlformats.org/officeDocument/2006/relationships/package" Target="../embeddings/Microsoft_Excel_____61.xlsx"/></Relationships>
</file>

<file path=ppt/charts/_rels/chart6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2.xlsx"/></Relationships>
</file>

<file path=ppt/charts/_rels/chart6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1.xml"/><Relationship Id="rId1" Type="http://schemas.openxmlformats.org/officeDocument/2006/relationships/package" Target="../embeddings/Microsoft_Excel_____63.xlsx"/></Relationships>
</file>

<file path=ppt/charts/_rels/chart6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2.xml"/><Relationship Id="rId1" Type="http://schemas.openxmlformats.org/officeDocument/2006/relationships/package" Target="../embeddings/Microsoft_Excel_____64.xlsx"/></Relationships>
</file>

<file path=ppt/charts/_rels/chart6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5.xlsx"/></Relationships>
</file>

<file path=ppt/charts/_rels/chart6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6.xlsx"/></Relationships>
</file>

<file path=ppt/charts/_rels/chart6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7.xlsx"/></Relationships>
</file>

<file path=ppt/charts/_rels/chart6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8.xlsx"/></Relationships>
</file>

<file path=ppt/charts/_rels/chart7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3.xml"/><Relationship Id="rId1" Type="http://schemas.openxmlformats.org/officeDocument/2006/relationships/package" Target="../embeddings/Microsoft_Excel_____69.xlsx"/></Relationships>
</file>

<file path=ppt/charts/_rels/chart7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4.xml"/><Relationship Id="rId1" Type="http://schemas.openxmlformats.org/officeDocument/2006/relationships/package" Target="../embeddings/Microsoft_Excel_____70.xlsx"/></Relationships>
</file>

<file path=ppt/charts/_rels/chart7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1.xlsx"/></Relationships>
</file>

<file path=ppt/charts/_rels/chart7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2.xlsx"/></Relationships>
</file>

<file path=ppt/charts/_rels/chart7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5.xml"/><Relationship Id="rId1" Type="http://schemas.openxmlformats.org/officeDocument/2006/relationships/package" Target="../embeddings/Microsoft_Excel_____73.xlsx"/></Relationships>
</file>

<file path=ppt/charts/_rels/chart7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6.xml"/><Relationship Id="rId1" Type="http://schemas.openxmlformats.org/officeDocument/2006/relationships/package" Target="../embeddings/Microsoft_Excel_____74.xlsx"/></Relationships>
</file>

<file path=ppt/charts/_rels/chart7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5.xlsx"/></Relationships>
</file>

<file path=ppt/charts/_rels/chart7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6.xlsx"/></Relationships>
</file>

<file path=ppt/charts/_rels/chart7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7.xlsx"/></Relationships>
</file>

<file path=ppt/charts/_rels/chart7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8.xlsx"/></Relationships>
</file>

<file path=ppt/charts/_rels/chart8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9.xlsx"/></Relationships>
</file>

<file path=ppt/charts/_rels/chart8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0.xlsx"/></Relationships>
</file>

<file path=ppt/charts/_rels/chart8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1.xlsx"/></Relationships>
</file>

<file path=ppt/charts/_rels/chart8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2.xlsx"/></Relationships>
</file>

<file path=ppt/charts/_rels/chart8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3.xlsx"/></Relationships>
</file>

<file path=ppt/charts/_rels/chart8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4.xlsx"/></Relationships>
</file>

<file path=ppt/charts/_rels/chart8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5.xlsx"/></Relationships>
</file>

<file path=ppt/charts/_rels/chart8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6.xlsx"/></Relationships>
</file>

<file path=ppt/charts/_rels/chart8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7.xlsx"/></Relationships>
</file>

<file path=ppt/charts/_rels/chart8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8.xlsx"/></Relationships>
</file>

<file path=ppt/charts/_rels/chart9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9.xlsx"/></Relationships>
</file>

<file path=ppt/charts/_rels/chart9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0.xlsx"/></Relationships>
</file>

<file path=ppt/charts/_rels/chart9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1.xlsx"/></Relationships>
</file>

<file path=ppt/charts/_rels/chart9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2.xlsx"/></Relationships>
</file>

<file path=ppt/charts/_rels/chart9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3.xlsx"/></Relationships>
</file>

<file path=ppt/charts/_rels/chart9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4.xlsx"/></Relationships>
</file>

<file path=ppt/charts/_rels/chart9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5.xlsx"/></Relationships>
</file>

<file path=ppt/charts/_rels/chart9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6.xlsx"/></Relationships>
</file>

<file path=ppt/charts/_rels/chart9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7.xml"/><Relationship Id="rId1" Type="http://schemas.openxmlformats.org/officeDocument/2006/relationships/package" Target="../embeddings/Microsoft_Excel_____97.xlsx"/></Relationships>
</file>

<file path=ppt/charts/_rels/chart9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8.xml"/><Relationship Id="rId1" Type="http://schemas.openxmlformats.org/officeDocument/2006/relationships/package" Target="../embeddings/Microsoft_Excel_____98.xlsx"/></Relationships>
</file>

<file path=ppt/charts/_rels/chart10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9.xml"/><Relationship Id="rId1" Type="http://schemas.openxmlformats.org/officeDocument/2006/relationships/package" Target="../embeddings/Microsoft_Excel_____99.xlsx"/></Relationships>
</file>

<file path=ppt/charts/_rels/chart10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0.xml"/><Relationship Id="rId1" Type="http://schemas.openxmlformats.org/officeDocument/2006/relationships/package" Target="../embeddings/Microsoft_Excel_____100.xlsx"/></Relationships>
</file>

<file path=ppt/charts/_rels/chart10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01.xlsx"/></Relationships>
</file>

<file path=ppt/charts/_rels/chart10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1.xml"/><Relationship Id="rId1" Type="http://schemas.openxmlformats.org/officeDocument/2006/relationships/package" Target="../embeddings/Microsoft_Excel_____102.xlsx"/></Relationships>
</file>

<file path=ppt/charts/_rels/chart10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2.xml"/><Relationship Id="rId1" Type="http://schemas.openxmlformats.org/officeDocument/2006/relationships/package" Target="../embeddings/Microsoft_Excel_____103.xlsx"/></Relationships>
</file>

<file path=ppt/charts/_rels/chart10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3.xml"/><Relationship Id="rId1" Type="http://schemas.openxmlformats.org/officeDocument/2006/relationships/package" Target="../embeddings/Microsoft_Excel_____104.xlsx"/></Relationships>
</file>

<file path=ppt/charts/_rels/chart10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05.xlsx"/></Relationships>
</file>

<file path=ppt/charts/_rels/chart10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06.xlsx"/></Relationships>
</file>

<file path=ppt/charts/_rels/chart10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07.xlsx"/></Relationships>
</file>

<file path=ppt/charts/_rels/chart10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08.xlsx"/></Relationships>
</file>

<file path=ppt/charts/_rels/chart11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4.xml"/><Relationship Id="rId1" Type="http://schemas.openxmlformats.org/officeDocument/2006/relationships/package" Target="../embeddings/Microsoft_Excel_____109.xlsx"/></Relationships>
</file>

<file path=ppt/charts/_rels/chart11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5.xml"/><Relationship Id="rId1" Type="http://schemas.openxmlformats.org/officeDocument/2006/relationships/package" Target="../embeddings/Microsoft_Excel_____110.xlsx"/></Relationships>
</file>

<file path=ppt/charts/_rels/chart11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6.xml"/><Relationship Id="rId1" Type="http://schemas.openxmlformats.org/officeDocument/2006/relationships/package" Target="../embeddings/Microsoft_Excel_____111.xlsx"/></Relationships>
</file>

<file path=ppt/charts/_rels/chart1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2.xlsx"/></Relationships>
</file>

<file path=ppt/charts/_rels/chart1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3.xlsx"/></Relationships>
</file>

<file path=ppt/charts/_rels/chart1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4.xlsx"/></Relationships>
</file>

<file path=ppt/charts/_rels/chart1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5.xlsx"/></Relationships>
</file>

<file path=ppt/charts/_rels/chart1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6.xlsx"/></Relationships>
</file>

<file path=ppt/charts/_rels/chart1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7.xlsx"/></Relationships>
</file>

<file path=ppt/charts/_rels/chart1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8.xlsx"/></Relationships>
</file>

<file path=ppt/charts/_rels/chart1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9.xlsx"/></Relationships>
</file>

<file path=ppt/charts/_rels/chart1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0.xlsx"/></Relationships>
</file>

<file path=ppt/charts/_rels/chart1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1.xlsx"/></Relationships>
</file>

<file path=ppt/charts/_rels/chart1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2.xlsx"/></Relationships>
</file>

<file path=ppt/charts/_rels/chart1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3.xlsx"/></Relationships>
</file>

<file path=ppt/charts/_rels/chart1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4.xlsx"/></Relationships>
</file>

<file path=ppt/charts/_rels/chart1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5.xlsx"/></Relationships>
</file>

<file path=ppt/charts/_rels/chart1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6.xlsx"/></Relationships>
</file>

<file path=ppt/charts/_rels/chart1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7.xlsx"/></Relationships>
</file>

<file path=ppt/charts/_rels/chart1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8.xlsx"/></Relationships>
</file>

<file path=ppt/charts/_rels/chart1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1.51709344625796E-2"/>
          <c:y val="5.0839953141462875E-4"/>
          <c:w val="0.84604593307795395"/>
          <c:h val="0.999491602793518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rgbClr val="AFDDF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81-4A65-A235-3162693C2454}"/>
              </c:ext>
            </c:extLst>
          </c:dPt>
          <c:dPt>
            <c:idx val="1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481-4A65-A235-3162693C2454}"/>
              </c:ext>
            </c:extLst>
          </c:dPt>
          <c:dPt>
            <c:idx val="2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481-4A65-A235-3162693C2454}"/>
              </c:ext>
            </c:extLst>
          </c:dPt>
          <c:dPt>
            <c:idx val="3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9481-4A65-A235-3162693C2454}"/>
              </c:ext>
            </c:extLst>
          </c:dPt>
          <c:dPt>
            <c:idx val="4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481-4A65-A235-3162693C2454}"/>
              </c:ext>
            </c:extLst>
          </c:dPt>
          <c:dPt>
            <c:idx val="5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481-4A65-A235-3162693C2454}"/>
              </c:ext>
            </c:extLst>
          </c:dPt>
          <c:dPt>
            <c:idx val="7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9481-4A65-A235-3162693C2454}"/>
              </c:ext>
            </c:extLst>
          </c:dPt>
          <c:dPt>
            <c:idx val="1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9481-4A65-A235-3162693C2454}"/>
              </c:ext>
            </c:extLst>
          </c:dPt>
          <c:dPt>
            <c:idx val="11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481-4A65-A235-3162693C2454}"/>
              </c:ext>
            </c:extLst>
          </c:dPt>
          <c:dPt>
            <c:idx val="14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9481-4A65-A235-3162693C2454}"/>
              </c:ext>
            </c:extLst>
          </c:dPt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6000" tIns="0" rIns="36000" bIns="0" anchor="ctr" anchorCtr="1"/>
              <a:lstStyle/>
              <a:p>
                <a:pPr>
                  <a:defRPr sz="1000" b="1" i="0" u="none" strike="noStrike" kern="1200" spc="-50" baseline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전체</c:v>
                </c:pt>
                <c:pt idx="1">
                  <c:v>홈페이지/앱</c:v>
                </c:pt>
                <c:pt idx="2">
                  <c:v>인스타그램</c:v>
                </c:pt>
                <c:pt idx="3">
                  <c:v>네이버 블로그</c:v>
                </c:pt>
                <c:pt idx="4">
                  <c:v>페이스북</c:v>
                </c:pt>
                <c:pt idx="5">
                  <c:v>카카오스토리</c:v>
                </c:pt>
                <c:pt idx="6">
                  <c:v>남성</c:v>
                </c:pt>
                <c:pt idx="7">
                  <c:v>여성</c:v>
                </c:pt>
                <c:pt idx="8">
                  <c:v>19세 이하</c:v>
                </c:pt>
                <c:pt idx="9">
                  <c:v>20대</c:v>
                </c:pt>
                <c:pt idx="10">
                  <c:v>30대</c:v>
                </c:pt>
                <c:pt idx="11">
                  <c:v>40대</c:v>
                </c:pt>
                <c:pt idx="12">
                  <c:v>50대</c:v>
                </c:pt>
                <c:pt idx="13">
                  <c:v>60세 이상</c:v>
                </c:pt>
                <c:pt idx="14">
                  <c:v>기혼</c:v>
                </c:pt>
                <c:pt idx="15">
                  <c:v>미혼</c:v>
                </c:pt>
                <c:pt idx="16">
                  <c:v>미응답</c:v>
                </c:pt>
              </c:strCache>
            </c:strRef>
          </c:cat>
          <c:val>
            <c:numRef>
              <c:f>Sheet1!$B$2:$B$18</c:f>
              <c:numCache>
                <c:formatCode>###0.0</c:formatCode>
                <c:ptCount val="17"/>
                <c:pt idx="0">
                  <c:v>100</c:v>
                </c:pt>
                <c:pt idx="1">
                  <c:v>22.774344412894607</c:v>
                </c:pt>
                <c:pt idx="2">
                  <c:v>16.936696175045935</c:v>
                </c:pt>
                <c:pt idx="3">
                  <c:v>51.244362786036412</c:v>
                </c:pt>
                <c:pt idx="4">
                  <c:v>2.8144312677467846</c:v>
                </c:pt>
                <c:pt idx="5">
                  <c:v>6.2301653582762651</c:v>
                </c:pt>
                <c:pt idx="6">
                  <c:v>36.278603641222652</c:v>
                </c:pt>
                <c:pt idx="7">
                  <c:v>63.721396358777348</c:v>
                </c:pt>
                <c:pt idx="8">
                  <c:v>0.38416569233338899</c:v>
                </c:pt>
                <c:pt idx="9">
                  <c:v>12.568899281777185</c:v>
                </c:pt>
                <c:pt idx="10">
                  <c:v>34.850509437113743</c:v>
                </c:pt>
                <c:pt idx="11">
                  <c:v>31.760481042258228</c:v>
                </c:pt>
                <c:pt idx="12">
                  <c:v>13.036579255052613</c:v>
                </c:pt>
                <c:pt idx="13">
                  <c:v>7.3993652914648402</c:v>
                </c:pt>
                <c:pt idx="14">
                  <c:v>55.169533990312345</c:v>
                </c:pt>
                <c:pt idx="15">
                  <c:v>42.057791882411891</c:v>
                </c:pt>
                <c:pt idx="16">
                  <c:v>2.772674127275764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481-4A65-A235-3162693C24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90170655"/>
        <c:axId val="190164415"/>
      </c:barChart>
      <c:catAx>
        <c:axId val="19017065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317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pPr>
            <a:endParaRPr lang="ko-KR"/>
          </a:p>
        </c:txPr>
        <c:crossAx val="190164415"/>
        <c:crosses val="autoZero"/>
        <c:auto val="1"/>
        <c:lblAlgn val="ctr"/>
        <c:lblOffset val="100"/>
        <c:noMultiLvlLbl val="0"/>
      </c:catAx>
      <c:valAx>
        <c:axId val="190164415"/>
        <c:scaling>
          <c:orientation val="minMax"/>
          <c:max val="120"/>
          <c:min val="0"/>
        </c:scaling>
        <c:delete val="0"/>
        <c:axPos val="t"/>
        <c:numFmt formatCode="###0.0" sourceLinked="1"/>
        <c:majorTickMark val="out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pPr>
            <a:endParaRPr lang="ko-KR"/>
          </a:p>
        </c:txPr>
        <c:crossAx val="190170655"/>
        <c:crosses val="autoZero"/>
        <c:crossBetween val="between"/>
        <c:minorUnit val="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000">
          <a:latin typeface="에스코어 드림 3 Light" panose="020B0303030302020204" pitchFamily="34" charset="-127"/>
          <a:ea typeface="에스코어 드림 3 Light" panose="020B0303030302020204" pitchFamily="34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1.51709344625796E-2"/>
          <c:y val="5.0839953141462875E-4"/>
          <c:w val="0.84604593307795395"/>
          <c:h val="0.999491602793518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rgbClr val="AFDDF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81-4A65-A235-3162693C2454}"/>
              </c:ext>
            </c:extLst>
          </c:dPt>
          <c:dPt>
            <c:idx val="1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481-4A65-A235-3162693C2454}"/>
              </c:ext>
            </c:extLst>
          </c:dPt>
          <c:dPt>
            <c:idx val="2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481-4A65-A235-3162693C2454}"/>
              </c:ext>
            </c:extLst>
          </c:dPt>
          <c:dPt>
            <c:idx val="4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481-4A65-A235-3162693C2454}"/>
              </c:ext>
            </c:extLst>
          </c:dPt>
          <c:dPt>
            <c:idx val="5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481-4A65-A235-3162693C2454}"/>
              </c:ext>
            </c:extLst>
          </c:dPt>
          <c:dPt>
            <c:idx val="8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3AE4-42D2-BD53-65102F3C16AA}"/>
              </c:ext>
            </c:extLst>
          </c:dPt>
          <c:dPt>
            <c:idx val="11"/>
            <c:invertIfNegative val="0"/>
            <c:bubble3D val="0"/>
            <c:spPr>
              <a:solidFill>
                <a:srgbClr val="AFD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481-4A65-A235-3162693C2454}"/>
              </c:ext>
            </c:extLst>
          </c:dPt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6000" tIns="0" rIns="36000" bIns="0" anchor="ctr" anchorCtr="1"/>
              <a:lstStyle/>
              <a:p>
                <a:pPr>
                  <a:defRPr sz="1000" b="1" i="0" u="none" strike="noStrike" kern="1200" spc="-50" baseline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없음</c:v>
                </c:pt>
                <c:pt idx="1">
                  <c:v>1명</c:v>
                </c:pt>
                <c:pt idx="2">
                  <c:v>2명</c:v>
                </c:pt>
                <c:pt idx="3">
                  <c:v>3명 이상</c:v>
                </c:pt>
                <c:pt idx="4">
                  <c:v>자영업</c:v>
                </c:pt>
                <c:pt idx="5">
                  <c:v>판매/서비스직</c:v>
                </c:pt>
                <c:pt idx="6">
                  <c:v>기능직</c:v>
                </c:pt>
                <c:pt idx="7">
                  <c:v>기술직</c:v>
                </c:pt>
                <c:pt idx="8">
                  <c:v>사무직</c:v>
                </c:pt>
                <c:pt idx="9">
                  <c:v>경영/관리직</c:v>
                </c:pt>
                <c:pt idx="10">
                  <c:v>전문직</c:v>
                </c:pt>
                <c:pt idx="11">
                  <c:v>자유직</c:v>
                </c:pt>
                <c:pt idx="12">
                  <c:v>전업주부</c:v>
                </c:pt>
                <c:pt idx="13">
                  <c:v>학생</c:v>
                </c:pt>
                <c:pt idx="14">
                  <c:v>무직/은퇴</c:v>
                </c:pt>
                <c:pt idx="15">
                  <c:v>기타</c:v>
                </c:pt>
              </c:strCache>
            </c:strRef>
          </c:cat>
          <c:val>
            <c:numRef>
              <c:f>Sheet1!$B$2:$B$17</c:f>
              <c:numCache>
                <c:formatCode>###0.0</c:formatCode>
                <c:ptCount val="16"/>
                <c:pt idx="0">
                  <c:v>51.177551361282781</c:v>
                </c:pt>
                <c:pt idx="1">
                  <c:v>20.260564556539169</c:v>
                </c:pt>
                <c:pt idx="2">
                  <c:v>24.160681476532488</c:v>
                </c:pt>
                <c:pt idx="3">
                  <c:v>4.4012026056455653</c:v>
                </c:pt>
                <c:pt idx="4">
                  <c:v>6.6644396191748791</c:v>
                </c:pt>
                <c:pt idx="5">
                  <c:v>6.8231167529647569</c:v>
                </c:pt>
                <c:pt idx="6">
                  <c:v>5.4033739769500588</c:v>
                </c:pt>
                <c:pt idx="7">
                  <c:v>10.3641222649073</c:v>
                </c:pt>
                <c:pt idx="8">
                  <c:v>32.528812426925008</c:v>
                </c:pt>
                <c:pt idx="9">
                  <c:v>2.847836980123601</c:v>
                </c:pt>
                <c:pt idx="10">
                  <c:v>4.4596626023049941</c:v>
                </c:pt>
                <c:pt idx="11">
                  <c:v>6.6477367629864705</c:v>
                </c:pt>
                <c:pt idx="12">
                  <c:v>13.262067813596126</c:v>
                </c:pt>
                <c:pt idx="13">
                  <c:v>4.8772340070151996</c:v>
                </c:pt>
                <c:pt idx="14">
                  <c:v>5.4367796893268752</c:v>
                </c:pt>
                <c:pt idx="15">
                  <c:v>0.68481710372473692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481-4A65-A235-3162693C24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90170655"/>
        <c:axId val="190164415"/>
      </c:barChart>
      <c:catAx>
        <c:axId val="19017065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317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pPr>
            <a:endParaRPr lang="ko-KR"/>
          </a:p>
        </c:txPr>
        <c:crossAx val="190164415"/>
        <c:crosses val="autoZero"/>
        <c:auto val="1"/>
        <c:lblAlgn val="ctr"/>
        <c:lblOffset val="100"/>
        <c:noMultiLvlLbl val="0"/>
      </c:catAx>
      <c:valAx>
        <c:axId val="190164415"/>
        <c:scaling>
          <c:orientation val="minMax"/>
          <c:max val="120"/>
          <c:min val="0"/>
        </c:scaling>
        <c:delete val="0"/>
        <c:axPos val="t"/>
        <c:numFmt formatCode="###0.0" sourceLinked="1"/>
        <c:majorTickMark val="out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pPr>
            <a:endParaRPr lang="ko-KR"/>
          </a:p>
        </c:txPr>
        <c:crossAx val="190170655"/>
        <c:crosses val="autoZero"/>
        <c:crossBetween val="between"/>
        <c:minorUnit val="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000">
          <a:latin typeface="에스코어 드림 3 Light" panose="020B0303030302020204" pitchFamily="34" charset="-127"/>
          <a:ea typeface="에스코어 드림 3 Light" panose="020B0303030302020204" pitchFamily="34" charset="-127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29402489881775"/>
          <c:y val="3.9407151247124871E-2"/>
          <c:w val="0.73645596835543836"/>
          <c:h val="0.8529495663774420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BFBFBF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D81B-4B4A-B632-3DD505DF70B6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D81B-4B4A-B632-3DD505DF70B6}"/>
              </c:ext>
            </c:extLst>
          </c:dPt>
          <c:dPt>
            <c:idx val="2"/>
            <c:bubble3D val="0"/>
            <c:spPr>
              <a:solidFill>
                <a:srgbClr val="75BAFF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D81B-4B4A-B632-3DD505DF70B6}"/>
              </c:ext>
            </c:extLst>
          </c:dPt>
          <c:dPt>
            <c:idx val="3"/>
            <c:bubble3D val="0"/>
            <c:spPr>
              <a:solidFill>
                <a:srgbClr val="BADCFF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D81B-4B4A-B632-3DD505DF70B6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D81B-4B4A-B632-3DD505DF70B6}"/>
              </c:ext>
            </c:extLst>
          </c:dPt>
          <c:dLbls>
            <c:dLbl>
              <c:idx val="0"/>
              <c:layout>
                <c:manualLayout>
                  <c:x val="-0.10577835062816313"/>
                  <c:y val="-6.026511907106301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D81B-4B4A-B632-3DD505DF70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0회</c:v>
                </c:pt>
                <c:pt idx="1">
                  <c:v>1~3회</c:v>
                </c:pt>
                <c:pt idx="2">
                  <c:v>4~6회</c:v>
                </c:pt>
                <c:pt idx="3">
                  <c:v>7회 이상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1.2</c:v>
                </c:pt>
                <c:pt idx="1">
                  <c:v>44</c:v>
                </c:pt>
                <c:pt idx="2">
                  <c:v>32.299999999999997</c:v>
                </c:pt>
                <c:pt idx="3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81B-4B4A-B632-3DD505DF7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54"/>
        <c:holeSize val="60"/>
      </c:doughnutChart>
    </c:plotArea>
    <c:legend>
      <c:legendPos val="r"/>
      <c:layout>
        <c:manualLayout>
          <c:xMode val="edge"/>
          <c:yMode val="edge"/>
          <c:x val="0.7980346554347405"/>
          <c:y val="0.29799481275427864"/>
          <c:w val="0.18325568229354572"/>
          <c:h val="0.41479775787789042"/>
        </c:manualLayout>
      </c:layout>
      <c:overlay val="0"/>
      <c:txPr>
        <a:bodyPr/>
        <a:lstStyle/>
        <a:p>
          <a:pPr>
            <a:defRPr lang="en-US" altLang="ko-KR" sz="900" b="0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29402489881775"/>
          <c:y val="3.9407151247124871E-2"/>
          <c:w val="0.73645596835543836"/>
          <c:h val="0.8529495663774420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BFBFBF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D81B-4B4A-B632-3DD505DF70B6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D81B-4B4A-B632-3DD505DF70B6}"/>
              </c:ext>
            </c:extLst>
          </c:dPt>
          <c:dPt>
            <c:idx val="2"/>
            <c:bubble3D val="0"/>
            <c:spPr>
              <a:solidFill>
                <a:srgbClr val="75BAFF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D81B-4B4A-B632-3DD505DF70B6}"/>
              </c:ext>
            </c:extLst>
          </c:dPt>
          <c:dPt>
            <c:idx val="3"/>
            <c:bubble3D val="0"/>
            <c:spPr>
              <a:solidFill>
                <a:srgbClr val="BADCFF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D81B-4B4A-B632-3DD505DF70B6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D81B-4B4A-B632-3DD505DF70B6}"/>
              </c:ext>
            </c:extLst>
          </c:dPt>
          <c:dLbls>
            <c:dLbl>
              <c:idx val="0"/>
              <c:layout>
                <c:manualLayout>
                  <c:x val="-7.8505316966043974E-4"/>
                  <c:y val="1.19263243677042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D81B-4B4A-B632-3DD505DF70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0회</c:v>
                </c:pt>
                <c:pt idx="1">
                  <c:v>1회</c:v>
                </c:pt>
                <c:pt idx="2">
                  <c:v>2회</c:v>
                </c:pt>
                <c:pt idx="3">
                  <c:v>3회 이상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32.6</c:v>
                </c:pt>
                <c:pt idx="1">
                  <c:v>47</c:v>
                </c:pt>
                <c:pt idx="2">
                  <c:v>13.7</c:v>
                </c:pt>
                <c:pt idx="3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81B-4B4A-B632-3DD505DF7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59"/>
        <c:holeSize val="60"/>
      </c:doughnutChart>
    </c:plotArea>
    <c:legend>
      <c:legendPos val="r"/>
      <c:layout>
        <c:manualLayout>
          <c:xMode val="edge"/>
          <c:yMode val="edge"/>
          <c:x val="0.7980346554347405"/>
          <c:y val="0.29799481275427864"/>
          <c:w val="0.18325568229354572"/>
          <c:h val="0.41479775787789042"/>
        </c:manualLayout>
      </c:layout>
      <c:overlay val="0"/>
      <c:txPr>
        <a:bodyPr/>
        <a:lstStyle/>
        <a:p>
          <a:pPr>
            <a:defRPr lang="en-US" altLang="ko-KR" sz="900" b="0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2023년(15,754)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포털사이트</c:v>
                </c:pt>
                <c:pt idx="1">
                  <c:v>대한민국 구석구석 SNS</c:v>
                </c:pt>
                <c:pt idx="2">
                  <c:v>타 SNS 채널</c:v>
                </c:pt>
                <c:pt idx="3">
                  <c:v>대한민국 구석구석 홈페이지/앱</c:v>
                </c:pt>
                <c:pt idx="4">
                  <c:v>유튜브</c:v>
                </c:pt>
                <c:pt idx="5">
                  <c:v>지역관광 홈페이지</c:v>
                </c:pt>
                <c:pt idx="6">
                  <c:v>뉴스레터</c:v>
                </c:pt>
              </c:strCache>
            </c:strRef>
          </c:cat>
          <c:val>
            <c:numRef>
              <c:f>Sheet1!$B$2:$B$8</c:f>
              <c:numCache>
                <c:formatCode>0.0</c:formatCode>
                <c:ptCount val="7"/>
                <c:pt idx="0">
                  <c:v>26.8</c:v>
                </c:pt>
                <c:pt idx="1">
                  <c:v>32.200000000000003</c:v>
                </c:pt>
                <c:pt idx="2">
                  <c:v>19.7</c:v>
                </c:pt>
                <c:pt idx="3">
                  <c:v>16.7</c:v>
                </c:pt>
                <c:pt idx="5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1F-401C-9266-42A472956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2024년(11,974)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포털사이트</c:v>
                </c:pt>
                <c:pt idx="1">
                  <c:v>대한민국 구석구석 SNS</c:v>
                </c:pt>
                <c:pt idx="2">
                  <c:v>타 SNS 채널</c:v>
                </c:pt>
                <c:pt idx="3">
                  <c:v>대한민국 구석구석 홈페이지/앱</c:v>
                </c:pt>
                <c:pt idx="4">
                  <c:v>유튜브</c:v>
                </c:pt>
                <c:pt idx="5">
                  <c:v>지역관광 홈페이지</c:v>
                </c:pt>
                <c:pt idx="6">
                  <c:v>뉴스레터</c:v>
                </c:pt>
              </c:strCache>
            </c:strRef>
          </c:cat>
          <c:val>
            <c:numRef>
              <c:f>Sheet1!$C$2:$C$8</c:f>
              <c:numCache>
                <c:formatCode>0.0</c:formatCode>
                <c:ptCount val="7"/>
                <c:pt idx="0">
                  <c:v>28.5</c:v>
                </c:pt>
                <c:pt idx="1">
                  <c:v>24</c:v>
                </c:pt>
                <c:pt idx="2">
                  <c:v>15.8</c:v>
                </c:pt>
                <c:pt idx="3">
                  <c:v>14.6</c:v>
                </c:pt>
                <c:pt idx="4">
                  <c:v>11.1</c:v>
                </c:pt>
                <c:pt idx="5">
                  <c:v>4.0999999999999996</c:v>
                </c:pt>
                <c:pt idx="6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1F-401C-9266-42A472956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815120889779771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23년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22.471482889733839</c:v>
                </c:pt>
                <c:pt idx="1">
                  <c:v>16.387300335239598</c:v>
                </c:pt>
                <c:pt idx="2">
                  <c:v>17.674970344009491</c:v>
                </c:pt>
                <c:pt idx="3">
                  <c:v>25.451807228915662</c:v>
                </c:pt>
                <c:pt idx="4">
                  <c:v>15.139826422372227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여행관련 웹사이트 검색 가능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dLbl>
              <c:idx val="3"/>
              <c:layout>
                <c:manualLayout>
                  <c:x val="4.5556517702832325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9A8A-4C16-9254-144F6F8E7E06}"/>
                </c:ext>
              </c:extLst>
            </c:dLbl>
            <c:dLbl>
              <c:idx val="5"/>
              <c:layout>
                <c:manualLayout>
                  <c:x val="8.2001731865098182E-2"/>
                  <c:y val="3.368863793653644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9A8A-4C16-9254-144F6F8E7E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18.438480306727083</c:v>
                </c:pt>
                <c:pt idx="1">
                  <c:v>17.429577464788732</c:v>
                </c:pt>
                <c:pt idx="2">
                  <c:v>29.447852760736197</c:v>
                </c:pt>
                <c:pt idx="3">
                  <c:v>13.88447270800212</c:v>
                </c:pt>
                <c:pt idx="4">
                  <c:v>39.10891089108911</c:v>
                </c:pt>
                <c:pt idx="5">
                  <c:v>17.797888386123681</c:v>
                </c:pt>
                <c:pt idx="6">
                  <c:v>11.904761904761905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9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23년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0"/>
              <c:layout>
                <c:manualLayout>
                  <c:x val="-0.19507803078185745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22E4-4C88-9D12-3A8069D2F5AC}"/>
                </c:ext>
              </c:extLst>
            </c:dLbl>
            <c:dLbl>
              <c:idx val="1"/>
              <c:layout>
                <c:manualLayout>
                  <c:x val="-0.1472099681965286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2E4-4C88-9D12-3A8069D2F5AC}"/>
                </c:ext>
              </c:extLst>
            </c:dLbl>
            <c:dLbl>
              <c:idx val="2"/>
              <c:layout>
                <c:manualLayout>
                  <c:x val="-0.15563900010976608"/>
                  <c:y val="6.176178940618858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22E4-4C88-9D12-3A8069D2F5AC}"/>
                </c:ext>
              </c:extLst>
            </c:dLbl>
            <c:dLbl>
              <c:idx val="4"/>
              <c:layout>
                <c:manualLayout>
                  <c:x val="-0.15605080233278068"/>
                  <c:y val="3.368863793653644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B7C0-402E-B6A9-8E2F89EDF3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12.053231939163497</c:v>
                </c:pt>
                <c:pt idx="1">
                  <c:v>9.2683888779333472</c:v>
                </c:pt>
                <c:pt idx="2">
                  <c:v>8.5646500593119814</c:v>
                </c:pt>
                <c:pt idx="3">
                  <c:v>13.704819277108435</c:v>
                </c:pt>
                <c:pt idx="4">
                  <c:v>7.9395692703310834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여행관련 웹사이트 검색 가능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0"/>
              <c:layout>
                <c:manualLayout>
                  <c:x val="-0.20139496209482499"/>
                  <c:y val="1.544044735154714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2E4-4C88-9D12-3A8069D2F5AC}"/>
                </c:ext>
              </c:extLst>
            </c:dLbl>
            <c:dLbl>
              <c:idx val="1"/>
              <c:layout>
                <c:manualLayout>
                  <c:x val="-0.18719998163390783"/>
                  <c:y val="2.6526486567290013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22E4-4C88-9D12-3A8069D2F5AC}"/>
                </c:ext>
              </c:extLst>
            </c:dLbl>
            <c:dLbl>
              <c:idx val="2"/>
              <c:layout>
                <c:manualLayout>
                  <c:x val="-0.15772814309481567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22E4-4C88-9D12-3A8069D2F5AC}"/>
                </c:ext>
              </c:extLst>
            </c:dLbl>
            <c:dLbl>
              <c:idx val="4"/>
              <c:layout>
                <c:manualLayout>
                  <c:x val="-0.1561842434712488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B7C0-402E-B6A9-8E2F89EDF3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12.507138777841234</c:v>
                </c:pt>
                <c:pt idx="1">
                  <c:v>10.17776228651098</c:v>
                </c:pt>
                <c:pt idx="2">
                  <c:v>8.714788732394366</c:v>
                </c:pt>
                <c:pt idx="3">
                  <c:v>16.564417177914109</c:v>
                </c:pt>
                <c:pt idx="4">
                  <c:v>7.9491255961844196</c:v>
                </c:pt>
                <c:pt idx="5">
                  <c:v>22.772277227722771</c:v>
                </c:pt>
                <c:pt idx="6">
                  <c:v>10.331825037707391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-35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815120889779771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23년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32.395437262357412</c:v>
                </c:pt>
                <c:pt idx="1">
                  <c:v>44.271346874383752</c:v>
                </c:pt>
                <c:pt idx="2">
                  <c:v>23.036773428232504</c:v>
                </c:pt>
                <c:pt idx="3">
                  <c:v>27.259036144578314</c:v>
                </c:pt>
                <c:pt idx="4">
                  <c:v>46.255223400835746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최신 관광 트렌드 파악 가능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dLbl>
              <c:idx val="4"/>
              <c:layout>
                <c:manualLayout>
                  <c:x val="3.644521416226585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1A32-4F44-9B16-CA8E5677EA77}"/>
                </c:ext>
              </c:extLst>
            </c:dLbl>
            <c:dLbl>
              <c:idx val="6"/>
              <c:layout>
                <c:manualLayout>
                  <c:x val="0.13666955310849696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A32-4F44-9B16-CA8E5677EA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35.657023353084696</c:v>
                </c:pt>
                <c:pt idx="1">
                  <c:v>25.79225352112676</c:v>
                </c:pt>
                <c:pt idx="2">
                  <c:v>29.243353783231083</c:v>
                </c:pt>
                <c:pt idx="3">
                  <c:v>48.807631160572335</c:v>
                </c:pt>
                <c:pt idx="4">
                  <c:v>32.178217821782177</c:v>
                </c:pt>
                <c:pt idx="5">
                  <c:v>43.740573152337859</c:v>
                </c:pt>
                <c:pt idx="6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9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23년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16.958174904942965</c:v>
                </c:pt>
                <c:pt idx="1">
                  <c:v>24.018931177282589</c:v>
                </c:pt>
                <c:pt idx="2">
                  <c:v>11.269276393831554</c:v>
                </c:pt>
                <c:pt idx="3">
                  <c:v>15.361445783132529</c:v>
                </c:pt>
                <c:pt idx="4">
                  <c:v>27.997428479588557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최신 관광 트렌드 파악 가능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15.533980582524272</c:v>
                </c:pt>
                <c:pt idx="1">
                  <c:v>19.379574764726385</c:v>
                </c:pt>
                <c:pt idx="2">
                  <c:v>13.116197183098592</c:v>
                </c:pt>
                <c:pt idx="3">
                  <c:v>16.768916155419223</c:v>
                </c:pt>
                <c:pt idx="4">
                  <c:v>30.418653948065714</c:v>
                </c:pt>
                <c:pt idx="5">
                  <c:v>15.841584158415841</c:v>
                </c:pt>
                <c:pt idx="6">
                  <c:v>27.149321266968325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-35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815120889779771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23년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44.752851711026615</c:v>
                </c:pt>
                <c:pt idx="1">
                  <c:v>48.590021691973966</c:v>
                </c:pt>
                <c:pt idx="2">
                  <c:v>35.776986951364172</c:v>
                </c:pt>
                <c:pt idx="3">
                  <c:v>40.361445783132531</c:v>
                </c:pt>
                <c:pt idx="4">
                  <c:v>43.908711025393764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맞춤 정보 검색 용이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46.392471244336008</c:v>
                </c:pt>
                <c:pt idx="1">
                  <c:v>35.592723004694832</c:v>
                </c:pt>
                <c:pt idx="2">
                  <c:v>38.650306748466257</c:v>
                </c:pt>
                <c:pt idx="3">
                  <c:v>38.57975622681505</c:v>
                </c:pt>
                <c:pt idx="4">
                  <c:v>32.67326732673267</c:v>
                </c:pt>
                <c:pt idx="5">
                  <c:v>31.975867269984917</c:v>
                </c:pt>
                <c:pt idx="6">
                  <c:v>61.904761904761905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9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23년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22.965779467680608</c:v>
                </c:pt>
                <c:pt idx="1">
                  <c:v>26.54308814829422</c:v>
                </c:pt>
                <c:pt idx="2">
                  <c:v>16.536180308422303</c:v>
                </c:pt>
                <c:pt idx="3">
                  <c:v>21.08433734939759</c:v>
                </c:pt>
                <c:pt idx="4">
                  <c:v>21.632915461266474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맞춤 정보 검색 용이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23.814962878355225</c:v>
                </c:pt>
                <c:pt idx="1">
                  <c:v>25.374695015684907</c:v>
                </c:pt>
                <c:pt idx="2">
                  <c:v>18.456572769953052</c:v>
                </c:pt>
                <c:pt idx="3">
                  <c:v>19.836400817995909</c:v>
                </c:pt>
                <c:pt idx="4">
                  <c:v>17.91202967673556</c:v>
                </c:pt>
                <c:pt idx="5">
                  <c:v>20.297029702970296</c:v>
                </c:pt>
                <c:pt idx="6">
                  <c:v>15.082956259426847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-35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815120889779771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다양한 정보 검색 가능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43.231939163498097</c:v>
                </c:pt>
                <c:pt idx="1">
                  <c:v>37.152435417077498</c:v>
                </c:pt>
                <c:pt idx="2">
                  <c:v>62.372479240806641</c:v>
                </c:pt>
                <c:pt idx="3">
                  <c:v>38.855421686746986</c:v>
                </c:pt>
                <c:pt idx="4">
                  <c:v>40.405014464802314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2024년(2,727)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39.874520738933427</c:v>
                </c:pt>
                <c:pt idx="1">
                  <c:v>49.853286384976528</c:v>
                </c:pt>
                <c:pt idx="2">
                  <c:v>39.263803680981596</c:v>
                </c:pt>
                <c:pt idx="3">
                  <c:v>39.056703762586118</c:v>
                </c:pt>
                <c:pt idx="4">
                  <c:v>41.089108910891092</c:v>
                </c:pt>
                <c:pt idx="5">
                  <c:v>41.327300150829565</c:v>
                </c:pt>
                <c:pt idx="6">
                  <c:v>33.333333333333336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9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다양한 정보 검색 가능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22.319391634980988</c:v>
                </c:pt>
                <c:pt idx="1">
                  <c:v>18.43817787418655</c:v>
                </c:pt>
                <c:pt idx="2">
                  <c:v>39.857651245551601</c:v>
                </c:pt>
                <c:pt idx="3">
                  <c:v>20.783132530120483</c:v>
                </c:pt>
                <c:pt idx="4">
                  <c:v>20.025715204114434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22.72986864648772</c:v>
                </c:pt>
                <c:pt idx="1">
                  <c:v>21.610317183687695</c:v>
                </c:pt>
                <c:pt idx="2">
                  <c:v>30.076291079812208</c:v>
                </c:pt>
                <c:pt idx="3">
                  <c:v>21.472392638036808</c:v>
                </c:pt>
                <c:pt idx="4">
                  <c:v>20.826709062003179</c:v>
                </c:pt>
                <c:pt idx="5">
                  <c:v>21.287128712871286</c:v>
                </c:pt>
                <c:pt idx="6">
                  <c:v>23.001508295625943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-35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815120889779771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1순위 2023년(5,801)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48.136882129277566</c:v>
                </c:pt>
                <c:pt idx="1">
                  <c:v>44.724906330112404</c:v>
                </c:pt>
                <c:pt idx="2">
                  <c:v>49.727164887307239</c:v>
                </c:pt>
                <c:pt idx="3">
                  <c:v>48.644578313253014</c:v>
                </c:pt>
                <c:pt idx="4">
                  <c:v>42.751526840244296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2024년(2,727)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</c:v>
                </c:pt>
                <c:pt idx="1">
                  <c:v>대한민국 구석구석 SNS (블로그, 인스타그램, 페이스북, 카카오스토리 등)</c:v>
                </c:pt>
                <c:pt idx="2">
                  <c:v>포털사이트(네이버, 다음, 구글, 포털 지도 어플 등)</c:v>
                </c:pt>
                <c:pt idx="3">
                  <c:v>지역관광 홈페이지</c:v>
                </c:pt>
                <c:pt idx="4">
                  <c:v>타 SNS 채널 (블로그, 인스타그램, 페이스북, 카카오스토리 등)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46.427326594632277</c:v>
                </c:pt>
                <c:pt idx="1">
                  <c:v>55.45774647887324</c:v>
                </c:pt>
                <c:pt idx="2">
                  <c:v>43.762781186094067</c:v>
                </c:pt>
                <c:pt idx="3">
                  <c:v>44.356120826709059</c:v>
                </c:pt>
                <c:pt idx="4">
                  <c:v>34.158415841584159</c:v>
                </c:pt>
                <c:pt idx="5">
                  <c:v>43.740573152337859</c:v>
                </c:pt>
                <c:pt idx="6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9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정보탐색 용이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25.437262357414447</c:v>
                </c:pt>
                <c:pt idx="1">
                  <c:v>21.376454348254782</c:v>
                </c:pt>
                <c:pt idx="2">
                  <c:v>23.036773428232504</c:v>
                </c:pt>
                <c:pt idx="3">
                  <c:v>28.765060240963855</c:v>
                </c:pt>
                <c:pt idx="4">
                  <c:v>21.440051430408229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07-4080-AF6E-9D3B5DBC8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  <c:pt idx="6">
                  <c:v>유튜브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25.299828669331809</c:v>
                </c:pt>
                <c:pt idx="1">
                  <c:v>23.318229348204948</c:v>
                </c:pt>
                <c:pt idx="2">
                  <c:v>29.049295774647888</c:v>
                </c:pt>
                <c:pt idx="3">
                  <c:v>25.153374233128833</c:v>
                </c:pt>
                <c:pt idx="4">
                  <c:v>22.098569157392689</c:v>
                </c:pt>
                <c:pt idx="5">
                  <c:v>19.801980198019802</c:v>
                </c:pt>
                <c:pt idx="6">
                  <c:v>23.83107088989442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07-4080-AF6E-9D3B5DBC8DB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-35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대한민국 구석구석 SNS</c:v>
                </c:pt>
                <c:pt idx="1">
                  <c:v>지인 추천 및 일반 개인 블로그/SNS</c:v>
                </c:pt>
                <c:pt idx="2">
                  <c:v>포털사이트 대한민국 구석구석 검색</c:v>
                </c:pt>
                <c:pt idx="3">
                  <c:v>온라인 광고/이벤트/홍보</c:v>
                </c:pt>
                <c:pt idx="4">
                  <c:v>포털사이트 노출 콘텐츠 클릭*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40.799999999999997</c:v>
                </c:pt>
                <c:pt idx="1">
                  <c:v>27.9</c:v>
                </c:pt>
                <c:pt idx="2">
                  <c:v>30.6</c:v>
                </c:pt>
                <c:pt idx="3">
                  <c:v>30.9</c:v>
                </c:pt>
                <c:pt idx="4">
                  <c:v>24.3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E-4C54-AB6C-C3D887C1F3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대한민국 구석구석 SNS</c:v>
                </c:pt>
                <c:pt idx="1">
                  <c:v>지인 추천 및 일반 개인 블로그/SNS</c:v>
                </c:pt>
                <c:pt idx="2">
                  <c:v>포털사이트 대한민국 구석구석 검색</c:v>
                </c:pt>
                <c:pt idx="3">
                  <c:v>온라인 광고/이벤트/홍보</c:v>
                </c:pt>
                <c:pt idx="4">
                  <c:v>포털사이트 노출 콘텐츠 클릭*</c:v>
                </c:pt>
              </c:strCache>
            </c:strRef>
          </c:cat>
          <c:val>
            <c:numRef>
              <c:f>Sheet1!$C$2:$C$6</c:f>
              <c:numCache>
                <c:formatCode>###0.0</c:formatCode>
                <c:ptCount val="5"/>
                <c:pt idx="0">
                  <c:v>41.474147414741473</c:v>
                </c:pt>
                <c:pt idx="1">
                  <c:v>32.379904657132379</c:v>
                </c:pt>
                <c:pt idx="2">
                  <c:v>29.482948294829484</c:v>
                </c:pt>
                <c:pt idx="3">
                  <c:v>26.549321598826548</c:v>
                </c:pt>
                <c:pt idx="4">
                  <c:v>22.992299229922992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7E-4C54-AB6C-C3D887C1F3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405104670534E-3"/>
          <c:y val="6.1090543896834937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거의 매일</c:v>
                </c:pt>
                <c:pt idx="1">
                  <c:v>주 2-3회</c:v>
                </c:pt>
                <c:pt idx="2">
                  <c:v>월 4-5회</c:v>
                </c:pt>
                <c:pt idx="3">
                  <c:v>월 2-3회</c:v>
                </c:pt>
                <c:pt idx="4">
                  <c:v>분기 1회</c:v>
                </c:pt>
                <c:pt idx="5">
                  <c:v>거의 이용하지 않음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4.0999999999999996</c:v>
                </c:pt>
                <c:pt idx="1">
                  <c:v>17.899999999999999</c:v>
                </c:pt>
                <c:pt idx="2">
                  <c:v>22</c:v>
                </c:pt>
                <c:pt idx="3">
                  <c:v>32.299999999999997</c:v>
                </c:pt>
                <c:pt idx="4">
                  <c:v>21.4</c:v>
                </c:pt>
                <c:pt idx="5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6F-465D-82A3-27680D4E93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거의 매일</c:v>
                </c:pt>
                <c:pt idx="1">
                  <c:v>주 2-3회</c:v>
                </c:pt>
                <c:pt idx="2">
                  <c:v>월 4-5회</c:v>
                </c:pt>
                <c:pt idx="3">
                  <c:v>월 2-3회</c:v>
                </c:pt>
                <c:pt idx="4">
                  <c:v>분기 1회</c:v>
                </c:pt>
                <c:pt idx="5">
                  <c:v>거의 이용하지 않음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8.4708470847084705</c:v>
                </c:pt>
                <c:pt idx="1">
                  <c:v>19.325265859919327</c:v>
                </c:pt>
                <c:pt idx="2">
                  <c:v>20.718738540520718</c:v>
                </c:pt>
                <c:pt idx="3">
                  <c:v>30.253025302530254</c:v>
                </c:pt>
                <c:pt idx="4">
                  <c:v>19.691969196919693</c:v>
                </c:pt>
                <c:pt idx="5">
                  <c:v>1.5401540154015401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6F-465D-82A3-27680D4E93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  <c:pt idx="6">
                  <c:v>디지털관광주민증 혜택 활용*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34.838820892949492</c:v>
                </c:pt>
                <c:pt idx="1">
                  <c:v>34.183761420444753</c:v>
                </c:pt>
                <c:pt idx="2">
                  <c:v>34.356145492156521</c:v>
                </c:pt>
                <c:pt idx="3">
                  <c:v>31.132563351146356</c:v>
                </c:pt>
                <c:pt idx="4">
                  <c:v>21.496293742458196</c:v>
                </c:pt>
                <c:pt idx="5">
                  <c:v>23.892432339251855</c:v>
                </c:pt>
                <c:pt idx="6">
                  <c:v>11.291156697121187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3E-43E5-9BF4-8688E98B82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  <c:pt idx="6">
                  <c:v>디지털관광주민증 혜택 활용*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38.540520718738541</c:v>
                </c:pt>
                <c:pt idx="1">
                  <c:v>31.756508984231758</c:v>
                </c:pt>
                <c:pt idx="2">
                  <c:v>29.006233956729005</c:v>
                </c:pt>
                <c:pt idx="3">
                  <c:v>25.375870920425378</c:v>
                </c:pt>
                <c:pt idx="4">
                  <c:v>23.982398239823983</c:v>
                </c:pt>
                <c:pt idx="5">
                  <c:v>23.028969563623029</c:v>
                </c:pt>
                <c:pt idx="6">
                  <c:v>17.27172717271727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3E-43E5-9BF4-8688E98B8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16129348585070213"/>
          <c:w val="0.99279852661485901"/>
          <c:h val="0.81492550435386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1순위 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6"/>
              <c:layout>
                <c:manualLayout>
                  <c:x val="0"/>
                  <c:y val="0.112315775651361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96F-465D-82A3-27680D4E93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  <c:pt idx="6">
                  <c:v>디지털관광주민증 혜택 활용*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17.203930356835027</c:v>
                </c:pt>
                <c:pt idx="1">
                  <c:v>17.600413721772107</c:v>
                </c:pt>
                <c:pt idx="2">
                  <c:v>20.35855886916049</c:v>
                </c:pt>
                <c:pt idx="3">
                  <c:v>16.548870884330288</c:v>
                </c:pt>
                <c:pt idx="4">
                  <c:v>10.739527667643509</c:v>
                </c:pt>
                <c:pt idx="5">
                  <c:v>12.377176348905362</c:v>
                </c:pt>
                <c:pt idx="6">
                  <c:v>5.0163764868126188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6F-465D-82A3-27680D4E93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7"/>
              <c:layout>
                <c:manualLayout>
                  <c:x val="-3.1203029251936774E-2"/>
                  <c:y val="1.722498716466815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96F-465D-82A3-27680D4E93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  <c:pt idx="6">
                  <c:v>디지털관광주민증 혜택 활용*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21.012101210121013</c:v>
                </c:pt>
                <c:pt idx="1">
                  <c:v>15.988265493215989</c:v>
                </c:pt>
                <c:pt idx="2">
                  <c:v>15.401540154015402</c:v>
                </c:pt>
                <c:pt idx="3">
                  <c:v>13.678034470113678</c:v>
                </c:pt>
                <c:pt idx="4">
                  <c:v>12.247891455812248</c:v>
                </c:pt>
                <c:pt idx="5">
                  <c:v>11.917858452511918</c:v>
                </c:pt>
                <c:pt idx="6">
                  <c:v>9.4242757609094241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6F-465D-82A3-27680D4E93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45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관광지 정보</c:v>
                </c:pt>
                <c:pt idx="1">
                  <c:v>여행소식/이벤트 정보*</c:v>
                </c:pt>
                <c:pt idx="2">
                  <c:v>여행코스 정보</c:v>
                </c:pt>
                <c:pt idx="3">
                  <c:v>축제 정보*</c:v>
                </c:pt>
                <c:pt idx="4">
                  <c:v>공연/행사 정보*</c:v>
                </c:pt>
                <c:pt idx="5">
                  <c:v>음식, 식당 정보</c:v>
                </c:pt>
                <c:pt idx="6">
                  <c:v>숙박 정보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 formatCode="###0.0">
                  <c:v>51.1</c:v>
                </c:pt>
                <c:pt idx="2" formatCode="###0.0">
                  <c:v>46.3</c:v>
                </c:pt>
                <c:pt idx="5" formatCode="###0.0">
                  <c:v>19.7</c:v>
                </c:pt>
                <c:pt idx="6" formatCode="###0.0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E5-4E98-AED7-38A8C4808B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관광지 정보</c:v>
                </c:pt>
                <c:pt idx="1">
                  <c:v>여행소식/이벤트 정보*</c:v>
                </c:pt>
                <c:pt idx="2">
                  <c:v>여행코스 정보</c:v>
                </c:pt>
                <c:pt idx="3">
                  <c:v>축제 정보*</c:v>
                </c:pt>
                <c:pt idx="4">
                  <c:v>공연/행사 정보*</c:v>
                </c:pt>
                <c:pt idx="5">
                  <c:v>음식, 식당 정보</c:v>
                </c:pt>
                <c:pt idx="6">
                  <c:v>숙박 정보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44.151081774844151</c:v>
                </c:pt>
                <c:pt idx="1">
                  <c:v>37.917125045837921</c:v>
                </c:pt>
                <c:pt idx="2">
                  <c:v>32.049871653832049</c:v>
                </c:pt>
                <c:pt idx="3">
                  <c:v>25.11917858452512</c:v>
                </c:pt>
                <c:pt idx="4">
                  <c:v>18.005133846718007</c:v>
                </c:pt>
                <c:pt idx="5">
                  <c:v>20.242024202420243</c:v>
                </c:pt>
                <c:pt idx="6">
                  <c:v>14.851485148514852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E5-4E98-AED7-38A8C4808B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8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16129348585070213"/>
          <c:w val="0.99279852661485901"/>
          <c:h val="0.81492550435386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1순위 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6"/>
              <c:layout>
                <c:manualLayout>
                  <c:x val="0"/>
                  <c:y val="0.112315775651361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2B1E-4929-862E-EC1EAA839A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관광지 정보</c:v>
                </c:pt>
                <c:pt idx="1">
                  <c:v>여행소식/이벤트 정보*</c:v>
                </c:pt>
                <c:pt idx="2">
                  <c:v>여행코스 정보</c:v>
                </c:pt>
                <c:pt idx="3">
                  <c:v>축제 정보*</c:v>
                </c:pt>
                <c:pt idx="4">
                  <c:v>공연/행사 정보*</c:v>
                </c:pt>
                <c:pt idx="5">
                  <c:v>음식, 식당 정보</c:v>
                </c:pt>
                <c:pt idx="6">
                  <c:v>숙박 정보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28.2</c:v>
                </c:pt>
                <c:pt idx="2">
                  <c:v>24.4</c:v>
                </c:pt>
                <c:pt idx="5">
                  <c:v>8.6</c:v>
                </c:pt>
                <c:pt idx="6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1E-4929-862E-EC1EAA839A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7"/>
              <c:layout>
                <c:manualLayout>
                  <c:x val="-3.1203029251936774E-2"/>
                  <c:y val="1.722498716466815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B1E-4929-862E-EC1EAA839A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관광지 정보</c:v>
                </c:pt>
                <c:pt idx="1">
                  <c:v>여행소식/이벤트 정보*</c:v>
                </c:pt>
                <c:pt idx="2">
                  <c:v>여행코스 정보</c:v>
                </c:pt>
                <c:pt idx="3">
                  <c:v>축제 정보*</c:v>
                </c:pt>
                <c:pt idx="4">
                  <c:v>공연/행사 정보*</c:v>
                </c:pt>
                <c:pt idx="5">
                  <c:v>음식, 식당 정보</c:v>
                </c:pt>
                <c:pt idx="6">
                  <c:v>숙박 정보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24.8</c:v>
                </c:pt>
                <c:pt idx="1">
                  <c:v>21.2</c:v>
                </c:pt>
                <c:pt idx="2">
                  <c:v>16.600000000000001</c:v>
                </c:pt>
                <c:pt idx="3">
                  <c:v>12.1</c:v>
                </c:pt>
                <c:pt idx="4">
                  <c:v>9.6</c:v>
                </c:pt>
                <c:pt idx="5">
                  <c:v>8.9</c:v>
                </c:pt>
                <c:pt idx="6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B1E-4929-862E-EC1EAA839A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50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rgbClr val="CCECF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Sheet1!$A$2:$A$14</c:f>
              <c:strCache>
                <c:ptCount val="13"/>
                <c:pt idx="0">
                  <c:v>여행정보-여행지(여행지, 음식,숙박) 검색</c:v>
                </c:pt>
                <c:pt idx="1">
                  <c:v>여행정보-축제정보 검색</c:v>
                </c:pt>
                <c:pt idx="2">
                  <c:v>여행정보-지역별 인기정보</c:v>
                </c:pt>
                <c:pt idx="3">
                  <c:v>여행정보-여행상품 검색</c:v>
                </c:pt>
                <c:pt idx="4">
                  <c:v>여행정보-공연/행사정보 검색</c:v>
                </c:pt>
                <c:pt idx="5">
                  <c:v>여행정보-테마(사업)별 정보</c:v>
                </c:pt>
                <c:pt idx="6">
                  <c:v>여행정보-여행기사 검색</c:v>
                </c:pt>
                <c:pt idx="7">
                  <c:v>여행정보-AI콕콕(맞춤형 여행정보 추천 서비스)</c:v>
                </c:pt>
                <c:pt idx="8">
                  <c:v>이벤트</c:v>
                </c:pt>
                <c:pt idx="9">
                  <c:v>여행코스-추천코스, AI콕콕 플래너</c:v>
                </c:pt>
                <c:pt idx="10">
                  <c:v>가볼래-터(여행구독 서비스)</c:v>
                </c:pt>
                <c:pt idx="11">
                  <c:v>디지털관광주민증</c:v>
                </c:pt>
                <c:pt idx="12">
                  <c:v>배지콕콕</c:v>
                </c:pt>
              </c:strCache>
            </c:strRef>
          </c:cat>
          <c:val>
            <c:numRef>
              <c:f>Sheet1!$B$2:$B$14</c:f>
              <c:numCache>
                <c:formatCode>###0.0</c:formatCode>
                <c:ptCount val="13"/>
                <c:pt idx="0">
                  <c:v>41.034103410341032</c:v>
                </c:pt>
                <c:pt idx="1">
                  <c:v>31.4998166483315</c:v>
                </c:pt>
                <c:pt idx="2">
                  <c:v>31.206453978731208</c:v>
                </c:pt>
                <c:pt idx="3">
                  <c:v>23.102310231023104</c:v>
                </c:pt>
                <c:pt idx="4">
                  <c:v>20.352035203520352</c:v>
                </c:pt>
                <c:pt idx="5">
                  <c:v>17.931793179317932</c:v>
                </c:pt>
                <c:pt idx="6">
                  <c:v>19.91199119911991</c:v>
                </c:pt>
                <c:pt idx="7">
                  <c:v>16.391639163916391</c:v>
                </c:pt>
                <c:pt idx="8">
                  <c:v>21.708837550421709</c:v>
                </c:pt>
                <c:pt idx="9">
                  <c:v>16.134946828016133</c:v>
                </c:pt>
                <c:pt idx="10">
                  <c:v>15.328199486615329</c:v>
                </c:pt>
                <c:pt idx="11">
                  <c:v>14.484781811514484</c:v>
                </c:pt>
                <c:pt idx="12">
                  <c:v>7.6274294096076272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3E-43E5-9BF4-8688E98B8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16129348585070213"/>
          <c:w val="0.99279852661485901"/>
          <c:h val="0.81492550435386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1순위 2024년(2,727)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5"/>
              <c:layout>
                <c:manualLayout>
                  <c:x val="0"/>
                  <c:y val="0.1286193240640915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6C-4174-AAF0-F40D724DDF50}"/>
                </c:ext>
              </c:extLst>
            </c:dLbl>
            <c:dLbl>
              <c:idx val="6"/>
              <c:layout>
                <c:manualLayout>
                  <c:x val="-6.693363106078419E-17"/>
                  <c:y val="0.1309806869819019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6C-4174-AAF0-F40D724DDF50}"/>
                </c:ext>
              </c:extLst>
            </c:dLbl>
            <c:dLbl>
              <c:idx val="7"/>
              <c:layout>
                <c:manualLayout>
                  <c:x val="-6.693363106078419E-17"/>
                  <c:y val="0.1230760387038088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6C-4174-AAF0-F40D724DDF50}"/>
                </c:ext>
              </c:extLst>
            </c:dLbl>
            <c:dLbl>
              <c:idx val="12"/>
              <c:layout>
                <c:manualLayout>
                  <c:x val="0"/>
                  <c:y val="9.25654263781708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6C-4174-AAF0-F40D724DDF50}"/>
                </c:ext>
              </c:extLst>
            </c:dLbl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Sheet1!$A$2:$A$14</c:f>
              <c:strCache>
                <c:ptCount val="13"/>
                <c:pt idx="0">
                  <c:v>여행지 검색</c:v>
                </c:pt>
                <c:pt idx="1">
                  <c:v>축제정보 검색</c:v>
                </c:pt>
                <c:pt idx="2">
                  <c:v>지역별 인기정보</c:v>
                </c:pt>
                <c:pt idx="3">
                  <c:v>여행상품 검색 </c:v>
                </c:pt>
                <c:pt idx="4">
                  <c:v>공연/행사 정보 검색</c:v>
                </c:pt>
                <c:pt idx="5">
                  <c:v>테마별 정보</c:v>
                </c:pt>
                <c:pt idx="6">
                  <c:v>여행기사 검색</c:v>
                </c:pt>
                <c:pt idx="7">
                  <c:v>AI콕콕</c:v>
                </c:pt>
                <c:pt idx="8">
                  <c:v>이벤트</c:v>
                </c:pt>
                <c:pt idx="9">
                  <c:v>추천코스, AI콕콕 플래너</c:v>
                </c:pt>
                <c:pt idx="10">
                  <c:v>가볼래-터</c:v>
                </c:pt>
                <c:pt idx="11">
                  <c:v>디지털관광주민증</c:v>
                </c:pt>
                <c:pt idx="12">
                  <c:v>배지콕콕</c:v>
                </c:pt>
              </c:strCache>
            </c:strRef>
          </c:cat>
          <c:val>
            <c:numRef>
              <c:f>Sheet1!$B$2:$B$14</c:f>
              <c:numCache>
                <c:formatCode>###0.0</c:formatCode>
                <c:ptCount val="13"/>
                <c:pt idx="0">
                  <c:v>16.611661166116612</c:v>
                </c:pt>
                <c:pt idx="1">
                  <c:v>11.697836450311698</c:v>
                </c:pt>
                <c:pt idx="2">
                  <c:v>10.927759442610927</c:v>
                </c:pt>
                <c:pt idx="3">
                  <c:v>8.3608360836083602</c:v>
                </c:pt>
                <c:pt idx="4">
                  <c:v>7.1873854052071877</c:v>
                </c:pt>
                <c:pt idx="5">
                  <c:v>7.0773744041070774</c:v>
                </c:pt>
                <c:pt idx="6">
                  <c:v>7.0040337367070045</c:v>
                </c:pt>
                <c:pt idx="7">
                  <c:v>6.4173083975064174</c:v>
                </c:pt>
                <c:pt idx="8">
                  <c:v>6.307297396406307</c:v>
                </c:pt>
                <c:pt idx="9">
                  <c:v>5.6105610561056105</c:v>
                </c:pt>
                <c:pt idx="10">
                  <c:v>5.0238357169050234</c:v>
                </c:pt>
                <c:pt idx="11">
                  <c:v>4.9871653832049869</c:v>
                </c:pt>
                <c:pt idx="12">
                  <c:v>2.786945361202787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6F-465D-82A3-27680D4E931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4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3322380430814165"/>
          <c:y val="0.12463262208781679"/>
          <c:w val="0.17676159182183279"/>
          <c:h val="0.12088769211434407"/>
        </c:manualLayout>
      </c:layout>
      <c:overlay val="0"/>
      <c:txPr>
        <a:bodyPr/>
        <a:lstStyle/>
        <a:p>
          <a:pPr>
            <a:defRPr lang="en-US" altLang="ko-KR" sz="1000" b="0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chemeClr val="bg1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최신 정보 다양화</c:v>
                </c:pt>
                <c:pt idx="1">
                  <c:v>검색 기능 개선</c:v>
                </c:pt>
                <c:pt idx="2">
                  <c:v>여행 취향을 반영한 맞춤형 추천*</c:v>
                </c:pt>
                <c:pt idx="3">
                  <c:v>주제별 특화된 정보 제공</c:v>
                </c:pt>
                <c:pt idx="4">
                  <c:v>사이트 디자인 및 메뉴 구성</c:v>
                </c:pt>
              </c:strCache>
            </c:strRef>
          </c:cat>
          <c:val>
            <c:numRef>
              <c:f>Sheet1!$B$2:$B$6</c:f>
              <c:numCache>
                <c:formatCode>###0.0</c:formatCode>
                <c:ptCount val="5"/>
                <c:pt idx="0">
                  <c:v>45.7</c:v>
                </c:pt>
                <c:pt idx="1">
                  <c:v>37.799999999999997</c:v>
                </c:pt>
                <c:pt idx="2">
                  <c:v>34</c:v>
                </c:pt>
                <c:pt idx="3">
                  <c:v>37.799999999999997</c:v>
                </c:pt>
                <c:pt idx="4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3E-43E5-9BF4-8688E98B82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최신 정보 다양화</c:v>
                </c:pt>
                <c:pt idx="1">
                  <c:v>검색 기능 개선</c:v>
                </c:pt>
                <c:pt idx="2">
                  <c:v>여행 취향을 반영한 맞춤형 추천*</c:v>
                </c:pt>
                <c:pt idx="3">
                  <c:v>주제별 특화된 정보 제공</c:v>
                </c:pt>
                <c:pt idx="4">
                  <c:v>사이트 디자인 및 메뉴 구성</c:v>
                </c:pt>
              </c:strCache>
            </c:strRef>
          </c:cat>
          <c:val>
            <c:numRef>
              <c:f>Sheet1!$C$2:$C$6</c:f>
              <c:numCache>
                <c:formatCode>###0.0</c:formatCode>
                <c:ptCount val="5"/>
                <c:pt idx="0">
                  <c:v>46.681334800146679</c:v>
                </c:pt>
                <c:pt idx="1">
                  <c:v>42.134213421342132</c:v>
                </c:pt>
                <c:pt idx="2">
                  <c:v>37.110377704437113</c:v>
                </c:pt>
                <c:pt idx="3">
                  <c:v>34.800146681334802</c:v>
                </c:pt>
                <c:pt idx="4">
                  <c:v>22.662266226622663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3E-43E5-9BF4-8688E98B8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16129348585070213"/>
          <c:w val="0.99279852661485901"/>
          <c:h val="0.81492550435386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1순위 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6"/>
              <c:layout>
                <c:manualLayout>
                  <c:x val="0"/>
                  <c:y val="0.112315775651361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6F-465D-82A3-27680D4E93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최신 정보 다양화</c:v>
                </c:pt>
                <c:pt idx="1">
                  <c:v>검색 기능 개선</c:v>
                </c:pt>
                <c:pt idx="2">
                  <c:v>여행 취향을 반영한 맞춤형 추천*</c:v>
                </c:pt>
                <c:pt idx="3">
                  <c:v>주제별 특화된 정보 제공</c:v>
                </c:pt>
                <c:pt idx="4">
                  <c:v>사이트 디자인 및 메뉴 구성</c:v>
                </c:pt>
              </c:strCache>
            </c:strRef>
          </c:cat>
          <c:val>
            <c:numRef>
              <c:f>Sheet1!$B$2:$B$6</c:f>
              <c:numCache>
                <c:formatCode>###0.0</c:formatCode>
                <c:ptCount val="5"/>
                <c:pt idx="0">
                  <c:v>27</c:v>
                </c:pt>
                <c:pt idx="1">
                  <c:v>21.4</c:v>
                </c:pt>
                <c:pt idx="2">
                  <c:v>19</c:v>
                </c:pt>
                <c:pt idx="3">
                  <c:v>19.3</c:v>
                </c:pt>
                <c:pt idx="4">
                  <c:v>12.1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6F-465D-82A3-27680D4E93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7"/>
              <c:layout>
                <c:manualLayout>
                  <c:x val="-3.1203029251936774E-2"/>
                  <c:y val="1.722498716466815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96F-465D-82A3-27680D4E93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최신 정보 다양화</c:v>
                </c:pt>
                <c:pt idx="1">
                  <c:v>검색 기능 개선</c:v>
                </c:pt>
                <c:pt idx="2">
                  <c:v>여행 취향을 반영한 맞춤형 추천*</c:v>
                </c:pt>
                <c:pt idx="3">
                  <c:v>주제별 특화된 정보 제공</c:v>
                </c:pt>
                <c:pt idx="4">
                  <c:v>사이트 디자인 및 메뉴 구성</c:v>
                </c:pt>
              </c:strCache>
            </c:strRef>
          </c:cat>
          <c:val>
            <c:numRef>
              <c:f>Sheet1!$C$2:$C$6</c:f>
              <c:numCache>
                <c:formatCode>###0.0</c:formatCode>
                <c:ptCount val="5"/>
                <c:pt idx="0">
                  <c:v>27.832783278327831</c:v>
                </c:pt>
                <c:pt idx="1">
                  <c:v>22.405573890722405</c:v>
                </c:pt>
                <c:pt idx="2">
                  <c:v>20.535386872020535</c:v>
                </c:pt>
                <c:pt idx="3">
                  <c:v>16.354968830216354</c:v>
                </c:pt>
                <c:pt idx="4">
                  <c:v>11.807847451411808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6F-465D-82A3-27680D4E93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45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2023년(9,953)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지인 추천 및 일반 개인 블로그/SNS</c:v>
                </c:pt>
                <c:pt idx="1">
                  <c:v>대한민국 구석구석 다른 SNS</c:v>
                </c:pt>
                <c:pt idx="2">
                  <c:v>대한민국 구석구석 홈페이지를 통해</c:v>
                </c:pt>
                <c:pt idx="3">
                  <c:v>온라인 광고/이벤트/홍보</c:v>
                </c:pt>
                <c:pt idx="4">
                  <c:v>포털사이트 노출 콘텐츠 클릭*</c:v>
                </c:pt>
                <c:pt idx="5">
                  <c:v>포털사이트 대한민국 구석구석 검색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27.137546468401489</c:v>
                </c:pt>
                <c:pt idx="1">
                  <c:v>31.035868582336985</c:v>
                </c:pt>
                <c:pt idx="2">
                  <c:v>24.736260423992768</c:v>
                </c:pt>
                <c:pt idx="3">
                  <c:v>25.228574299206269</c:v>
                </c:pt>
                <c:pt idx="4">
                  <c:v>28.262835326032352</c:v>
                </c:pt>
                <c:pt idx="5">
                  <c:v>22.184266050437099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E-4C54-AB6C-C3D887C1F3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2024년(9,247)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지인 추천 및 일반 개인 블로그/SNS</c:v>
                </c:pt>
                <c:pt idx="1">
                  <c:v>대한민국 구석구석 다른 SNS</c:v>
                </c:pt>
                <c:pt idx="2">
                  <c:v>대한민국 구석구석 홈페이지를 통해</c:v>
                </c:pt>
                <c:pt idx="3">
                  <c:v>온라인 광고/이벤트/홍보</c:v>
                </c:pt>
                <c:pt idx="4">
                  <c:v>포털사이트 노출 콘텐츠 클릭*</c:v>
                </c:pt>
                <c:pt idx="5">
                  <c:v>포털사이트 대한민국 구석구석 검색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30.518005839731806</c:v>
                </c:pt>
                <c:pt idx="1">
                  <c:v>27.727911755163838</c:v>
                </c:pt>
                <c:pt idx="2">
                  <c:v>24.905374716124147</c:v>
                </c:pt>
                <c:pt idx="3">
                  <c:v>24.570130853249701</c:v>
                </c:pt>
                <c:pt idx="4">
                  <c:v>24.310587217475938</c:v>
                </c:pt>
                <c:pt idx="5">
                  <c:v>21.239320860819724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7E-4C54-AB6C-C3D887C1F3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2023년(9,953)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거의 매일</c:v>
                </c:pt>
                <c:pt idx="1">
                  <c:v>주 2-3회</c:v>
                </c:pt>
                <c:pt idx="2">
                  <c:v>월 4-5회</c:v>
                </c:pt>
                <c:pt idx="3">
                  <c:v>월 2-3회</c:v>
                </c:pt>
                <c:pt idx="4">
                  <c:v>분기 1회</c:v>
                </c:pt>
                <c:pt idx="5">
                  <c:v>거의 이용하지 않음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13.4</c:v>
                </c:pt>
                <c:pt idx="1">
                  <c:v>28</c:v>
                </c:pt>
                <c:pt idx="2">
                  <c:v>19.399999999999999</c:v>
                </c:pt>
                <c:pt idx="3">
                  <c:v>24</c:v>
                </c:pt>
                <c:pt idx="4">
                  <c:v>13.6</c:v>
                </c:pt>
                <c:pt idx="5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2-43C8-8B24-E2A7AD13A7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2024년(9,247)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거의 매일</c:v>
                </c:pt>
                <c:pt idx="1">
                  <c:v>주 2-3회</c:v>
                </c:pt>
                <c:pt idx="2">
                  <c:v>월 4-5회</c:v>
                </c:pt>
                <c:pt idx="3">
                  <c:v>월 2-3회</c:v>
                </c:pt>
                <c:pt idx="4">
                  <c:v>분기 1회</c:v>
                </c:pt>
                <c:pt idx="5">
                  <c:v>거의 이용하지 않음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8.1</c:v>
                </c:pt>
                <c:pt idx="1">
                  <c:v>18.5</c:v>
                </c:pt>
                <c:pt idx="2">
                  <c:v>18.8</c:v>
                </c:pt>
                <c:pt idx="3">
                  <c:v>31.7</c:v>
                </c:pt>
                <c:pt idx="4">
                  <c:v>20</c:v>
                </c:pt>
                <c:pt idx="5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2-43C8-8B24-E2A7AD13A7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44.1</c:v>
                </c:pt>
                <c:pt idx="1">
                  <c:v>38.4</c:v>
                </c:pt>
                <c:pt idx="2">
                  <c:v>33.799999999999997</c:v>
                </c:pt>
                <c:pt idx="3">
                  <c:v>31</c:v>
                </c:pt>
                <c:pt idx="4">
                  <c:v>21.6</c:v>
                </c:pt>
                <c:pt idx="5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3E-43E5-9BF4-8688E98B82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46.35016762193144</c:v>
                </c:pt>
                <c:pt idx="1">
                  <c:v>34.595003785011357</c:v>
                </c:pt>
                <c:pt idx="2">
                  <c:v>30.593706066832485</c:v>
                </c:pt>
                <c:pt idx="3">
                  <c:v>29.815075159511192</c:v>
                </c:pt>
                <c:pt idx="4">
                  <c:v>22.634367903103708</c:v>
                </c:pt>
                <c:pt idx="5">
                  <c:v>21.001405861360443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3E-43E5-9BF4-8688E98B8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16129348585070213"/>
          <c:w val="0.99279852661485901"/>
          <c:h val="0.81492550435386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1순위 2023년(9,953)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6"/>
              <c:layout>
                <c:manualLayout>
                  <c:x val="0"/>
                  <c:y val="0.112315775651361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6F-465D-82A3-27680D4E93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시기/목적에 맞는 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최신 관광 트렌드 파악</c:v>
                </c:pt>
                <c:pt idx="4">
                  <c:v>사용자 맞춤형 여행 정보 제공</c:v>
                </c:pt>
                <c:pt idx="5">
                  <c:v>이벤트 참여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22.7</c:v>
                </c:pt>
                <c:pt idx="1">
                  <c:v>20</c:v>
                </c:pt>
                <c:pt idx="2">
                  <c:v>20</c:v>
                </c:pt>
                <c:pt idx="3">
                  <c:v>16.399999999999999</c:v>
                </c:pt>
                <c:pt idx="4">
                  <c:v>10.6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6F-465D-82A3-27680D4E93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2024년(9,247)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7"/>
              <c:layout>
                <c:manualLayout>
                  <c:x val="-3.1203029251936774E-2"/>
                  <c:y val="1.722498716466815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96F-465D-82A3-27680D4E93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시기/목적에 맞는 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최신 관광 트렌드 파악</c:v>
                </c:pt>
                <c:pt idx="4">
                  <c:v>사용자 맞춤형 여행 정보 제공</c:v>
                </c:pt>
                <c:pt idx="5">
                  <c:v>이벤트 참여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25.532605169244079</c:v>
                </c:pt>
                <c:pt idx="1">
                  <c:v>18.038282686276631</c:v>
                </c:pt>
                <c:pt idx="2">
                  <c:v>17.540824051043582</c:v>
                </c:pt>
                <c:pt idx="3">
                  <c:v>16.329620417432682</c:v>
                </c:pt>
                <c:pt idx="4">
                  <c:v>11.257705201687033</c:v>
                </c:pt>
                <c:pt idx="5">
                  <c:v>11.149562020114631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6F-465D-82A3-27680D4E93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45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2023년(9,953)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테마콘텐츠 제공</c:v>
                </c:pt>
                <c:pt idx="1">
                  <c:v>가보고 싶은 느낌이 드는 고품질 이미지 강화</c:v>
                </c:pt>
                <c:pt idx="2">
                  <c:v>흥미도 높은 동영상 콘텐츠 제공 증대</c:v>
                </c:pt>
                <c:pt idx="3">
                  <c:v>이벤트 횟수 증가</c:v>
                </c:pt>
                <c:pt idx="4">
                  <c:v>일반 이용자 제보 콘텐츠의 활용 범위 확대</c:v>
                </c:pt>
                <c:pt idx="5">
                  <c:v>콘텐츠별 정보성 강화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25.218527077263136</c:v>
                </c:pt>
                <c:pt idx="1">
                  <c:v>15.894705114035968</c:v>
                </c:pt>
                <c:pt idx="2">
                  <c:v>15.9348940018085</c:v>
                </c:pt>
                <c:pt idx="3">
                  <c:v>10.850999698583342</c:v>
                </c:pt>
                <c:pt idx="4">
                  <c:v>12.98101075052748</c:v>
                </c:pt>
                <c:pt idx="5">
                  <c:v>18.185471717070229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76-45F6-B927-AFC51E7031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2024년(9,247)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테마콘텐츠 제공</c:v>
                </c:pt>
                <c:pt idx="1">
                  <c:v>가보고 싶은 느낌이 드는 고품질 이미지 강화</c:v>
                </c:pt>
                <c:pt idx="2">
                  <c:v>흥미도 높은 동영상 콘텐츠 제공 증대</c:v>
                </c:pt>
                <c:pt idx="3">
                  <c:v>이벤트 횟수 증가</c:v>
                </c:pt>
                <c:pt idx="4">
                  <c:v>일반 이용자 제보 콘텐츠의 활용 범위 확대</c:v>
                </c:pt>
                <c:pt idx="5">
                  <c:v>콘텐츠별 정보성 강화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21.325835406077648</c:v>
                </c:pt>
                <c:pt idx="1">
                  <c:v>21.293392451605925</c:v>
                </c:pt>
                <c:pt idx="2">
                  <c:v>16.394506326376121</c:v>
                </c:pt>
                <c:pt idx="3">
                  <c:v>13.91802746836812</c:v>
                </c:pt>
                <c:pt idx="4">
                  <c:v>13.539526332864712</c:v>
                </c:pt>
                <c:pt idx="5">
                  <c:v>12.858224288958581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76-45F6-B927-AFC51E703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C1C7CD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2.9894254371387385E-2"/>
                  <c:y val="-0.180152430436641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93.477534658426606</c:v>
                </c:pt>
                <c:pt idx="1">
                  <c:v>5.8543510940370806</c:v>
                </c:pt>
                <c:pt idx="2">
                  <c:v>0.66811424753632875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2.39154034971098E-2"/>
                  <c:y val="-0.154416368945692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긍정</c:v>
                </c:pt>
                <c:pt idx="1">
                  <c:v>보통</c:v>
                </c:pt>
                <c:pt idx="2">
                  <c:v>부정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91.4</c:v>
                </c:pt>
                <c:pt idx="1">
                  <c:v>7.4</c:v>
                </c:pt>
                <c:pt idx="2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29880690470899007"/>
          <c:w val="0.9815238919616095"/>
          <c:h val="0.68292571605853458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Sheet1!$A$4</c:f>
              <c:strCache>
                <c:ptCount val="1"/>
                <c:pt idx="0">
                  <c:v>불만족(BOT3)</c:v>
                </c:pt>
              </c:strCache>
            </c:strRef>
          </c:tx>
          <c:spPr>
            <a:solidFill>
              <a:srgbClr val="FFD1D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2792-48B0-B704-168AE9B742B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spc="-5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Sheet1!$B$4:$N$4</c:f>
              <c:numCache>
                <c:formatCode>###0.0</c:formatCode>
                <c:ptCount val="13"/>
                <c:pt idx="0">
                  <c:v>0.62339567290062337</c:v>
                </c:pt>
                <c:pt idx="1">
                  <c:v>0.59171597633136097</c:v>
                </c:pt>
                <c:pt idx="2">
                  <c:v>0.78226857887874834</c:v>
                </c:pt>
                <c:pt idx="3">
                  <c:v>0.29673590504451036</c:v>
                </c:pt>
                <c:pt idx="4">
                  <c:v>0.26809651474530832</c:v>
                </c:pt>
                <c:pt idx="5">
                  <c:v>0.92081031307550643</c:v>
                </c:pt>
                <c:pt idx="6">
                  <c:v>0.52424639580602883</c:v>
                </c:pt>
                <c:pt idx="7">
                  <c:v>2.1739130434782608</c:v>
                </c:pt>
                <c:pt idx="8">
                  <c:v>0.46511627906976744</c:v>
                </c:pt>
                <c:pt idx="9">
                  <c:v>0.74287083632878026</c:v>
                </c:pt>
                <c:pt idx="10">
                  <c:v>0.76255587693925853</c:v>
                </c:pt>
                <c:pt idx="11">
                  <c:v>0.57655349135169764</c:v>
                </c:pt>
                <c:pt idx="12">
                  <c:v>0.33860045146726864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792-48B0-B704-168AE9B742B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Sheet1!$B$3:$N$3</c:f>
              <c:numCache>
                <c:formatCode>###0.0</c:formatCode>
                <c:ptCount val="13"/>
                <c:pt idx="0">
                  <c:v>5.2071873854052075</c:v>
                </c:pt>
                <c:pt idx="1">
                  <c:v>3.4023668639053253</c:v>
                </c:pt>
                <c:pt idx="2">
                  <c:v>7.2522816166883963</c:v>
                </c:pt>
                <c:pt idx="3">
                  <c:v>4.7477744807121658</c:v>
                </c:pt>
                <c:pt idx="4">
                  <c:v>3.8873994638069704</c:v>
                </c:pt>
                <c:pt idx="5">
                  <c:v>6.0773480662983426</c:v>
                </c:pt>
                <c:pt idx="6">
                  <c:v>5.7273918741808654</c:v>
                </c:pt>
                <c:pt idx="7">
                  <c:v>2.1739130434782608</c:v>
                </c:pt>
                <c:pt idx="8">
                  <c:v>4.3189368770764123</c:v>
                </c:pt>
                <c:pt idx="9">
                  <c:v>6.6379103762281328</c:v>
                </c:pt>
                <c:pt idx="10">
                  <c:v>5.9689718643176439</c:v>
                </c:pt>
                <c:pt idx="11">
                  <c:v>5.0608584240871233</c:v>
                </c:pt>
                <c:pt idx="12">
                  <c:v>5.8690744920993225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92-48B0-B704-168AE9B742B6}"/>
            </c:ext>
          </c:extLst>
        </c:ser>
        <c:ser>
          <c:idx val="0"/>
          <c:order val="2"/>
          <c:tx>
            <c:strRef>
              <c:f>Sheet1!$A$2</c:f>
              <c:strCache>
                <c:ptCount val="1"/>
                <c:pt idx="0">
                  <c:v>만족(TOP3)</c:v>
                </c:pt>
              </c:strCache>
            </c:strRef>
          </c:tx>
          <c:spPr>
            <a:solidFill>
              <a:srgbClr val="AFDDFF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92-48B0-B704-168AE9B742B6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2-48B0-B704-168AE9B742B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spc="-5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Sheet1!$B$2:$N$2</c:f>
              <c:numCache>
                <c:formatCode>###0.0</c:formatCode>
                <c:ptCount val="13"/>
                <c:pt idx="0">
                  <c:v>94.169416941694166</c:v>
                </c:pt>
                <c:pt idx="1">
                  <c:v>96.005917159763314</c:v>
                </c:pt>
                <c:pt idx="2">
                  <c:v>91.965449804432851</c:v>
                </c:pt>
                <c:pt idx="3">
                  <c:v>94.955489614243319</c:v>
                </c:pt>
                <c:pt idx="4">
                  <c:v>95.844504021447719</c:v>
                </c:pt>
                <c:pt idx="5">
                  <c:v>93.001841620626152</c:v>
                </c:pt>
                <c:pt idx="6">
                  <c:v>93.748361730013102</c:v>
                </c:pt>
                <c:pt idx="7">
                  <c:v>95.652173913043484</c:v>
                </c:pt>
                <c:pt idx="8">
                  <c:v>95.215946843853814</c:v>
                </c:pt>
                <c:pt idx="9">
                  <c:v>92.619218787443089</c:v>
                </c:pt>
                <c:pt idx="10">
                  <c:v>93.268472258743103</c:v>
                </c:pt>
                <c:pt idx="11">
                  <c:v>94.362588084561182</c:v>
                </c:pt>
                <c:pt idx="12">
                  <c:v>93.792325056433413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451776384"/>
        <c:axId val="451772464"/>
      </c:barChart>
      <c:lineChart>
        <c:grouping val="percentStacked"/>
        <c:varyColors val="0"/>
        <c:ser>
          <c:idx val="3"/>
          <c:order val="3"/>
          <c:tx>
            <c:strRef>
              <c:f>Sheet1!$A$5</c:f>
              <c:strCache>
                <c:ptCount val="1"/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delete val="1"/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Sheet1!$B$5:$N$5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51776384"/>
        <c:axId val="451772464"/>
      </c:line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egendEntry>
        <c:idx val="3"/>
        <c:delete val="1"/>
      </c:legendEntry>
      <c:layout>
        <c:manualLayout>
          <c:xMode val="edge"/>
          <c:yMode val="edge"/>
          <c:x val="0.22458637185420571"/>
          <c:y val="4.1674062296309447E-2"/>
          <c:w val="0.55082725629158846"/>
          <c:h val="6.3988628380424226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2023년(15,754)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정보 신뢰성</c:v>
                </c:pt>
                <c:pt idx="1">
                  <c:v>정보 유용성</c:v>
                </c:pt>
                <c:pt idx="2">
                  <c:v>정보 다양성</c:v>
                </c:pt>
                <c:pt idx="3">
                  <c:v>정보 최신화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86.734434792075604</c:v>
                </c:pt>
                <c:pt idx="1">
                  <c:v>85.5537822593854</c:v>
                </c:pt>
                <c:pt idx="2">
                  <c:v>83.624113603805768</c:v>
                </c:pt>
                <c:pt idx="3">
                  <c:v>81.85313480476951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3B-4AC1-A2FD-F602A013E0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2024년(11,974)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정보 신뢰성</c:v>
                </c:pt>
                <c:pt idx="1">
                  <c:v>정보 유용성</c:v>
                </c:pt>
                <c:pt idx="2">
                  <c:v>정보 다양성</c:v>
                </c:pt>
                <c:pt idx="3">
                  <c:v>정보 최신화</c:v>
                </c:pt>
              </c:strCache>
            </c:strRef>
          </c:cat>
          <c:val>
            <c:numRef>
              <c:f>Sheet1!$C$2:$C$5</c:f>
              <c:numCache>
                <c:formatCode>###0.0</c:formatCode>
                <c:ptCount val="4"/>
                <c:pt idx="0">
                  <c:v>87.225098825232905</c:v>
                </c:pt>
                <c:pt idx="1">
                  <c:v>85.536718445520833</c:v>
                </c:pt>
                <c:pt idx="2">
                  <c:v>83.994488057458071</c:v>
                </c:pt>
                <c:pt idx="3">
                  <c:v>82.261566727910946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3B-4AC1-A2FD-F602A013E0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00"/>
          <c:min val="6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22559721167058269"/>
          <c:y val="2.1354920008766164E-2"/>
          <c:w val="0.58112923656947058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0218902018698E-3"/>
          <c:y val="3.5005478851632695E-2"/>
          <c:w val="0.9927989781097981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2023년(15,754)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0"/>
              <c:layout>
                <c:manualLayout>
                  <c:x val="4.9167157518789224E-7"/>
                  <c:y val="1.39165570896339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48654542405896"/>
                      <c:h val="0.1294214332675870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AB6-4318-A231-A03CC4A05B39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0.0</c:formatCode>
                <c:ptCount val="1"/>
                <c:pt idx="0">
                  <c:v>81.400000000000006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3B-4AC1-A2FD-F602A013E0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2024년(11,974)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0"/>
              <c:layout>
                <c:manualLayout>
                  <c:x val="4.9167157524513039E-7"/>
                  <c:y val="-6.9581415735262206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975925792992493"/>
                      <c:h val="0.1015888669734823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9AB6-4318-A231-A03CC4A05B39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0.0</c:formatCode>
                <c:ptCount val="1"/>
                <c:pt idx="0">
                  <c:v>81.7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3B-4AC1-A2FD-F602A013E0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3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0218902018698E-3"/>
          <c:y val="3.5005478851632695E-2"/>
          <c:w val="0.99279897810979811"/>
          <c:h val="0.446886170477380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2023년(11,540)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0"/>
              <c:layout>
                <c:manualLayout>
                  <c:x val="4.9167157518789224E-7"/>
                  <c:y val="1.39165570896339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48654542405896"/>
                      <c:h val="0.1294214332675870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AB6-4318-A231-A03CC4A05B39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0.0</c:formatCode>
                <c:ptCount val="1"/>
              </c:numCache>
            </c:numRef>
          </c:cat>
          <c:val>
            <c:numRef>
              <c:f>Sheet1!$B$2</c:f>
              <c:numCache>
                <c:formatCode>0.0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0C3B-4AC1-A2FD-F602A013E0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2024년(8,863)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0"/>
              <c:layout>
                <c:manualLayout>
                  <c:x val="4.9167157524513039E-7"/>
                  <c:y val="-6.9581415735262206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975925792992493"/>
                      <c:h val="0.1015888669734823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9AB6-4318-A231-A03CC4A05B39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0.0</c:formatCode>
                <c:ptCount val="1"/>
              </c:numCache>
            </c:numRef>
          </c:cat>
          <c:val>
            <c:numRef>
              <c:f>Sheet1!$C$2</c:f>
              <c:numCache>
                <c:formatCode>0.0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0C3B-4AC1-A2FD-F602A013E0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3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l"/>
      <c:layout>
        <c:manualLayout>
          <c:xMode val="edge"/>
          <c:yMode val="edge"/>
          <c:x val="3.5246007418313213E-2"/>
          <c:y val="0.26778489431708757"/>
          <c:w val="0.96475405578234463"/>
          <c:h val="0.5556369486218238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용어 이해도</c:v>
                </c:pt>
                <c:pt idx="1">
                  <c:v>화면 구성 가시성</c:v>
                </c:pt>
                <c:pt idx="2">
                  <c:v>이용 속도 적정성</c:v>
                </c:pt>
                <c:pt idx="3">
                  <c:v>디자인/색상 일관성</c:v>
                </c:pt>
                <c:pt idx="4">
                  <c:v>메뉴 항목 명확성</c:v>
                </c:pt>
                <c:pt idx="5">
                  <c:v>메뉴 경로 표시</c:v>
                </c:pt>
                <c:pt idx="6">
                  <c:v>오류 메시지 이해도</c:v>
                </c:pt>
              </c:strCache>
            </c:strRef>
          </c:cat>
          <c:val>
            <c:numRef>
              <c:f>Sheet1!$B$2:$B$8</c:f>
              <c:numCache>
                <c:formatCode>0.0</c:formatCode>
                <c:ptCount val="7"/>
                <c:pt idx="0">
                  <c:v>82.660625015388774</c:v>
                </c:pt>
                <c:pt idx="1">
                  <c:v>80.628955598786092</c:v>
                </c:pt>
                <c:pt idx="2">
                  <c:v>81.510576994111801</c:v>
                </c:pt>
                <c:pt idx="3">
                  <c:v>80.680670820299625</c:v>
                </c:pt>
                <c:pt idx="4">
                  <c:v>80.520599896567035</c:v>
                </c:pt>
                <c:pt idx="5">
                  <c:v>79.996059792644388</c:v>
                </c:pt>
                <c:pt idx="6">
                  <c:v>79.341000320139656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0A-43E7-A9C2-4A9A670884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용어 이해도</c:v>
                </c:pt>
                <c:pt idx="1">
                  <c:v>화면 구성 가시성</c:v>
                </c:pt>
                <c:pt idx="2">
                  <c:v>이용 속도 적정성</c:v>
                </c:pt>
                <c:pt idx="3">
                  <c:v>디자인/색상 일관성</c:v>
                </c:pt>
                <c:pt idx="4">
                  <c:v>메뉴 항목 명확성</c:v>
                </c:pt>
                <c:pt idx="5">
                  <c:v>메뉴 경로 표시</c:v>
                </c:pt>
                <c:pt idx="6">
                  <c:v>오류 메시지 이해도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84.078963451900719</c:v>
                </c:pt>
                <c:pt idx="1">
                  <c:v>82.037648209265555</c:v>
                </c:pt>
                <c:pt idx="2">
                  <c:v>81.95819581958196</c:v>
                </c:pt>
                <c:pt idx="3">
                  <c:v>81.756508984231829</c:v>
                </c:pt>
                <c:pt idx="4">
                  <c:v>81.670944872265068</c:v>
                </c:pt>
                <c:pt idx="5">
                  <c:v>81.194230534164774</c:v>
                </c:pt>
                <c:pt idx="6">
                  <c:v>81.175895367314652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0A-43E7-A9C2-4A9A67088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00"/>
          <c:min val="6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2.3915403497109907E-2"/>
                  <c:y val="-0.128680307454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추천</c:v>
                </c:pt>
                <c:pt idx="1">
                  <c:v>보통</c:v>
                </c:pt>
                <c:pt idx="2">
                  <c:v>비추천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89.8</c:v>
                </c:pt>
                <c:pt idx="1">
                  <c:v>8.9</c:v>
                </c:pt>
                <c:pt idx="2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C1C7CD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4.1851956119942232E-2"/>
                  <c:y val="-0.193020461182116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95.398363120093535</c:v>
                </c:pt>
                <c:pt idx="1">
                  <c:v>3.4157340905294804</c:v>
                </c:pt>
                <c:pt idx="2">
                  <c:v>1.1859027893769836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29880690470899007"/>
          <c:w val="0.9815238919616095"/>
          <c:h val="0.6829257160585345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비추천(BOT3)</c:v>
                </c:pt>
              </c:strCache>
            </c:strRef>
          </c:tx>
          <c:spPr>
            <a:solidFill>
              <a:srgbClr val="FFC5C6"/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92-48B0-B704-168AE9B742B6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2-48B0-B704-168AE9B742B6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Sheet1!$B$2:$N$2</c:f>
              <c:numCache>
                <c:formatCode>###0.0</c:formatCode>
                <c:ptCount val="13"/>
                <c:pt idx="0">
                  <c:v>1.3201320132013201</c:v>
                </c:pt>
                <c:pt idx="1">
                  <c:v>0.73964497041420119</c:v>
                </c:pt>
                <c:pt idx="2">
                  <c:v>1.3689700130378097</c:v>
                </c:pt>
                <c:pt idx="3">
                  <c:v>1.1869436201780414</c:v>
                </c:pt>
                <c:pt idx="4">
                  <c:v>0.40214477211796246</c:v>
                </c:pt>
                <c:pt idx="5">
                  <c:v>1.4502762430939227</c:v>
                </c:pt>
                <c:pt idx="6">
                  <c:v>1.0353866317169069</c:v>
                </c:pt>
                <c:pt idx="7">
                  <c:v>2.1739130434782608</c:v>
                </c:pt>
                <c:pt idx="8">
                  <c:v>1.1960132890365449</c:v>
                </c:pt>
                <c:pt idx="9">
                  <c:v>1.3898873711957824</c:v>
                </c:pt>
                <c:pt idx="10">
                  <c:v>0.99921114909282149</c:v>
                </c:pt>
                <c:pt idx="11">
                  <c:v>1.0890454836643177</c:v>
                </c:pt>
                <c:pt idx="12">
                  <c:v>1.1286681715575622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92-48B0-B704-168AE9B742B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Sheet1!$B$3:$N$3</c:f>
              <c:numCache>
                <c:formatCode>###0.0</c:formatCode>
                <c:ptCount val="13"/>
                <c:pt idx="0">
                  <c:v>2.4202420242024201</c:v>
                </c:pt>
                <c:pt idx="1">
                  <c:v>2.3668639053254439</c:v>
                </c:pt>
                <c:pt idx="2">
                  <c:v>4.4817470664928294</c:v>
                </c:pt>
                <c:pt idx="3">
                  <c:v>2.3738872403560829</c:v>
                </c:pt>
                <c:pt idx="4">
                  <c:v>1.6085790884718498</c:v>
                </c:pt>
                <c:pt idx="5">
                  <c:v>3.6141804788213627</c:v>
                </c:pt>
                <c:pt idx="6">
                  <c:v>3.3027522935779818</c:v>
                </c:pt>
                <c:pt idx="7">
                  <c:v>2.1739130434782608</c:v>
                </c:pt>
                <c:pt idx="8">
                  <c:v>2.5913621262458473</c:v>
                </c:pt>
                <c:pt idx="9">
                  <c:v>3.9300263599329019</c:v>
                </c:pt>
                <c:pt idx="10">
                  <c:v>3.8390744149355771</c:v>
                </c:pt>
                <c:pt idx="11">
                  <c:v>2.4343369634849457</c:v>
                </c:pt>
                <c:pt idx="12">
                  <c:v>2.3702031602708802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92-48B0-B704-168AE9B742B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추천(TOP3)</c:v>
                </c:pt>
              </c:strCache>
            </c:strRef>
          </c:tx>
          <c:spPr>
            <a:solidFill>
              <a:srgbClr val="AFDDFF"/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2792-48B0-B704-168AE9B742B6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Sheet1!$B$4:$N$4</c:f>
              <c:numCache>
                <c:formatCode>###0.0</c:formatCode>
                <c:ptCount val="13"/>
                <c:pt idx="0">
                  <c:v>96.25962596259626</c:v>
                </c:pt>
                <c:pt idx="1">
                  <c:v>96.89349112426035</c:v>
                </c:pt>
                <c:pt idx="2">
                  <c:v>94.149282920469361</c:v>
                </c:pt>
                <c:pt idx="3">
                  <c:v>96.439169139465875</c:v>
                </c:pt>
                <c:pt idx="4">
                  <c:v>97.989276139410194</c:v>
                </c:pt>
                <c:pt idx="5">
                  <c:v>94.935543278084708</c:v>
                </c:pt>
                <c:pt idx="6">
                  <c:v>95.661861074705115</c:v>
                </c:pt>
                <c:pt idx="7">
                  <c:v>95.652173913043484</c:v>
                </c:pt>
                <c:pt idx="8">
                  <c:v>96.212624584717602</c:v>
                </c:pt>
                <c:pt idx="9">
                  <c:v>94.680086268871321</c:v>
                </c:pt>
                <c:pt idx="10">
                  <c:v>95.161714435971604</c:v>
                </c:pt>
                <c:pt idx="11">
                  <c:v>96.47661755285074</c:v>
                </c:pt>
                <c:pt idx="12">
                  <c:v>96.50112866817156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451776384"/>
        <c:axId val="451772464"/>
      </c:barChart>
      <c:lineChart>
        <c:grouping val="percentStacked"/>
        <c:varyColors val="0"/>
        <c:ser>
          <c:idx val="3"/>
          <c:order val="3"/>
          <c:tx>
            <c:strRef>
              <c:f>Sheet1!$A$5</c:f>
              <c:strCache>
                <c:ptCount val="1"/>
              </c:strCache>
            </c:strRef>
          </c:tx>
          <c:spPr>
            <a:ln>
              <a:noFill/>
            </a:ln>
          </c:spPr>
          <c:marker>
            <c:symbol val="none"/>
          </c:marker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Sheet1!$B$5:$N$5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792-48B0-B704-168AE9B742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1776384"/>
        <c:axId val="451772464"/>
      </c:line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egendEntry>
        <c:idx val="3"/>
        <c:delete val="1"/>
      </c:legendEntry>
      <c:layout>
        <c:manualLayout>
          <c:xMode val="edge"/>
          <c:yMode val="edge"/>
          <c:x val="0.22458637185420571"/>
          <c:y val="4.1674062296309447E-2"/>
          <c:w val="0.55082725629158846"/>
          <c:h val="6.3988628380424226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2.39154034971098E-2"/>
                  <c:y val="-0.154416368945692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추천</c:v>
                </c:pt>
                <c:pt idx="1">
                  <c:v>보통</c:v>
                </c:pt>
                <c:pt idx="2">
                  <c:v>비추천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92.5</c:v>
                </c:pt>
                <c:pt idx="1">
                  <c:v>6.4</c:v>
                </c:pt>
                <c:pt idx="2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C1C7CD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4.1851956119942232E-2"/>
                  <c:y val="-0.1801524304366416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2"/>
              <c:layout>
                <c:manualLayout>
                  <c:x val="5.9788508742774768E-3"/>
                  <c:y val="-1.93020461182116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96.484048772340074</c:v>
                </c:pt>
                <c:pt idx="1">
                  <c:v>3.0065141139134792</c:v>
                </c:pt>
                <c:pt idx="2">
                  <c:v>0.50943711374645062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29880690470899007"/>
          <c:w val="0.9815238919616095"/>
          <c:h val="0.6829257160585345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의향 없음(BOT3)</c:v>
                </c:pt>
              </c:strCache>
            </c:strRef>
          </c:tx>
          <c:spPr>
            <a:solidFill>
              <a:srgbClr val="FFC5C6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92-48B0-B704-168AE9B742B6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2-48B0-B704-168AE9B742B6}"/>
              </c:ext>
            </c:extLst>
          </c:dPt>
          <c:dLbls>
            <c:dLbl>
              <c:idx val="4"/>
              <c:layout>
                <c:manualLayout>
                  <c:x val="0"/>
                  <c:y val="-4.300005518755568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AD8-4034-BB09-621E28FD4656}"/>
                </c:ext>
              </c:extLst>
            </c:dLbl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Sheet1!$B$2:$N$2</c:f>
              <c:numCache>
                <c:formatCode>###0.0</c:formatCode>
                <c:ptCount val="13"/>
                <c:pt idx="0">
                  <c:v>0.36670333700036672</c:v>
                </c:pt>
                <c:pt idx="1">
                  <c:v>0.83826429980276129</c:v>
                </c:pt>
                <c:pt idx="2">
                  <c:v>0.53780964797913955</c:v>
                </c:pt>
                <c:pt idx="3">
                  <c:v>0.29673590504451036</c:v>
                </c:pt>
                <c:pt idx="4">
                  <c:v>0</c:v>
                </c:pt>
                <c:pt idx="5">
                  <c:v>0.66758747697974219</c:v>
                </c:pt>
                <c:pt idx="6">
                  <c:v>0.41939711664482304</c:v>
                </c:pt>
                <c:pt idx="7">
                  <c:v>2.1739130434782608</c:v>
                </c:pt>
                <c:pt idx="8">
                  <c:v>0.39867109634551495</c:v>
                </c:pt>
                <c:pt idx="9">
                  <c:v>0.67098011023244664</c:v>
                </c:pt>
                <c:pt idx="10">
                  <c:v>0.44701551406784118</c:v>
                </c:pt>
                <c:pt idx="11">
                  <c:v>0.38436899423446508</c:v>
                </c:pt>
                <c:pt idx="12">
                  <c:v>0.33860045146726864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92-48B0-B704-168AE9B742B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Sheet1!$B$3:$N$3</c:f>
              <c:numCache>
                <c:formatCode>###0.0</c:formatCode>
                <c:ptCount val="13"/>
                <c:pt idx="0">
                  <c:v>2.0535386872020536</c:v>
                </c:pt>
                <c:pt idx="1">
                  <c:v>1.9230769230769231</c:v>
                </c:pt>
                <c:pt idx="2">
                  <c:v>4.0417209908735332</c:v>
                </c:pt>
                <c:pt idx="3">
                  <c:v>2.6706231454005933</c:v>
                </c:pt>
                <c:pt idx="4">
                  <c:v>1.0723860589812333</c:v>
                </c:pt>
                <c:pt idx="5">
                  <c:v>3.5220994475138121</c:v>
                </c:pt>
                <c:pt idx="6">
                  <c:v>2.7129750982961993</c:v>
                </c:pt>
                <c:pt idx="7">
                  <c:v>2.1739130434782608</c:v>
                </c:pt>
                <c:pt idx="8">
                  <c:v>2.5913621262458473</c:v>
                </c:pt>
                <c:pt idx="9">
                  <c:v>3.1392283728732329</c:v>
                </c:pt>
                <c:pt idx="10">
                  <c:v>3.2868787799105967</c:v>
                </c:pt>
                <c:pt idx="11">
                  <c:v>2.2421524663677128</c:v>
                </c:pt>
                <c:pt idx="12">
                  <c:v>3.2731376975169302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92-48B0-B704-168AE9B742B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의향 있음(TOP3)</c:v>
                </c:pt>
              </c:strCache>
            </c:strRef>
          </c:tx>
          <c:spPr>
            <a:solidFill>
              <a:srgbClr val="AFDD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2792-48B0-B704-168AE9B742B6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Sheet1!$B$4:$N$4</c:f>
              <c:numCache>
                <c:formatCode>###0.0</c:formatCode>
                <c:ptCount val="13"/>
                <c:pt idx="0">
                  <c:v>97.579757975797577</c:v>
                </c:pt>
                <c:pt idx="1">
                  <c:v>97.238658777120321</c:v>
                </c:pt>
                <c:pt idx="2">
                  <c:v>95.420469361147326</c:v>
                </c:pt>
                <c:pt idx="3">
                  <c:v>97.032640949554903</c:v>
                </c:pt>
                <c:pt idx="4">
                  <c:v>98.927613941018762</c:v>
                </c:pt>
                <c:pt idx="5">
                  <c:v>95.810313075506443</c:v>
                </c:pt>
                <c:pt idx="6">
                  <c:v>96.867627785058971</c:v>
                </c:pt>
                <c:pt idx="7">
                  <c:v>95.652173913043484</c:v>
                </c:pt>
                <c:pt idx="8">
                  <c:v>97.009966777408636</c:v>
                </c:pt>
                <c:pt idx="9">
                  <c:v>96.189791516894317</c:v>
                </c:pt>
                <c:pt idx="10">
                  <c:v>96.266105706021563</c:v>
                </c:pt>
                <c:pt idx="11">
                  <c:v>97.373478539397823</c:v>
                </c:pt>
                <c:pt idx="12">
                  <c:v>96.388261851015798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451776384"/>
        <c:axId val="451772464"/>
      </c:barChart>
      <c:lineChart>
        <c:grouping val="percentStacked"/>
        <c:varyColors val="0"/>
        <c:ser>
          <c:idx val="3"/>
          <c:order val="3"/>
          <c:tx>
            <c:strRef>
              <c:f>Sheet1!$A$5</c:f>
              <c:strCache>
                <c:ptCount val="1"/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delete val="1"/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Sheet1!$B$5:$N$5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51776384"/>
        <c:axId val="451772464"/>
      </c:line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egendEntry>
        <c:idx val="3"/>
        <c:delete val="1"/>
      </c:legendEntry>
      <c:layout>
        <c:manualLayout>
          <c:xMode val="edge"/>
          <c:yMode val="edge"/>
          <c:x val="0.22458637185420571"/>
          <c:y val="4.1674062296309447E-2"/>
          <c:w val="0.55082725629158846"/>
          <c:h val="6.3988628380424226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2.39154034971098E-2"/>
                  <c:y val="-0.154416368945692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추천</c:v>
                </c:pt>
                <c:pt idx="1">
                  <c:v>보통</c:v>
                </c:pt>
                <c:pt idx="2">
                  <c:v>비추천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93.2</c:v>
                </c:pt>
                <c:pt idx="1">
                  <c:v>5.7</c:v>
                </c:pt>
                <c:pt idx="2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C1C7CD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4.1851956119942232E-2"/>
                  <c:y val="-0.1801524304366416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95.2</c:v>
                </c:pt>
                <c:pt idx="1">
                  <c:v>2.7</c:v>
                </c:pt>
                <c:pt idx="2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29880690470899007"/>
          <c:w val="0.9815238919616095"/>
          <c:h val="0.6829257160585345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의향 없음(BOT3)</c:v>
                </c:pt>
              </c:strCache>
            </c:strRef>
          </c:tx>
          <c:spPr>
            <a:solidFill>
              <a:srgbClr val="FFC5C6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92-48B0-B704-168AE9B742B6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2-48B0-B704-168AE9B742B6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Sheet1!$B$2:$N$2</c:f>
              <c:numCache>
                <c:formatCode>###0.0</c:formatCode>
                <c:ptCount val="13"/>
                <c:pt idx="0">
                  <c:v>1.5401540154015401</c:v>
                </c:pt>
                <c:pt idx="1">
                  <c:v>1.8244575936883629</c:v>
                </c:pt>
                <c:pt idx="2">
                  <c:v>2.6890482398956976</c:v>
                </c:pt>
                <c:pt idx="3">
                  <c:v>2.0771513353115729</c:v>
                </c:pt>
                <c:pt idx="4">
                  <c:v>0.26809651474530832</c:v>
                </c:pt>
                <c:pt idx="5">
                  <c:v>2.7624309392265194</c:v>
                </c:pt>
                <c:pt idx="6">
                  <c:v>1.7431192660550459</c:v>
                </c:pt>
                <c:pt idx="7">
                  <c:v>2.1739130434782608</c:v>
                </c:pt>
                <c:pt idx="8">
                  <c:v>1.7940199335548173</c:v>
                </c:pt>
                <c:pt idx="9">
                  <c:v>2.3723939611790077</c:v>
                </c:pt>
                <c:pt idx="10">
                  <c:v>2.208782540099921</c:v>
                </c:pt>
                <c:pt idx="11">
                  <c:v>1.4093529788597052</c:v>
                </c:pt>
                <c:pt idx="12">
                  <c:v>2.2573363431151243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92-48B0-B704-168AE9B742B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Sheet1!$B$3:$N$3</c:f>
              <c:numCache>
                <c:formatCode>###0.0</c:formatCode>
                <c:ptCount val="13"/>
                <c:pt idx="0">
                  <c:v>2.2735606894022737</c:v>
                </c:pt>
                <c:pt idx="1">
                  <c:v>1.4792899408284024</c:v>
                </c:pt>
                <c:pt idx="2">
                  <c:v>3.438722294654498</c:v>
                </c:pt>
                <c:pt idx="3">
                  <c:v>2.3738872403560829</c:v>
                </c:pt>
                <c:pt idx="4">
                  <c:v>2.0107238605898123</c:v>
                </c:pt>
                <c:pt idx="5">
                  <c:v>2.5322283609576428</c:v>
                </c:pt>
                <c:pt idx="6">
                  <c:v>2.8309305373525557</c:v>
                </c:pt>
                <c:pt idx="7">
                  <c:v>4.3478260869565215</c:v>
                </c:pt>
                <c:pt idx="8">
                  <c:v>2.0598006644518274</c:v>
                </c:pt>
                <c:pt idx="9">
                  <c:v>2.9954469206805654</c:v>
                </c:pt>
                <c:pt idx="10">
                  <c:v>2.813568235603471</c:v>
                </c:pt>
                <c:pt idx="11">
                  <c:v>2.7546444586803331</c:v>
                </c:pt>
                <c:pt idx="12">
                  <c:v>2.0316027088036117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92-48B0-B704-168AE9B742B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의향 있음(TOP3)</c:v>
                </c:pt>
              </c:strCache>
            </c:strRef>
          </c:tx>
          <c:spPr>
            <a:solidFill>
              <a:srgbClr val="AFDD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2792-48B0-B704-168AE9B742B6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Sheet1!$B$4:$N$4</c:f>
              <c:numCache>
                <c:formatCode>###0.0</c:formatCode>
                <c:ptCount val="13"/>
                <c:pt idx="0">
                  <c:v>96.186285295196186</c:v>
                </c:pt>
                <c:pt idx="1">
                  <c:v>96.696252465483241</c:v>
                </c:pt>
                <c:pt idx="2">
                  <c:v>93.872229465449806</c:v>
                </c:pt>
                <c:pt idx="3">
                  <c:v>95.548961424332347</c:v>
                </c:pt>
                <c:pt idx="4">
                  <c:v>97.721179624664884</c:v>
                </c:pt>
                <c:pt idx="5">
                  <c:v>94.705340699815835</c:v>
                </c:pt>
                <c:pt idx="6">
                  <c:v>95.425950196592396</c:v>
                </c:pt>
                <c:pt idx="7">
                  <c:v>93.478260869565219</c:v>
                </c:pt>
                <c:pt idx="8">
                  <c:v>96.146179401993351</c:v>
                </c:pt>
                <c:pt idx="9">
                  <c:v>94.632159118140422</c:v>
                </c:pt>
                <c:pt idx="10">
                  <c:v>94.977649224296613</c:v>
                </c:pt>
                <c:pt idx="11">
                  <c:v>95.836002562459967</c:v>
                </c:pt>
                <c:pt idx="12">
                  <c:v>95.711060948081268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451776384"/>
        <c:axId val="451772464"/>
      </c:barChart>
      <c:lineChart>
        <c:grouping val="percentStacked"/>
        <c:varyColors val="0"/>
        <c:ser>
          <c:idx val="3"/>
          <c:order val="3"/>
          <c:tx>
            <c:strRef>
              <c:f>Sheet1!$A$5</c:f>
              <c:strCache>
                <c:ptCount val="1"/>
              </c:strCache>
            </c:strRef>
          </c:tx>
          <c:spPr>
            <a:ln>
              <a:noFill/>
            </a:ln>
          </c:spPr>
          <c:marker>
            <c:symbol val="none"/>
          </c:marker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Sheet1!$B$5:$N$5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792-48B0-B704-168AE9B742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1776384"/>
        <c:axId val="451772464"/>
      </c:line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egendEntry>
        <c:idx val="3"/>
        <c:delete val="1"/>
      </c:legendEntry>
      <c:layout>
        <c:manualLayout>
          <c:xMode val="edge"/>
          <c:yMode val="edge"/>
          <c:x val="0.22458637185420571"/>
          <c:y val="4.1674062296309447E-2"/>
          <c:w val="0.55082725629158846"/>
          <c:h val="6.3988628380424226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-1.0961099979279734E-16"/>
                  <c:y val="-3.8604092236423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0"/>
                  <c:y val="-1.93020461182116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추천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77</c:v>
                </c:pt>
                <c:pt idx="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13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1.1957701748554954E-2"/>
                  <c:y val="-3.8604092236423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만족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77.3</c:v>
                </c:pt>
                <c:pt idx="1">
                  <c:v>22.7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15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15105341111298387"/>
          <c:w val="0.9815238919616095"/>
          <c:h val="0.8306792096545407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경험 없음</c:v>
                </c:pt>
              </c:strCache>
            </c:strRef>
          </c:tx>
          <c:spPr>
            <a:solidFill>
              <a:srgbClr val="FFC5C6"/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92-48B0-B704-168AE9B742B6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2-48B0-B704-168AE9B742B6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Sheet1!$B$2:$N$2</c:f>
              <c:numCache>
                <c:formatCode>###0.0</c:formatCode>
                <c:ptCount val="13"/>
                <c:pt idx="0">
                  <c:v>18.701870187018702</c:v>
                </c:pt>
                <c:pt idx="1">
                  <c:v>19.280078895463511</c:v>
                </c:pt>
                <c:pt idx="2">
                  <c:v>26.923076923076923</c:v>
                </c:pt>
                <c:pt idx="3">
                  <c:v>26.409495548961424</c:v>
                </c:pt>
                <c:pt idx="4">
                  <c:v>10.857908847184987</c:v>
                </c:pt>
                <c:pt idx="5">
                  <c:v>20.741252302025782</c:v>
                </c:pt>
                <c:pt idx="6">
                  <c:v>23.879423328964613</c:v>
                </c:pt>
                <c:pt idx="7">
                  <c:v>34.782608695652172</c:v>
                </c:pt>
                <c:pt idx="8">
                  <c:v>29.102990033222593</c:v>
                </c:pt>
                <c:pt idx="9">
                  <c:v>23.388449556673855</c:v>
                </c:pt>
                <c:pt idx="10">
                  <c:v>20.457533526163555</c:v>
                </c:pt>
                <c:pt idx="11">
                  <c:v>20.563741191543883</c:v>
                </c:pt>
                <c:pt idx="12">
                  <c:v>21.896162528216703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92-48B0-B704-168AE9B742B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경험 있음</c:v>
                </c:pt>
              </c:strCache>
            </c:strRef>
          </c:tx>
          <c:spPr>
            <a:solidFill>
              <a:srgbClr val="AFDDFF"/>
            </a:solidFill>
            <a:ln w="6350">
              <a:solidFill>
                <a:schemeClr val="bg1"/>
              </a:solidFill>
              <a:prstDash val="sysDash"/>
            </a:ln>
          </c:spPr>
          <c:invertIfNegative val="0"/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Sheet1!$B$3:$N$3</c:f>
              <c:numCache>
                <c:formatCode>###0.0</c:formatCode>
                <c:ptCount val="13"/>
                <c:pt idx="0">
                  <c:v>81.298129812981301</c:v>
                </c:pt>
                <c:pt idx="1">
                  <c:v>80.719921104536496</c:v>
                </c:pt>
                <c:pt idx="2">
                  <c:v>73.07692307692308</c:v>
                </c:pt>
                <c:pt idx="3">
                  <c:v>73.590504451038569</c:v>
                </c:pt>
                <c:pt idx="4">
                  <c:v>89.142091152815013</c:v>
                </c:pt>
                <c:pt idx="5">
                  <c:v>79.258747697974215</c:v>
                </c:pt>
                <c:pt idx="6">
                  <c:v>76.12057667103538</c:v>
                </c:pt>
                <c:pt idx="7">
                  <c:v>65.217391304347828</c:v>
                </c:pt>
                <c:pt idx="8">
                  <c:v>70.897009966777404</c:v>
                </c:pt>
                <c:pt idx="9">
                  <c:v>76.611550443326138</c:v>
                </c:pt>
                <c:pt idx="10">
                  <c:v>79.542466473836441</c:v>
                </c:pt>
                <c:pt idx="11">
                  <c:v>79.436258808456117</c:v>
                </c:pt>
                <c:pt idx="12">
                  <c:v>78.103837471783294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0"/>
                  <c:y val="-2.57360614909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추천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49.8</c:v>
                </c:pt>
                <c:pt idx="1">
                  <c:v>50.2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60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1.1957701748554954E-2"/>
                  <c:y val="-3.8604092236423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만족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64.5</c:v>
                </c:pt>
                <c:pt idx="1">
                  <c:v>35.5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35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15105341111298387"/>
          <c:w val="0.9815238919616095"/>
          <c:h val="0.8306792096545407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비구독</c:v>
                </c:pt>
              </c:strCache>
            </c:strRef>
          </c:tx>
          <c:spPr>
            <a:solidFill>
              <a:srgbClr val="FFC5C6"/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92-48B0-B704-168AE9B742B6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2-48B0-B704-168AE9B742B6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Sheet1!$B$2:$I$2</c:f>
              <c:numCache>
                <c:formatCode>###0.0</c:formatCode>
                <c:ptCount val="8"/>
                <c:pt idx="0">
                  <c:v>36.729222520107236</c:v>
                </c:pt>
                <c:pt idx="1">
                  <c:v>34.701492537313435</c:v>
                </c:pt>
                <c:pt idx="2">
                  <c:v>16.666666666666668</c:v>
                </c:pt>
                <c:pt idx="3">
                  <c:v>36.81818181818182</c:v>
                </c:pt>
                <c:pt idx="4">
                  <c:v>37.27699530516432</c:v>
                </c:pt>
                <c:pt idx="5">
                  <c:v>33.377837116154872</c:v>
                </c:pt>
                <c:pt idx="6">
                  <c:v>31.864406779661017</c:v>
                </c:pt>
                <c:pt idx="7">
                  <c:v>38.554216867469883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92-48B0-B704-168AE9B742B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구독</c:v>
                </c:pt>
              </c:strCache>
            </c:strRef>
          </c:tx>
          <c:spPr>
            <a:solidFill>
              <a:srgbClr val="AFDDFF"/>
            </a:solidFill>
            <a:ln w="6350">
              <a:solidFill>
                <a:schemeClr val="bg1"/>
              </a:solidFill>
              <a:prstDash val="sysDash"/>
            </a:ln>
          </c:spPr>
          <c:invertIfNegative val="0"/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Sheet1!$B$3:$I$3</c:f>
              <c:numCache>
                <c:formatCode>###0.0</c:formatCode>
                <c:ptCount val="8"/>
                <c:pt idx="0">
                  <c:v>63.270777479892764</c:v>
                </c:pt>
                <c:pt idx="1">
                  <c:v>65.298507462686572</c:v>
                </c:pt>
                <c:pt idx="2">
                  <c:v>83.333333333333329</c:v>
                </c:pt>
                <c:pt idx="3">
                  <c:v>63.18181818181818</c:v>
                </c:pt>
                <c:pt idx="4">
                  <c:v>62.72300469483568</c:v>
                </c:pt>
                <c:pt idx="5">
                  <c:v>66.622162883845121</c:v>
                </c:pt>
                <c:pt idx="6">
                  <c:v>68.13559322033899</c:v>
                </c:pt>
                <c:pt idx="7">
                  <c:v>61.445783132530117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2023년(2,888)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지속 이용 의향</c:v>
                </c:pt>
                <c:pt idx="1">
                  <c:v>콘텐츠 유용성</c:v>
                </c:pt>
                <c:pt idx="2">
                  <c:v>전반적 만족도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87.544519192720216</c:v>
                </c:pt>
                <c:pt idx="1">
                  <c:v>86.020973486349135</c:v>
                </c:pt>
                <c:pt idx="2">
                  <c:v>85.18500197863257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0A-43E7-A9C2-4A9A670884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2024년(1,758)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지속 이용 의향</c:v>
                </c:pt>
                <c:pt idx="1">
                  <c:v>콘텐츠 유용성</c:v>
                </c:pt>
                <c:pt idx="2">
                  <c:v>전반적 만족도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87.637466818354397</c:v>
                </c:pt>
                <c:pt idx="1">
                  <c:v>86.442927569207484</c:v>
                </c:pt>
                <c:pt idx="2">
                  <c:v>85.561243837694136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0A-43E7-A9C2-4A9A67088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00"/>
          <c:min val="6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2023년(2,913)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어떤 서비스인지 몰라서</c:v>
                </c:pt>
                <c:pt idx="1">
                  <c:v>가볼래터 서비스를 제공하고 있는지 몰라서</c:v>
                </c:pt>
                <c:pt idx="2">
                  <c:v>로그인하기 귀찮아서</c:v>
                </c:pt>
                <c:pt idx="3">
                  <c:v>유료 서비스라고 생각해서</c:v>
                </c:pt>
                <c:pt idx="4">
                  <c:v>본인 인증하기 귀찮아서</c:v>
                </c:pt>
                <c:pt idx="5">
                  <c:v>여행지 추천 서비스가 필요하지 않아서</c:v>
                </c:pt>
                <c:pt idx="6">
                  <c:v>경품이 매력적이지 않아서</c:v>
                </c:pt>
              </c:strCache>
            </c:strRef>
          </c:cat>
          <c:val>
            <c:numRef>
              <c:f>Sheet1!$B$2:$B$8</c:f>
              <c:numCache>
                <c:formatCode>0.0</c:formatCode>
                <c:ptCount val="7"/>
                <c:pt idx="1">
                  <c:v>56.95159629248198</c:v>
                </c:pt>
                <c:pt idx="2">
                  <c:v>22.897356676965327</c:v>
                </c:pt>
                <c:pt idx="4">
                  <c:v>23.721249570889118</c:v>
                </c:pt>
                <c:pt idx="5">
                  <c:v>9.9553724682457947</c:v>
                </c:pt>
                <c:pt idx="6">
                  <c:v>6.556814280810161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3-4239-A831-1250FA25E0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2024년(969)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어떤 서비스인지 몰라서</c:v>
                </c:pt>
                <c:pt idx="1">
                  <c:v>가볼래터 서비스를 제공하고 있는지 몰라서</c:v>
                </c:pt>
                <c:pt idx="2">
                  <c:v>로그인하기 귀찮아서</c:v>
                </c:pt>
                <c:pt idx="3">
                  <c:v>유료 서비스라고 생각해서</c:v>
                </c:pt>
                <c:pt idx="4">
                  <c:v>본인 인증하기 귀찮아서</c:v>
                </c:pt>
                <c:pt idx="5">
                  <c:v>여행지 추천 서비스가 필요하지 않아서</c:v>
                </c:pt>
                <c:pt idx="6">
                  <c:v>경품이 매력적이지 않아서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36.842105263157897</c:v>
                </c:pt>
                <c:pt idx="1">
                  <c:v>35.087719298245617</c:v>
                </c:pt>
                <c:pt idx="2">
                  <c:v>17.234262125902994</c:v>
                </c:pt>
                <c:pt idx="3">
                  <c:v>15.170278637770897</c:v>
                </c:pt>
                <c:pt idx="4">
                  <c:v>14.344685242518059</c:v>
                </c:pt>
                <c:pt idx="5">
                  <c:v>9.7007223942208469</c:v>
                </c:pt>
                <c:pt idx="6">
                  <c:v>5.469556243550052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3-4239-A831-1250FA25E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8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-1.0961099979279734E-16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-5.9788508742774768E-3"/>
                  <c:y val="-3.2170076863686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추천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57.4</c:v>
                </c:pt>
                <c:pt idx="1">
                  <c:v>42.6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46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0"/>
                  <c:y val="-2.57360614909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0"/>
                  <c:y val="-3.21700768636860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만족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74.807480748074809</c:v>
                </c:pt>
                <c:pt idx="1">
                  <c:v>25.192519251925191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15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15105341111298387"/>
          <c:w val="0.9815238919616095"/>
          <c:h val="0.8306792096545407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비인지</c:v>
                </c:pt>
              </c:strCache>
            </c:strRef>
          </c:tx>
          <c:spPr>
            <a:solidFill>
              <a:srgbClr val="FFC5C6"/>
            </a:solidFill>
            <a:ln w="12700"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92-48B0-B704-168AE9B742B6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2-48B0-B704-168AE9B742B6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Sheet1!$B$2:$I$2</c:f>
              <c:numCache>
                <c:formatCode>###0.0</c:formatCode>
                <c:ptCount val="8"/>
                <c:pt idx="0">
                  <c:v>24.218051831992852</c:v>
                </c:pt>
                <c:pt idx="1">
                  <c:v>25.870646766169155</c:v>
                </c:pt>
                <c:pt idx="2">
                  <c:v>16.666666666666668</c:v>
                </c:pt>
                <c:pt idx="3">
                  <c:v>30.90909090909091</c:v>
                </c:pt>
                <c:pt idx="4">
                  <c:v>26.854460093896712</c:v>
                </c:pt>
                <c:pt idx="5">
                  <c:v>20.961281708945261</c:v>
                </c:pt>
                <c:pt idx="6">
                  <c:v>19.661016949152543</c:v>
                </c:pt>
                <c:pt idx="7">
                  <c:v>28.91566265060241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92-48B0-B704-168AE9B742B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인지</c:v>
                </c:pt>
              </c:strCache>
            </c:strRef>
          </c:tx>
          <c:spPr>
            <a:solidFill>
              <a:srgbClr val="AFDDFF"/>
            </a:solidFill>
            <a:ln w="6350">
              <a:solidFill>
                <a:schemeClr val="bg1"/>
              </a:solidFill>
              <a:prstDash val="sysDash"/>
            </a:ln>
          </c:spPr>
          <c:invertIfNegative val="0"/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Sheet1!$B$3:$I$3</c:f>
              <c:numCache>
                <c:formatCode>###0.0</c:formatCode>
                <c:ptCount val="8"/>
                <c:pt idx="0">
                  <c:v>75.781948168007148</c:v>
                </c:pt>
                <c:pt idx="1">
                  <c:v>74.129353233830841</c:v>
                </c:pt>
                <c:pt idx="2">
                  <c:v>83.333333333333329</c:v>
                </c:pt>
                <c:pt idx="3">
                  <c:v>69.090909090909093</c:v>
                </c:pt>
                <c:pt idx="4">
                  <c:v>73.145539906103281</c:v>
                </c:pt>
                <c:pt idx="5">
                  <c:v>79.038718291054735</c:v>
                </c:pt>
                <c:pt idx="6">
                  <c:v>80.33898305084746</c:v>
                </c:pt>
                <c:pt idx="7">
                  <c:v>71.084337349397586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0"/>
                  <c:y val="-4.50381076091603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-5.9788508742774768E-3"/>
                  <c:y val="-1.28680307454744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추천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61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43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0"/>
                  <c:y val="-3.8604092236423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-1.3701374974099667E-17"/>
                  <c:y val="-1.93020461182116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만족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61.9</c:v>
                </c:pt>
                <c:pt idx="1">
                  <c:v>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40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15105341111298387"/>
          <c:w val="0.9815238919616095"/>
          <c:h val="0.8306792096545407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비인지</c:v>
                </c:pt>
              </c:strCache>
            </c:strRef>
          </c:tx>
          <c:spPr>
            <a:solidFill>
              <a:srgbClr val="FFC5C6"/>
            </a:solidFill>
            <a:ln w="12700"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92-48B0-B704-168AE9B742B6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2-48B0-B704-168AE9B742B6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Sheet1!$B$2:$I$2</c:f>
              <c:numCache>
                <c:formatCode>###0.0</c:formatCode>
                <c:ptCount val="8"/>
                <c:pt idx="0">
                  <c:v>35.259433962264154</c:v>
                </c:pt>
                <c:pt idx="1">
                  <c:v>40.18456375838926</c:v>
                </c:pt>
                <c:pt idx="2">
                  <c:v>40</c:v>
                </c:pt>
                <c:pt idx="3">
                  <c:v>35.526315789473685</c:v>
                </c:pt>
                <c:pt idx="4">
                  <c:v>37.355584082156611</c:v>
                </c:pt>
                <c:pt idx="5">
                  <c:v>41.554054054054056</c:v>
                </c:pt>
                <c:pt idx="6">
                  <c:v>39.240506329113927</c:v>
                </c:pt>
                <c:pt idx="7">
                  <c:v>30.508474576271187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92-48B0-B704-168AE9B742B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인지</c:v>
                </c:pt>
              </c:strCache>
            </c:strRef>
          </c:tx>
          <c:spPr>
            <a:solidFill>
              <a:srgbClr val="AFDDFF"/>
            </a:solidFill>
            <a:ln w="6350">
              <a:solidFill>
                <a:schemeClr val="bg1"/>
              </a:solidFill>
              <a:prstDash val="sysDash"/>
            </a:ln>
          </c:spPr>
          <c:invertIfNegative val="0"/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Sheet1!$B$3:$I$3</c:f>
              <c:numCache>
                <c:formatCode>###0.0</c:formatCode>
                <c:ptCount val="8"/>
                <c:pt idx="0">
                  <c:v>64.740566037735846</c:v>
                </c:pt>
                <c:pt idx="1">
                  <c:v>59.81543624161074</c:v>
                </c:pt>
                <c:pt idx="2">
                  <c:v>60</c:v>
                </c:pt>
                <c:pt idx="3">
                  <c:v>64.473684210526315</c:v>
                </c:pt>
                <c:pt idx="4">
                  <c:v>62.644415917843389</c:v>
                </c:pt>
                <c:pt idx="5">
                  <c:v>58.445945945945944</c:v>
                </c:pt>
                <c:pt idx="6">
                  <c:v>60.759493670886073</c:v>
                </c:pt>
                <c:pt idx="7">
                  <c:v>69.491525423728817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A319-4484-AF89-E136A5C23592}"/>
              </c:ext>
            </c:extLst>
          </c:dPt>
          <c:dPt>
            <c:idx val="1"/>
            <c:bubble3D val="0"/>
            <c:spPr>
              <a:solidFill>
                <a:srgbClr val="C1C7CD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A319-4484-AF89-E136A5C23592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A319-4484-AF89-E136A5C23592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A319-4484-AF89-E136A5C23592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A319-4484-AF89-E136A5C23592}"/>
              </c:ext>
            </c:extLst>
          </c:dPt>
          <c:dLbls>
            <c:dLbl>
              <c:idx val="0"/>
              <c:layout>
                <c:manualLayout>
                  <c:x val="2.9894254371387385E-2"/>
                  <c:y val="-0.180152430436641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19-4484-AF89-E136A5C2359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319-4484-AF89-E136A5C235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91.204437400950866</c:v>
                </c:pt>
                <c:pt idx="1">
                  <c:v>7.1315372424722661</c:v>
                </c:pt>
                <c:pt idx="2">
                  <c:v>1.6640253565768621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319-4484-AF89-E136A5C235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4229-4C3E-AB10-49AEA11E6474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4229-4C3E-AB10-49AEA11E6474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4229-4C3E-AB10-49AEA11E6474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4229-4C3E-AB10-49AEA11E6474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4229-4C3E-AB10-49AEA11E6474}"/>
              </c:ext>
            </c:extLst>
          </c:dPt>
          <c:dLbls>
            <c:dLbl>
              <c:idx val="0"/>
              <c:layout>
                <c:manualLayout>
                  <c:x val="1.7936552622832433E-2"/>
                  <c:y val="-0.14154833820021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29-4C3E-AB10-49AEA11E6474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4229-4C3E-AB10-49AEA11E647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229-4C3E-AB10-49AEA11E64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긍정</c:v>
                </c:pt>
                <c:pt idx="1">
                  <c:v>보통</c:v>
                </c:pt>
                <c:pt idx="2">
                  <c:v>부정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89</c:v>
                </c:pt>
                <c:pt idx="1">
                  <c:v>9.8000000000000007</c:v>
                </c:pt>
                <c:pt idx="2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229-4C3E-AB10-49AEA11E6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29880690470899007"/>
          <c:w val="0.9815238919616095"/>
          <c:h val="0.68292571605853458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Sheet1!$A$4</c:f>
              <c:strCache>
                <c:ptCount val="1"/>
                <c:pt idx="0">
                  <c:v>불만족(BOT3)</c:v>
                </c:pt>
              </c:strCache>
            </c:strRef>
          </c:tx>
          <c:spPr>
            <a:solidFill>
              <a:srgbClr val="FFC5C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906-46D8-94DE-752354894CB0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Sheet1!$B$4:$I$4</c:f>
              <c:numCache>
                <c:formatCode>###0.0</c:formatCode>
                <c:ptCount val="8"/>
                <c:pt idx="0">
                  <c:v>2.1857923497267762</c:v>
                </c:pt>
                <c:pt idx="1">
                  <c:v>1.2622720897615709</c:v>
                </c:pt>
                <c:pt idx="3">
                  <c:v>1.5306122448979591</c:v>
                </c:pt>
                <c:pt idx="4">
                  <c:v>1.4344262295081966</c:v>
                </c:pt>
                <c:pt idx="5">
                  <c:v>2.0231213872832372</c:v>
                </c:pt>
                <c:pt idx="6">
                  <c:v>2.0833333333333335</c:v>
                </c:pt>
                <c:pt idx="7">
                  <c:v>1.2195121951219512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906-46D8-94DE-752354894CB0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Sheet1!$B$3:$I$3</c:f>
              <c:numCache>
                <c:formatCode>###0.0</c:formatCode>
                <c:ptCount val="8"/>
                <c:pt idx="0">
                  <c:v>8.3788706739526404</c:v>
                </c:pt>
                <c:pt idx="1">
                  <c:v>6.1711079943899021</c:v>
                </c:pt>
                <c:pt idx="3">
                  <c:v>5.1020408163265305</c:v>
                </c:pt>
                <c:pt idx="4">
                  <c:v>6.9672131147540988</c:v>
                </c:pt>
                <c:pt idx="5">
                  <c:v>10.115606936416185</c:v>
                </c:pt>
                <c:pt idx="6">
                  <c:v>5.5555555555555554</c:v>
                </c:pt>
                <c:pt idx="7">
                  <c:v>3.6585365853658538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906-46D8-94DE-752354894CB0}"/>
            </c:ext>
          </c:extLst>
        </c:ser>
        <c:ser>
          <c:idx val="0"/>
          <c:order val="2"/>
          <c:tx>
            <c:strRef>
              <c:f>Sheet1!$A$2</c:f>
              <c:strCache>
                <c:ptCount val="1"/>
                <c:pt idx="0">
                  <c:v>만족(TOP3)</c:v>
                </c:pt>
              </c:strCache>
            </c:strRef>
          </c:tx>
          <c:spPr>
            <a:solidFill>
              <a:srgbClr val="AFDDFF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906-46D8-94DE-752354894CB0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906-46D8-94DE-752354894CB0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Sheet1!$B$2:$I$2</c:f>
              <c:numCache>
                <c:formatCode>###0.0</c:formatCode>
                <c:ptCount val="8"/>
                <c:pt idx="0">
                  <c:v>89.435336976320585</c:v>
                </c:pt>
                <c:pt idx="1">
                  <c:v>92.566619915848534</c:v>
                </c:pt>
                <c:pt idx="2">
                  <c:v>100</c:v>
                </c:pt>
                <c:pt idx="3">
                  <c:v>93.367346938775512</c:v>
                </c:pt>
                <c:pt idx="4">
                  <c:v>91.598360655737707</c:v>
                </c:pt>
                <c:pt idx="5">
                  <c:v>87.861271676300575</c:v>
                </c:pt>
                <c:pt idx="6">
                  <c:v>92.361111111111114</c:v>
                </c:pt>
                <c:pt idx="7">
                  <c:v>95.121951219512198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06-46D8-94DE-752354894C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lang="en-US" altLang="ko-KR" sz="1000" b="1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0"/>
                  <c:y val="-2.57360614909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추천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64.599999999999994</c:v>
                </c:pt>
                <c:pt idx="1">
                  <c:v>35.4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60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>
                <c:manualLayout>
                  <c:x val="1.1957701748554954E-2"/>
                  <c:y val="-3.8604092236423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만족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71.5</c:v>
                </c:pt>
                <c:pt idx="1">
                  <c:v>28.5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35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15105341111298387"/>
          <c:w val="0.9815238919616095"/>
          <c:h val="0.8306792096545407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비인지</c:v>
                </c:pt>
              </c:strCache>
            </c:strRef>
          </c:tx>
          <c:spPr>
            <a:solidFill>
              <a:srgbClr val="FFC5C6"/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92-48B0-B704-168AE9B742B6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2-48B0-B704-168AE9B742B6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Sheet1!$B$2:$I$2</c:f>
              <c:numCache>
                <c:formatCode>###0.0</c:formatCode>
                <c:ptCount val="8"/>
                <c:pt idx="0">
                  <c:v>25.558534405719392</c:v>
                </c:pt>
                <c:pt idx="1">
                  <c:v>30.597014925373134</c:v>
                </c:pt>
                <c:pt idx="2">
                  <c:v>16.666666666666668</c:v>
                </c:pt>
                <c:pt idx="3">
                  <c:v>33.409090909090907</c:v>
                </c:pt>
                <c:pt idx="4">
                  <c:v>30.140845070422536</c:v>
                </c:pt>
                <c:pt idx="5">
                  <c:v>23.097463284379174</c:v>
                </c:pt>
                <c:pt idx="6">
                  <c:v>24.406779661016948</c:v>
                </c:pt>
                <c:pt idx="7">
                  <c:v>37.951807228915662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92-48B0-B704-168AE9B742B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인지</c:v>
                </c:pt>
              </c:strCache>
            </c:strRef>
          </c:tx>
          <c:spPr>
            <a:solidFill>
              <a:srgbClr val="AFDDFF"/>
            </a:solidFill>
            <a:ln w="6350">
              <a:solidFill>
                <a:schemeClr val="bg1"/>
              </a:solidFill>
              <a:prstDash val="sysDash"/>
            </a:ln>
          </c:spPr>
          <c:invertIfNegative val="0"/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</c:strRef>
          </c:cat>
          <c:val>
            <c:numRef>
              <c:f>Sheet1!$B$3:$I$3</c:f>
              <c:numCache>
                <c:formatCode>###0.0</c:formatCode>
                <c:ptCount val="8"/>
                <c:pt idx="0">
                  <c:v>74.441465594280601</c:v>
                </c:pt>
                <c:pt idx="1">
                  <c:v>69.402985074626869</c:v>
                </c:pt>
                <c:pt idx="2">
                  <c:v>83.333333333333329</c:v>
                </c:pt>
                <c:pt idx="3">
                  <c:v>66.590909090909093</c:v>
                </c:pt>
                <c:pt idx="4">
                  <c:v>69.859154929577471</c:v>
                </c:pt>
                <c:pt idx="5">
                  <c:v>76.902536715620826</c:v>
                </c:pt>
                <c:pt idx="6">
                  <c:v>75.593220338983045</c:v>
                </c:pt>
                <c:pt idx="7">
                  <c:v>62.048192771084338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92-48B0-B704-168AE9B74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2023년(3,745)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AI콕콕</c:v>
                </c:pt>
                <c:pt idx="1">
                  <c:v>AI콕콕 플래너</c:v>
                </c:pt>
                <c:pt idx="2">
                  <c:v>없음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49.452603471295063</c:v>
                </c:pt>
                <c:pt idx="1">
                  <c:v>33.938584779706275</c:v>
                </c:pt>
                <c:pt idx="2">
                  <c:v>3.658210947930574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0A-43E7-A9C2-4A9A670884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2024년(1,949)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AI콕콕</c:v>
                </c:pt>
                <c:pt idx="1">
                  <c:v>AI콕콕 플래너</c:v>
                </c:pt>
                <c:pt idx="2">
                  <c:v>없음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57.619291944586969</c:v>
                </c:pt>
                <c:pt idx="1">
                  <c:v>56.490507952796307</c:v>
                </c:pt>
                <c:pt idx="2">
                  <c:v>8.9789635710620832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0A-43E7-A9C2-4A9A67088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5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0218902018698E-3"/>
          <c:y val="3.5005478851632695E-2"/>
          <c:w val="0.9927989781097981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2023년(1,852)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0"/>
              <c:layout>
                <c:manualLayout>
                  <c:x val="4.9167157518789224E-7"/>
                  <c:y val="1.39165570896339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48654542405896"/>
                      <c:h val="0.1294214332675870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C6-44FD-A1E8-CEEB02FEE81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0.0</c:formatCode>
                <c:ptCount val="1"/>
                <c:pt idx="0">
                  <c:v>84.1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C6-44FD-A1E8-CEEB02FEE8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2024년(1,123)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0"/>
              <c:layout>
                <c:manualLayout>
                  <c:x val="4.9167157524513039E-7"/>
                  <c:y val="-6.9581415735262206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975925792992493"/>
                      <c:h val="0.1015888669734823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1C6-44FD-A1E8-CEEB02FEE81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0.0</c:formatCode>
                <c:ptCount val="1"/>
                <c:pt idx="0">
                  <c:v>82.7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1C6-44FD-A1E8-CEEB02FEE8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3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0218902018698E-3"/>
          <c:y val="3.5005478851632695E-2"/>
          <c:w val="0.9927989781097981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2023년(15,754)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0"/>
              <c:layout>
                <c:manualLayout>
                  <c:x val="4.9167157518789224E-7"/>
                  <c:y val="1.39165570896339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48654542405896"/>
                      <c:h val="0.1294214332675870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C6-44FD-A1E8-CEEB02FEE81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80.599999999999994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C6-44FD-A1E8-CEEB02FEE8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2024년(1,101)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0"/>
              <c:layout>
                <c:manualLayout>
                  <c:x val="4.9167157524513039E-7"/>
                  <c:y val="-6.9581415735262206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975925792992493"/>
                      <c:h val="0.1015888669734823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1C6-44FD-A1E8-CEEB02FEE81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85.6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1C6-44FD-A1E8-CEEB02FEE8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30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4229-4C3E-AB10-49AEA11E6474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4229-4C3E-AB10-49AEA11E6474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4229-4C3E-AB10-49AEA11E6474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4229-4C3E-AB10-49AEA11E6474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4229-4C3E-AB10-49AEA11E6474}"/>
              </c:ext>
            </c:extLst>
          </c:dPt>
          <c:dLbls>
            <c:dLbl>
              <c:idx val="0"/>
              <c:layout>
                <c:manualLayout>
                  <c:x val="1.7936552622832322E-2"/>
                  <c:y val="-0.154416368945692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4229-4C3E-AB10-49AEA11E6474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4229-4C3E-AB10-49AEA11E647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229-4C3E-AB10-49AEA11E64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긍정</c:v>
                </c:pt>
                <c:pt idx="1">
                  <c:v>보통</c:v>
                </c:pt>
                <c:pt idx="2">
                  <c:v>부정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91.198704103671702</c:v>
                </c:pt>
                <c:pt idx="1">
                  <c:v>8.315334773218142</c:v>
                </c:pt>
                <c:pt idx="2">
                  <c:v>0.48596112311015116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229-4C3E-AB10-49AEA11E6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A319-4484-AF89-E136A5C23592}"/>
              </c:ext>
            </c:extLst>
          </c:dPt>
          <c:dPt>
            <c:idx val="1"/>
            <c:bubble3D val="0"/>
            <c:spPr>
              <a:solidFill>
                <a:srgbClr val="C1C7CD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A319-4484-AF89-E136A5C23592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A319-4484-AF89-E136A5C23592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A319-4484-AF89-E136A5C23592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A319-4484-AF89-E136A5C23592}"/>
              </c:ext>
            </c:extLst>
          </c:dPt>
          <c:dLbls>
            <c:dLbl>
              <c:idx val="0"/>
              <c:layout>
                <c:manualLayout>
                  <c:x val="2.3915403497109907E-2"/>
                  <c:y val="-0.1672843996911672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319-4484-AF89-E136A5C2359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319-4484-AF89-E136A5C235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90.293855743544071</c:v>
                </c:pt>
                <c:pt idx="1">
                  <c:v>8.0142475512021374</c:v>
                </c:pt>
                <c:pt idx="2">
                  <c:v>1.6918967052537845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319-4484-AF89-E136A5C235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3628433826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2024년(1,014)</c:v>
                </c:pt>
              </c:strCache>
            </c:strRef>
          </c:tx>
          <c:spPr>
            <a:solidFill>
              <a:srgbClr val="AFDD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추천해주는 여행정보가 유용해서</c:v>
                </c:pt>
                <c:pt idx="1">
                  <c:v>나의 성향, 관심사에 맞는 여행지를 추천해줘서</c:v>
                </c:pt>
                <c:pt idx="2">
                  <c:v>추천을 통해 새로운 여행지를 알게 되어서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40.433925049309664</c:v>
                </c:pt>
                <c:pt idx="1">
                  <c:v>39.842209072978306</c:v>
                </c:pt>
                <c:pt idx="2">
                  <c:v>19.625246548323471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23-43B7-B6EC-A87BE53CC9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8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3628433826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2024년(19)</c:v>
                </c:pt>
              </c:strCache>
            </c:strRef>
          </c:tx>
          <c:spPr>
            <a:solidFill>
              <a:srgbClr val="FFC5C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추천해주는 여행정보가 유용해서</c:v>
                </c:pt>
                <c:pt idx="1">
                  <c:v>나의 성향, 관심사에 맞는 여행지를 추천해줘서</c:v>
                </c:pt>
                <c:pt idx="2">
                  <c:v>추천을 통해 새로운 여행지를 알게 되어서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42.10526315789474</c:v>
                </c:pt>
                <c:pt idx="1">
                  <c:v>36.842105263157897</c:v>
                </c:pt>
                <c:pt idx="2">
                  <c:v>15.789473684210526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23-43B7-B6EC-A87BE53CC9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8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A319-4484-AF89-E136A5C23592}"/>
              </c:ext>
            </c:extLst>
          </c:dPt>
          <c:dPt>
            <c:idx val="1"/>
            <c:bubble3D val="0"/>
            <c:spPr>
              <a:solidFill>
                <a:srgbClr val="C1C7CD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A319-4484-AF89-E136A5C23592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A319-4484-AF89-E136A5C23592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A319-4484-AF89-E136A5C23592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A319-4484-AF89-E136A5C23592}"/>
              </c:ext>
            </c:extLst>
          </c:dPt>
          <c:dLbls>
            <c:dLbl>
              <c:idx val="0"/>
              <c:layout>
                <c:manualLayout>
                  <c:x val="2.3915403497109907E-2"/>
                  <c:y val="-0.1672843996911672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319-4484-AF89-E136A5C2359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319-4484-AF89-E136A5C235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91.553133514986371</c:v>
                </c:pt>
                <c:pt idx="1">
                  <c:v>6.7211625794732059</c:v>
                </c:pt>
                <c:pt idx="2">
                  <c:v>1.7257039055404177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319-4484-AF89-E136A5C235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4229-4C3E-AB10-49AEA11E6474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4229-4C3E-AB10-49AEA11E6474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4229-4C3E-AB10-49AEA11E6474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4229-4C3E-AB10-49AEA11E6474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4229-4C3E-AB10-49AEA11E6474}"/>
              </c:ext>
            </c:extLst>
          </c:dPt>
          <c:dLbls>
            <c:dLbl>
              <c:idx val="0"/>
              <c:layout>
                <c:manualLayout>
                  <c:x val="1.7936552622832322E-2"/>
                  <c:y val="-0.154416368945692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4229-4C3E-AB10-49AEA11E6474}"/>
                </c:ext>
              </c:extLst>
            </c:dLbl>
            <c:dLbl>
              <c:idx val="2"/>
              <c:layout>
                <c:manualLayout>
                  <c:x val="-3.9297998167741131E-3"/>
                  <c:y val="3.21751430175228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anchorCtr="0"/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58176196264488"/>
                      <c:h val="8.28057778471277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4229-4C3E-AB10-49AEA11E647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229-4C3E-AB10-49AEA11E64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긍정</c:v>
                </c:pt>
                <c:pt idx="1">
                  <c:v>보통</c:v>
                </c:pt>
                <c:pt idx="2">
                  <c:v>부정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91.030684500393392</c:v>
                </c:pt>
                <c:pt idx="1">
                  <c:v>8.4185680566483079</c:v>
                </c:pt>
                <c:pt idx="2">
                  <c:v>0.55074744295830058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229-4C3E-AB10-49AEA11E6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3628433826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2024년(1,008)</c:v>
                </c:pt>
              </c:strCache>
            </c:strRef>
          </c:tx>
          <c:spPr>
            <a:solidFill>
              <a:srgbClr val="AFDD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추천해주는 여행정보가 유용해서</c:v>
                </c:pt>
                <c:pt idx="1">
                  <c:v>나의 성향, 관심사에 맞는 여행지를 추천해줘서</c:v>
                </c:pt>
                <c:pt idx="2">
                  <c:v>추천을 통해 새로운 여행지를 알게 되어서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49.404761904761905</c:v>
                </c:pt>
                <c:pt idx="1">
                  <c:v>35.11904761904762</c:v>
                </c:pt>
                <c:pt idx="2">
                  <c:v>15.376984126984127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23-43B7-B6EC-A87BE53CC9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8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3628433826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2024년(19)</c:v>
                </c:pt>
              </c:strCache>
            </c:strRef>
          </c:tx>
          <c:spPr>
            <a:solidFill>
              <a:srgbClr val="FFC5C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추천해주는 여행정보가 유용해서</c:v>
                </c:pt>
                <c:pt idx="1">
                  <c:v>나의 성향, 관심사에 맞는 여행지를 추천해줘서</c:v>
                </c:pt>
                <c:pt idx="2">
                  <c:v>추천을 통해 새로운 여행지를 알게 되어서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42.10526315789474</c:v>
                </c:pt>
                <c:pt idx="1">
                  <c:v>31.578947368421051</c:v>
                </c:pt>
                <c:pt idx="2">
                  <c:v>21.05263157894737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23-43B7-B6EC-A87BE53CC9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8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12074500217021336"/>
          <c:w val="0.9815238919616095"/>
          <c:h val="0.8609876185973113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A안</c:v>
                </c:pt>
              </c:strCache>
            </c:strRef>
          </c:tx>
          <c:spPr>
            <a:solidFill>
              <a:srgbClr val="0B58A5"/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47F-4CD8-B5F0-F36AB1C7FF81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47F-4CD8-B5F0-F36AB1C7FF81}"/>
              </c:ext>
            </c:extLst>
          </c:dPt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Sheet1!$B$2:$N$2</c:f>
              <c:numCache>
                <c:formatCode>###0.0</c:formatCode>
                <c:ptCount val="13"/>
                <c:pt idx="0">
                  <c:v>54.015401540154016</c:v>
                </c:pt>
                <c:pt idx="1">
                  <c:v>46.646942800788956</c:v>
                </c:pt>
                <c:pt idx="2">
                  <c:v>53.14537157757497</c:v>
                </c:pt>
                <c:pt idx="3">
                  <c:v>55.192878338278931</c:v>
                </c:pt>
                <c:pt idx="4">
                  <c:v>37.1313672922252</c:v>
                </c:pt>
                <c:pt idx="5">
                  <c:v>56.008287292817677</c:v>
                </c:pt>
                <c:pt idx="6">
                  <c:v>48.623853211009177</c:v>
                </c:pt>
                <c:pt idx="7">
                  <c:v>63.043478260869563</c:v>
                </c:pt>
                <c:pt idx="8">
                  <c:v>51.96013289036545</c:v>
                </c:pt>
                <c:pt idx="9">
                  <c:v>52.600047927150733</c:v>
                </c:pt>
                <c:pt idx="10">
                  <c:v>52.800420720483828</c:v>
                </c:pt>
                <c:pt idx="11">
                  <c:v>46.316463805253044</c:v>
                </c:pt>
                <c:pt idx="12">
                  <c:v>45.823927765237023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7F-4CD8-B5F0-F36AB1C7FF8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B안</c:v>
                </c:pt>
              </c:strCache>
            </c:strRef>
          </c:tx>
          <c:spPr>
            <a:solidFill>
              <a:srgbClr val="AFDDFF"/>
            </a:solidFill>
            <a:ln w="6350">
              <a:solidFill>
                <a:schemeClr val="bg1"/>
              </a:solidFill>
              <a:prstDash val="sysDash"/>
            </a:ln>
          </c:spPr>
          <c:invertIfNegative val="0"/>
          <c:dLbls>
            <c:numFmt formatCode="0.0;0.0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Sheet1!$B$1:$N$1</c:f>
              <c:strCache>
                <c:ptCount val="13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  <c:pt idx="8">
                  <c:v>열10</c:v>
                </c:pt>
                <c:pt idx="9">
                  <c:v>열11</c:v>
                </c:pt>
                <c:pt idx="10">
                  <c:v>열12</c:v>
                </c:pt>
                <c:pt idx="11">
                  <c:v>열13</c:v>
                </c:pt>
                <c:pt idx="12">
                  <c:v>열14</c:v>
                </c:pt>
              </c:strCache>
            </c:strRef>
          </c:cat>
          <c:val>
            <c:numRef>
              <c:f>Sheet1!$B$3:$N$3</c:f>
              <c:numCache>
                <c:formatCode>###0.0</c:formatCode>
                <c:ptCount val="13"/>
                <c:pt idx="0">
                  <c:v>45.984598459845984</c:v>
                </c:pt>
                <c:pt idx="1">
                  <c:v>53.353057199211044</c:v>
                </c:pt>
                <c:pt idx="2">
                  <c:v>46.85462842242503</c:v>
                </c:pt>
                <c:pt idx="3">
                  <c:v>44.807121661721069</c:v>
                </c:pt>
                <c:pt idx="4">
                  <c:v>62.8686327077748</c:v>
                </c:pt>
                <c:pt idx="5">
                  <c:v>43.991712707182323</c:v>
                </c:pt>
                <c:pt idx="6">
                  <c:v>51.376146788990823</c:v>
                </c:pt>
                <c:pt idx="7">
                  <c:v>36.956521739130437</c:v>
                </c:pt>
                <c:pt idx="8">
                  <c:v>48.03986710963455</c:v>
                </c:pt>
                <c:pt idx="9">
                  <c:v>47.399952072849267</c:v>
                </c:pt>
                <c:pt idx="10">
                  <c:v>47.199579279516172</c:v>
                </c:pt>
                <c:pt idx="11">
                  <c:v>53.683536194746956</c:v>
                </c:pt>
                <c:pt idx="12">
                  <c:v>54.176072234762977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47F-4CD8-B5F0-F36AB1C7FF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rgbClr val="0B58A5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8C7-4CFC-82FE-874BC4D85ECA}"/>
              </c:ext>
            </c:extLst>
          </c:dPt>
          <c:dPt>
            <c:idx val="1"/>
            <c:bubble3D val="0"/>
            <c:spPr>
              <a:solidFill>
                <a:srgbClr val="AFDDFF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28C7-4CFC-82FE-874BC4D85ECA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28C7-4CFC-82FE-874BC4D85ECA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28C7-4CFC-82FE-874BC4D85ECA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28C7-4CFC-82FE-874BC4D85ECA}"/>
              </c:ext>
            </c:extLst>
          </c:dPt>
          <c:dLbls>
            <c:dLbl>
              <c:idx val="0"/>
              <c:layout/>
              <c:tx>
                <c:rich>
                  <a:bodyPr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379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lang="en-US" altLang="ko-KR" sz="900" b="0" i="0" u="none" strike="noStrike" kern="1200" baseline="0">
                        <a:ln>
                          <a:solidFill>
                            <a:prstClr val="black">
                              <a:lumMod val="65000"/>
                              <a:lumOff val="35000"/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defRPr>
                    </a:pPr>
                    <a:fld id="{6BD45D0F-F0D1-438C-A491-F9A8152C01F4}" type="CATEGORYNAME">
                      <a:rPr lang="ko-KR" altLang="en-US" smtClean="0">
                        <a:solidFill>
                          <a:schemeClr val="bg1"/>
                        </a:solidFill>
                      </a:rPr>
                      <a:pPr marL="0" marR="0" lvl="0" indent="0" algn="ctr" defTabSz="9143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altLang="ko-KR" sz="900" b="0" i="0" u="none" strike="noStrike" kern="1200" baseline="0">
                          <a:ln>
                            <a:solidFill>
                              <a:prstClr val="black">
                                <a:lumMod val="65000"/>
                                <a:lumOff val="35000"/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defRPr>
                      </a:pPr>
                      <a:t>[범주 이름]</a:t>
                    </a:fld>
                    <a:r>
                      <a:rPr lang="ko-KR" altLang="en-US" baseline="0">
                        <a:solidFill>
                          <a:schemeClr val="bg1"/>
                        </a:solidFill>
                      </a:rPr>
                      <a:t> </a:t>
                    </a:r>
                    <a:fld id="{42DBD3E7-1607-46EB-B474-FF00586A8DC8}" type="VALUE">
                      <a:rPr lang="en-US" altLang="ko-KR" baseline="0">
                        <a:solidFill>
                          <a:schemeClr val="bg1"/>
                        </a:solidFill>
                      </a:rPr>
                      <a:pPr marL="0" marR="0" lvl="0" indent="0" algn="ctr" defTabSz="9143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altLang="ko-KR" sz="900" b="0" i="0" u="none" strike="noStrike" kern="1200" baseline="0">
                          <a:ln>
                            <a:solidFill>
                              <a:prstClr val="black">
                                <a:lumMod val="65000"/>
                                <a:lumOff val="35000"/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defRPr>
                      </a:pPr>
                      <a:t>[값]</a:t>
                    </a:fld>
                    <a:endParaRPr lang="ko-KR" altLang="en-US" baseline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8C7-4CFC-82FE-874BC4D85ECA}"/>
                </c:ext>
              </c:extLst>
            </c:dLbl>
            <c:dLbl>
              <c:idx val="1"/>
              <c:layout>
                <c:manualLayout>
                  <c:x val="0"/>
                  <c:y val="2.8589276770087064E-2"/>
                </c:manualLayout>
              </c:layout>
              <c:tx>
                <c:rich>
                  <a:bodyPr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379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lang="en-US" altLang="ko-KR" sz="900" b="0" i="0" u="none" strike="noStrike" kern="1200" baseline="0">
                        <a:ln>
                          <a:solidFill>
                            <a:prstClr val="black">
                              <a:lumMod val="65000"/>
                              <a:lumOff val="35000"/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j-ea"/>
                        <a:cs typeface="+mn-cs"/>
                      </a:defRPr>
                    </a:pPr>
                    <a:fld id="{563F9842-A78A-4FE4-B802-C4E99890242E}" type="CATEGORYNAME">
                      <a:rPr lang="ko-KR" altLang="en-US" smtClean="0">
                        <a:solidFill>
                          <a:schemeClr val="tx1"/>
                        </a:solidFill>
                      </a:rPr>
                      <a:pPr marL="0" marR="0" lvl="0" indent="0" algn="ctr" defTabSz="9143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altLang="ko-KR" sz="900" b="0" i="0" u="none" strike="noStrike" kern="1200" baseline="0">
                          <a:ln>
                            <a:solidFill>
                              <a:prstClr val="black">
                                <a:lumMod val="65000"/>
                                <a:lumOff val="35000"/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defRPr>
                      </a:pPr>
                      <a:t>[범주 이름]</a:t>
                    </a:fld>
                    <a:r>
                      <a:rPr lang="ko-KR" altLang="en-US" baseline="0" dirty="0">
                        <a:solidFill>
                          <a:schemeClr val="tx1"/>
                        </a:solidFill>
                      </a:rPr>
                      <a:t> </a:t>
                    </a:r>
                    <a:fld id="{C2D3A43F-5940-4745-9FC0-A9ED27647155}" type="VALUE">
                      <a:rPr lang="en-US" altLang="ko-KR" baseline="0">
                        <a:solidFill>
                          <a:schemeClr val="tx1"/>
                        </a:solidFill>
                      </a:rPr>
                      <a:pPr marL="0" marR="0" lvl="0" indent="0" algn="ctr" defTabSz="9143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altLang="ko-KR" sz="900" b="0" i="0" u="none" strike="noStrike" kern="1200" baseline="0">
                          <a:ln>
                            <a:solidFill>
                              <a:prstClr val="black">
                                <a:lumMod val="65000"/>
                                <a:lumOff val="35000"/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defRPr>
                      </a:pPr>
                      <a:t>[값]</a:t>
                    </a:fld>
                    <a:endParaRPr lang="ko-KR" altLang="en-US" baseline="0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8C7-4CFC-82FE-874BC4D85E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A안</c:v>
                </c:pt>
                <c:pt idx="1">
                  <c:v>B안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51.3</c:v>
                </c:pt>
                <c:pt idx="1">
                  <c:v>48.7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C7-4CFC-82FE-874BC4D85E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75"/>
        <c:holeSize val="45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rgbClr val="CCECF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Sheet1!$A$2:$A$14</c:f>
              <c:strCache>
                <c:ptCount val="13"/>
                <c:pt idx="0">
                  <c:v>여행정보-여행지(여행지, 음식,숙박) 검색</c:v>
                </c:pt>
                <c:pt idx="1">
                  <c:v>여행정보-축제정보 검색</c:v>
                </c:pt>
                <c:pt idx="2">
                  <c:v>여행정보-지역별 인기정보</c:v>
                </c:pt>
                <c:pt idx="3">
                  <c:v>여행정보-여행상품 검색</c:v>
                </c:pt>
                <c:pt idx="4">
                  <c:v>여행정보-공연/행사정보 검색</c:v>
                </c:pt>
                <c:pt idx="5">
                  <c:v>여행정보-테마(사업)별 정보</c:v>
                </c:pt>
                <c:pt idx="6">
                  <c:v>여행정보-여행기사 검색</c:v>
                </c:pt>
                <c:pt idx="7">
                  <c:v>여행정보-AI콕콕(맞춤형 여행정보 추천 서비스)</c:v>
                </c:pt>
                <c:pt idx="8">
                  <c:v>이벤트</c:v>
                </c:pt>
                <c:pt idx="9">
                  <c:v>여행코스-추천코스, AI콕콕 플래너</c:v>
                </c:pt>
                <c:pt idx="10">
                  <c:v>가볼래-터(여행구독 서비스)</c:v>
                </c:pt>
                <c:pt idx="11">
                  <c:v>디지털관광주민증</c:v>
                </c:pt>
                <c:pt idx="12">
                  <c:v>배지콕콕</c:v>
                </c:pt>
              </c:strCache>
            </c:strRef>
          </c:cat>
          <c:val>
            <c:numRef>
              <c:f>Sheet1!$B$2:$B$14</c:f>
              <c:numCache>
                <c:formatCode>###0.0</c:formatCode>
                <c:ptCount val="13"/>
                <c:pt idx="0">
                  <c:v>41.034103410341032</c:v>
                </c:pt>
                <c:pt idx="1">
                  <c:v>31.4998166483315</c:v>
                </c:pt>
                <c:pt idx="2">
                  <c:v>31.206453978731208</c:v>
                </c:pt>
                <c:pt idx="3">
                  <c:v>15.328199486615329</c:v>
                </c:pt>
                <c:pt idx="4">
                  <c:v>20.352035203520352</c:v>
                </c:pt>
                <c:pt idx="5">
                  <c:v>17.931793179317932</c:v>
                </c:pt>
                <c:pt idx="6">
                  <c:v>16.391639163916391</c:v>
                </c:pt>
                <c:pt idx="7">
                  <c:v>21.708837550421709</c:v>
                </c:pt>
                <c:pt idx="8">
                  <c:v>19.91199119911991</c:v>
                </c:pt>
                <c:pt idx="9">
                  <c:v>16.134946828016133</c:v>
                </c:pt>
                <c:pt idx="10">
                  <c:v>14.484781811514484</c:v>
                </c:pt>
                <c:pt idx="11">
                  <c:v>23.102310231023104</c:v>
                </c:pt>
                <c:pt idx="12">
                  <c:v>7.6274294096076272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7C-4323-AAD2-7FECAC73A1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16129348585070213"/>
          <c:w val="0.99279852661485901"/>
          <c:h val="0.81492550435386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0"/>
              <c:layout>
                <c:manualLayout>
                  <c:x val="0"/>
                  <c:y val="0.1559410368767391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B5D4-44C6-A83B-133E7EEE3620}"/>
                </c:ext>
              </c:extLst>
            </c:dLbl>
            <c:dLbl>
              <c:idx val="1"/>
              <c:layout>
                <c:manualLayout>
                  <c:x val="0"/>
                  <c:y val="0.1470765950139848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B5D4-44C6-A83B-133E7EEE3620}"/>
                </c:ext>
              </c:extLst>
            </c:dLbl>
            <c:dLbl>
              <c:idx val="2"/>
              <c:layout>
                <c:manualLayout>
                  <c:x val="-2.6676104845047998E-17"/>
                  <c:y val="0.1496364917846927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B5D4-44C6-A83B-133E7EEE3620}"/>
                </c:ext>
              </c:extLst>
            </c:dLbl>
            <c:dLbl>
              <c:idx val="3"/>
              <c:layout>
                <c:manualLayout>
                  <c:x val="0"/>
                  <c:y val="0.1429626548205880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B5D4-44C6-A83B-133E7EEE3620}"/>
                </c:ext>
              </c:extLst>
            </c:dLbl>
            <c:dLbl>
              <c:idx val="7"/>
              <c:layout>
                <c:manualLayout>
                  <c:x val="0"/>
                  <c:y val="0.158114398575136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B5D4-44C6-A83B-133E7EEE3620}"/>
                </c:ext>
              </c:extLst>
            </c:dLbl>
            <c:dLbl>
              <c:idx val="8"/>
              <c:layout>
                <c:manualLayout>
                  <c:x val="-1.0720899094938593E-16"/>
                  <c:y val="0.155872782542409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B5D4-44C6-A83B-133E7EEE3620}"/>
                </c:ext>
              </c:extLst>
            </c:dLbl>
            <c:dLbl>
              <c:idx val="9"/>
              <c:layout>
                <c:manualLayout>
                  <c:x val="-1.1185550423300048E-16"/>
                  <c:y val="0.1508025632017175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B5D4-44C6-A83B-133E7EEE3620}"/>
                </c:ext>
              </c:extLst>
            </c:dLbl>
            <c:dLbl>
              <c:idx val="10"/>
              <c:layout>
                <c:manualLayout>
                  <c:x val="0"/>
                  <c:y val="0.1479739598937531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B5D4-44C6-A83B-133E7EEE3620}"/>
                </c:ext>
              </c:extLst>
            </c:dLbl>
            <c:dLbl>
              <c:idx val="11"/>
              <c:layout>
                <c:manualLayout>
                  <c:x val="-1.1185550423300048E-16"/>
                  <c:y val="0.154830287393855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B5D4-44C6-A83B-133E7EEE3620}"/>
                </c:ext>
              </c:extLst>
            </c:dLbl>
            <c:dLbl>
              <c:idx val="12"/>
              <c:layout>
                <c:manualLayout>
                  <c:x val="-1.1185550423300048E-16"/>
                  <c:y val="0.1100051514060752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5D4-44C6-A83B-133E7EEE36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Sheet1!$A$2:$A$14</c:f>
              <c:strCache>
                <c:ptCount val="13"/>
                <c:pt idx="0">
                  <c:v>여행지 검색</c:v>
                </c:pt>
                <c:pt idx="1">
                  <c:v>축제정보 검색</c:v>
                </c:pt>
                <c:pt idx="2">
                  <c:v>지역별 인기정보</c:v>
                </c:pt>
                <c:pt idx="3">
                  <c:v>여행상품 검색 </c:v>
                </c:pt>
                <c:pt idx="4">
                  <c:v>공연/행사 정보 검색</c:v>
                </c:pt>
                <c:pt idx="5">
                  <c:v>테마별 정보</c:v>
                </c:pt>
                <c:pt idx="6">
                  <c:v>여행기사 검색</c:v>
                </c:pt>
                <c:pt idx="7">
                  <c:v>AI콕콕</c:v>
                </c:pt>
                <c:pt idx="8">
                  <c:v>이벤트</c:v>
                </c:pt>
                <c:pt idx="9">
                  <c:v>추천코스, AI콕콕 플래너</c:v>
                </c:pt>
                <c:pt idx="10">
                  <c:v>가볼래-터</c:v>
                </c:pt>
                <c:pt idx="11">
                  <c:v>디지털관광주민증</c:v>
                </c:pt>
                <c:pt idx="12">
                  <c:v>배지콕콕</c:v>
                </c:pt>
              </c:strCache>
            </c:strRef>
          </c:cat>
          <c:val>
            <c:numRef>
              <c:f>Sheet1!$B$2:$B$14</c:f>
              <c:numCache>
                <c:formatCode>###0.0</c:formatCode>
                <c:ptCount val="13"/>
                <c:pt idx="0">
                  <c:v>16.611661166116612</c:v>
                </c:pt>
                <c:pt idx="1">
                  <c:v>11.697836450311698</c:v>
                </c:pt>
                <c:pt idx="2">
                  <c:v>10.927759442610927</c:v>
                </c:pt>
                <c:pt idx="3">
                  <c:v>8.3608360836083602</c:v>
                </c:pt>
                <c:pt idx="4">
                  <c:v>7.1873854052071877</c:v>
                </c:pt>
                <c:pt idx="5">
                  <c:v>7.0773744041070774</c:v>
                </c:pt>
                <c:pt idx="6">
                  <c:v>7.0040337367070045</c:v>
                </c:pt>
                <c:pt idx="7">
                  <c:v>6.4173083975064174</c:v>
                </c:pt>
                <c:pt idx="8">
                  <c:v>6.307297396406307</c:v>
                </c:pt>
                <c:pt idx="9">
                  <c:v>5.6105610561056105</c:v>
                </c:pt>
                <c:pt idx="10">
                  <c:v>5.0238357169050234</c:v>
                </c:pt>
                <c:pt idx="11">
                  <c:v>4.9871653832049869</c:v>
                </c:pt>
                <c:pt idx="12">
                  <c:v>2.786945361202787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D4-44C6-A83B-133E7EEE3620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4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2018130116995749"/>
          <c:y val="0.15833209397831527"/>
          <c:w val="0.19126803762227204"/>
          <c:h val="0.14417614503830506"/>
        </c:manualLayout>
      </c:layout>
      <c:overlay val="0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chemeClr val="bg1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  <c:pt idx="6">
                  <c:v>디지털관광주민증 혜택 활용*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34.838820892949492</c:v>
                </c:pt>
                <c:pt idx="1">
                  <c:v>34.183761420444753</c:v>
                </c:pt>
                <c:pt idx="2">
                  <c:v>34.356145492156521</c:v>
                </c:pt>
                <c:pt idx="3">
                  <c:v>31.132563351146356</c:v>
                </c:pt>
                <c:pt idx="4">
                  <c:v>21.496293742458196</c:v>
                </c:pt>
                <c:pt idx="5">
                  <c:v>23.892432339251855</c:v>
                </c:pt>
                <c:pt idx="6">
                  <c:v>11.291156697121187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A9-4E1C-8630-BF3B08EE6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  <c:pt idx="6">
                  <c:v>디지털관광주민증 혜택 활용*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38.540520718738541</c:v>
                </c:pt>
                <c:pt idx="1">
                  <c:v>31.756508984231758</c:v>
                </c:pt>
                <c:pt idx="2">
                  <c:v>29.006233956729005</c:v>
                </c:pt>
                <c:pt idx="3">
                  <c:v>25.375870920425378</c:v>
                </c:pt>
                <c:pt idx="4">
                  <c:v>23.982398239823983</c:v>
                </c:pt>
                <c:pt idx="5">
                  <c:v>23.028969563623029</c:v>
                </c:pt>
                <c:pt idx="6">
                  <c:v>17.27172717271727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A9-4E1C-8630-BF3B08EE6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16129348585070213"/>
          <c:w val="0.99279852661485901"/>
          <c:h val="0.81492550435386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6"/>
              <c:layout>
                <c:manualLayout>
                  <c:x val="0"/>
                  <c:y val="0.112315775651361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AB3D-4734-BF57-399F93429F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  <c:pt idx="6">
                  <c:v>디지털관광주민증 혜택 활용*</c:v>
                </c:pt>
              </c:strCache>
            </c:strRef>
          </c:cat>
          <c:val>
            <c:numRef>
              <c:f>Sheet1!$B$2:$B$8</c:f>
              <c:numCache>
                <c:formatCode>###0.0</c:formatCode>
                <c:ptCount val="7"/>
                <c:pt idx="0">
                  <c:v>17.203930356835027</c:v>
                </c:pt>
                <c:pt idx="1">
                  <c:v>17.600413721772107</c:v>
                </c:pt>
                <c:pt idx="2">
                  <c:v>20.35855886916049</c:v>
                </c:pt>
                <c:pt idx="3">
                  <c:v>16.548870884330288</c:v>
                </c:pt>
                <c:pt idx="4">
                  <c:v>10.739527667643509</c:v>
                </c:pt>
                <c:pt idx="5">
                  <c:v>12.377176348905362</c:v>
                </c:pt>
                <c:pt idx="6">
                  <c:v>5.0163764868126188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3D-4734-BF57-399F93429F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7"/>
              <c:layout>
                <c:manualLayout>
                  <c:x val="-3.1203029251936774E-2"/>
                  <c:y val="1.722498716466815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B3D-4734-BF57-399F93429F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  <c:pt idx="6">
                  <c:v>디지털관광주민증 혜택 활용*</c:v>
                </c:pt>
              </c:strCache>
            </c:strRef>
          </c:cat>
          <c:val>
            <c:numRef>
              <c:f>Sheet1!$C$2:$C$8</c:f>
              <c:numCache>
                <c:formatCode>###0.0</c:formatCode>
                <c:ptCount val="7"/>
                <c:pt idx="0">
                  <c:v>21.012101210121013</c:v>
                </c:pt>
                <c:pt idx="1">
                  <c:v>15.988265493215989</c:v>
                </c:pt>
                <c:pt idx="2">
                  <c:v>15.401540154015402</c:v>
                </c:pt>
                <c:pt idx="3">
                  <c:v>13.678034470113678</c:v>
                </c:pt>
                <c:pt idx="4">
                  <c:v>12.247891455812248</c:v>
                </c:pt>
                <c:pt idx="5">
                  <c:v>11.917858452511918</c:v>
                </c:pt>
                <c:pt idx="6">
                  <c:v>9.4242757609094241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B3D-4734-BF57-399F93429F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45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9064753451"/>
          <c:y val="7.2790364818530337E-2"/>
          <c:w val="0.6384871777847978"/>
          <c:h val="0.11752301117685733"/>
        </c:manualLayout>
      </c:layout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거의 매일</c:v>
                </c:pt>
                <c:pt idx="1">
                  <c:v>주 2-3회</c:v>
                </c:pt>
                <c:pt idx="2">
                  <c:v>월 4-5회</c:v>
                </c:pt>
                <c:pt idx="3">
                  <c:v>월 2-3회</c:v>
                </c:pt>
                <c:pt idx="4">
                  <c:v>분기 1회</c:v>
                </c:pt>
                <c:pt idx="5">
                  <c:v>거의 이용하지 않음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4.0999999999999996</c:v>
                </c:pt>
                <c:pt idx="1">
                  <c:v>17.899999999999999</c:v>
                </c:pt>
                <c:pt idx="2">
                  <c:v>22</c:v>
                </c:pt>
                <c:pt idx="3">
                  <c:v>32.299999999999997</c:v>
                </c:pt>
                <c:pt idx="4">
                  <c:v>21.4</c:v>
                </c:pt>
                <c:pt idx="5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1F-401C-9266-42A472956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거의 매일</c:v>
                </c:pt>
                <c:pt idx="1">
                  <c:v>주 2-3회</c:v>
                </c:pt>
                <c:pt idx="2">
                  <c:v>월 4-5회</c:v>
                </c:pt>
                <c:pt idx="3">
                  <c:v>월 2-3회</c:v>
                </c:pt>
                <c:pt idx="4">
                  <c:v>분기 1회</c:v>
                </c:pt>
                <c:pt idx="5">
                  <c:v>거의 이용하지 않음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8.4708470847084705</c:v>
                </c:pt>
                <c:pt idx="1">
                  <c:v>19.325265859919327</c:v>
                </c:pt>
                <c:pt idx="2">
                  <c:v>20.718738540520718</c:v>
                </c:pt>
                <c:pt idx="3">
                  <c:v>30.253025302530254</c:v>
                </c:pt>
                <c:pt idx="4">
                  <c:v>19.691969196919693</c:v>
                </c:pt>
                <c:pt idx="5">
                  <c:v>1.5401540154015401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1F-401C-9266-42A472956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65986119485415806"/>
          <c:h val="0.11752301117685733"/>
        </c:manualLayout>
      </c:layout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대한민국 구석구석 SNS</c:v>
                </c:pt>
                <c:pt idx="1">
                  <c:v>지인 추천 및 일반 개인 블로그/SNS</c:v>
                </c:pt>
                <c:pt idx="2">
                  <c:v>포털사이트 대한민국 구석구석 검색</c:v>
                </c:pt>
                <c:pt idx="3">
                  <c:v>온라인 광고/이벤트/홍보</c:v>
                </c:pt>
                <c:pt idx="4">
                  <c:v>포털사이트 노출 콘텐츠 클릭*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40.799999999999997</c:v>
                </c:pt>
                <c:pt idx="1">
                  <c:v>27.9</c:v>
                </c:pt>
                <c:pt idx="2">
                  <c:v>30.6</c:v>
                </c:pt>
                <c:pt idx="3">
                  <c:v>30.9</c:v>
                </c:pt>
                <c:pt idx="4">
                  <c:v>24.3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8-4815-8664-AED7B49B8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대한민국 구석구석 SNS</c:v>
                </c:pt>
                <c:pt idx="1">
                  <c:v>지인 추천 및 일반 개인 블로그/SNS</c:v>
                </c:pt>
                <c:pt idx="2">
                  <c:v>포털사이트 대한민국 구석구석 검색</c:v>
                </c:pt>
                <c:pt idx="3">
                  <c:v>온라인 광고/이벤트/홍보</c:v>
                </c:pt>
                <c:pt idx="4">
                  <c:v>포털사이트 노출 콘텐츠 클릭*</c:v>
                </c:pt>
              </c:strCache>
            </c:strRef>
          </c:cat>
          <c:val>
            <c:numRef>
              <c:f>Sheet1!$C$2:$C$6</c:f>
              <c:numCache>
                <c:formatCode>###0.0</c:formatCode>
                <c:ptCount val="5"/>
                <c:pt idx="0">
                  <c:v>41.474147414741473</c:v>
                </c:pt>
                <c:pt idx="1">
                  <c:v>32.379904657132379</c:v>
                </c:pt>
                <c:pt idx="2">
                  <c:v>29.482948294829484</c:v>
                </c:pt>
                <c:pt idx="3">
                  <c:v>26.549321598826548</c:v>
                </c:pt>
                <c:pt idx="4">
                  <c:v>22.992299229922992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28-4815-8664-AED7B49B8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65986119485415806"/>
          <c:h val="0.11752301117685733"/>
        </c:manualLayout>
      </c:layout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</c:strCache>
            </c:strRef>
          </c:cat>
          <c:val>
            <c:numRef>
              <c:f>Sheet1!$B$2:$B$7</c:f>
              <c:numCache>
                <c:formatCode>###0.0</c:formatCode>
                <c:ptCount val="6"/>
                <c:pt idx="0">
                  <c:v>44.1</c:v>
                </c:pt>
                <c:pt idx="1">
                  <c:v>38.4</c:v>
                </c:pt>
                <c:pt idx="2">
                  <c:v>33.799999999999997</c:v>
                </c:pt>
                <c:pt idx="3">
                  <c:v>31</c:v>
                </c:pt>
                <c:pt idx="4">
                  <c:v>21.6</c:v>
                </c:pt>
                <c:pt idx="5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B1-4CDE-982F-EB4A006865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시기/목적에 맞는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이벤트 참여</c:v>
                </c:pt>
                <c:pt idx="4">
                  <c:v>사용자 맞춤형 여행 정보 제공*</c:v>
                </c:pt>
                <c:pt idx="5">
                  <c:v>최신 관광 트렌드 파악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46.4</c:v>
                </c:pt>
                <c:pt idx="1">
                  <c:v>34.6</c:v>
                </c:pt>
                <c:pt idx="2">
                  <c:v>30.6</c:v>
                </c:pt>
                <c:pt idx="3">
                  <c:v>29.8</c:v>
                </c:pt>
                <c:pt idx="4">
                  <c:v>22.6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B1-4CDE-982F-EB4A006865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16129348585070213"/>
          <c:w val="0.99279852661485901"/>
          <c:h val="0.81492550435386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2023년(9,953)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6"/>
              <c:layout>
                <c:manualLayout>
                  <c:x val="0"/>
                  <c:y val="0.112315775651361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801-4E36-BD4A-CFE36CC328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시기/목적에 맞는 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최신 관광 트렌드 파악</c:v>
                </c:pt>
                <c:pt idx="4">
                  <c:v>사용자 맞춤형 여행 정보 제공</c:v>
                </c:pt>
                <c:pt idx="5">
                  <c:v>이벤트 참여</c:v>
                </c:pt>
              </c:strCache>
            </c:strRef>
          </c:cat>
          <c:val>
            <c:numRef>
              <c:f>Sheet1!$B$2:$B$7</c:f>
              <c:numCache>
                <c:formatCode>###0.0</c:formatCode>
                <c:ptCount val="6"/>
                <c:pt idx="0">
                  <c:v>22.7</c:v>
                </c:pt>
                <c:pt idx="1">
                  <c:v>20</c:v>
                </c:pt>
                <c:pt idx="2">
                  <c:v>20</c:v>
                </c:pt>
                <c:pt idx="3">
                  <c:v>16.399999999999999</c:v>
                </c:pt>
                <c:pt idx="4">
                  <c:v>10.6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01-4E36-BD4A-CFE36CC328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2024년(9,247)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7"/>
              <c:layout>
                <c:manualLayout>
                  <c:x val="-3.1203029251936774E-2"/>
                  <c:y val="1.722498716466815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801-4E36-BD4A-CFE36CC328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시기/목적에 맞는  맞춤 추천 정보 보유</c:v>
                </c:pt>
                <c:pt idx="1">
                  <c:v>다량의 관광정보 보유</c:v>
                </c:pt>
                <c:pt idx="2">
                  <c:v>광고無/신뢰도 높은 정보 제공</c:v>
                </c:pt>
                <c:pt idx="3">
                  <c:v>최신 관광 트렌드 파악</c:v>
                </c:pt>
                <c:pt idx="4">
                  <c:v>사용자 맞춤형 여행 정보 제공</c:v>
                </c:pt>
                <c:pt idx="5">
                  <c:v>이벤트 참여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25.5</c:v>
                </c:pt>
                <c:pt idx="1">
                  <c:v>18</c:v>
                </c:pt>
                <c:pt idx="2">
                  <c:v>17.5</c:v>
                </c:pt>
                <c:pt idx="3">
                  <c:v>16.3</c:v>
                </c:pt>
                <c:pt idx="4">
                  <c:v>11.3</c:v>
                </c:pt>
                <c:pt idx="5">
                  <c:v>11.1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01-4E36-BD4A-CFE36CC32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45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9064753451"/>
          <c:y val="7.2790364818530337E-2"/>
          <c:w val="0.6384871777847978"/>
          <c:h val="0.11752301117685733"/>
        </c:manualLayout>
      </c:layout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2023년(9,953)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지인 추천 및 일반 개인 블로그/SNS</c:v>
                </c:pt>
                <c:pt idx="1">
                  <c:v>대한민국 구석구석 다른 SNS</c:v>
                </c:pt>
                <c:pt idx="2">
                  <c:v>대한민국 구석구석 홈페이지를 통해</c:v>
                </c:pt>
                <c:pt idx="3">
                  <c:v>온라인 광고/이벤트/홍보</c:v>
                </c:pt>
                <c:pt idx="4">
                  <c:v>포털사이트 노출 콘텐츠 클릭*</c:v>
                </c:pt>
                <c:pt idx="5">
                  <c:v>포털사이트 대한민국 구석구석 검색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27.1</c:v>
                </c:pt>
                <c:pt idx="1">
                  <c:v>31</c:v>
                </c:pt>
                <c:pt idx="2">
                  <c:v>24.7</c:v>
                </c:pt>
                <c:pt idx="3">
                  <c:v>25.2</c:v>
                </c:pt>
                <c:pt idx="4">
                  <c:v>28.3</c:v>
                </c:pt>
                <c:pt idx="5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17-4FCF-9228-B969CF4897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2024년(9,247)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지인 추천 및 일반 개인 블로그/SNS</c:v>
                </c:pt>
                <c:pt idx="1">
                  <c:v>대한민국 구석구석 다른 SNS</c:v>
                </c:pt>
                <c:pt idx="2">
                  <c:v>대한민국 구석구석 홈페이지를 통해</c:v>
                </c:pt>
                <c:pt idx="3">
                  <c:v>온라인 광고/이벤트/홍보</c:v>
                </c:pt>
                <c:pt idx="4">
                  <c:v>포털사이트 노출 콘텐츠 클릭*</c:v>
                </c:pt>
                <c:pt idx="5">
                  <c:v>포털사이트 대한민국 구석구석 검색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30.5</c:v>
                </c:pt>
                <c:pt idx="1">
                  <c:v>27.7</c:v>
                </c:pt>
                <c:pt idx="2">
                  <c:v>24.9</c:v>
                </c:pt>
                <c:pt idx="3">
                  <c:v>24.6</c:v>
                </c:pt>
                <c:pt idx="4">
                  <c:v>24.3</c:v>
                </c:pt>
                <c:pt idx="5">
                  <c:v>21.2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17-4FCF-9228-B969CF4897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65986119485415806"/>
          <c:h val="0.11752301117685733"/>
        </c:manualLayout>
      </c:layout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2023년(9,953)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거의 매일</c:v>
                </c:pt>
                <c:pt idx="1">
                  <c:v>주 2-3회</c:v>
                </c:pt>
                <c:pt idx="2">
                  <c:v>월 4-5회</c:v>
                </c:pt>
                <c:pt idx="3">
                  <c:v>월 2-3회</c:v>
                </c:pt>
                <c:pt idx="4">
                  <c:v>분기 1회</c:v>
                </c:pt>
                <c:pt idx="5">
                  <c:v>거의 이용하지 않음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13.4</c:v>
                </c:pt>
                <c:pt idx="1">
                  <c:v>28</c:v>
                </c:pt>
                <c:pt idx="2">
                  <c:v>19.399999999999999</c:v>
                </c:pt>
                <c:pt idx="3">
                  <c:v>24</c:v>
                </c:pt>
                <c:pt idx="4">
                  <c:v>13.6</c:v>
                </c:pt>
                <c:pt idx="5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39-4960-BE91-6482390E02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2024년(9,247)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거의 매일</c:v>
                </c:pt>
                <c:pt idx="1">
                  <c:v>주 2-3회</c:v>
                </c:pt>
                <c:pt idx="2">
                  <c:v>월 4-5회</c:v>
                </c:pt>
                <c:pt idx="3">
                  <c:v>월 2-3회</c:v>
                </c:pt>
                <c:pt idx="4">
                  <c:v>분기 1회</c:v>
                </c:pt>
                <c:pt idx="5">
                  <c:v>거의 이용하지 않음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8.1</c:v>
                </c:pt>
                <c:pt idx="1">
                  <c:v>18.5</c:v>
                </c:pt>
                <c:pt idx="2">
                  <c:v>18.8</c:v>
                </c:pt>
                <c:pt idx="3">
                  <c:v>31.7</c:v>
                </c:pt>
                <c:pt idx="4">
                  <c:v>20</c:v>
                </c:pt>
                <c:pt idx="5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39-4960-BE91-6482390E02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65986119485415806"/>
          <c:h val="0.11752301117685733"/>
        </c:manualLayout>
      </c:layout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2023년(9,953)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테마콘텐츠 제공</c:v>
                </c:pt>
                <c:pt idx="1">
                  <c:v>가보고 싶은 느낌이 드는 고품질 이미지 강화</c:v>
                </c:pt>
                <c:pt idx="2">
                  <c:v>흥미도 높은 동영상 콘텐츠 제공 증대</c:v>
                </c:pt>
                <c:pt idx="3">
                  <c:v>이벤트 횟수 증가</c:v>
                </c:pt>
                <c:pt idx="4">
                  <c:v>일반 이용자 제보 콘텐츠의 활용 범위 확대</c:v>
                </c:pt>
                <c:pt idx="5">
                  <c:v>콘텐츠별 정보성 강화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25.218527077263136</c:v>
                </c:pt>
                <c:pt idx="1">
                  <c:v>15.894705114035968</c:v>
                </c:pt>
                <c:pt idx="2">
                  <c:v>15.9348940018085</c:v>
                </c:pt>
                <c:pt idx="3">
                  <c:v>10.850999698583342</c:v>
                </c:pt>
                <c:pt idx="4">
                  <c:v>12.98101075052748</c:v>
                </c:pt>
                <c:pt idx="5">
                  <c:v>18.185471717070229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39-4960-BE91-6482390E02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2024년(9,247)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테마콘텐츠 제공</c:v>
                </c:pt>
                <c:pt idx="1">
                  <c:v>가보고 싶은 느낌이 드는 고품질 이미지 강화</c:v>
                </c:pt>
                <c:pt idx="2">
                  <c:v>흥미도 높은 동영상 콘텐츠 제공 증대</c:v>
                </c:pt>
                <c:pt idx="3">
                  <c:v>이벤트 횟수 증가</c:v>
                </c:pt>
                <c:pt idx="4">
                  <c:v>일반 이용자 제보 콘텐츠의 활용 범위 확대</c:v>
                </c:pt>
                <c:pt idx="5">
                  <c:v>콘텐츠별 정보성 강화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21.325835406077648</c:v>
                </c:pt>
                <c:pt idx="1">
                  <c:v>21.293392451605925</c:v>
                </c:pt>
                <c:pt idx="2">
                  <c:v>16.394506326376121</c:v>
                </c:pt>
                <c:pt idx="3">
                  <c:v>13.91802746836812</c:v>
                </c:pt>
                <c:pt idx="4">
                  <c:v>13.539526332864712</c:v>
                </c:pt>
                <c:pt idx="5">
                  <c:v>12.858224288958581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39-4960-BE91-6482390E02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6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65986119485415806"/>
          <c:h val="0.11752301117685733"/>
        </c:manualLayout>
      </c:layout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2023년(15,754)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Sheet1!$A$2:$A$9</c:f>
              <c:strCache>
                <c:ptCount val="4"/>
                <c:pt idx="0">
                  <c:v>정보 신뢰성</c:v>
                </c:pt>
                <c:pt idx="1">
                  <c:v>정보 유용성</c:v>
                </c:pt>
                <c:pt idx="2">
                  <c:v>정보 다양성</c:v>
                </c:pt>
                <c:pt idx="3">
                  <c:v>정보 최신화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84.8</c:v>
                </c:pt>
                <c:pt idx="1">
                  <c:v>83.7</c:v>
                </c:pt>
                <c:pt idx="2">
                  <c:v>84.9</c:v>
                </c:pt>
                <c:pt idx="3">
                  <c:v>85</c:v>
                </c:pt>
                <c:pt idx="4">
                  <c:v>86.7</c:v>
                </c:pt>
                <c:pt idx="5">
                  <c:v>85.6</c:v>
                </c:pt>
                <c:pt idx="6">
                  <c:v>83.6</c:v>
                </c:pt>
                <c:pt idx="7">
                  <c:v>81.900000000000006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7F-4ABB-B161-1387C2924D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2024년(11,974)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Sheet1!$A$2:$A$9</c:f>
              <c:strCache>
                <c:ptCount val="4"/>
                <c:pt idx="0">
                  <c:v>정보 신뢰성</c:v>
                </c:pt>
                <c:pt idx="1">
                  <c:v>정보 유용성</c:v>
                </c:pt>
                <c:pt idx="2">
                  <c:v>정보 다양성</c:v>
                </c:pt>
                <c:pt idx="3">
                  <c:v>정보 최신화</c:v>
                </c:pt>
              </c:strCache>
            </c:strRef>
          </c:cat>
          <c:val>
            <c:numRef>
              <c:f>Sheet1!$C$2:$C$9</c:f>
              <c:numCache>
                <c:formatCode>0.0</c:formatCode>
                <c:ptCount val="8"/>
                <c:pt idx="0">
                  <c:v>85.3</c:v>
                </c:pt>
                <c:pt idx="1">
                  <c:v>84.1</c:v>
                </c:pt>
                <c:pt idx="2">
                  <c:v>85.4</c:v>
                </c:pt>
                <c:pt idx="3">
                  <c:v>85.4</c:v>
                </c:pt>
                <c:pt idx="4">
                  <c:v>87.2</c:v>
                </c:pt>
                <c:pt idx="5">
                  <c:v>85.5</c:v>
                </c:pt>
                <c:pt idx="6">
                  <c:v>84</c:v>
                </c:pt>
                <c:pt idx="7">
                  <c:v>82.3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7F-4ABB-B161-1387C2924D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00"/>
          <c:min val="65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22559715721962212"/>
          <c:y val="3.5271203155818547E-2"/>
          <c:w val="0.34577522494839186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0218902018698E-3"/>
          <c:y val="3.5005478851632695E-2"/>
          <c:w val="0.9927989781097981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2023년(15,754)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0"/>
              <c:layout>
                <c:manualLayout>
                  <c:x val="4.9167157518789224E-7"/>
                  <c:y val="1.39165570896339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48654542405896"/>
                      <c:h val="0.1294214332675870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F217-4787-8108-560D9E72263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0.0</c:formatCode>
                <c:ptCount val="1"/>
                <c:pt idx="0">
                  <c:v>81.400000000000006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17-4787-8108-560D9E7226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2024년(11,974)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0"/>
              <c:layout>
                <c:manualLayout>
                  <c:x val="4.9167157524513039E-7"/>
                  <c:y val="-6.9581415735262206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975925792992493"/>
                      <c:h val="0.1015888669734823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217-4787-8108-560D9E72263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0.0</c:formatCode>
                <c:ptCount val="1"/>
                <c:pt idx="0">
                  <c:v>81.7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17-4787-8108-560D9E72263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3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0218902018698E-3"/>
          <c:y val="3.5005478851632695E-2"/>
          <c:w val="0.99279897810979811"/>
          <c:h val="0.446886170477380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2023년(11,540)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0"/>
              <c:layout>
                <c:manualLayout>
                  <c:x val="4.9167157518789224E-7"/>
                  <c:y val="1.39165570896339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48654542405896"/>
                      <c:h val="0.1294214332675870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2DE-4FCC-A4AB-821D94C7D124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0.0</c:formatCode>
                <c:ptCount val="1"/>
              </c:numCache>
            </c:numRef>
          </c:cat>
          <c:val>
            <c:numRef>
              <c:f>Sheet1!$B$2</c:f>
              <c:numCache>
                <c:formatCode>0.0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E2DE-4FCC-A4AB-821D94C7D1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2024년(8,863)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0"/>
              <c:layout>
                <c:manualLayout>
                  <c:x val="4.9167157524513039E-7"/>
                  <c:y val="-6.9581415735262206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975925792992493"/>
                      <c:h val="0.1015888669734823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2DE-4FCC-A4AB-821D94C7D124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</c:f>
              <c:numCache>
                <c:formatCode>0.0</c:formatCode>
                <c:ptCount val="1"/>
              </c:numCache>
            </c:numRef>
          </c:cat>
          <c:val>
            <c:numRef>
              <c:f>Sheet1!$C$2</c:f>
              <c:numCache>
                <c:formatCode>0.0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3-E2DE-4FCC-A4AB-821D94C7D1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3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l"/>
      <c:layout>
        <c:manualLayout>
          <c:xMode val="edge"/>
          <c:yMode val="edge"/>
          <c:x val="3.5246007418313213E-2"/>
          <c:y val="0.26778489431708757"/>
          <c:w val="0.96475405578234463"/>
          <c:h val="0.5556369486218238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29880690470899007"/>
          <c:w val="0.9815238919616095"/>
          <c:h val="0.68292571605853458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Sheet1!$A$4</c:f>
              <c:strCache>
                <c:ptCount val="1"/>
                <c:pt idx="0">
                  <c:v>불만족(BOT3)</c:v>
                </c:pt>
              </c:strCache>
            </c:strRef>
          </c:tx>
          <c:spPr>
            <a:solidFill>
              <a:srgbClr val="FFC5C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729-4275-996A-05F7A6E0373F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Sheet1!$B$4:$I$4</c:f>
              <c:numCache>
                <c:formatCode>###0.0</c:formatCode>
                <c:ptCount val="7"/>
                <c:pt idx="0">
                  <c:v>4.2904290429042904</c:v>
                </c:pt>
                <c:pt idx="1">
                  <c:v>6.0872753942060873</c:v>
                </c:pt>
                <c:pt idx="2">
                  <c:v>3.3736707004033737</c:v>
                </c:pt>
                <c:pt idx="3">
                  <c:v>1.5401540154015401</c:v>
                </c:pt>
                <c:pt idx="4">
                  <c:v>2.09020902090209</c:v>
                </c:pt>
                <c:pt idx="5">
                  <c:v>2.09020902090209</c:v>
                </c:pt>
                <c:pt idx="6">
                  <c:v>2.0168683535020167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5729-4275-996A-05F7A6E0373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Sheet1!$B$3:$I$3</c:f>
              <c:numCache>
                <c:formatCode>###0.0</c:formatCode>
                <c:ptCount val="7"/>
                <c:pt idx="0">
                  <c:v>2.126879354602127</c:v>
                </c:pt>
                <c:pt idx="1">
                  <c:v>3.2269893656032269</c:v>
                </c:pt>
                <c:pt idx="2">
                  <c:v>5.8672533920058676</c:v>
                </c:pt>
                <c:pt idx="3">
                  <c:v>7.0040337367070045</c:v>
                </c:pt>
                <c:pt idx="4">
                  <c:v>15.364869820315365</c:v>
                </c:pt>
                <c:pt idx="5">
                  <c:v>16.685001833516687</c:v>
                </c:pt>
                <c:pt idx="6">
                  <c:v>9.2775944261092782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5729-4275-996A-05F7A6E0373F}"/>
            </c:ext>
          </c:extLst>
        </c:ser>
        <c:ser>
          <c:idx val="0"/>
          <c:order val="2"/>
          <c:tx>
            <c:strRef>
              <c:f>Sheet1!$A$2</c:f>
              <c:strCache>
                <c:ptCount val="1"/>
                <c:pt idx="0">
                  <c:v>만족(TOP3)</c:v>
                </c:pt>
              </c:strCache>
            </c:strRef>
          </c:tx>
          <c:spPr>
            <a:solidFill>
              <a:srgbClr val="AFDDFF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729-4275-996A-05F7A6E0373F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5729-4275-996A-05F7A6E0373F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Sheet1!$B$2:$I$2</c:f>
              <c:numCache>
                <c:formatCode>###0.0</c:formatCode>
                <c:ptCount val="7"/>
                <c:pt idx="0">
                  <c:v>93.582691602493583</c:v>
                </c:pt>
                <c:pt idx="1">
                  <c:v>90.685735240190681</c:v>
                </c:pt>
                <c:pt idx="2">
                  <c:v>90.759075907590756</c:v>
                </c:pt>
                <c:pt idx="3">
                  <c:v>91.455812247891458</c:v>
                </c:pt>
                <c:pt idx="4">
                  <c:v>82.544921158782543</c:v>
                </c:pt>
                <c:pt idx="5">
                  <c:v>81.224789145581227</c:v>
                </c:pt>
                <c:pt idx="6">
                  <c:v>88.705537220388706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5729-4275-996A-05F7A6E037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20561323384934016"/>
          <c:w val="0.99279852661485901"/>
          <c:h val="0.770606197392528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최신 정보 다양화</c:v>
                </c:pt>
                <c:pt idx="1">
                  <c:v>검색 기능 개선</c:v>
                </c:pt>
                <c:pt idx="2">
                  <c:v>여행 취향을 반영한 맞춤형 추천*</c:v>
                </c:pt>
                <c:pt idx="3">
                  <c:v>주제별 특화된 정보 제공</c:v>
                </c:pt>
                <c:pt idx="4">
                  <c:v>사이트 디자인 및 메뉴 구성</c:v>
                </c:pt>
              </c:strCache>
            </c:strRef>
          </c:cat>
          <c:val>
            <c:numRef>
              <c:f>Sheet1!$B$2:$B$6</c:f>
              <c:numCache>
                <c:formatCode>###0.0</c:formatCode>
                <c:ptCount val="5"/>
                <c:pt idx="0">
                  <c:v>45.7</c:v>
                </c:pt>
                <c:pt idx="1">
                  <c:v>37.799999999999997</c:v>
                </c:pt>
                <c:pt idx="2">
                  <c:v>34</c:v>
                </c:pt>
                <c:pt idx="3">
                  <c:v>37.799999999999997</c:v>
                </c:pt>
                <c:pt idx="4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3F-4109-A2BC-F5EC0CD073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최신 정보 다양화</c:v>
                </c:pt>
                <c:pt idx="1">
                  <c:v>검색 기능 개선</c:v>
                </c:pt>
                <c:pt idx="2">
                  <c:v>여행 취향을 반영한 맞춤형 추천*</c:v>
                </c:pt>
                <c:pt idx="3">
                  <c:v>주제별 특화된 정보 제공</c:v>
                </c:pt>
                <c:pt idx="4">
                  <c:v>사이트 디자인 및 메뉴 구성</c:v>
                </c:pt>
              </c:strCache>
            </c:strRef>
          </c:cat>
          <c:val>
            <c:numRef>
              <c:f>Sheet1!$C$2:$C$6</c:f>
              <c:numCache>
                <c:formatCode>###0.0</c:formatCode>
                <c:ptCount val="5"/>
                <c:pt idx="0">
                  <c:v>46.681334800146679</c:v>
                </c:pt>
                <c:pt idx="1">
                  <c:v>42.134213421342132</c:v>
                </c:pt>
                <c:pt idx="2">
                  <c:v>37.110377704437113</c:v>
                </c:pt>
                <c:pt idx="3">
                  <c:v>34.800146681334802</c:v>
                </c:pt>
                <c:pt idx="4">
                  <c:v>22.662266226622663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3F-4109-A2BC-F5EC0CD073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418899653941E-3"/>
          <c:y val="0.22870651015985985"/>
          <c:w val="0.99279852661485901"/>
          <c:h val="0.741624423241194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2023년(5,801)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6"/>
              <c:layout>
                <c:manualLayout>
                  <c:x val="0"/>
                  <c:y val="0.112315775651361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FE4-4413-8E70-B340CFFBCC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최신 정보 다양화</c:v>
                </c:pt>
                <c:pt idx="1">
                  <c:v>검색 기능 개선</c:v>
                </c:pt>
                <c:pt idx="2">
                  <c:v>여행 취향을 반영한 맞춤형 추천*</c:v>
                </c:pt>
                <c:pt idx="3">
                  <c:v>주제별 특화된 정보 제공</c:v>
                </c:pt>
                <c:pt idx="4">
                  <c:v>사이트 디자인 및 메뉴 구성</c:v>
                </c:pt>
              </c:strCache>
            </c:strRef>
          </c:cat>
          <c:val>
            <c:numRef>
              <c:f>Sheet1!$B$2:$B$6</c:f>
              <c:numCache>
                <c:formatCode>###0.0</c:formatCode>
                <c:ptCount val="5"/>
                <c:pt idx="0">
                  <c:v>27</c:v>
                </c:pt>
                <c:pt idx="1">
                  <c:v>21.4</c:v>
                </c:pt>
                <c:pt idx="2">
                  <c:v>19</c:v>
                </c:pt>
                <c:pt idx="3">
                  <c:v>19.3</c:v>
                </c:pt>
                <c:pt idx="4">
                  <c:v>12.1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E4-4413-8E70-B340CFFBCC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2024년(2,727)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7"/>
              <c:layout>
                <c:manualLayout>
                  <c:x val="-3.1203029251936774E-2"/>
                  <c:y val="1.722498716466815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900"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E4-4413-8E70-B340CFFBCC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최신 정보 다양화</c:v>
                </c:pt>
                <c:pt idx="1">
                  <c:v>검색 기능 개선</c:v>
                </c:pt>
                <c:pt idx="2">
                  <c:v>여행 취향을 반영한 맞춤형 추천*</c:v>
                </c:pt>
                <c:pt idx="3">
                  <c:v>주제별 특화된 정보 제공</c:v>
                </c:pt>
                <c:pt idx="4">
                  <c:v>사이트 디자인 및 메뉴 구성</c:v>
                </c:pt>
              </c:strCache>
            </c:strRef>
          </c:cat>
          <c:val>
            <c:numRef>
              <c:f>Sheet1!$C$2:$C$6</c:f>
              <c:numCache>
                <c:formatCode>###0.0</c:formatCode>
                <c:ptCount val="5"/>
                <c:pt idx="0">
                  <c:v>27.832783278327831</c:v>
                </c:pt>
                <c:pt idx="1">
                  <c:v>22.405573890722405</c:v>
                </c:pt>
                <c:pt idx="2">
                  <c:v>20.535386872020535</c:v>
                </c:pt>
                <c:pt idx="3">
                  <c:v>16.354968830216354</c:v>
                </c:pt>
                <c:pt idx="4">
                  <c:v>11.807847451411808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E4-4413-8E70-B340CFFBC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45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52556008706460711"/>
          <c:y val="2.1354921777839715E-2"/>
          <c:w val="0.45709291426037019"/>
          <c:h val="0.11752301117685733"/>
        </c:manualLayout>
      </c:layout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rgbClr val="0B58A5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1AD-4DDC-8650-66446EB2B165}"/>
              </c:ext>
            </c:extLst>
          </c:dPt>
          <c:dPt>
            <c:idx val="1"/>
            <c:bubble3D val="0"/>
            <c:spPr>
              <a:solidFill>
                <a:srgbClr val="AFDDFF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1AD-4DDC-8650-66446EB2B165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1AD-4DDC-8650-66446EB2B165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1AD-4DDC-8650-66446EB2B165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1AD-4DDC-8650-66446EB2B165}"/>
              </c:ext>
            </c:extLst>
          </c:dPt>
          <c:dLbls>
            <c:dLbl>
              <c:idx val="0"/>
              <c:layout/>
              <c:tx>
                <c:rich>
                  <a:bodyPr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379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lang="en-US" altLang="ko-KR" sz="900" b="0" i="0" u="none" strike="noStrike" kern="1200" baseline="0">
                        <a:ln>
                          <a:solidFill>
                            <a:prstClr val="black">
                              <a:lumMod val="65000"/>
                              <a:lumOff val="35000"/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defRPr>
                    </a:pPr>
                    <a:fld id="{6BD45D0F-F0D1-438C-A491-F9A8152C01F4}" type="CATEGORYNAME">
                      <a:rPr lang="ko-KR" altLang="en-US" smtClean="0">
                        <a:solidFill>
                          <a:schemeClr val="bg1"/>
                        </a:solidFill>
                      </a:rPr>
                      <a:pPr marL="0" marR="0" lvl="0" indent="0" algn="ctr" defTabSz="9143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altLang="ko-KR" sz="900" b="0" i="0" u="none" strike="noStrike" kern="1200" baseline="0">
                          <a:ln>
                            <a:solidFill>
                              <a:prstClr val="black">
                                <a:lumMod val="65000"/>
                                <a:lumOff val="35000"/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defRPr>
                      </a:pPr>
                      <a:t>[범주 이름]</a:t>
                    </a:fld>
                    <a:r>
                      <a:rPr lang="ko-KR" altLang="en-US" baseline="0">
                        <a:solidFill>
                          <a:schemeClr val="bg1"/>
                        </a:solidFill>
                      </a:rPr>
                      <a:t> </a:t>
                    </a:r>
                    <a:fld id="{42DBD3E7-1607-46EB-B474-FF00586A8DC8}" type="VALUE">
                      <a:rPr lang="en-US" altLang="ko-KR" baseline="0">
                        <a:solidFill>
                          <a:schemeClr val="bg1"/>
                        </a:solidFill>
                      </a:rPr>
                      <a:pPr marL="0" marR="0" lvl="0" indent="0" algn="ctr" defTabSz="9143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altLang="ko-KR" sz="900" b="0" i="0" u="none" strike="noStrike" kern="1200" baseline="0">
                          <a:ln>
                            <a:solidFill>
                              <a:prstClr val="black">
                                <a:lumMod val="65000"/>
                                <a:lumOff val="35000"/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defRPr>
                      </a:pPr>
                      <a:t>[값]</a:t>
                    </a:fld>
                    <a:endParaRPr lang="ko-KR" altLang="en-US" baseline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1AD-4DDC-8650-66446EB2B165}"/>
                </c:ext>
              </c:extLst>
            </c:dLbl>
            <c:dLbl>
              <c:idx val="1"/>
              <c:layout>
                <c:manualLayout>
                  <c:x val="0"/>
                  <c:y val="2.8589276770087064E-2"/>
                </c:manualLayout>
              </c:layout>
              <c:tx>
                <c:rich>
                  <a:bodyPr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379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lang="en-US" altLang="ko-KR" sz="900" b="0" i="0" u="none" strike="noStrike" kern="1200" baseline="0">
                        <a:ln>
                          <a:solidFill>
                            <a:prstClr val="black">
                              <a:lumMod val="65000"/>
                              <a:lumOff val="35000"/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j-ea"/>
                        <a:cs typeface="+mn-cs"/>
                      </a:defRPr>
                    </a:pPr>
                    <a:fld id="{563F9842-A78A-4FE4-B802-C4E99890242E}" type="CATEGORYNAME">
                      <a:rPr lang="ko-KR" altLang="en-US" smtClean="0">
                        <a:solidFill>
                          <a:schemeClr val="tx1"/>
                        </a:solidFill>
                      </a:rPr>
                      <a:pPr marL="0" marR="0" lvl="0" indent="0" algn="ctr" defTabSz="9143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altLang="ko-KR" sz="900" b="0" i="0" u="none" strike="noStrike" kern="1200" baseline="0">
                          <a:ln>
                            <a:solidFill>
                              <a:prstClr val="black">
                                <a:lumMod val="65000"/>
                                <a:lumOff val="35000"/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defRPr>
                      </a:pPr>
                      <a:t>[범주 이름]</a:t>
                    </a:fld>
                    <a:r>
                      <a:rPr lang="ko-KR" altLang="en-US" baseline="0" dirty="0">
                        <a:solidFill>
                          <a:schemeClr val="tx1"/>
                        </a:solidFill>
                      </a:rPr>
                      <a:t> </a:t>
                    </a:r>
                    <a:fld id="{C2D3A43F-5940-4745-9FC0-A9ED27647155}" type="VALUE">
                      <a:rPr lang="en-US" altLang="ko-KR" baseline="0">
                        <a:solidFill>
                          <a:schemeClr val="tx1"/>
                        </a:solidFill>
                      </a:rPr>
                      <a:pPr marL="0" marR="0" lvl="0" indent="0" algn="ctr" defTabSz="9143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altLang="ko-KR" sz="900" b="0" i="0" u="none" strike="noStrike" kern="1200" baseline="0">
                          <a:ln>
                            <a:solidFill>
                              <a:prstClr val="black">
                                <a:lumMod val="65000"/>
                                <a:lumOff val="35000"/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defRPr>
                      </a:pPr>
                      <a:t>[값]</a:t>
                    </a:fld>
                    <a:endParaRPr lang="ko-KR" altLang="en-US" baseline="0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1AD-4DDC-8650-66446EB2B1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A안</c:v>
                </c:pt>
                <c:pt idx="1">
                  <c:v>B안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51.3</c:v>
                </c:pt>
                <c:pt idx="1">
                  <c:v>48.7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1AD-4DDC-8650-66446EB2B1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75"/>
        <c:holeSize val="45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1F95-43A7-BCAD-AEB184DD9C53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1F95-43A7-BCAD-AEB184DD9C53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1F95-43A7-BCAD-AEB184DD9C53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1F95-43A7-BCAD-AEB184DD9C53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1F95-43A7-BCAD-AEB184DD9C53}"/>
              </c:ext>
            </c:extLst>
          </c:dPt>
          <c:dLbls>
            <c:dLbl>
              <c:idx val="0"/>
              <c:layout>
                <c:manualLayout>
                  <c:x val="1.620366087906774E-2"/>
                  <c:y val="-8.66304724563704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F95-43A7-BCAD-AEB184DD9C53}"/>
                </c:ext>
              </c:extLst>
            </c:dLbl>
            <c:dLbl>
              <c:idx val="1"/>
              <c:layout>
                <c:manualLayout>
                  <c:x val="-1.620366087906773E-2"/>
                  <c:y val="2.64593102824709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F95-43A7-BCAD-AEB184DD9C5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1F95-43A7-BCAD-AEB184DD9C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긍정</c:v>
                </c:pt>
                <c:pt idx="1">
                  <c:v>보통</c:v>
                </c:pt>
                <c:pt idx="2">
                  <c:v>부정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89</c:v>
                </c:pt>
                <c:pt idx="1">
                  <c:v>9.8000000000000007</c:v>
                </c:pt>
                <c:pt idx="2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F95-43A7-BCAD-AEB184DD9C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10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1F95-43A7-BCAD-AEB184DD9C53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1F95-43A7-BCAD-AEB184DD9C53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1F95-43A7-BCAD-AEB184DD9C53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1F95-43A7-BCAD-AEB184DD9C53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1F95-43A7-BCAD-AEB184DD9C53}"/>
              </c:ext>
            </c:extLst>
          </c:dPt>
          <c:dLbls>
            <c:dLbl>
              <c:idx val="0"/>
              <c:layout>
                <c:manualLayout>
                  <c:x val="0"/>
                  <c:y val="-2.57360614909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F95-43A7-BCAD-AEB184DD9C53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F95-43A7-BCAD-AEB184DD9C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추천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49.8</c:v>
                </c:pt>
                <c:pt idx="1">
                  <c:v>50.2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F95-43A7-BCAD-AEB184DD9C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60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7861-4D82-BB01-B4A9FB43850C}"/>
              </c:ext>
            </c:extLst>
          </c:dPt>
          <c:dPt>
            <c:idx val="1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7861-4D82-BB01-B4A9FB43850C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7861-4D82-BB01-B4A9FB43850C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7861-4D82-BB01-B4A9FB43850C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7861-4D82-BB01-B4A9FB43850C}"/>
              </c:ext>
            </c:extLst>
          </c:dPt>
          <c:dLbls>
            <c:dLbl>
              <c:idx val="0"/>
              <c:layout>
                <c:manualLayout>
                  <c:x val="3.8557057619323484E-3"/>
                  <c:y val="-3.86039610877991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861-4D82-BB01-B4A9FB43850C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861-4D82-BB01-B4A9FB43850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1-4D82-BB01-B4A9FB4385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만족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64.5</c:v>
                </c:pt>
                <c:pt idx="1">
                  <c:v>35.5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61-4D82-BB01-B4A9FB438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35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7861-4D82-BB01-B4A9FB43850C}"/>
              </c:ext>
            </c:extLst>
          </c:dPt>
          <c:dPt>
            <c:idx val="1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7861-4D82-BB01-B4A9FB43850C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7861-4D82-BB01-B4A9FB43850C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7861-4D82-BB01-B4A9FB43850C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7861-4D82-BB01-B4A9FB43850C}"/>
              </c:ext>
            </c:extLst>
          </c:dPt>
          <c:dLbls>
            <c:dLbl>
              <c:idx val="0"/>
              <c:layout>
                <c:manualLayout>
                  <c:x val="3.8557057619323484E-3"/>
                  <c:y val="1.35913232532046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861-4D82-BB01-B4A9FB43850C}"/>
                </c:ext>
              </c:extLst>
            </c:dLbl>
            <c:dLbl>
              <c:idx val="1"/>
              <c:layout>
                <c:manualLayout>
                  <c:x val="-9.2832401378503176E-18"/>
                  <c:y val="-3.44351881153666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861-4D82-BB01-B4A9FB43850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1-4D82-BB01-B4A9FB4385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만족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61.9</c:v>
                </c:pt>
                <c:pt idx="1">
                  <c:v>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61-4D82-BB01-B4A9FB438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36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2023년(2,888)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지속 이용 의향</c:v>
                </c:pt>
                <c:pt idx="1">
                  <c:v>콘텐츠 유용성</c:v>
                </c:pt>
                <c:pt idx="2">
                  <c:v>전반적 만족도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87.5</c:v>
                </c:pt>
                <c:pt idx="1">
                  <c:v>86</c:v>
                </c:pt>
                <c:pt idx="2">
                  <c:v>85.2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91-4844-81A4-AFD65CF437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2024년(1,758)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지속 이용 의향</c:v>
                </c:pt>
                <c:pt idx="1">
                  <c:v>콘텐츠 유용성</c:v>
                </c:pt>
                <c:pt idx="2">
                  <c:v>전반적 만족도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87.6</c:v>
                </c:pt>
                <c:pt idx="1">
                  <c:v>86.4</c:v>
                </c:pt>
                <c:pt idx="2">
                  <c:v>85.6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91-4844-81A4-AFD65CF437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00"/>
          <c:min val="75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"/>
          <c:y val="2.1354920008766164E-2"/>
          <c:w val="1"/>
          <c:h val="0.11752301117685733"/>
        </c:manualLayout>
      </c:layout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7861-4D82-BB01-B4A9FB43850C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7861-4D82-BB01-B4A9FB43850C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7861-4D82-BB01-B4A9FB43850C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7861-4D82-BB01-B4A9FB43850C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7861-4D82-BB01-B4A9FB43850C}"/>
              </c:ext>
            </c:extLst>
          </c:dPt>
          <c:dLbls>
            <c:dLbl>
              <c:idx val="0"/>
              <c:layout>
                <c:manualLayout>
                  <c:x val="3.8557057619323484E-3"/>
                  <c:y val="-3.86039610877991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861-4D82-BB01-B4A9FB43850C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861-4D82-BB01-B4A9FB43850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1-4D82-BB01-B4A9FB4385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91.204437400950866</c:v>
                </c:pt>
                <c:pt idx="1">
                  <c:v>7.1315372424722661</c:v>
                </c:pt>
                <c:pt idx="2">
                  <c:v>1.6640253565768621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61-4D82-BB01-B4A9FB438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97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1F95-43A7-BCAD-AEB184DD9C53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1F95-43A7-BCAD-AEB184DD9C53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1F95-43A7-BCAD-AEB184DD9C53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1F95-43A7-BCAD-AEB184DD9C53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1F95-43A7-BCAD-AEB184DD9C53}"/>
              </c:ext>
            </c:extLst>
          </c:dPt>
          <c:dLbls>
            <c:dLbl>
              <c:idx val="0"/>
              <c:layout>
                <c:manualLayout>
                  <c:x val="0"/>
                  <c:y val="-8.33754594486487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F95-43A7-BCAD-AEB184DD9C53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F95-43A7-BCAD-AEB184DD9C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추천</c:v>
                </c:pt>
                <c:pt idx="1">
                  <c:v>보통</c:v>
                </c:pt>
              </c:strCache>
            </c:strRef>
          </c:cat>
          <c:val>
            <c:numRef>
              <c:f>Sheet1!$B$2:$B$3</c:f>
              <c:numCache>
                <c:formatCode>###0.0</c:formatCode>
                <c:ptCount val="2"/>
                <c:pt idx="0">
                  <c:v>61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F95-43A7-BCAD-AEB184DD9C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40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8E76-47DE-AFD0-215E161ADCEF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8E76-47DE-AFD0-215E161ADCEF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8E76-47DE-AFD0-215E161ADCEF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8E76-47DE-AFD0-215E161ADCEF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8E76-47DE-AFD0-215E161ADCEF}"/>
              </c:ext>
            </c:extLst>
          </c:dPt>
          <c:dLbls>
            <c:dLbl>
              <c:idx val="0"/>
              <c:layout>
                <c:manualLayout>
                  <c:x val="3.8557057619323484E-3"/>
                  <c:y val="-3.86039610877991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8E76-47DE-AFD0-215E161ADCEF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8E76-47DE-AFD0-215E161ADCE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E76-47DE-AFD0-215E161ADC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91.553133514986371</c:v>
                </c:pt>
                <c:pt idx="1">
                  <c:v>6.7211625794732059</c:v>
                </c:pt>
                <c:pt idx="2">
                  <c:v>1.7257039055404177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E76-47DE-AFD0-215E161ADC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97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3628433826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2024년(1,014)</c:v>
                </c:pt>
              </c:strCache>
            </c:strRef>
          </c:tx>
          <c:spPr>
            <a:solidFill>
              <a:srgbClr val="AFDD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추천해주는 여행정보가 유용해서</c:v>
                </c:pt>
                <c:pt idx="1">
                  <c:v>나의 성향, 관심사에 맞는 여행지를 추천해줘서</c:v>
                </c:pt>
                <c:pt idx="2">
                  <c:v>추천을 통해 새로운 여행지를 알게 되어서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40.433925049309664</c:v>
                </c:pt>
                <c:pt idx="1">
                  <c:v>39.842209072978306</c:v>
                </c:pt>
                <c:pt idx="2">
                  <c:v>19.625246548323471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2E-4C94-A8B1-E8D3359C24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3175">
            <a:solidFill>
              <a:schemeClr val="bg1">
                <a:lumMod val="75000"/>
              </a:schemeClr>
            </a:solidFill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3628433826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2024년(1,014)</c:v>
                </c:pt>
              </c:strCache>
            </c:strRef>
          </c:tx>
          <c:spPr>
            <a:solidFill>
              <a:srgbClr val="FFC5C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추천해주는 여행정보가 유용해서</c:v>
                </c:pt>
                <c:pt idx="1">
                  <c:v>나의 성향, 관심사에 맞는 여행지를 추천해줘서</c:v>
                </c:pt>
                <c:pt idx="2">
                  <c:v>추천을 통해 새로운 여행지를 알게 되어서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42.10526315789474</c:v>
                </c:pt>
                <c:pt idx="1">
                  <c:v>36.842105263157897</c:v>
                </c:pt>
                <c:pt idx="2">
                  <c:v>15.789473684210526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2E-4C94-A8B1-E8D3359C24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3175">
            <a:solidFill>
              <a:schemeClr val="bg1">
                <a:lumMod val="75000"/>
              </a:schemeClr>
            </a:solidFill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3628433826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2024년(1,014)</c:v>
                </c:pt>
              </c:strCache>
            </c:strRef>
          </c:tx>
          <c:spPr>
            <a:solidFill>
              <a:srgbClr val="AFDD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추천해주는 여행정보가 유용해서</c:v>
                </c:pt>
                <c:pt idx="1">
                  <c:v>나의 성향, 관심사에 맞는 여행지를 추천해줘서</c:v>
                </c:pt>
                <c:pt idx="2">
                  <c:v>추천을 통해 새로운 여행지를 알게 되어서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49.404761904761905</c:v>
                </c:pt>
                <c:pt idx="1">
                  <c:v>35.11904761904762</c:v>
                </c:pt>
                <c:pt idx="2">
                  <c:v>15.376984126984127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2E-4C94-A8B1-E8D3359C24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3175">
            <a:solidFill>
              <a:schemeClr val="bg1">
                <a:lumMod val="75000"/>
              </a:schemeClr>
            </a:solidFill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3628433826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2024년(1,014)</c:v>
                </c:pt>
              </c:strCache>
            </c:strRef>
          </c:tx>
          <c:spPr>
            <a:solidFill>
              <a:srgbClr val="FFC5C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추천해주는 여행정보가 유용해서</c:v>
                </c:pt>
                <c:pt idx="1">
                  <c:v>나의 성향, 관심사에 맞는 여행지를 추천해줘서</c:v>
                </c:pt>
                <c:pt idx="2">
                  <c:v>추천을 통해 새로운 여행지를 알게 되어서</c:v>
                </c:pt>
              </c:strCache>
            </c:strRef>
          </c:cat>
          <c:val>
            <c:numRef>
              <c:f>Sheet1!$C$2:$C$4</c:f>
              <c:numCache>
                <c:formatCode>###0.0</c:formatCode>
                <c:ptCount val="3"/>
                <c:pt idx="0">
                  <c:v>42.10526315789474</c:v>
                </c:pt>
                <c:pt idx="1">
                  <c:v>31.578947368421051</c:v>
                </c:pt>
                <c:pt idx="2">
                  <c:v>21.05263157894737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2E-4C94-A8B1-E8D3359C24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3175">
            <a:solidFill>
              <a:schemeClr val="bg1">
                <a:lumMod val="75000"/>
              </a:schemeClr>
            </a:solidFill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ACDD-418A-BF1D-2FEFBA322B02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ACDD-418A-BF1D-2FEFBA322B02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ACDD-418A-BF1D-2FEFBA322B02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ACDD-418A-BF1D-2FEFBA322B02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ACDD-418A-BF1D-2FEFBA322B02}"/>
              </c:ext>
            </c:extLst>
          </c:dPt>
          <c:dLbls>
            <c:dLbl>
              <c:idx val="0"/>
              <c:layout>
                <c:manualLayout>
                  <c:x val="2.4305810288303805E-2"/>
                  <c:y val="-0.1431757063145334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359291938295944"/>
                      <c:h val="0.1293573130251208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CDD-418A-BF1D-2FEFBA322B02}"/>
                </c:ext>
              </c:extLst>
            </c:dLbl>
            <c:dLbl>
              <c:idx val="1"/>
              <c:layout>
                <c:manualLayout>
                  <c:x val="-1.620366087906773E-2"/>
                  <c:y val="2.64593102824709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CDD-418A-BF1D-2FEFBA322B02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ACDD-418A-BF1D-2FEFBA322B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긍정</c:v>
                </c:pt>
                <c:pt idx="1">
                  <c:v>보통</c:v>
                </c:pt>
                <c:pt idx="2">
                  <c:v>부정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91.198704103671702</c:v>
                </c:pt>
                <c:pt idx="1">
                  <c:v>8.315334773218142</c:v>
                </c:pt>
                <c:pt idx="2">
                  <c:v>0.48596112311015116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CDD-418A-BF1D-2FEFBA322B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10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rgbClr val="2E8ED5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8E76-47DE-AFD0-215E161ADCEF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8E76-47DE-AFD0-215E161ADCEF}"/>
              </c:ext>
            </c:extLst>
          </c:dPt>
          <c:dPt>
            <c:idx val="2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8E76-47DE-AFD0-215E161ADCEF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8E76-47DE-AFD0-215E161ADCEF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8E76-47DE-AFD0-215E161ADCEF}"/>
              </c:ext>
            </c:extLst>
          </c:dPt>
          <c:dLbls>
            <c:dLbl>
              <c:idx val="0"/>
              <c:layout>
                <c:manualLayout>
                  <c:x val="3.8557057619324972E-3"/>
                  <c:y val="-5.60023892014669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8E76-47DE-AFD0-215E161ADCEF}"/>
                </c:ext>
              </c:extLst>
            </c:dLbl>
            <c:dLbl>
              <c:idx val="1"/>
              <c:layout>
                <c:manualLayout>
                  <c:x val="0"/>
                  <c:y val="-2.57360614909488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8E76-47DE-AFD0-215E161ADCE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E76-47DE-AFD0-215E161ADC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만족</c:v>
                </c:pt>
                <c:pt idx="1">
                  <c:v>보통</c:v>
                </c:pt>
                <c:pt idx="2">
                  <c:v>불만족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90.293855743544071</c:v>
                </c:pt>
                <c:pt idx="1">
                  <c:v>8.0142475512021374</c:v>
                </c:pt>
                <c:pt idx="2">
                  <c:v>1.6918967052537845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E76-47DE-AFD0-215E161ADC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97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236729965096404E-2"/>
          <c:y val="4.3065421574871948E-2"/>
          <c:w val="0.85588954793388172"/>
          <c:h val="0.921046727112734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 1</c:v>
                </c:pt>
              </c:strCache>
            </c:strRef>
          </c:tx>
          <c:spPr>
            <a:solidFill>
              <a:srgbClr val="5BB6EF"/>
            </a:solidFill>
            <a:ln w="6350">
              <a:solidFill>
                <a:schemeClr val="bg1"/>
              </a:solidFill>
              <a:miter lim="800000"/>
            </a:ln>
          </c:spPr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1-ACDD-418A-BF1D-2FEFBA322B02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3-ACDD-418A-BF1D-2FEFBA322B02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5-ACDD-418A-BF1D-2FEFBA322B02}"/>
              </c:ext>
            </c:extLst>
          </c:dPt>
          <c:dPt>
            <c:idx val="3"/>
            <c:bubble3D val="0"/>
            <c:spPr>
              <a:solidFill>
                <a:srgbClr val="DA86AA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7-ACDD-418A-BF1D-2FEFBA322B02}"/>
              </c:ext>
            </c:extLst>
          </c:dPt>
          <c:dPt>
            <c:idx val="4"/>
            <c:bubble3D val="0"/>
            <c:spPr>
              <a:solidFill>
                <a:srgbClr val="EEC8D8"/>
              </a:solidFill>
              <a:ln w="6350">
                <a:solidFill>
                  <a:schemeClr val="bg1"/>
                </a:solidFill>
                <a:miter lim="800000"/>
              </a:ln>
            </c:spPr>
            <c:extLst>
              <c:ext xmlns:c16="http://schemas.microsoft.com/office/drawing/2014/chart" uri="{C3380CC4-5D6E-409C-BE32-E72D297353CC}">
                <c16:uniqueId val="{00000009-ACDD-418A-BF1D-2FEFBA322B02}"/>
              </c:ext>
            </c:extLst>
          </c:dPt>
          <c:dLbls>
            <c:dLbl>
              <c:idx val="0"/>
              <c:layout>
                <c:manualLayout>
                  <c:x val="2.4305491318601612E-2"/>
                  <c:y val="-0.138825756797374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CDD-418A-BF1D-2FEFBA322B02}"/>
                </c:ext>
              </c:extLst>
            </c:dLbl>
            <c:dLbl>
              <c:idx val="1"/>
              <c:layout>
                <c:manualLayout>
                  <c:x val="-1.620366087906773E-2"/>
                  <c:y val="2.64593102824709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CDD-418A-BF1D-2FEFBA322B02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37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altLang="ko-KR" sz="900" b="0" i="0" u="none" strike="noStrike" kern="1200" baseline="0">
                      <a:ln>
                        <a:solidFill>
                          <a:schemeClr val="tx1">
                            <a:lumMod val="65000"/>
                            <a:lumOff val="35000"/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+mj-lt"/>
                      <a:ea typeface="+mj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ACDD-418A-BF1D-2FEFBA322B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37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altLang="ko-KR" sz="900" b="0" i="0" u="none" strike="noStrike" kern="1200" baseline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+mj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긍정</c:v>
                </c:pt>
                <c:pt idx="1">
                  <c:v>보통</c:v>
                </c:pt>
                <c:pt idx="2">
                  <c:v>부정</c:v>
                </c:pt>
              </c:strCache>
            </c:strRef>
          </c:cat>
          <c:val>
            <c:numRef>
              <c:f>Sheet1!$B$2:$B$4</c:f>
              <c:numCache>
                <c:formatCode>###0.0</c:formatCode>
                <c:ptCount val="3"/>
                <c:pt idx="0">
                  <c:v>91.030684500393392</c:v>
                </c:pt>
                <c:pt idx="1">
                  <c:v>8.4185680566483079</c:v>
                </c:pt>
                <c:pt idx="2">
                  <c:v>0.55074744295830058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CDD-418A-BF1D-2FEFBA322B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10"/>
        <c:holeSize val="60"/>
      </c:doughnutChart>
    </c:plotArea>
    <c:plotVisOnly val="1"/>
    <c:dispBlanksAs val="gap"/>
    <c:showDLblsOverMax val="0"/>
  </c:chart>
  <c:txPr>
    <a:bodyPr/>
    <a:lstStyle/>
    <a:p>
      <a:pPr>
        <a:defRPr sz="800" b="0" baseline="0">
          <a:latin typeface="Bahnschrift Light Condensed" panose="020B0502040204020203" pitchFamily="34" charset="0"/>
        </a:defRPr>
      </a:pPr>
      <a:endParaRPr lang="ko-KR"/>
    </a:p>
  </c:txPr>
  <c:externalData r:id="rId1">
    <c:autoUpdate val="0"/>
  </c:externalData>
  <c:userShapes r:id="rId2"/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68958264065896E-5"/>
          <c:y val="0.2559160756501182"/>
          <c:w val="0.99075557475026876"/>
          <c:h val="0.721428486997635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2020년(n=14,799)</c:v>
                </c:pt>
              </c:strCache>
            </c:strRef>
          </c:tx>
          <c:spPr>
            <a:solidFill>
              <a:srgbClr val="DBEFFB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888-45A2-9151-17121FEF66A7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88-45A2-9151-17121FEF66A7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59" b="0" spc="-1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Sheet1!$B$2:$J$2</c:f>
              <c:numCache>
                <c:formatCode>0.0</c:formatCode>
                <c:ptCount val="9"/>
                <c:pt idx="0">
                  <c:v>82.997885957549343</c:v>
                </c:pt>
                <c:pt idx="1">
                  <c:v>82.357881324030188</c:v>
                </c:pt>
                <c:pt idx="2">
                  <c:v>84.911142644777343</c:v>
                </c:pt>
                <c:pt idx="3">
                  <c:v>0</c:v>
                </c:pt>
                <c:pt idx="4">
                  <c:v>85.397662004194885</c:v>
                </c:pt>
                <c:pt idx="5">
                  <c:v>83.64464780439215</c:v>
                </c:pt>
                <c:pt idx="6">
                  <c:v>81.469790429857866</c:v>
                </c:pt>
                <c:pt idx="7">
                  <c:v>78.982170609984237</c:v>
                </c:pt>
                <c:pt idx="8">
                  <c:v>79.922237551733303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88-45A2-9151-17121FEF66A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2021년(n=15,651)</c:v>
                </c:pt>
              </c:strCache>
            </c:strRef>
          </c:tx>
          <c:spPr>
            <a:solidFill>
              <a:srgbClr val="B6DFF8"/>
            </a:solidFill>
            <a:ln w="6350">
              <a:noFill/>
              <a:prstDash val="sysDash"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Sheet1!$B$3:$J$3</c:f>
              <c:numCache>
                <c:formatCode>0.0</c:formatCode>
                <c:ptCount val="9"/>
                <c:pt idx="0">
                  <c:v>84.196354409125391</c:v>
                </c:pt>
                <c:pt idx="1">
                  <c:v>82.959555299984601</c:v>
                </c:pt>
                <c:pt idx="2">
                  <c:v>86.140547842680746</c:v>
                </c:pt>
                <c:pt idx="3">
                  <c:v>0</c:v>
                </c:pt>
                <c:pt idx="4">
                  <c:v>86.679993062977701</c:v>
                </c:pt>
                <c:pt idx="5">
                  <c:v>84.758618801176937</c:v>
                </c:pt>
                <c:pt idx="6">
                  <c:v>82.640086895410079</c:v>
                </c:pt>
                <c:pt idx="7">
                  <c:v>80.343565449951612</c:v>
                </c:pt>
                <c:pt idx="8">
                  <c:v>80.095837076966333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88-45A2-9151-17121FEF66A7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2022년(n=14,348)</c:v>
                </c:pt>
              </c:strCache>
            </c:strRef>
          </c:tx>
          <c:spPr>
            <a:solidFill>
              <a:srgbClr val="91CCF1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888-45A2-9151-17121FEF66A7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Sheet1!$B$4:$J$4</c:f>
              <c:numCache>
                <c:formatCode>0.0</c:formatCode>
                <c:ptCount val="9"/>
                <c:pt idx="0">
                  <c:v>84.005734995421577</c:v>
                </c:pt>
                <c:pt idx="1">
                  <c:v>82.704408777729128</c:v>
                </c:pt>
                <c:pt idx="2">
                  <c:v>85.632641682267646</c:v>
                </c:pt>
                <c:pt idx="3">
                  <c:v>85.060137799198074</c:v>
                </c:pt>
                <c:pt idx="4">
                  <c:v>86.467003863159803</c:v>
                </c:pt>
                <c:pt idx="5">
                  <c:v>84.711657174720443</c:v>
                </c:pt>
                <c:pt idx="6">
                  <c:v>82.823887848979453</c:v>
                </c:pt>
                <c:pt idx="7">
                  <c:v>80.796726273447291</c:v>
                </c:pt>
                <c:pt idx="8">
                  <c:v>80.863787375412585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888-45A2-9151-17121FEF66A7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2023년(n=15,754)</c:v>
                </c:pt>
              </c:strCache>
            </c:strRef>
          </c:tx>
          <c:spPr>
            <a:solidFill>
              <a:srgbClr val="4CAAE5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Sheet1!$B$5:$J$5</c:f>
              <c:numCache>
                <c:formatCode>0.0</c:formatCode>
                <c:ptCount val="9"/>
                <c:pt idx="0">
                  <c:v>84.770307767646486</c:v>
                </c:pt>
                <c:pt idx="1">
                  <c:v>83.673080759538635</c:v>
                </c:pt>
                <c:pt idx="2">
                  <c:v>84.923556829109543</c:v>
                </c:pt>
                <c:pt idx="3">
                  <c:v>85.036906726641718</c:v>
                </c:pt>
                <c:pt idx="4">
                  <c:v>86.734434792075604</c:v>
                </c:pt>
                <c:pt idx="5">
                  <c:v>85.5537822593854</c:v>
                </c:pt>
                <c:pt idx="6">
                  <c:v>83.624113603805768</c:v>
                </c:pt>
                <c:pt idx="7">
                  <c:v>81.85313480476951</c:v>
                </c:pt>
                <c:pt idx="8">
                  <c:v>81.449616241641138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888-45A2-9151-17121FEF66A7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2024년(n=11,974)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Sheet1!$B$6:$J$6</c:f>
              <c:numCache>
                <c:formatCode>0.0</c:formatCode>
                <c:ptCount val="9"/>
                <c:pt idx="0">
                  <c:v>85.3</c:v>
                </c:pt>
                <c:pt idx="1">
                  <c:v>84.1</c:v>
                </c:pt>
                <c:pt idx="2">
                  <c:v>85.4</c:v>
                </c:pt>
                <c:pt idx="3">
                  <c:v>85.4</c:v>
                </c:pt>
                <c:pt idx="4" formatCode="General">
                  <c:v>87.2</c:v>
                </c:pt>
                <c:pt idx="5" formatCode="General">
                  <c:v>85.5</c:v>
                </c:pt>
                <c:pt idx="6" formatCode="General">
                  <c:v>84</c:v>
                </c:pt>
                <c:pt idx="7" formatCode="General">
                  <c:v>82.3</c:v>
                </c:pt>
                <c:pt idx="8">
                  <c:v>81.7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888-45A2-9151-17121FEF66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5"/>
        <c:axId val="473789528"/>
        <c:axId val="473789136"/>
      </c:barChart>
      <c:catAx>
        <c:axId val="4737895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6350">
            <a:solidFill>
              <a:schemeClr val="bg1">
                <a:lumMod val="75000"/>
              </a:schemeClr>
            </a:solidFill>
          </a:ln>
        </c:spPr>
        <c:crossAx val="473789136"/>
        <c:crosses val="autoZero"/>
        <c:auto val="1"/>
        <c:lblAlgn val="ctr"/>
        <c:lblOffset val="100"/>
        <c:noMultiLvlLbl val="0"/>
      </c:catAx>
      <c:valAx>
        <c:axId val="473789136"/>
        <c:scaling>
          <c:orientation val="minMax"/>
          <c:max val="12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473789528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US" altLang="ko-KR" sz="900" b="0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68958264065896E-5"/>
          <c:y val="0.2559160756501182"/>
          <c:w val="0.99075557475026876"/>
          <c:h val="0.721428486997635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2020년(n=9,581)</c:v>
                </c:pt>
              </c:strCache>
            </c:strRef>
          </c:tx>
          <c:spPr>
            <a:solidFill>
              <a:srgbClr val="DBEFFB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E2A-4282-B23E-7A185CCEBF9C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E2A-4282-B23E-7A185CCEBF9C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Sheet1!$B$2:$J$2</c:f>
              <c:numCache>
                <c:formatCode>0.0</c:formatCode>
                <c:ptCount val="9"/>
                <c:pt idx="0">
                  <c:v>82.609927386044063</c:v>
                </c:pt>
                <c:pt idx="1">
                  <c:v>81.707844394407729</c:v>
                </c:pt>
                <c:pt idx="2">
                  <c:v>83.896700314608012</c:v>
                </c:pt>
                <c:pt idx="3">
                  <c:v>0</c:v>
                </c:pt>
                <c:pt idx="4">
                  <c:v>84.882281897205687</c:v>
                </c:pt>
                <c:pt idx="5">
                  <c:v>83.037857664720548</c:v>
                </c:pt>
                <c:pt idx="6">
                  <c:v>80.905661502673055</c:v>
                </c:pt>
                <c:pt idx="7">
                  <c:v>78.007067559302357</c:v>
                </c:pt>
                <c:pt idx="8">
                  <c:v>80.058747222922818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A-4282-B23E-7A185CCEBF9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2021년(n=6,419)</c:v>
                </c:pt>
              </c:strCache>
            </c:strRef>
          </c:tx>
          <c:spPr>
            <a:solidFill>
              <a:srgbClr val="B6DFF8"/>
            </a:solidFill>
            <a:ln w="6350">
              <a:noFill/>
              <a:prstDash val="sysDash"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Sheet1!$B$3:$J$3</c:f>
              <c:numCache>
                <c:formatCode>0.0</c:formatCode>
                <c:ptCount val="9"/>
                <c:pt idx="0">
                  <c:v>83.088153472945606</c:v>
                </c:pt>
                <c:pt idx="1">
                  <c:v>82.471680056971692</c:v>
                </c:pt>
                <c:pt idx="2">
                  <c:v>85.144548550061359</c:v>
                </c:pt>
                <c:pt idx="3">
                  <c:v>0</c:v>
                </c:pt>
                <c:pt idx="4">
                  <c:v>86.306278236482513</c:v>
                </c:pt>
                <c:pt idx="5">
                  <c:v>83.717980103707688</c:v>
                </c:pt>
                <c:pt idx="6">
                  <c:v>81.232056617627705</c:v>
                </c:pt>
                <c:pt idx="7">
                  <c:v>78.227583290674545</c:v>
                </c:pt>
                <c:pt idx="8">
                  <c:v>79.669730487611872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2A-4282-B23E-7A185CCEBF9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2022년(n=1,940)</c:v>
                </c:pt>
              </c:strCache>
            </c:strRef>
          </c:tx>
          <c:spPr>
            <a:solidFill>
              <a:srgbClr val="91CCF1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5E2A-4282-B23E-7A185CCEBF9C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Sheet1!$B$4:$J$4</c:f>
              <c:numCache>
                <c:formatCode>0.0</c:formatCode>
                <c:ptCount val="9"/>
                <c:pt idx="0">
                  <c:v>83.159057437408393</c:v>
                </c:pt>
                <c:pt idx="1">
                  <c:v>83.070692194403861</c:v>
                </c:pt>
                <c:pt idx="2">
                  <c:v>86.730486008837019</c:v>
                </c:pt>
                <c:pt idx="3">
                  <c:v>86.016200294551439</c:v>
                </c:pt>
                <c:pt idx="4">
                  <c:v>87.150220913108058</c:v>
                </c:pt>
                <c:pt idx="5">
                  <c:v>83.836524300442107</c:v>
                </c:pt>
                <c:pt idx="6">
                  <c:v>81.649484536082781</c:v>
                </c:pt>
                <c:pt idx="7">
                  <c:v>78.740795287187012</c:v>
                </c:pt>
                <c:pt idx="8">
                  <c:v>79.594992636229946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E2A-4282-B23E-7A185CCEBF9C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2023년(n=5,801)</c:v>
                </c:pt>
              </c:strCache>
            </c:strRef>
          </c:tx>
          <c:spPr>
            <a:solidFill>
              <a:srgbClr val="4CAAE5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Sheet1!$B$5:$J$5</c:f>
              <c:numCache>
                <c:formatCode>0.0</c:formatCode>
                <c:ptCount val="9"/>
                <c:pt idx="0">
                  <c:v>83.606274780207059</c:v>
                </c:pt>
                <c:pt idx="1">
                  <c:v>82.47346516610223</c:v>
                </c:pt>
                <c:pt idx="2">
                  <c:v>83.948580294035239</c:v>
                </c:pt>
                <c:pt idx="3">
                  <c:v>84.340138399780457</c:v>
                </c:pt>
                <c:pt idx="4">
                  <c:v>85.911296081953623</c:v>
                </c:pt>
                <c:pt idx="5">
                  <c:v>85.101090944908293</c:v>
                </c:pt>
                <c:pt idx="6">
                  <c:v>83.049720491538025</c:v>
                </c:pt>
                <c:pt idx="7">
                  <c:v>80.175831753143797</c:v>
                </c:pt>
                <c:pt idx="8">
                  <c:v>80.68313344989545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E2A-4282-B23E-7A185CCEBF9C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2024년(n=2,727)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ko-KR" altLang="en-US" sz="1000" b="1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Sheet1!$B$6:$J$6</c:f>
              <c:numCache>
                <c:formatCode>0.0</c:formatCode>
                <c:ptCount val="9"/>
                <c:pt idx="0">
                  <c:v>85.7</c:v>
                </c:pt>
                <c:pt idx="1">
                  <c:v>84.9</c:v>
                </c:pt>
                <c:pt idx="2">
                  <c:v>86.7</c:v>
                </c:pt>
                <c:pt idx="3">
                  <c:v>86.6</c:v>
                </c:pt>
                <c:pt idx="4">
                  <c:v>87.7</c:v>
                </c:pt>
                <c:pt idx="5">
                  <c:v>86.4</c:v>
                </c:pt>
                <c:pt idx="6">
                  <c:v>85</c:v>
                </c:pt>
                <c:pt idx="7">
                  <c:v>82.8</c:v>
                </c:pt>
                <c:pt idx="8">
                  <c:v>83.8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E2A-4282-B23E-7A185CCEBF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5"/>
        <c:axId val="479883976"/>
        <c:axId val="479885152"/>
      </c:barChart>
      <c:catAx>
        <c:axId val="4798839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6350">
            <a:solidFill>
              <a:schemeClr val="bg1">
                <a:lumMod val="75000"/>
              </a:schemeClr>
            </a:solidFill>
          </a:ln>
        </c:spPr>
        <c:crossAx val="479885152"/>
        <c:crosses val="autoZero"/>
        <c:auto val="1"/>
        <c:lblAlgn val="ctr"/>
        <c:lblOffset val="100"/>
        <c:noMultiLvlLbl val="0"/>
      </c:catAx>
      <c:valAx>
        <c:axId val="479885152"/>
        <c:scaling>
          <c:orientation val="minMax"/>
          <c:max val="12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47988397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US" altLang="ko-KR" sz="900" b="0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68958264065896E-5"/>
          <c:y val="0.2559160756501182"/>
          <c:w val="0.99075557475026876"/>
          <c:h val="0.721428486997635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2020년(n=1,293)</c:v>
                </c:pt>
              </c:strCache>
            </c:strRef>
          </c:tx>
          <c:spPr>
            <a:solidFill>
              <a:srgbClr val="DBEFFB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888-45A2-9151-17121FEF66A7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88-45A2-9151-17121FEF66A7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59" b="0" spc="-1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Sheet1!$B$2:$J$2</c:f>
              <c:numCache>
                <c:formatCode>0.0</c:formatCode>
                <c:ptCount val="9"/>
                <c:pt idx="0">
                  <c:v>84.974036018119278</c:v>
                </c:pt>
                <c:pt idx="1">
                  <c:v>86.399292895812252</c:v>
                </c:pt>
                <c:pt idx="2">
                  <c:v>90.807645564025961</c:v>
                </c:pt>
                <c:pt idx="3">
                  <c:v>0</c:v>
                </c:pt>
                <c:pt idx="4">
                  <c:v>87.272124627112774</c:v>
                </c:pt>
                <c:pt idx="5">
                  <c:v>84.841453982984916</c:v>
                </c:pt>
                <c:pt idx="6">
                  <c:v>83.228372555518291</c:v>
                </c:pt>
                <c:pt idx="7">
                  <c:v>82.432880344712785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88-45A2-9151-17121FEF66A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2021년(n=530)</c:v>
                </c:pt>
              </c:strCache>
            </c:strRef>
          </c:tx>
          <c:spPr>
            <a:solidFill>
              <a:srgbClr val="B6DFF8"/>
            </a:solidFill>
            <a:ln w="6350">
              <a:noFill/>
              <a:prstDash val="sysDash"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Sheet1!$B$3:$J$3</c:f>
              <c:numCache>
                <c:formatCode>0.0</c:formatCode>
                <c:ptCount val="9"/>
                <c:pt idx="0">
                  <c:v>85.98382749326133</c:v>
                </c:pt>
                <c:pt idx="1">
                  <c:v>85.202156334231773</c:v>
                </c:pt>
                <c:pt idx="2">
                  <c:v>90.242587601078057</c:v>
                </c:pt>
                <c:pt idx="3">
                  <c:v>0</c:v>
                </c:pt>
                <c:pt idx="4">
                  <c:v>87.439353099730241</c:v>
                </c:pt>
                <c:pt idx="5">
                  <c:v>84.39353099730458</c:v>
                </c:pt>
                <c:pt idx="6">
                  <c:v>83.530997304582186</c:v>
                </c:pt>
                <c:pt idx="7">
                  <c:v>83.42318059299177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88-45A2-9151-17121FEF66A7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2022년(n=2,875)</c:v>
                </c:pt>
              </c:strCache>
            </c:strRef>
          </c:tx>
          <c:spPr>
            <a:solidFill>
              <a:srgbClr val="91CCF1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888-45A2-9151-17121FEF66A7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Sheet1!$B$4:$J$4</c:f>
              <c:numCache>
                <c:formatCode>0.0</c:formatCode>
                <c:ptCount val="9"/>
                <c:pt idx="0">
                  <c:v>84.859627329194339</c:v>
                </c:pt>
                <c:pt idx="1">
                  <c:v>84.412422360250176</c:v>
                </c:pt>
                <c:pt idx="2">
                  <c:v>87.309316770187877</c:v>
                </c:pt>
                <c:pt idx="3">
                  <c:v>86.424844720498569</c:v>
                </c:pt>
                <c:pt idx="4">
                  <c:v>86.72298136646134</c:v>
                </c:pt>
                <c:pt idx="5">
                  <c:v>85.038509316771922</c:v>
                </c:pt>
                <c:pt idx="6">
                  <c:v>83.672049689442886</c:v>
                </c:pt>
                <c:pt idx="7">
                  <c:v>82.886956521741141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888-45A2-9151-17121FEF66A7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2023년(n=1,928)</c:v>
                </c:pt>
              </c:strCache>
            </c:strRef>
          </c:tx>
          <c:spPr>
            <a:solidFill>
              <a:srgbClr val="4CAAE5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Sheet1!$B$5:$J$5</c:f>
              <c:numCache>
                <c:formatCode>0.0</c:formatCode>
                <c:ptCount val="9"/>
                <c:pt idx="0">
                  <c:v>86.670124481328429</c:v>
                </c:pt>
                <c:pt idx="1">
                  <c:v>87.922347362181867</c:v>
                </c:pt>
                <c:pt idx="2">
                  <c:v>88.196502667457693</c:v>
                </c:pt>
                <c:pt idx="3">
                  <c:v>88.189093064612578</c:v>
                </c:pt>
                <c:pt idx="4">
                  <c:v>88.107587433314293</c:v>
                </c:pt>
                <c:pt idx="5">
                  <c:v>86.299644339064074</c:v>
                </c:pt>
                <c:pt idx="6">
                  <c:v>84.180497925311855</c:v>
                </c:pt>
                <c:pt idx="7">
                  <c:v>84.254593953764783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888-45A2-9151-17121FEF66A7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2024년(n=2,028)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Sheet1!$B$6:$J$6</c:f>
              <c:numCache>
                <c:formatCode>0.0</c:formatCode>
                <c:ptCount val="9"/>
                <c:pt idx="0">
                  <c:v>89.7</c:v>
                </c:pt>
                <c:pt idx="1">
                  <c:v>87.2</c:v>
                </c:pt>
                <c:pt idx="2">
                  <c:v>87.5</c:v>
                </c:pt>
                <c:pt idx="3">
                  <c:v>87.6</c:v>
                </c:pt>
                <c:pt idx="4">
                  <c:v>90.1</c:v>
                </c:pt>
                <c:pt idx="5">
                  <c:v>89</c:v>
                </c:pt>
                <c:pt idx="6">
                  <c:v>87.5</c:v>
                </c:pt>
                <c:pt idx="7">
                  <c:v>86.7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888-45A2-9151-17121FEF66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5"/>
        <c:axId val="473789528"/>
        <c:axId val="473789136"/>
      </c:barChart>
      <c:catAx>
        <c:axId val="4737895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6350">
            <a:solidFill>
              <a:schemeClr val="bg1">
                <a:lumMod val="75000"/>
              </a:schemeClr>
            </a:solidFill>
          </a:ln>
        </c:spPr>
        <c:crossAx val="473789136"/>
        <c:crosses val="autoZero"/>
        <c:auto val="1"/>
        <c:lblAlgn val="ctr"/>
        <c:lblOffset val="100"/>
        <c:noMultiLvlLbl val="0"/>
      </c:catAx>
      <c:valAx>
        <c:axId val="473789136"/>
        <c:scaling>
          <c:orientation val="minMax"/>
          <c:max val="12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473789528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US" altLang="ko-KR" sz="900" b="0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68958264065896E-5"/>
          <c:y val="0.2559160756501182"/>
          <c:w val="0.99075557475026876"/>
          <c:h val="0.721428486997635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2020년(n=1,809)</c:v>
                </c:pt>
              </c:strCache>
            </c:strRef>
          </c:tx>
          <c:spPr>
            <a:solidFill>
              <a:srgbClr val="DBEFFB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E2A-4282-B23E-7A185CCEBF9C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E2A-4282-B23E-7A185CCEBF9C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Sheet1!$B$2:$J$2</c:f>
              <c:numCache>
                <c:formatCode>0.0</c:formatCode>
                <c:ptCount val="9"/>
                <c:pt idx="0">
                  <c:v>82.231698649609385</c:v>
                </c:pt>
                <c:pt idx="1">
                  <c:v>81.749980257442985</c:v>
                </c:pt>
                <c:pt idx="2">
                  <c:v>84.75084892995369</c:v>
                </c:pt>
                <c:pt idx="3">
                  <c:v>0</c:v>
                </c:pt>
                <c:pt idx="4">
                  <c:v>84.987759614625759</c:v>
                </c:pt>
                <c:pt idx="5">
                  <c:v>83.218826502408845</c:v>
                </c:pt>
                <c:pt idx="6">
                  <c:v>80.660191107952301</c:v>
                </c:pt>
                <c:pt idx="7">
                  <c:v>78.630656242596416</c:v>
                </c:pt>
                <c:pt idx="8">
                  <c:v>79.199241885808874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A-4282-B23E-7A185CCEBF9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2021년(n=3,121)</c:v>
                </c:pt>
              </c:strCache>
            </c:strRef>
          </c:tx>
          <c:spPr>
            <a:solidFill>
              <a:srgbClr val="B6DFF8"/>
            </a:solidFill>
            <a:ln w="6350">
              <a:noFill/>
              <a:prstDash val="sysDash"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Sheet1!$B$3:$J$3</c:f>
              <c:numCache>
                <c:formatCode>0.0</c:formatCode>
                <c:ptCount val="9"/>
                <c:pt idx="0">
                  <c:v>83.398178239577248</c:v>
                </c:pt>
                <c:pt idx="1">
                  <c:v>82.0844967272415</c:v>
                </c:pt>
                <c:pt idx="2">
                  <c:v>85.435071176822376</c:v>
                </c:pt>
                <c:pt idx="3">
                  <c:v>0</c:v>
                </c:pt>
                <c:pt idx="4">
                  <c:v>85.920263651761658</c:v>
                </c:pt>
                <c:pt idx="5">
                  <c:v>83.755206664532579</c:v>
                </c:pt>
                <c:pt idx="6">
                  <c:v>82.121115027236755</c:v>
                </c:pt>
                <c:pt idx="7">
                  <c:v>80.184922414978942</c:v>
                </c:pt>
                <c:pt idx="8">
                  <c:v>80.972215864880695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2A-4282-B23E-7A185CCEBF9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2022년(n=6,660)</c:v>
                </c:pt>
              </c:strCache>
            </c:strRef>
          </c:tx>
          <c:spPr>
            <a:solidFill>
              <a:srgbClr val="91CCF1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5E2A-4282-B23E-7A185CCEBF9C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Sheet1!$B$4:$J$4</c:f>
              <c:numCache>
                <c:formatCode>0.0</c:formatCode>
                <c:ptCount val="9"/>
                <c:pt idx="0">
                  <c:v>83.359073359070607</c:v>
                </c:pt>
                <c:pt idx="1">
                  <c:v>81.705276705274315</c:v>
                </c:pt>
                <c:pt idx="2">
                  <c:v>84.427284427282061</c:v>
                </c:pt>
                <c:pt idx="3">
                  <c:v>84.103389103386263</c:v>
                </c:pt>
                <c:pt idx="4">
                  <c:v>85.669240669237837</c:v>
                </c:pt>
                <c:pt idx="5">
                  <c:v>84.279279279276764</c:v>
                </c:pt>
                <c:pt idx="6">
                  <c:v>82.145002144999793</c:v>
                </c:pt>
                <c:pt idx="7">
                  <c:v>79.916344916342169</c:v>
                </c:pt>
                <c:pt idx="8">
                  <c:v>81.233376233373463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E2A-4282-B23E-7A185CCEBF9C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2023년(n=5,739)</c:v>
                </c:pt>
              </c:strCache>
            </c:strRef>
          </c:tx>
          <c:spPr>
            <a:solidFill>
              <a:srgbClr val="4CAAE5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Sheet1!$B$5:$J$5</c:f>
              <c:numCache>
                <c:formatCode>0.0</c:formatCode>
                <c:ptCount val="9"/>
                <c:pt idx="0">
                  <c:v>84.636447365143539</c:v>
                </c:pt>
                <c:pt idx="1">
                  <c:v>82.73218330719493</c:v>
                </c:pt>
                <c:pt idx="2">
                  <c:v>83.854827869462397</c:v>
                </c:pt>
                <c:pt idx="3">
                  <c:v>83.927015657279739</c:v>
                </c:pt>
                <c:pt idx="4">
                  <c:v>86.548179125281123</c:v>
                </c:pt>
                <c:pt idx="5">
                  <c:v>85.067084857987183</c:v>
                </c:pt>
                <c:pt idx="6">
                  <c:v>83.431658078807104</c:v>
                </c:pt>
                <c:pt idx="7">
                  <c:v>81.963009981826772</c:v>
                </c:pt>
                <c:pt idx="8">
                  <c:v>82.224379558408103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E2A-4282-B23E-7A185CCEBF9C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2024년(n=6,136)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ko-KR" altLang="en-US" sz="1000" b="1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Sheet1!$B$6:$J$6</c:f>
              <c:numCache>
                <c:formatCode>0.0</c:formatCode>
                <c:ptCount val="9"/>
                <c:pt idx="0">
                  <c:v>83.3</c:v>
                </c:pt>
                <c:pt idx="1">
                  <c:v>82.4</c:v>
                </c:pt>
                <c:pt idx="2">
                  <c:v>83.6</c:v>
                </c:pt>
                <c:pt idx="3">
                  <c:v>83.6</c:v>
                </c:pt>
                <c:pt idx="4">
                  <c:v>85.8</c:v>
                </c:pt>
                <c:pt idx="5">
                  <c:v>83.5</c:v>
                </c:pt>
                <c:pt idx="6">
                  <c:v>82.1</c:v>
                </c:pt>
                <c:pt idx="7">
                  <c:v>80.099999999999994</c:v>
                </c:pt>
                <c:pt idx="8">
                  <c:v>80.7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E2A-4282-B23E-7A185CCEBF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5"/>
        <c:axId val="479883976"/>
        <c:axId val="479885152"/>
      </c:barChart>
      <c:catAx>
        <c:axId val="4798839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6350">
            <a:solidFill>
              <a:schemeClr val="bg1">
                <a:lumMod val="75000"/>
              </a:schemeClr>
            </a:solidFill>
          </a:ln>
        </c:spPr>
        <c:crossAx val="479885152"/>
        <c:crosses val="autoZero"/>
        <c:auto val="1"/>
        <c:lblAlgn val="ctr"/>
        <c:lblOffset val="100"/>
        <c:noMultiLvlLbl val="0"/>
      </c:catAx>
      <c:valAx>
        <c:axId val="479885152"/>
        <c:scaling>
          <c:orientation val="minMax"/>
          <c:max val="12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47988397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US" altLang="ko-KR" sz="900" b="0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68958264065896E-5"/>
          <c:y val="0.2559160756501182"/>
          <c:w val="0.99075557475026876"/>
          <c:h val="0.721428486997635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2020년(n=1,042)</c:v>
                </c:pt>
              </c:strCache>
            </c:strRef>
          </c:tx>
          <c:spPr>
            <a:solidFill>
              <a:srgbClr val="DBEFFB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888-45A2-9151-17121FEF66A7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88-45A2-9151-17121FEF66A7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59" b="0" spc="-1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Sheet1!$B$2:$J$2</c:f>
              <c:numCache>
                <c:formatCode>0.0</c:formatCode>
                <c:ptCount val="9"/>
                <c:pt idx="0">
                  <c:v>82.519879352892389</c:v>
                </c:pt>
                <c:pt idx="1">
                  <c:v>80.463394570879657</c:v>
                </c:pt>
                <c:pt idx="2">
                  <c:v>81.642445845900184</c:v>
                </c:pt>
                <c:pt idx="3">
                  <c:v>0</c:v>
                </c:pt>
                <c:pt idx="4">
                  <c:v>85.069920482588358</c:v>
                </c:pt>
                <c:pt idx="5">
                  <c:v>84.19248697559614</c:v>
                </c:pt>
                <c:pt idx="6">
                  <c:v>82.725527831093629</c:v>
                </c:pt>
                <c:pt idx="7">
                  <c:v>80.559363860706952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88-45A2-9151-17121FEF66A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2021년(n=2,103)</c:v>
                </c:pt>
              </c:strCache>
            </c:strRef>
          </c:tx>
          <c:spPr>
            <a:solidFill>
              <a:srgbClr val="B6DFF8"/>
            </a:solidFill>
            <a:ln w="6350">
              <a:noFill/>
              <a:prstDash val="sysDash"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Sheet1!$B$3:$J$3</c:f>
              <c:numCache>
                <c:formatCode>0.0</c:formatCode>
                <c:ptCount val="9"/>
                <c:pt idx="0">
                  <c:v>85.170844371986604</c:v>
                </c:pt>
                <c:pt idx="1">
                  <c:v>82.997079002786109</c:v>
                </c:pt>
                <c:pt idx="2">
                  <c:v>85.782215882074198</c:v>
                </c:pt>
                <c:pt idx="3">
                  <c:v>0</c:v>
                </c:pt>
                <c:pt idx="4">
                  <c:v>86.64492901297568</c:v>
                </c:pt>
                <c:pt idx="5">
                  <c:v>85.490116160587846</c:v>
                </c:pt>
                <c:pt idx="6">
                  <c:v>83.832620066572531</c:v>
                </c:pt>
                <c:pt idx="7">
                  <c:v>81.944161402079558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88-45A2-9151-17121FEF66A7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2022년(n=1,811)</c:v>
                </c:pt>
              </c:strCache>
            </c:strRef>
          </c:tx>
          <c:spPr>
            <a:solidFill>
              <a:srgbClr val="91CCF1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888-45A2-9151-17121FEF66A7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Sheet1!$B$4:$J$4</c:f>
              <c:numCache>
                <c:formatCode>0.0</c:formatCode>
                <c:ptCount val="9"/>
                <c:pt idx="0">
                  <c:v>83.671215587284337</c:v>
                </c:pt>
                <c:pt idx="1">
                  <c:v>79.845389287686146</c:v>
                </c:pt>
                <c:pt idx="2">
                  <c:v>82.787725802634782</c:v>
                </c:pt>
                <c:pt idx="3">
                  <c:v>82.645736372959135</c:v>
                </c:pt>
                <c:pt idx="4">
                  <c:v>85.485524966474983</c:v>
                </c:pt>
                <c:pt idx="5">
                  <c:v>84.002524256527835</c:v>
                </c:pt>
                <c:pt idx="6">
                  <c:v>83.048039757040556</c:v>
                </c:pt>
                <c:pt idx="7">
                  <c:v>80.326575688254195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888-45A2-9151-17121FEF66A7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2023년(n=1,027)</c:v>
                </c:pt>
              </c:strCache>
            </c:strRef>
          </c:tx>
          <c:spPr>
            <a:solidFill>
              <a:srgbClr val="4CAAE5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Sheet1!$B$5:$J$5</c:f>
              <c:numCache>
                <c:formatCode>0.0</c:formatCode>
                <c:ptCount val="9"/>
                <c:pt idx="0">
                  <c:v>84.684935317846467</c:v>
                </c:pt>
                <c:pt idx="1">
                  <c:v>81.722075392961031</c:v>
                </c:pt>
                <c:pt idx="2">
                  <c:v>83.293921268604549</c:v>
                </c:pt>
                <c:pt idx="3">
                  <c:v>83.752955904854332</c:v>
                </c:pt>
                <c:pt idx="4">
                  <c:v>86.201140631520261</c:v>
                </c:pt>
                <c:pt idx="5">
                  <c:v>85.102239532619052</c:v>
                </c:pt>
                <c:pt idx="6">
                  <c:v>83.808596466824056</c:v>
                </c:pt>
                <c:pt idx="7">
                  <c:v>82.014188343301953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888-45A2-9151-17121FEF66A7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2024년(n=337)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Sheet1!$B$6:$J$6</c:f>
              <c:numCache>
                <c:formatCode>0.0</c:formatCode>
                <c:ptCount val="9"/>
                <c:pt idx="0">
                  <c:v>86.8</c:v>
                </c:pt>
                <c:pt idx="1">
                  <c:v>84.5</c:v>
                </c:pt>
                <c:pt idx="2">
                  <c:v>85.9</c:v>
                </c:pt>
                <c:pt idx="3">
                  <c:v>85.9</c:v>
                </c:pt>
                <c:pt idx="4">
                  <c:v>87.8</c:v>
                </c:pt>
                <c:pt idx="5">
                  <c:v>86.4</c:v>
                </c:pt>
                <c:pt idx="6">
                  <c:v>84.5</c:v>
                </c:pt>
                <c:pt idx="7">
                  <c:v>82.6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888-45A2-9151-17121FEF66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5"/>
        <c:axId val="473789528"/>
        <c:axId val="473789136"/>
      </c:barChart>
      <c:catAx>
        <c:axId val="4737895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6350">
            <a:solidFill>
              <a:schemeClr val="bg1">
                <a:lumMod val="75000"/>
              </a:schemeClr>
            </a:solidFill>
          </a:ln>
        </c:spPr>
        <c:crossAx val="473789136"/>
        <c:crosses val="autoZero"/>
        <c:auto val="1"/>
        <c:lblAlgn val="ctr"/>
        <c:lblOffset val="100"/>
        <c:noMultiLvlLbl val="0"/>
      </c:catAx>
      <c:valAx>
        <c:axId val="473789136"/>
        <c:scaling>
          <c:orientation val="minMax"/>
          <c:max val="12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473789528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US" altLang="ko-KR" sz="900" b="0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68958264065896E-5"/>
          <c:y val="0.2559160756501182"/>
          <c:w val="0.99075557475026876"/>
          <c:h val="0.721428486997635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2020년(n=1,074)</c:v>
                </c:pt>
              </c:strCache>
            </c:strRef>
          </c:tx>
          <c:spPr>
            <a:solidFill>
              <a:srgbClr val="DBEFFB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E2A-4282-B23E-7A185CCEBF9C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E2A-4282-B23E-7A185CCEBF9C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Sheet1!$B$2:$J$2</c:f>
              <c:numCache>
                <c:formatCode>0.0</c:formatCode>
                <c:ptCount val="9"/>
                <c:pt idx="0">
                  <c:v>85.833998403830577</c:v>
                </c:pt>
                <c:pt idx="1">
                  <c:v>86.15323224261742</c:v>
                </c:pt>
                <c:pt idx="2">
                  <c:v>90.303272146847391</c:v>
                </c:pt>
                <c:pt idx="3">
                  <c:v>0</c:v>
                </c:pt>
                <c:pt idx="4">
                  <c:v>88.74700718276128</c:v>
                </c:pt>
                <c:pt idx="5">
                  <c:v>87.802607076350029</c:v>
                </c:pt>
                <c:pt idx="6">
                  <c:v>84.53046022878398</c:v>
                </c:pt>
                <c:pt idx="7">
                  <c:v>82.588454376163611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A-4282-B23E-7A185CCEBF9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2021년(n=3,478)</c:v>
                </c:pt>
              </c:strCache>
            </c:strRef>
          </c:tx>
          <c:spPr>
            <a:solidFill>
              <a:srgbClr val="B6DFF8"/>
            </a:solidFill>
            <a:ln w="6350">
              <a:noFill/>
              <a:prstDash val="sysDash"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Sheet1!$B$3:$J$3</c:f>
              <c:numCache>
                <c:formatCode>0.0</c:formatCode>
                <c:ptCount val="9"/>
                <c:pt idx="0">
                  <c:v>86.096278649470946</c:v>
                </c:pt>
                <c:pt idx="1">
                  <c:v>84.280785344616518</c:v>
                </c:pt>
                <c:pt idx="2">
                  <c:v>88.203400969359137</c:v>
                </c:pt>
                <c:pt idx="3">
                  <c:v>0</c:v>
                </c:pt>
                <c:pt idx="4">
                  <c:v>87.956953914401311</c:v>
                </c:pt>
                <c:pt idx="5">
                  <c:v>87.192968044032554</c:v>
                </c:pt>
                <c:pt idx="6">
                  <c:v>84.847613571018954</c:v>
                </c:pt>
                <c:pt idx="7">
                  <c:v>82.954078698761009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2A-4282-B23E-7A185CCEBF9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2022년(n=1,062)</c:v>
                </c:pt>
              </c:strCache>
            </c:strRef>
          </c:tx>
          <c:spPr>
            <a:solidFill>
              <a:srgbClr val="91CCF1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5E2A-4282-B23E-7A185CCEBF9C}"/>
              </c:ext>
            </c:extLst>
          </c:dPt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Sheet1!$B$4:$J$4</c:f>
              <c:numCache>
                <c:formatCode>0.0</c:formatCode>
                <c:ptCount val="9"/>
                <c:pt idx="0">
                  <c:v>87.86655905299952</c:v>
                </c:pt>
                <c:pt idx="1">
                  <c:v>88.552596179714513</c:v>
                </c:pt>
                <c:pt idx="2">
                  <c:v>91.498520312079563</c:v>
                </c:pt>
                <c:pt idx="3">
                  <c:v>89.736346516007515</c:v>
                </c:pt>
                <c:pt idx="4">
                  <c:v>91.202582728006433</c:v>
                </c:pt>
                <c:pt idx="5">
                  <c:v>89.346246973365481</c:v>
                </c:pt>
                <c:pt idx="6">
                  <c:v>86.548291633037095</c:v>
                </c:pt>
                <c:pt idx="7">
                  <c:v>85.216572504707898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E2A-4282-B23E-7A185CCEBF9C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2023년(n=1,259)</c:v>
                </c:pt>
              </c:strCache>
            </c:strRef>
          </c:tx>
          <c:spPr>
            <a:solidFill>
              <a:srgbClr val="4CAAE5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lnSpc>
                    <a:spcPct val="80000"/>
                  </a:lnSpc>
                  <a:defRPr lang="en-US" altLang="ko-KR" sz="859" b="0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Sheet1!$B$5:$J$5</c:f>
              <c:numCache>
                <c:formatCode>0.0</c:formatCode>
                <c:ptCount val="9"/>
                <c:pt idx="0">
                  <c:v>87.904232383978098</c:v>
                </c:pt>
                <c:pt idx="1">
                  <c:v>88.573697946215518</c:v>
                </c:pt>
                <c:pt idx="2">
                  <c:v>90.604788380801168</c:v>
                </c:pt>
                <c:pt idx="3">
                  <c:v>89.526835356859351</c:v>
                </c:pt>
                <c:pt idx="4">
                  <c:v>89.708385339838728</c:v>
                </c:pt>
                <c:pt idx="5">
                  <c:v>89.084307273346127</c:v>
                </c:pt>
                <c:pt idx="6">
                  <c:v>86.145466923862358</c:v>
                </c:pt>
                <c:pt idx="7">
                  <c:v>85.271757630772584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E2A-4282-B23E-7A185CCEBF9C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2024년(n=746)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</c:spPr>
          <c:invertIfNegative val="0"/>
          <c:dLbls>
            <c:numFmt formatCode="0.0;0.0;\-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ko-KR" altLang="en-US" sz="1000" b="1" i="0" u="none" strike="noStrike" kern="1200" spc="-100" baseline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Sheet1!$B$1:$J$1</c:f>
              <c:strCache>
                <c:ptCount val="9"/>
                <c:pt idx="0">
                  <c:v>전반적 
만족도</c:v>
                </c:pt>
                <c:pt idx="1">
                  <c:v>추천 의향</c:v>
                </c:pt>
                <c:pt idx="2">
                  <c:v>서비스 이용 후 국내 여행 의향</c:v>
                </c:pt>
                <c:pt idx="3">
                  <c:v>서비스 내 접촉 여행지 방문 의향</c:v>
                </c:pt>
                <c:pt idx="4">
                  <c:v>정보 
신뢰성</c:v>
                </c:pt>
                <c:pt idx="5">
                  <c:v>정보
유용성</c:v>
                </c:pt>
                <c:pt idx="6">
                  <c:v>정보 
다양성</c:v>
                </c:pt>
                <c:pt idx="7">
                  <c:v>정보
최신화</c:v>
                </c:pt>
                <c:pt idx="8">
                  <c:v>정보 
접근성</c:v>
                </c:pt>
              </c:strCache>
            </c:strRef>
          </c:cat>
          <c:val>
            <c:numRef>
              <c:f>Sheet1!$B$6:$J$6</c:f>
              <c:numCache>
                <c:formatCode>0.0</c:formatCode>
                <c:ptCount val="9"/>
                <c:pt idx="0">
                  <c:v>88.3</c:v>
                </c:pt>
                <c:pt idx="1">
                  <c:v>87</c:v>
                </c:pt>
                <c:pt idx="2">
                  <c:v>89.3</c:v>
                </c:pt>
                <c:pt idx="3">
                  <c:v>89.1</c:v>
                </c:pt>
                <c:pt idx="4">
                  <c:v>89.4</c:v>
                </c:pt>
                <c:pt idx="5">
                  <c:v>89.2</c:v>
                </c:pt>
                <c:pt idx="6">
                  <c:v>86.3</c:v>
                </c:pt>
                <c:pt idx="7">
                  <c:v>85.7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E2A-4282-B23E-7A185CCEBF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5"/>
        <c:axId val="479883976"/>
        <c:axId val="479885152"/>
      </c:barChart>
      <c:catAx>
        <c:axId val="4798839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6350">
            <a:solidFill>
              <a:schemeClr val="bg1">
                <a:lumMod val="75000"/>
              </a:schemeClr>
            </a:solidFill>
          </a:ln>
        </c:spPr>
        <c:crossAx val="479885152"/>
        <c:crosses val="autoZero"/>
        <c:auto val="1"/>
        <c:lblAlgn val="ctr"/>
        <c:lblOffset val="100"/>
        <c:noMultiLvlLbl val="0"/>
      </c:catAx>
      <c:valAx>
        <c:axId val="479885152"/>
        <c:scaling>
          <c:orientation val="minMax"/>
          <c:max val="120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479883976"/>
        <c:crosses val="autoZero"/>
        <c:crossBetween val="between"/>
      </c:valAx>
    </c:plotArea>
    <c:legend>
      <c:legendPos val="t"/>
      <c:legendEntry>
        <c:idx val="0"/>
        <c:delete val="1"/>
      </c:legendEntry>
      <c:layout/>
      <c:overlay val="0"/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2023년(9,953)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나만 보기/비공개 메신저 등을 통해 친구와 공유함</c:v>
                </c:pt>
                <c:pt idx="1">
                  <c:v>친구 태그/댓글/저장/공유/좋아요 등의 행동을 주로 함</c:v>
                </c:pt>
                <c:pt idx="2">
                  <c:v>보기만 함</c:v>
                </c:pt>
                <c:pt idx="3">
                  <c:v>기업, 기관 발행 콘텐츠는 필요할 때 채널에 가서 봄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39.565960012056664</c:v>
                </c:pt>
                <c:pt idx="1">
                  <c:v>32.181251883854117</c:v>
                </c:pt>
                <c:pt idx="2">
                  <c:v>21.259921631668842</c:v>
                </c:pt>
                <c:pt idx="3">
                  <c:v>6.5708831508088013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F2-4043-8AB6-051FD5BD85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2024년(9,247)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나만 보기/비공개 메신저 등을 통해 친구와 공유함</c:v>
                </c:pt>
                <c:pt idx="1">
                  <c:v>친구 태그/댓글/저장/공유/좋아요 등의 행동을 주로 함</c:v>
                </c:pt>
                <c:pt idx="2">
                  <c:v>보기만 함</c:v>
                </c:pt>
                <c:pt idx="3">
                  <c:v>기업, 기관 발행 콘텐츠는 필요할 때 채널에 가서 봄</c:v>
                </c:pt>
              </c:strCache>
            </c:strRef>
          </c:cat>
          <c:val>
            <c:numRef>
              <c:f>Sheet1!$C$2:$C$5</c:f>
              <c:numCache>
                <c:formatCode>###0.0</c:formatCode>
                <c:ptCount val="4"/>
                <c:pt idx="0">
                  <c:v>38.845030820806748</c:v>
                </c:pt>
                <c:pt idx="1">
                  <c:v>32.637612198550883</c:v>
                </c:pt>
                <c:pt idx="2">
                  <c:v>19.390072455931655</c:v>
                </c:pt>
                <c:pt idx="3" formatCode="0.0">
                  <c:v>8.6947117984211104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F2-4043-8AB6-051FD5BD85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5"/>
          <c:min val="0"/>
        </c:scaling>
        <c:delete val="0"/>
        <c:axPos val="l"/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6.1090818742775423E-2"/>
          <c:w val="0.99279852661485901"/>
          <c:h val="0.91512847821377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1순위 2023년(15,754)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인스타그램</c:v>
                </c:pt>
                <c:pt idx="1">
                  <c:v>유튜브</c:v>
                </c:pt>
                <c:pt idx="2">
                  <c:v>네이버 블로그</c:v>
                </c:pt>
                <c:pt idx="3">
                  <c:v>카카오스토리</c:v>
                </c:pt>
                <c:pt idx="4">
                  <c:v>페이스북</c:v>
                </c:pt>
                <c:pt idx="5">
                  <c:v>네이버 밴드</c:v>
                </c:pt>
                <c:pt idx="6">
                  <c:v>엑스(구. 트위터)</c:v>
                </c:pt>
                <c:pt idx="7">
                  <c:v>틱톡</c:v>
                </c:pt>
                <c:pt idx="8">
                  <c:v>스레드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 formatCode="###0.0">
                  <c:v>70.128221404087853</c:v>
                </c:pt>
                <c:pt idx="2" formatCode="###0.0">
                  <c:v>71.156531674495369</c:v>
                </c:pt>
                <c:pt idx="3" formatCode="###0.0">
                  <c:v>21.810333883458171</c:v>
                </c:pt>
                <c:pt idx="4" formatCode="###0.0">
                  <c:v>31.915703948203632</c:v>
                </c:pt>
                <c:pt idx="5" formatCode="###0.0">
                  <c:v>18.979306842706613</c:v>
                </c:pt>
                <c:pt idx="6" formatCode="###0.0">
                  <c:v>9.2357496508823154</c:v>
                </c:pt>
                <c:pt idx="7" formatCode="###0.0">
                  <c:v>5.9223054462358764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51-4B65-9172-2785A5B03D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2024년(11,974)</c:v>
                </c:pt>
              </c:strCache>
            </c:strRef>
          </c:tx>
          <c:spPr>
            <a:solidFill>
              <a:srgbClr val="CCECFF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인스타그램</c:v>
                </c:pt>
                <c:pt idx="1">
                  <c:v>유튜브</c:v>
                </c:pt>
                <c:pt idx="2">
                  <c:v>네이버 블로그</c:v>
                </c:pt>
                <c:pt idx="3">
                  <c:v>카카오스토리</c:v>
                </c:pt>
                <c:pt idx="4">
                  <c:v>페이스북</c:v>
                </c:pt>
                <c:pt idx="5">
                  <c:v>네이버 밴드</c:v>
                </c:pt>
                <c:pt idx="6">
                  <c:v>엑스(구. 트위터)</c:v>
                </c:pt>
                <c:pt idx="7">
                  <c:v>틱톡</c:v>
                </c:pt>
                <c:pt idx="8">
                  <c:v>스레드</c:v>
                </c:pt>
              </c:strCache>
            </c:strRef>
          </c:cat>
          <c:val>
            <c:numRef>
              <c:f>Sheet1!$C$2:$C$10</c:f>
              <c:numCache>
                <c:formatCode>###0.0</c:formatCode>
                <c:ptCount val="9"/>
                <c:pt idx="0">
                  <c:v>67.003507599799562</c:v>
                </c:pt>
                <c:pt idx="1">
                  <c:v>72.490395857691666</c:v>
                </c:pt>
                <c:pt idx="2">
                  <c:v>68.598630365792545</c:v>
                </c:pt>
                <c:pt idx="3">
                  <c:v>16.62769333556038</c:v>
                </c:pt>
                <c:pt idx="4">
                  <c:v>17.972273258727242</c:v>
                </c:pt>
                <c:pt idx="5">
                  <c:v>13.320527810255554</c:v>
                </c:pt>
                <c:pt idx="6">
                  <c:v>8.5852680808418231</c:v>
                </c:pt>
                <c:pt idx="7">
                  <c:v>8.4349423751461501</c:v>
                </c:pt>
                <c:pt idx="8" formatCode="0.0">
                  <c:v>6.0464339402037748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51-4B65-9172-2785A5B03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13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015726663746411E-3"/>
          <c:y val="0.16129348585070213"/>
          <c:w val="0.99279852661485901"/>
          <c:h val="0.814925504353868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1순위 2023년(15,754)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6"/>
              <c:layout>
                <c:manualLayout>
                  <c:x val="0"/>
                  <c:y val="0.1123157756513612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0"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722E-4863-B9D4-127E4D79B40E}"/>
                </c:ext>
              </c:extLst>
            </c:dLbl>
            <c:dLbl>
              <c:idx val="7"/>
              <c:layout>
                <c:manualLayout>
                  <c:x val="0"/>
                  <c:y val="4.473007480279225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0"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722E-4863-B9D4-127E4D79B4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인스타그램</c:v>
                </c:pt>
                <c:pt idx="1">
                  <c:v>유튜브</c:v>
                </c:pt>
                <c:pt idx="2">
                  <c:v>네이버 블로그</c:v>
                </c:pt>
                <c:pt idx="3">
                  <c:v>카카오스토리</c:v>
                </c:pt>
                <c:pt idx="4">
                  <c:v>페이스북</c:v>
                </c:pt>
                <c:pt idx="5">
                  <c:v>네이버 밴드</c:v>
                </c:pt>
                <c:pt idx="6">
                  <c:v>엑스(구. 트위터)</c:v>
                </c:pt>
                <c:pt idx="7">
                  <c:v>틱톡</c:v>
                </c:pt>
                <c:pt idx="8">
                  <c:v>스레드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 formatCode="###0.0">
                  <c:v>42.116287926875714</c:v>
                </c:pt>
                <c:pt idx="2" formatCode="###0.0">
                  <c:v>31.090516694172909</c:v>
                </c:pt>
                <c:pt idx="3" formatCode="###0.0">
                  <c:v>9.2928779992382893</c:v>
                </c:pt>
                <c:pt idx="4" formatCode="###0.0">
                  <c:v>8.2137869747365748</c:v>
                </c:pt>
                <c:pt idx="5" formatCode="###0.0">
                  <c:v>4.3227116922686299</c:v>
                </c:pt>
                <c:pt idx="6" formatCode="###0.0">
                  <c:v>2.3993906309508697</c:v>
                </c:pt>
                <c:pt idx="7" formatCode="###0.0">
                  <c:v>1.5805509711819221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2E-4863-B9D4-127E4D79B4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1순위 2024년(11,974)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dLbl>
              <c:idx val="3"/>
              <c:layout>
                <c:manualLayout>
                  <c:x val="0"/>
                  <c:y val="9.097615587024100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722E-4863-B9D4-127E4D79B40E}"/>
                </c:ext>
              </c:extLst>
            </c:dLbl>
            <c:dLbl>
              <c:idx val="4"/>
              <c:layout>
                <c:manualLayout>
                  <c:x val="0"/>
                  <c:y val="5.394728017768269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722E-4863-B9D4-127E4D79B40E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722E-4863-B9D4-127E4D79B40E}"/>
                </c:ext>
              </c:extLst>
            </c:dLbl>
            <c:dLbl>
              <c:idx val="6"/>
              <c:layout>
                <c:manualLayout>
                  <c:x val="0"/>
                  <c:y val="5.227967328656055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722E-4863-B9D4-127E4D79B40E}"/>
                </c:ext>
              </c:extLst>
            </c:dLbl>
            <c:dLbl>
              <c:idx val="7"/>
              <c:layout>
                <c:manualLayout>
                  <c:x val="0"/>
                  <c:y val="6.016910514489694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722E-4863-B9D4-127E4D79B40E}"/>
                </c:ext>
              </c:extLst>
            </c:dLbl>
            <c:dLbl>
              <c:idx val="8"/>
              <c:layout>
                <c:manualLayout>
                  <c:x val="-1.3459974774764114E-16"/>
                  <c:y val="5.365196892018086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722E-4863-B9D4-127E4D79B4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인스타그램</c:v>
                </c:pt>
                <c:pt idx="1">
                  <c:v>유튜브</c:v>
                </c:pt>
                <c:pt idx="2">
                  <c:v>네이버 블로그</c:v>
                </c:pt>
                <c:pt idx="3">
                  <c:v>카카오스토리</c:v>
                </c:pt>
                <c:pt idx="4">
                  <c:v>페이스북</c:v>
                </c:pt>
                <c:pt idx="5">
                  <c:v>네이버 밴드</c:v>
                </c:pt>
                <c:pt idx="6">
                  <c:v>엑스(구. 트위터)</c:v>
                </c:pt>
                <c:pt idx="7">
                  <c:v>틱톡</c:v>
                </c:pt>
                <c:pt idx="8">
                  <c:v>스레드</c:v>
                </c:pt>
              </c:strCache>
            </c:strRef>
          </c:cat>
          <c:val>
            <c:numRef>
              <c:f>Sheet1!$C$2:$C$10</c:f>
              <c:numCache>
                <c:formatCode>###0.0</c:formatCode>
                <c:ptCount val="9"/>
                <c:pt idx="0">
                  <c:v>30.307332553866711</c:v>
                </c:pt>
                <c:pt idx="1">
                  <c:v>25.939535660597961</c:v>
                </c:pt>
                <c:pt idx="2">
                  <c:v>22.657424419575747</c:v>
                </c:pt>
                <c:pt idx="3">
                  <c:v>6.8231167529647569</c:v>
                </c:pt>
                <c:pt idx="4">
                  <c:v>4.5932854518122603</c:v>
                </c:pt>
                <c:pt idx="5">
                  <c:v>3.0482712543844999</c:v>
                </c:pt>
                <c:pt idx="6">
                  <c:v>2.3216970101887422</c:v>
                </c:pt>
                <c:pt idx="7">
                  <c:v>2.2632370135293134</c:v>
                </c:pt>
                <c:pt idx="8" formatCode="0.0">
                  <c:v>1.7537998997828628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22E-4863-B9D4-127E4D79B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30"/>
        <c:axId val="397526336"/>
        <c:axId val="362550184"/>
      </c:barChart>
      <c:catAx>
        <c:axId val="397526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80"/>
          <c:min val="0"/>
        </c:scaling>
        <c:delete val="0"/>
        <c:axPos val="l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3622441900797778"/>
          <c:y val="2.1354920008766164E-2"/>
          <c:w val="0.36242499132847733"/>
          <c:h val="0.11752301117685733"/>
        </c:manualLayout>
      </c:layout>
      <c:overlay val="0"/>
      <c:txPr>
        <a:bodyPr/>
        <a:lstStyle/>
        <a:p>
          <a:pPr>
            <a:defRPr sz="10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다른 채널과의 차별화된 콘텐츠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0"/>
              <c:layout>
                <c:manualLayout>
                  <c:x val="-0.19748140612523524"/>
                  <c:y val="3.369129058519286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38B1-4954-93B5-F0A1C0C15D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대한민국구석구석(@kto9suk9suk)</c:v>
                </c:pt>
                <c:pt idx="1">
                  <c:v>여행에미치다(@yeomi.travel)</c:v>
                </c:pt>
                <c:pt idx="2">
                  <c:v>여행여기서행복할 것(@travel_behappyhere)</c:v>
                </c:pt>
                <c:pt idx="3">
                  <c:v>여행다녀왔습니다(@travelmenu1)</c:v>
                </c:pt>
                <c:pt idx="4">
                  <c:v>블림프(@blimp.official)</c:v>
                </c:pt>
                <c:pt idx="5">
                  <c:v>동행(@travel_seasia)</c:v>
                </c:pt>
              </c:strCache>
            </c:strRef>
          </c:cat>
          <c:val>
            <c:numRef>
              <c:f>Sheet1!$B$2:$B$7</c:f>
              <c:numCache>
                <c:formatCode>###0.0</c:formatCode>
                <c:ptCount val="6"/>
                <c:pt idx="0">
                  <c:v>10.916567183976655</c:v>
                </c:pt>
                <c:pt idx="1">
                  <c:v>19.883040935672515</c:v>
                </c:pt>
                <c:pt idx="2">
                  <c:v>22.333333333333332</c:v>
                </c:pt>
                <c:pt idx="3">
                  <c:v>19.56989247311828</c:v>
                </c:pt>
                <c:pt idx="4">
                  <c:v>26.712328767123289</c:v>
                </c:pt>
                <c:pt idx="5">
                  <c:v>20.448877805486283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B1-4954-93B5-F0A1C0C15D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다른 채널과의 차별화된 콘텐츠2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대한민국구석구석(@kto9suk9suk)</c:v>
                </c:pt>
                <c:pt idx="1">
                  <c:v>여행에미치다(@yeomi.travel)</c:v>
                </c:pt>
                <c:pt idx="2">
                  <c:v>여행여기서행복할 것(@travel_behappyhere)</c:v>
                </c:pt>
                <c:pt idx="3">
                  <c:v>여행다녀왔습니다(@travelmenu1)</c:v>
                </c:pt>
                <c:pt idx="4">
                  <c:v>블림프(@blimp.official)</c:v>
                </c:pt>
                <c:pt idx="5">
                  <c:v>동행(@travel_seasia)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12.045220966084276</c:v>
                </c:pt>
                <c:pt idx="1">
                  <c:v>13.617606602475929</c:v>
                </c:pt>
                <c:pt idx="2">
                  <c:v>16.226415094339622</c:v>
                </c:pt>
                <c:pt idx="3">
                  <c:v>18</c:v>
                </c:pt>
                <c:pt idx="4">
                  <c:v>20.238095238095237</c:v>
                </c:pt>
                <c:pt idx="5">
                  <c:v>13.031161473087819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8B1-4954-93B5-F0A1C0C15D2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고품질의 이미지/영상 23년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dLbl>
              <c:idx val="0"/>
              <c:layout>
                <c:manualLayout>
                  <c:x val="-0.1686179443894816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322B-498E-ADBE-88A79E9B26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대한민국구석구석(@kto9suk9suk)</c:v>
                </c:pt>
                <c:pt idx="1">
                  <c:v>여행에미치다(@yeomi.travel)</c:v>
                </c:pt>
                <c:pt idx="2">
                  <c:v>여행여기서행복할 것(@travel_behappyhere)</c:v>
                </c:pt>
                <c:pt idx="3">
                  <c:v>여행다녀왔습니다(@travelmenu1)</c:v>
                </c:pt>
                <c:pt idx="4">
                  <c:v>블림프(@blimp.official)</c:v>
                </c:pt>
                <c:pt idx="5">
                  <c:v>동행(@travel_seasia)</c:v>
                </c:pt>
              </c:strCache>
            </c:strRef>
          </c:cat>
          <c:val>
            <c:numRef>
              <c:f>Sheet1!$B$2:$B$7</c:f>
              <c:numCache>
                <c:formatCode>###0.0</c:formatCode>
                <c:ptCount val="6"/>
                <c:pt idx="0">
                  <c:v>9.4972808064730074</c:v>
                </c:pt>
                <c:pt idx="1">
                  <c:v>21.79691653375864</c:v>
                </c:pt>
                <c:pt idx="2">
                  <c:v>20</c:v>
                </c:pt>
                <c:pt idx="3">
                  <c:v>17.634408602150536</c:v>
                </c:pt>
                <c:pt idx="4">
                  <c:v>19.17808219178082</c:v>
                </c:pt>
                <c:pt idx="5">
                  <c:v>18.204488778054863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2B-498E-ADBE-88A79E9B26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고품질의 이미지/영상 24년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대한민국구석구석(@kto9suk9suk)</c:v>
                </c:pt>
                <c:pt idx="1">
                  <c:v>여행에미치다(@yeomi.travel)</c:v>
                </c:pt>
                <c:pt idx="2">
                  <c:v>여행여기서행복할 것(@travel_behappyhere)</c:v>
                </c:pt>
                <c:pt idx="3">
                  <c:v>여행다녀왔습니다(@travelmenu1)</c:v>
                </c:pt>
                <c:pt idx="4">
                  <c:v>블림프(@blimp.official)</c:v>
                </c:pt>
                <c:pt idx="5">
                  <c:v>동행(@travel_seasia)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13.874614594039054</c:v>
                </c:pt>
                <c:pt idx="1">
                  <c:v>20.151306740027511</c:v>
                </c:pt>
                <c:pt idx="2">
                  <c:v>21.132075471698112</c:v>
                </c:pt>
                <c:pt idx="3">
                  <c:v>21.428571428571427</c:v>
                </c:pt>
                <c:pt idx="4">
                  <c:v>24.404761904761905</c:v>
                </c:pt>
                <c:pt idx="5">
                  <c:v>13.031161473087819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2B-498E-ADBE-88A79E9B26E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대한민국구석구석(@kto9suk9suk)</c:v>
                </c:pt>
                <c:pt idx="1">
                  <c:v>여행에미치다(@yeomi.travel)</c:v>
                </c:pt>
                <c:pt idx="2">
                  <c:v>여행여기서행복할 것(@travel_behappyhere)</c:v>
                </c:pt>
                <c:pt idx="3">
                  <c:v>여행다녀왔습니다(@travelmenu1)</c:v>
                </c:pt>
                <c:pt idx="4">
                  <c:v>블림프(@blimp.official)</c:v>
                </c:pt>
                <c:pt idx="5">
                  <c:v>동행(@travel_seasia)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CB17-448C-AE34-DE68231B5C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자주 노출됨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대한민국구석구석(@kto9suk9suk)</c:v>
                </c:pt>
                <c:pt idx="1">
                  <c:v>여행에미치다(@yeomi.travel)</c:v>
                </c:pt>
                <c:pt idx="2">
                  <c:v>여행여기서행복할 것(@travel_behappyhere)</c:v>
                </c:pt>
                <c:pt idx="3">
                  <c:v>여행다녀왔습니다(@travelmenu1)</c:v>
                </c:pt>
                <c:pt idx="4">
                  <c:v>블림프(@blimp.official)</c:v>
                </c:pt>
                <c:pt idx="5">
                  <c:v>동행(@travel_seasia)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11.69578622816033</c:v>
                </c:pt>
                <c:pt idx="1">
                  <c:v>36.313617606602477</c:v>
                </c:pt>
                <c:pt idx="2">
                  <c:v>22.641509433962263</c:v>
                </c:pt>
                <c:pt idx="3">
                  <c:v>21.714285714285715</c:v>
                </c:pt>
                <c:pt idx="4">
                  <c:v>19.047619047619047</c:v>
                </c:pt>
                <c:pt idx="5">
                  <c:v>32.011331444759207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17-448C-AE34-DE68231B5C4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콘텐츠의 신뢰도23년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</c:strCache>
            </c:strRef>
          </c:cat>
          <c:val>
            <c:numRef>
              <c:f>Sheet1!$B$2:$B$7</c:f>
              <c:numCache>
                <c:formatCode>###0.0</c:formatCode>
                <c:ptCount val="6"/>
                <c:pt idx="0">
                  <c:v>46.372197904231328</c:v>
                </c:pt>
                <c:pt idx="1">
                  <c:v>11.057947900053163</c:v>
                </c:pt>
                <c:pt idx="2">
                  <c:v>26.666666666666668</c:v>
                </c:pt>
                <c:pt idx="3">
                  <c:v>19.13978494623656</c:v>
                </c:pt>
                <c:pt idx="4">
                  <c:v>17.80821917808219</c:v>
                </c:pt>
                <c:pt idx="5">
                  <c:v>20.947630922693268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88-44A9-9BB7-23621BE55B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콘텐츠의 신뢰도24년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 구석구석 홈페이지/앱*</c:v>
                </c:pt>
                <c:pt idx="1">
                  <c:v>대한민국 구석구석 SNS*</c:v>
                </c:pt>
                <c:pt idx="2">
                  <c:v>포털사이트</c:v>
                </c:pt>
                <c:pt idx="3">
                  <c:v>지역관광 홈페이지*</c:v>
                </c:pt>
                <c:pt idx="4">
                  <c:v>일반 SNS*</c:v>
                </c:pt>
                <c:pt idx="5">
                  <c:v>뉴스레터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35.806783144912643</c:v>
                </c:pt>
                <c:pt idx="1">
                  <c:v>11.279229711141678</c:v>
                </c:pt>
                <c:pt idx="2">
                  <c:v>16.60377358490566</c:v>
                </c:pt>
                <c:pt idx="3">
                  <c:v>16.857142857142858</c:v>
                </c:pt>
                <c:pt idx="4">
                  <c:v>17.261904761904763</c:v>
                </c:pt>
                <c:pt idx="5">
                  <c:v>18.130311614730878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88-44A9-9BB7-23621BE55BE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750540698751679E-2"/>
          <c:y val="0"/>
          <c:w val="0.9927985266148590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콘텐츠의 정보성23년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대한민국구석구석(@kto9suk9suk)</c:v>
                </c:pt>
                <c:pt idx="1">
                  <c:v>여행에미치다(@yeomi.travel)</c:v>
                </c:pt>
                <c:pt idx="2">
                  <c:v>여행여기서행복할 것(@travel_behappyhere)</c:v>
                </c:pt>
                <c:pt idx="3">
                  <c:v>여행다녀왔습니다(@travelmenu1)</c:v>
                </c:pt>
                <c:pt idx="4">
                  <c:v>블림프(@blimp.official)</c:v>
                </c:pt>
                <c:pt idx="5">
                  <c:v>동행(@travel_seasia)</c:v>
                </c:pt>
              </c:strCache>
            </c:strRef>
          </c:cat>
          <c:val>
            <c:numRef>
              <c:f>Sheet1!$B$2:$B$7</c:f>
              <c:numCache>
                <c:formatCode>###0.0</c:formatCode>
                <c:ptCount val="6"/>
                <c:pt idx="0">
                  <c:v>32.391563867886987</c:v>
                </c:pt>
                <c:pt idx="1">
                  <c:v>44.444444444444443</c:v>
                </c:pt>
                <c:pt idx="2">
                  <c:v>30.333333333333332</c:v>
                </c:pt>
                <c:pt idx="3">
                  <c:v>43.44086021505376</c:v>
                </c:pt>
                <c:pt idx="4">
                  <c:v>35.61643835616438</c:v>
                </c:pt>
                <c:pt idx="5">
                  <c:v>39.401496259351624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7C-4634-8DA5-5763CEE250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콘텐츠의 정보성24년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대한민국구석구석(@kto9suk9suk)</c:v>
                </c:pt>
                <c:pt idx="1">
                  <c:v>여행에미치다(@yeomi.travel)</c:v>
                </c:pt>
                <c:pt idx="2">
                  <c:v>여행여기서행복할 것(@travel_behappyhere)</c:v>
                </c:pt>
                <c:pt idx="3">
                  <c:v>여행다녀왔습니다(@travelmenu1)</c:v>
                </c:pt>
                <c:pt idx="4">
                  <c:v>블림프(@blimp.official)</c:v>
                </c:pt>
                <c:pt idx="5">
                  <c:v>동행(@travel_seasia)</c:v>
                </c:pt>
              </c:strCache>
            </c:strRef>
          </c:cat>
          <c:val>
            <c:numRef>
              <c:f>Sheet1!$C$2:$C$7</c:f>
              <c:numCache>
                <c:formatCode>###0.0</c:formatCode>
                <c:ptCount val="6"/>
                <c:pt idx="0">
                  <c:v>26.392600205549847</c:v>
                </c:pt>
                <c:pt idx="1">
                  <c:v>18.294360385144429</c:v>
                </c:pt>
                <c:pt idx="2">
                  <c:v>23.018867924528301</c:v>
                </c:pt>
                <c:pt idx="3">
                  <c:v>21.714285714285715</c:v>
                </c:pt>
                <c:pt idx="4">
                  <c:v>19.047619047619047</c:v>
                </c:pt>
                <c:pt idx="5">
                  <c:v>23.796033994334277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7C-4634-8DA5-5763CEE250E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397526336"/>
        <c:axId val="362550184"/>
      </c:barChart>
      <c:catAx>
        <c:axId val="397526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 w="3175">
            <a:noFill/>
          </a:ln>
        </c:spPr>
        <c:crossAx val="362550184"/>
        <c:crosses val="autoZero"/>
        <c:auto val="1"/>
        <c:lblAlgn val="ctr"/>
        <c:lblOffset val="100"/>
        <c:noMultiLvlLbl val="0"/>
      </c:catAx>
      <c:valAx>
        <c:axId val="362550184"/>
        <c:scaling>
          <c:orientation val="minMax"/>
          <c:max val="70"/>
          <c:min val="0"/>
        </c:scaling>
        <c:delete val="0"/>
        <c:axPos val="t"/>
        <c:numFmt formatCode="###0.0" sourceLinked="1"/>
        <c:majorTickMark val="none"/>
        <c:minorTickMark val="none"/>
        <c:tickLblPos val="none"/>
        <c:spPr>
          <a:ln>
            <a:noFill/>
          </a:ln>
        </c:spPr>
        <c:crossAx val="3975263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ko-KR" altLang="en-US" sz="1000" b="1" i="0" u="none" strike="noStrike" kern="1200" spc="-50" baseline="0">
          <a:ln>
            <a:solidFill>
              <a:schemeClr val="bg1">
                <a:alpha val="0"/>
              </a:schemeClr>
            </a:solidFill>
          </a:ln>
          <a:solidFill>
            <a:srgbClr val="000000"/>
          </a:solidFill>
          <a:effectLst/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1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46480840791284916"/>
          <c:w val="0.9815238919616095"/>
          <c:h val="0.51692406981541306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Sheet1!$A$4</c:f>
              <c:strCache>
                <c:ptCount val="1"/>
                <c:pt idx="0">
                  <c:v>불만족(BOT3)</c:v>
                </c:pt>
              </c:strCache>
            </c:strRef>
          </c:tx>
          <c:spPr>
            <a:solidFill>
              <a:srgbClr val="FFC5C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4FC-4253-A2CC-8EBB80B0BF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  <c:extLst/>
            </c:strRef>
          </c:cat>
          <c:val>
            <c:numRef>
              <c:f>Sheet1!$B$4:$H$4</c:f>
              <c:numCache>
                <c:formatCode>###0.0</c:formatCode>
                <c:ptCount val="7"/>
                <c:pt idx="0">
                  <c:v>0.52982137450802302</c:v>
                </c:pt>
                <c:pt idx="1">
                  <c:v>0.83399523431294675</c:v>
                </c:pt>
                <c:pt idx="2">
                  <c:v>0.90361445783132532</c:v>
                </c:pt>
                <c:pt idx="3">
                  <c:v>0.81592689295039167</c:v>
                </c:pt>
                <c:pt idx="4">
                  <c:v>0.45342126957955481</c:v>
                </c:pt>
                <c:pt idx="5">
                  <c:v>0.41479433114414105</c:v>
                </c:pt>
                <c:pt idx="6">
                  <c:v>1.3282732447817838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34FC-4253-A2CC-8EBB80B0BFF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Sheet1!$B$3:$I$3</c:f>
              <c:numCache>
                <c:formatCode>###0.0</c:formatCode>
                <c:ptCount val="7"/>
                <c:pt idx="0">
                  <c:v>5.0862851952770205</c:v>
                </c:pt>
                <c:pt idx="1">
                  <c:v>6.671961874503574</c:v>
                </c:pt>
                <c:pt idx="2">
                  <c:v>8.7349397590361448</c:v>
                </c:pt>
                <c:pt idx="3">
                  <c:v>6.7232375979112273</c:v>
                </c:pt>
                <c:pt idx="4">
                  <c:v>5.4822753503709807</c:v>
                </c:pt>
                <c:pt idx="5">
                  <c:v>4.4590390597995162</c:v>
                </c:pt>
                <c:pt idx="6">
                  <c:v>5.1233396584440225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34FC-4253-A2CC-8EBB80B0BFF2}"/>
            </c:ext>
          </c:extLst>
        </c:ser>
        <c:ser>
          <c:idx val="0"/>
          <c:order val="2"/>
          <c:tx>
            <c:strRef>
              <c:f>Sheet1!$A$2</c:f>
              <c:strCache>
                <c:ptCount val="1"/>
                <c:pt idx="0">
                  <c:v>만족(TOP3)</c:v>
                </c:pt>
              </c:strCache>
            </c:strRef>
          </c:tx>
          <c:spPr>
            <a:solidFill>
              <a:srgbClr val="AFDDFF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4FC-4253-A2CC-8EBB80B0BFF2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4FC-4253-A2CC-8EBB80B0BF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Sheet1!$B$2:$I$2</c:f>
              <c:numCache>
                <c:formatCode>###0.0</c:formatCode>
                <c:ptCount val="7"/>
                <c:pt idx="0">
                  <c:v>94.383893430214954</c:v>
                </c:pt>
                <c:pt idx="1">
                  <c:v>92.494042891183483</c:v>
                </c:pt>
                <c:pt idx="2">
                  <c:v>90.361445783132524</c:v>
                </c:pt>
                <c:pt idx="3">
                  <c:v>92.460835509138377</c:v>
                </c:pt>
                <c:pt idx="4">
                  <c:v>94.064303380049466</c:v>
                </c:pt>
                <c:pt idx="5">
                  <c:v>95.126166609056341</c:v>
                </c:pt>
                <c:pt idx="6">
                  <c:v>93.548387096774192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34FC-4253-A2CC-8EBB80B0BF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US" altLang="ko-KR" sz="900" b="1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1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46480840791284916"/>
          <c:w val="0.9815238919616095"/>
          <c:h val="0.51692406981541306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Sheet1!$A$4</c:f>
              <c:strCache>
                <c:ptCount val="1"/>
                <c:pt idx="0">
                  <c:v>의향 없음(BOT3)</c:v>
                </c:pt>
              </c:strCache>
            </c:strRef>
          </c:tx>
          <c:spPr>
            <a:solidFill>
              <a:srgbClr val="FFC5C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4FC-4253-A2CC-8EBB80B0BF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  <c:extLst/>
            </c:strRef>
          </c:cat>
          <c:val>
            <c:numRef>
              <c:f>Sheet1!$B$4:$H$4</c:f>
              <c:numCache>
                <c:formatCode>###0.0</c:formatCode>
                <c:ptCount val="7"/>
                <c:pt idx="0">
                  <c:v>0.45413260672116257</c:v>
                </c:pt>
                <c:pt idx="1">
                  <c:v>0.59571088165210484</c:v>
                </c:pt>
                <c:pt idx="2">
                  <c:v>0.30120481927710846</c:v>
                </c:pt>
                <c:pt idx="3">
                  <c:v>0.53851174934725854</c:v>
                </c:pt>
                <c:pt idx="4">
                  <c:v>0.28854080791426218</c:v>
                </c:pt>
                <c:pt idx="5">
                  <c:v>0.62219149671621155</c:v>
                </c:pt>
                <c:pt idx="6">
                  <c:v>0.56925996204933582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34FC-4253-A2CC-8EBB80B0BFF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Sheet1!$B$3:$I$3</c:f>
              <c:numCache>
                <c:formatCode>###0.0</c:formatCode>
                <c:ptCount val="7"/>
                <c:pt idx="0">
                  <c:v>2.4523160762942777</c:v>
                </c:pt>
                <c:pt idx="1">
                  <c:v>3.5146942017474188</c:v>
                </c:pt>
                <c:pt idx="2">
                  <c:v>6.3253012048192767</c:v>
                </c:pt>
                <c:pt idx="3">
                  <c:v>3.3616187989556137</c:v>
                </c:pt>
                <c:pt idx="4">
                  <c:v>2.9678483099752677</c:v>
                </c:pt>
                <c:pt idx="5">
                  <c:v>2.3159350155547873</c:v>
                </c:pt>
                <c:pt idx="6">
                  <c:v>2.8462998102466792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34FC-4253-A2CC-8EBB80B0BFF2}"/>
            </c:ext>
          </c:extLst>
        </c:ser>
        <c:ser>
          <c:idx val="0"/>
          <c:order val="2"/>
          <c:tx>
            <c:strRef>
              <c:f>Sheet1!$A$2</c:f>
              <c:strCache>
                <c:ptCount val="1"/>
                <c:pt idx="0">
                  <c:v>의향 있음(TOP3)</c:v>
                </c:pt>
              </c:strCache>
            </c:strRef>
          </c:tx>
          <c:spPr>
            <a:solidFill>
              <a:srgbClr val="AFDDFF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4FC-4253-A2CC-8EBB80B0BFF2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4FC-4253-A2CC-8EBB80B0BF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Sheet1!$B$2:$I$2</c:f>
              <c:numCache>
                <c:formatCode>###0.0</c:formatCode>
                <c:ptCount val="7"/>
                <c:pt idx="0">
                  <c:v>97.093551316984559</c:v>
                </c:pt>
                <c:pt idx="1">
                  <c:v>95.889594916600473</c:v>
                </c:pt>
                <c:pt idx="2">
                  <c:v>93.373493975903614</c:v>
                </c:pt>
                <c:pt idx="3">
                  <c:v>96.099869451697131</c:v>
                </c:pt>
                <c:pt idx="4">
                  <c:v>96.743610882110474</c:v>
                </c:pt>
                <c:pt idx="5">
                  <c:v>97.061873487729002</c:v>
                </c:pt>
                <c:pt idx="6">
                  <c:v>96.584440227703979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34FC-4253-A2CC-8EBB80B0BF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US" altLang="ko-KR" sz="900" b="1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1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46480840791284916"/>
          <c:w val="0.9815238919616095"/>
          <c:h val="0.51692406981541306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Sheet1!$A$4</c:f>
              <c:strCache>
                <c:ptCount val="1"/>
                <c:pt idx="0">
                  <c:v>의향 없음(BOT3)</c:v>
                </c:pt>
              </c:strCache>
            </c:strRef>
          </c:tx>
          <c:spPr>
            <a:solidFill>
              <a:srgbClr val="FFC5C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4FC-4253-A2CC-8EBB80B0BF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Sheet1!$B$1:$H$1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Sheet1!$B$4:$H$4</c:f>
              <c:numCache>
                <c:formatCode>###0.0</c:formatCode>
                <c:ptCount val="7"/>
                <c:pt idx="0">
                  <c:v>0.86285195277020887</c:v>
                </c:pt>
                <c:pt idx="1">
                  <c:v>1.5488482922954725</c:v>
                </c:pt>
                <c:pt idx="2">
                  <c:v>2.1084337349397591</c:v>
                </c:pt>
                <c:pt idx="3">
                  <c:v>1.4197127937336815</c:v>
                </c:pt>
                <c:pt idx="4">
                  <c:v>0.65952184666117064</c:v>
                </c:pt>
                <c:pt idx="5">
                  <c:v>0.96785343933632906</c:v>
                </c:pt>
                <c:pt idx="6">
                  <c:v>2.0872865275142316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34FC-4253-A2CC-8EBB80B0BFF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Sheet1!$B$1:$H$1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Sheet1!$B$3:$H$3</c:f>
              <c:numCache>
                <c:formatCode>###0.0</c:formatCode>
                <c:ptCount val="7"/>
                <c:pt idx="0">
                  <c:v>2.9972752043596729</c:v>
                </c:pt>
                <c:pt idx="1">
                  <c:v>3.8721207307386813</c:v>
                </c:pt>
                <c:pt idx="2">
                  <c:v>4.8192771084337354</c:v>
                </c:pt>
                <c:pt idx="3">
                  <c:v>3.9001305483028719</c:v>
                </c:pt>
                <c:pt idx="4">
                  <c:v>3.6273701566364385</c:v>
                </c:pt>
                <c:pt idx="5">
                  <c:v>2.3159350155547873</c:v>
                </c:pt>
                <c:pt idx="6">
                  <c:v>2.8462998102466792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34FC-4253-A2CC-8EBB80B0BFF2}"/>
            </c:ext>
          </c:extLst>
        </c:ser>
        <c:ser>
          <c:idx val="0"/>
          <c:order val="2"/>
          <c:tx>
            <c:strRef>
              <c:f>Sheet1!$A$2</c:f>
              <c:strCache>
                <c:ptCount val="1"/>
                <c:pt idx="0">
                  <c:v>의향 있음(TOP3)</c:v>
                </c:pt>
              </c:strCache>
            </c:strRef>
          </c:tx>
          <c:spPr>
            <a:solidFill>
              <a:srgbClr val="AFDDFF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4FC-4253-A2CC-8EBB80B0BFF2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4FC-4253-A2CC-8EBB80B0BF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Sheet1!$B$1:$H$1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Sheet1!$B$2:$H$2</c:f>
              <c:numCache>
                <c:formatCode>###0.0</c:formatCode>
                <c:ptCount val="7"/>
                <c:pt idx="0">
                  <c:v>96.139872842870119</c:v>
                </c:pt>
                <c:pt idx="1">
                  <c:v>94.579030976965839</c:v>
                </c:pt>
                <c:pt idx="2">
                  <c:v>93.07228915662651</c:v>
                </c:pt>
                <c:pt idx="3">
                  <c:v>94.680156657963451</c:v>
                </c:pt>
                <c:pt idx="4">
                  <c:v>95.713107996702391</c:v>
                </c:pt>
                <c:pt idx="5">
                  <c:v>96.716211545108877</c:v>
                </c:pt>
                <c:pt idx="6">
                  <c:v>95.066413662239086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34FC-4253-A2CC-8EBB80B0BF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US" altLang="ko-KR" sz="900" b="1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hart1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18671855146945E-3"/>
          <c:y val="0.46480840791284916"/>
          <c:w val="0.9815238919616095"/>
          <c:h val="0.51692406981541306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Sheet1!$A$4</c:f>
              <c:strCache>
                <c:ptCount val="1"/>
                <c:pt idx="0">
                  <c:v>의향 없음(BOT3)</c:v>
                </c:pt>
              </c:strCache>
            </c:strRef>
          </c:tx>
          <c:spPr>
            <a:solidFill>
              <a:srgbClr val="FFC5C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4FC-4253-A2CC-8EBB80B0BF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8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  <c:pt idx="7">
                  <c:v>열9</c:v>
                </c:pt>
              </c:strCache>
              <c:extLst/>
            </c:strRef>
          </c:cat>
          <c:val>
            <c:numRef>
              <c:f>Sheet1!$B$4:$H$4</c:f>
              <c:numCache>
                <c:formatCode>###0.0</c:formatCode>
                <c:ptCount val="7"/>
                <c:pt idx="0">
                  <c:v>1.6802906448683015</c:v>
                </c:pt>
                <c:pt idx="1">
                  <c:v>2.5416997617156474</c:v>
                </c:pt>
                <c:pt idx="2">
                  <c:v>4.2168674698795181</c:v>
                </c:pt>
                <c:pt idx="3">
                  <c:v>2.4477806788511751</c:v>
                </c:pt>
                <c:pt idx="4">
                  <c:v>1.6900247320692499</c:v>
                </c:pt>
                <c:pt idx="5">
                  <c:v>1.8320082958866228</c:v>
                </c:pt>
                <c:pt idx="6">
                  <c:v>1.7077798861480076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34FC-4253-A2CC-8EBB80B0BFF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보통</c:v>
                </c:pt>
              </c:strCache>
            </c:strRef>
          </c:tx>
          <c:spPr>
            <a:solidFill>
              <a:srgbClr val="DDDDDD"/>
            </a:solidFill>
            <a:ln w="6350">
              <a:noFill/>
              <a:prstDash val="sysDash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Sheet1!$B$3:$I$3</c:f>
              <c:numCache>
                <c:formatCode>###0.0</c:formatCode>
                <c:ptCount val="7"/>
                <c:pt idx="0">
                  <c:v>2.5582803511958825</c:v>
                </c:pt>
                <c:pt idx="1">
                  <c:v>2.8991262907069104</c:v>
                </c:pt>
                <c:pt idx="2">
                  <c:v>3.3132530120481927</c:v>
                </c:pt>
                <c:pt idx="3">
                  <c:v>2.9373368146214101</c:v>
                </c:pt>
                <c:pt idx="4">
                  <c:v>2.9678483099752677</c:v>
                </c:pt>
                <c:pt idx="5">
                  <c:v>1.9702730729346698</c:v>
                </c:pt>
                <c:pt idx="6">
                  <c:v>3.225806451612903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34FC-4253-A2CC-8EBB80B0BFF2}"/>
            </c:ext>
          </c:extLst>
        </c:ser>
        <c:ser>
          <c:idx val="0"/>
          <c:order val="2"/>
          <c:tx>
            <c:strRef>
              <c:f>Sheet1!$A$2</c:f>
              <c:strCache>
                <c:ptCount val="1"/>
                <c:pt idx="0">
                  <c:v>의향 있음(TOP3)</c:v>
                </c:pt>
              </c:strCache>
            </c:strRef>
          </c:tx>
          <c:spPr>
            <a:solidFill>
              <a:srgbClr val="AFDDFF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4FC-4253-A2CC-8EBB80B0BFF2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4FC-4253-A2CC-8EBB80B0BF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/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Sheet1!$B$1:$I$1</c:f>
              <c:strCache>
                <c:ptCount val="7"/>
                <c:pt idx="0">
                  <c:v>열2</c:v>
                </c:pt>
                <c:pt idx="1">
                  <c:v>열3</c:v>
                </c:pt>
                <c:pt idx="2">
                  <c:v>열4</c:v>
                </c:pt>
                <c:pt idx="3">
                  <c:v>열5</c:v>
                </c:pt>
                <c:pt idx="4">
                  <c:v>열6</c:v>
                </c:pt>
                <c:pt idx="5">
                  <c:v>열7</c:v>
                </c:pt>
                <c:pt idx="6">
                  <c:v>열8</c:v>
                </c:pt>
              </c:strCache>
              <c:extLst/>
            </c:strRef>
          </c:cat>
          <c:val>
            <c:numRef>
              <c:f>Sheet1!$B$2:$I$2</c:f>
              <c:numCache>
                <c:formatCode>###0.0</c:formatCode>
                <c:ptCount val="7"/>
                <c:pt idx="0">
                  <c:v>95.761429003935817</c:v>
                </c:pt>
                <c:pt idx="1">
                  <c:v>94.559173947577449</c:v>
                </c:pt>
                <c:pt idx="2">
                  <c:v>92.46987951807229</c:v>
                </c:pt>
                <c:pt idx="3">
                  <c:v>94.614882506527408</c:v>
                </c:pt>
                <c:pt idx="4">
                  <c:v>95.342126957955486</c:v>
                </c:pt>
                <c:pt idx="5">
                  <c:v>96.197718631178702</c:v>
                </c:pt>
                <c:pt idx="6">
                  <c:v>95.066413662239086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34FC-4253-A2CC-8EBB80B0BF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51776384"/>
        <c:axId val="451772464"/>
      </c:barChart>
      <c:catAx>
        <c:axId val="451776384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one"/>
        <c:spPr>
          <a:ln w="6350">
            <a:noFill/>
          </a:ln>
        </c:spPr>
        <c:crossAx val="451772464"/>
        <c:crosses val="autoZero"/>
        <c:auto val="1"/>
        <c:lblAlgn val="ctr"/>
        <c:lblOffset val="100"/>
        <c:noMultiLvlLbl val="0"/>
      </c:catAx>
      <c:valAx>
        <c:axId val="451772464"/>
        <c:scaling>
          <c:orientation val="maxMin"/>
          <c:max val="1"/>
          <c:min val="0"/>
        </c:scaling>
        <c:delete val="0"/>
        <c:axPos val="l"/>
        <c:numFmt formatCode="0%" sourceLinked="1"/>
        <c:majorTickMark val="none"/>
        <c:minorTickMark val="none"/>
        <c:tickLblPos val="none"/>
        <c:spPr>
          <a:ln>
            <a:noFill/>
          </a:ln>
        </c:spPr>
        <c:crossAx val="4517763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US" altLang="ko-KR" sz="900" b="1" i="0" u="none" strike="noStrike" kern="1200" spc="-50" baseline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 b="1" spc="-50" baseline="0">
          <a:ln>
            <a:solidFill>
              <a:schemeClr val="bg1">
                <a:alpha val="0"/>
              </a:schemeClr>
            </a:solidFill>
          </a:ln>
          <a:latin typeface="+mn-lt"/>
          <a:ea typeface="+mn-ea"/>
        </a:defRPr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107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7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0.33333</cdr:x>
      <cdr:y>0.32872</cdr:y>
    </cdr:from>
    <cdr:to>
      <cdr:x>0.66629</cdr:x>
      <cdr:y>0.60938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1008000" y="636125"/>
          <a:ext cx="1006871" cy="5431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평균 국내 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/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여행 횟수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5.5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회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0.38897</cdr:x>
      <cdr:y>0.32872</cdr:y>
    </cdr:from>
    <cdr:to>
      <cdr:x>0.61065</cdr:x>
      <cdr:y>0.615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1176237" y="636116"/>
          <a:ext cx="670376" cy="55399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평균 해외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/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여행 횟수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1.0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회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0.41274</cdr:y>
    </cdr:from>
    <cdr:to>
      <cdr:x>0.68232</cdr:x>
      <cdr:y>0.61544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674791" y="814705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85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.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3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0.43214</cdr:y>
    </cdr:from>
    <cdr:to>
      <cdr:x>0.68232</cdr:x>
      <cdr:y>0.63484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674791" y="852997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84.8</a:t>
          </a:r>
          <a:r>
            <a:rPr lang="ko-KR" altLang="en-US" sz="100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  <a:endParaRPr lang="ko-KR" altLang="en-US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0.40672</cdr:y>
    </cdr:from>
    <cdr:to>
      <cdr:x>0.68232</cdr:x>
      <cdr:y>0.60942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674791" y="802812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83.7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0.40699</cdr:y>
    </cdr:from>
    <cdr:to>
      <cdr:x>0.68232</cdr:x>
      <cdr:y>0.60969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674791" y="803354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84.1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0.4105</cdr:y>
    </cdr:from>
    <cdr:to>
      <cdr:x>0.68232</cdr:x>
      <cdr:y>0.6132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674801" y="810284"/>
          <a:ext cx="774552" cy="4001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84.9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0.4082</cdr:y>
    </cdr:from>
    <cdr:to>
      <cdr:x>0.68232</cdr:x>
      <cdr:y>0.6109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674801" y="805739"/>
          <a:ext cx="774552" cy="4001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85.4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0.40312</cdr:y>
    </cdr:from>
    <cdr:to>
      <cdr:x>0.68232</cdr:x>
      <cdr:y>0.60582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674801" y="795719"/>
          <a:ext cx="774552" cy="4001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85.0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0.40337</cdr:y>
    </cdr:from>
    <cdr:to>
      <cdr:x>0.68232</cdr:x>
      <cdr:y>0.60607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674801" y="796214"/>
          <a:ext cx="774552" cy="4001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85.4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0.25428</cdr:x>
      <cdr:y>0.39865</cdr:y>
    </cdr:from>
    <cdr:to>
      <cdr:x>0.74572</cdr:x>
      <cdr:y>0.60135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540139" y="786887"/>
          <a:ext cx="1043877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서비스 내 접촉 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/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여행지 방문 경험</a:t>
          </a:r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0.25428</cdr:x>
      <cdr:y>0.40165</cdr:y>
    </cdr:from>
    <cdr:to>
      <cdr:x>0.74572</cdr:x>
      <cdr:y>0.60435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540139" y="792816"/>
          <a:ext cx="1043876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서비스 내 접촉 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/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여행지 방문 경험</a:t>
          </a:r>
        </a:p>
      </cdr:txBody>
    </cdr:sp>
  </cdr:relSizeAnchor>
</c:userShapes>
</file>

<file path=ppt/drawings/drawing13.xml><?xml version="1.0" encoding="utf-8"?>
<c:userShapes xmlns:c="http://schemas.openxmlformats.org/drawingml/2006/chart">
  <cdr:relSizeAnchor xmlns:cdr="http://schemas.openxmlformats.org/drawingml/2006/chartDrawing">
    <cdr:from>
      <cdr:x>0.31466</cdr:x>
      <cdr:y>0.39865</cdr:y>
    </cdr:from>
    <cdr:to>
      <cdr:x>0.68534</cdr:x>
      <cdr:y>0.60135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668380" y="786887"/>
          <a:ext cx="787395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[</a:t>
          </a:r>
          <a:r>
            <a:rPr lang="ko-KR" altLang="en-US" sz="1000" dirty="0" err="1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가볼래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-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터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]</a:t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구독 여부</a:t>
          </a:r>
        </a:p>
      </cdr:txBody>
    </cdr:sp>
  </cdr:relSizeAnchor>
</c:userShapes>
</file>

<file path=ppt/drawings/drawing14.xml><?xml version="1.0" encoding="utf-8"?>
<c:userShapes xmlns:c="http://schemas.openxmlformats.org/drawingml/2006/chart">
  <cdr:relSizeAnchor xmlns:cdr="http://schemas.openxmlformats.org/drawingml/2006/chartDrawing">
    <cdr:from>
      <cdr:x>0.31466</cdr:x>
      <cdr:y>0.40165</cdr:y>
    </cdr:from>
    <cdr:to>
      <cdr:x>0.68534</cdr:x>
      <cdr:y>0.60435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668379" y="792816"/>
          <a:ext cx="787395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[</a:t>
          </a:r>
          <a:r>
            <a:rPr lang="ko-KR" altLang="en-US" sz="1000" dirty="0" err="1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가볼래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-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터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]</a:t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구독 여부</a:t>
          </a:r>
        </a:p>
      </cdr:txBody>
    </cdr:sp>
  </cdr:relSizeAnchor>
</c:userShapes>
</file>

<file path=ppt/drawings/drawing15.xml><?xml version="1.0" encoding="utf-8"?>
<c:userShapes xmlns:c="http://schemas.openxmlformats.org/drawingml/2006/chart">
  <cdr:relSizeAnchor xmlns:cdr="http://schemas.openxmlformats.org/drawingml/2006/chartDrawing">
    <cdr:from>
      <cdr:x>0.3422</cdr:x>
      <cdr:y>0.39865</cdr:y>
    </cdr:from>
    <cdr:to>
      <cdr:x>0.6578</cdr:x>
      <cdr:y>0.60135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726890" y="786889"/>
          <a:ext cx="670376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여행상품 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/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인지여부</a:t>
          </a:r>
        </a:p>
      </cdr:txBody>
    </cdr:sp>
  </cdr:relSizeAnchor>
</c:userShapes>
</file>

<file path=ppt/drawings/drawing16.xml><?xml version="1.0" encoding="utf-8"?>
<c:userShapes xmlns:c="http://schemas.openxmlformats.org/drawingml/2006/chart">
  <cdr:relSizeAnchor xmlns:cdr="http://schemas.openxmlformats.org/drawingml/2006/chartDrawing">
    <cdr:from>
      <cdr:x>0.3422</cdr:x>
      <cdr:y>0.40165</cdr:y>
    </cdr:from>
    <cdr:to>
      <cdr:x>0.6578</cdr:x>
      <cdr:y>0.60435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726889" y="792811"/>
          <a:ext cx="670375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여행상품 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/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인지여부</a:t>
          </a:r>
        </a:p>
      </cdr:txBody>
    </cdr:sp>
  </cdr:relSizeAnchor>
</c:userShapes>
</file>

<file path=ppt/drawings/drawing17.xml><?xml version="1.0" encoding="utf-8"?>
<c:userShapes xmlns:c="http://schemas.openxmlformats.org/drawingml/2006/chart">
  <cdr:relSizeAnchor xmlns:cdr="http://schemas.openxmlformats.org/drawingml/2006/chartDrawing">
    <cdr:from>
      <cdr:x>0.3422</cdr:x>
      <cdr:y>0.39865</cdr:y>
    </cdr:from>
    <cdr:to>
      <cdr:x>0.6578</cdr:x>
      <cdr:y>0.60135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726890" y="786889"/>
          <a:ext cx="670376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여행상품 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/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경험여부</a:t>
          </a:r>
        </a:p>
      </cdr:txBody>
    </cdr:sp>
  </cdr:relSizeAnchor>
</c:userShapes>
</file>

<file path=ppt/drawings/drawing18.xml><?xml version="1.0" encoding="utf-8"?>
<c:userShapes xmlns:c="http://schemas.openxmlformats.org/drawingml/2006/chart">
  <cdr:relSizeAnchor xmlns:cdr="http://schemas.openxmlformats.org/drawingml/2006/chartDrawing">
    <cdr:from>
      <cdr:x>0.3422</cdr:x>
      <cdr:y>0.40165</cdr:y>
    </cdr:from>
    <cdr:to>
      <cdr:x>0.6578</cdr:x>
      <cdr:y>0.60435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726889" y="792811"/>
          <a:ext cx="670375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여행상품 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/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경험여부</a:t>
          </a:r>
        </a:p>
      </cdr:txBody>
    </cdr:sp>
  </cdr:relSizeAnchor>
</c:userShapes>
</file>

<file path=ppt/drawings/drawing19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0.41274</cdr:y>
    </cdr:from>
    <cdr:to>
      <cdr:x>0.68232</cdr:x>
      <cdr:y>0.61544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674791" y="814705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84.8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20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0.43214</cdr:y>
    </cdr:from>
    <cdr:to>
      <cdr:x>0.68232</cdr:x>
      <cdr:y>0.63484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674791" y="852997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83.9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21.xml><?xml version="1.0" encoding="utf-8"?>
<c:userShapes xmlns:c="http://schemas.openxmlformats.org/drawingml/2006/chart">
  <cdr:relSizeAnchor xmlns:cdr="http://schemas.openxmlformats.org/drawingml/2006/chartDrawing">
    <cdr:from>
      <cdr:x>0.33201</cdr:x>
      <cdr:y>0.39865</cdr:y>
    </cdr:from>
    <cdr:to>
      <cdr:x>0.66799</cdr:x>
      <cdr:y>0.60135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705248" y="786889"/>
          <a:ext cx="713658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[</a:t>
          </a:r>
          <a:r>
            <a:rPr lang="ko-KR" altLang="en-US" sz="1000" dirty="0" err="1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여행콕콕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]</a:t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인지 여부</a:t>
          </a:r>
        </a:p>
      </cdr:txBody>
    </cdr:sp>
  </cdr:relSizeAnchor>
</c:userShapes>
</file>

<file path=ppt/drawings/drawing22.xml><?xml version="1.0" encoding="utf-8"?>
<c:userShapes xmlns:c="http://schemas.openxmlformats.org/drawingml/2006/chart">
  <cdr:relSizeAnchor xmlns:cdr="http://schemas.openxmlformats.org/drawingml/2006/chartDrawing">
    <cdr:from>
      <cdr:x>0.33201</cdr:x>
      <cdr:y>0.40165</cdr:y>
    </cdr:from>
    <cdr:to>
      <cdr:x>0.66799</cdr:x>
      <cdr:y>0.60435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705248" y="792811"/>
          <a:ext cx="713657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[</a:t>
          </a:r>
          <a:r>
            <a:rPr lang="ko-KR" altLang="en-US" sz="1000" dirty="0" err="1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여행콕콕</a:t>
          </a: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]</a:t>
          </a:r>
          <a:b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인지 여부</a:t>
          </a:r>
        </a:p>
      </cdr:txBody>
    </cdr:sp>
  </cdr:relSizeAnchor>
</c:userShapes>
</file>

<file path=ppt/drawings/drawing23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0.43214</cdr:y>
    </cdr:from>
    <cdr:to>
      <cdr:x>0.68232</cdr:x>
      <cdr:y>0.63484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674791" y="852997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84.9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24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0.41274</cdr:y>
    </cdr:from>
    <cdr:to>
      <cdr:x>0.68232</cdr:x>
      <cdr:y>0.61544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674791" y="814705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85.4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25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0.41274</cdr:y>
    </cdr:from>
    <cdr:to>
      <cdr:x>0.68232</cdr:x>
      <cdr:y>0.61544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674791" y="814705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85.4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26.xml><?xml version="1.0" encoding="utf-8"?>
<c:userShapes xmlns:c="http://schemas.openxmlformats.org/drawingml/2006/chart">
  <cdr:relSizeAnchor xmlns:cdr="http://schemas.openxmlformats.org/drawingml/2006/chartDrawing">
    <cdr:from>
      <cdr:x>0.31768</cdr:x>
      <cdr:y>0.43214</cdr:y>
    </cdr:from>
    <cdr:to>
      <cdr:x>0.68232</cdr:x>
      <cdr:y>0.63484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674791" y="852997"/>
          <a:ext cx="774571" cy="4001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100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 평균</a:t>
          </a:r>
          <a:endParaRPr lang="en-US" altLang="ko-KR" sz="10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  <a:latin typeface="+mj-lt"/>
            <a:ea typeface="+mj-ea"/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85.1</a:t>
          </a:r>
          <a:r>
            <a:rPr lang="ko-KR" altLang="en-US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점</a:t>
          </a:r>
        </a:p>
      </cdr:txBody>
    </cdr:sp>
  </cdr:relSizeAnchor>
</c:userShapes>
</file>

<file path=ppt/drawings/drawing27.xml><?xml version="1.0" encoding="utf-8"?>
<c:userShapes xmlns:c="http://schemas.openxmlformats.org/drawingml/2006/chart">
  <cdr:relSizeAnchor xmlns:cdr="http://schemas.openxmlformats.org/drawingml/2006/chartDrawing">
    <cdr:from>
      <cdr:x>0.27083</cdr:x>
      <cdr:y>0.39865</cdr:y>
    </cdr:from>
    <cdr:to>
      <cdr:x>0.72917</cdr:x>
      <cdr:y>0.65163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424541" y="581990"/>
          <a:ext cx="718465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100</a:t>
          </a:r>
          <a:r>
            <a:rPr lang="ko-KR" altLang="en-US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 평균</a:t>
          </a:r>
          <a:endParaRPr lang="en-US" altLang="ko-KR" sz="900" kern="12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83.9</a:t>
          </a:r>
          <a:r>
            <a:rPr lang="ko-KR" altLang="en-US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</a:t>
          </a:r>
        </a:p>
      </cdr:txBody>
    </cdr:sp>
  </cdr:relSizeAnchor>
</c:userShapes>
</file>

<file path=ppt/drawings/drawing28.xml><?xml version="1.0" encoding="utf-8"?>
<c:userShapes xmlns:c="http://schemas.openxmlformats.org/drawingml/2006/chart">
  <cdr:relSizeAnchor xmlns:cdr="http://schemas.openxmlformats.org/drawingml/2006/chartDrawing">
    <cdr:from>
      <cdr:x>0.26879</cdr:x>
      <cdr:y>0.39865</cdr:y>
    </cdr:from>
    <cdr:to>
      <cdr:x>0.73121</cdr:x>
      <cdr:y>0.65163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421335" y="581990"/>
          <a:ext cx="724878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[</a:t>
          </a:r>
          <a:r>
            <a:rPr lang="ko-KR" altLang="en-US" sz="900" dirty="0" err="1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가볼래</a:t>
          </a: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-</a:t>
          </a: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터</a:t>
          </a: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]</a:t>
          </a:r>
          <a:b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</a:b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</a:rPr>
            <a:t>구독 여부</a:t>
          </a:r>
        </a:p>
      </cdr:txBody>
    </cdr:sp>
  </cdr:relSizeAnchor>
</c:userShapes>
</file>

<file path=ppt/drawings/drawing29.xml><?xml version="1.0" encoding="utf-8"?>
<c:userShapes xmlns:c="http://schemas.openxmlformats.org/drawingml/2006/chart">
  <cdr:relSizeAnchor xmlns:cdr="http://schemas.openxmlformats.org/drawingml/2006/chartDrawing">
    <cdr:from>
      <cdr:x>0.26879</cdr:x>
      <cdr:y>0.40165</cdr:y>
    </cdr:from>
    <cdr:to>
      <cdr:x>0.73121</cdr:x>
      <cdr:y>0.65463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421335" y="586370"/>
          <a:ext cx="724878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[</a:t>
          </a:r>
          <a:r>
            <a:rPr lang="ko-KR" altLang="en-US" sz="900" dirty="0" err="1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가볼래</a:t>
          </a: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-</a:t>
          </a: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터</a:t>
          </a: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]</a:t>
          </a:r>
          <a:b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구독 여부</a:t>
          </a:r>
        </a:p>
      </cdr:txBody>
    </cdr:sp>
  </cdr:relSizeAnchor>
</c:userShapes>
</file>

<file path=ppt/drawings/drawing30.xml><?xml version="1.0" encoding="utf-8"?>
<c:userShapes xmlns:c="http://schemas.openxmlformats.org/drawingml/2006/chart">
  <cdr:relSizeAnchor xmlns:cdr="http://schemas.openxmlformats.org/drawingml/2006/chartDrawing">
    <cdr:from>
      <cdr:x>0.30151</cdr:x>
      <cdr:y>0.40165</cdr:y>
    </cdr:from>
    <cdr:to>
      <cdr:x>0.69849</cdr:x>
      <cdr:y>0.65463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472631" y="586370"/>
          <a:ext cx="622285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여행상품 </a:t>
          </a: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/>
          </a:r>
          <a:b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경험여부</a:t>
          </a:r>
        </a:p>
      </cdr:txBody>
    </cdr:sp>
  </cdr:relSizeAnchor>
</c:userShapes>
</file>

<file path=ppt/drawings/drawing31.xml><?xml version="1.0" encoding="utf-8"?>
<c:userShapes xmlns:c="http://schemas.openxmlformats.org/drawingml/2006/chart">
  <cdr:relSizeAnchor xmlns:cdr="http://schemas.openxmlformats.org/drawingml/2006/chartDrawing">
    <cdr:from>
      <cdr:x>0.27083</cdr:x>
      <cdr:y>0.40165</cdr:y>
    </cdr:from>
    <cdr:to>
      <cdr:x>0.72917</cdr:x>
      <cdr:y>0.65463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424541" y="586370"/>
          <a:ext cx="718465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100</a:t>
          </a: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 평균</a:t>
          </a:r>
          <a:endParaRPr lang="en-US" altLang="ko-KR" sz="9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84.8</a:t>
          </a: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</a:t>
          </a:r>
        </a:p>
      </cdr:txBody>
    </cdr:sp>
  </cdr:relSizeAnchor>
</c:userShapes>
</file>

<file path=ppt/drawings/drawing32.xml><?xml version="1.0" encoding="utf-8"?>
<c:userShapes xmlns:c="http://schemas.openxmlformats.org/drawingml/2006/chart">
  <cdr:relSizeAnchor xmlns:cdr="http://schemas.openxmlformats.org/drawingml/2006/chartDrawing">
    <cdr:from>
      <cdr:x>0.30151</cdr:x>
      <cdr:y>0.39865</cdr:y>
    </cdr:from>
    <cdr:to>
      <cdr:x>0.69849</cdr:x>
      <cdr:y>0.65163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472631" y="581990"/>
          <a:ext cx="622285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ko-KR" altLang="en-US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여행상품 </a:t>
          </a:r>
          <a:r>
            <a:rPr lang="en-US" altLang="ko-KR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/>
          </a:r>
          <a:br>
            <a:rPr lang="en-US" altLang="ko-KR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</a:br>
          <a:r>
            <a:rPr lang="ko-KR" altLang="en-US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경험여부</a:t>
          </a:r>
        </a:p>
      </cdr:txBody>
    </cdr:sp>
  </cdr:relSizeAnchor>
</c:userShapes>
</file>

<file path=ppt/drawings/drawing33.xml><?xml version="1.0" encoding="utf-8"?>
<c:userShapes xmlns:c="http://schemas.openxmlformats.org/drawingml/2006/chart">
  <cdr:relSizeAnchor xmlns:cdr="http://schemas.openxmlformats.org/drawingml/2006/chartDrawing">
    <cdr:from>
      <cdr:x>0.27083</cdr:x>
      <cdr:y>0.40165</cdr:y>
    </cdr:from>
    <cdr:to>
      <cdr:x>0.72917</cdr:x>
      <cdr:y>0.65463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424541" y="586370"/>
          <a:ext cx="718465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100</a:t>
          </a: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 평균</a:t>
          </a:r>
          <a:endParaRPr lang="en-US" altLang="ko-KR" sz="9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85.4</a:t>
          </a: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</a:t>
          </a:r>
        </a:p>
      </cdr:txBody>
    </cdr:sp>
  </cdr:relSizeAnchor>
</c:userShapes>
</file>

<file path=ppt/drawings/drawing34.xml><?xml version="1.0" encoding="utf-8"?>
<c:userShapes xmlns:c="http://schemas.openxmlformats.org/drawingml/2006/chart">
  <cdr:relSizeAnchor xmlns:cdr="http://schemas.openxmlformats.org/drawingml/2006/chartDrawing">
    <cdr:from>
      <cdr:x>0.27083</cdr:x>
      <cdr:y>0.39865</cdr:y>
    </cdr:from>
    <cdr:to>
      <cdr:x>0.72917</cdr:x>
      <cdr:y>0.65163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424541" y="581990"/>
          <a:ext cx="718465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100</a:t>
          </a:r>
          <a:r>
            <a:rPr lang="ko-KR" altLang="en-US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 평균</a:t>
          </a:r>
          <a:endParaRPr lang="en-US" altLang="ko-KR" sz="900" kern="12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84.9</a:t>
          </a:r>
          <a:r>
            <a:rPr lang="ko-KR" altLang="en-US" sz="900" kern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</a:t>
          </a:r>
        </a:p>
      </cdr:txBody>
    </cdr:sp>
  </cdr:relSizeAnchor>
</c:userShapes>
</file>

<file path=ppt/drawings/drawing35.xml><?xml version="1.0" encoding="utf-8"?>
<c:userShapes xmlns:c="http://schemas.openxmlformats.org/drawingml/2006/chart">
  <cdr:relSizeAnchor xmlns:cdr="http://schemas.openxmlformats.org/drawingml/2006/chartDrawing">
    <cdr:from>
      <cdr:x>0.27083</cdr:x>
      <cdr:y>0.40165</cdr:y>
    </cdr:from>
    <cdr:to>
      <cdr:x>0.72917</cdr:x>
      <cdr:y>0.65463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0A88D27-DF3A-C8A9-0DF1-1BB0A2B96F5B}"/>
            </a:ext>
          </a:extLst>
        </cdr:cNvPr>
        <cdr:cNvSpPr/>
      </cdr:nvSpPr>
      <cdr:spPr>
        <a:xfrm xmlns:a="http://schemas.openxmlformats.org/drawingml/2006/main">
          <a:off x="424541" y="586370"/>
          <a:ext cx="718465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ko-KR"/>
          </a:defPPr>
          <a:lvl1pPr marL="0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00964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801929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202893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603858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004822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405786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2806751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207715" algn="l" defTabSz="801929" rtl="0" eaLnBrk="1" latinLnBrk="1" hangingPunct="1">
            <a:defRPr sz="1579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100</a:t>
          </a: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 평균</a:t>
          </a:r>
          <a:endParaRPr lang="en-US" altLang="ko-KR" sz="9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85.4</a:t>
          </a:r>
          <a:r>
            <a: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</a:t>
          </a:r>
        </a:p>
      </cdr:txBody>
    </cdr:sp>
  </cdr:relSizeAnchor>
</c:userShapes>
</file>

<file path=ppt/drawings/drawing36.xml><?xml version="1.0" encoding="utf-8"?>
<c:userShapes xmlns:c="http://schemas.openxmlformats.org/drawingml/2006/chart">
  <cdr:relSizeAnchor xmlns:cdr="http://schemas.openxmlformats.org/drawingml/2006/chartDrawing">
    <cdr:from>
      <cdr:x>0.27083</cdr:x>
      <cdr:y>0.39865</cdr:y>
    </cdr:from>
    <cdr:to>
      <cdr:x>0.72917</cdr:x>
      <cdr:y>0.65163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9D81604B-5158-0DCF-7E86-5295060EAF2C}"/>
            </a:ext>
          </a:extLst>
        </cdr:cNvPr>
        <cdr:cNvSpPr/>
      </cdr:nvSpPr>
      <cdr:spPr>
        <a:xfrm xmlns:a="http://schemas.openxmlformats.org/drawingml/2006/main">
          <a:off x="424541" y="581990"/>
          <a:ext cx="718465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kern="120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100</a:t>
          </a:r>
          <a:r>
            <a:rPr lang="ko-KR" altLang="en-US" sz="900" kern="120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 평균</a:t>
          </a:r>
          <a:endParaRPr lang="en-US" altLang="ko-KR" sz="900" kern="120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</a:endParaRPr>
        </a:p>
        <a:p xmlns:a="http://schemas.openxmlformats.org/drawingml/2006/main">
          <a:pPr algn="ctr" defTabSz="914379" latinLnBrk="0">
            <a:defRPr lang="ko-KR" altLang="en-US" sz="800" b="0" i="0" u="none" strike="noStrike" kern="1200" baseline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n-cs"/>
            </a:defRPr>
          </a:pPr>
          <a:r>
            <a:rPr lang="en-US" altLang="ko-KR" sz="900" kern="120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85.1</a:t>
          </a:r>
          <a:r>
            <a:rPr lang="ko-KR" altLang="en-US" sz="900" kern="120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rPr>
            <a:t>점</a:t>
          </a:r>
          <a:endParaRPr lang="ko-KR" altLang="en-US" sz="900" kern="1200" dirty="0">
            <a:ln>
              <a:solidFill>
                <a:schemeClr val="tx1">
                  <a:lumMod val="65000"/>
                  <a:lumOff val="35000"/>
                  <a:alpha val="0"/>
                </a:schemeClr>
              </a:solidFill>
            </a:ln>
            <a:solidFill>
              <a:schemeClr val="tx1">
                <a:lumMod val="75000"/>
                <a:lumOff val="25000"/>
              </a:schemeClr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50529" cy="497445"/>
          </a:xfrm>
          <a:prstGeom prst="rect">
            <a:avLst/>
          </a:prstGeom>
        </p:spPr>
        <p:txBody>
          <a:bodyPr vert="horz" lIns="91550" tIns="45774" rIns="91550" bIns="4577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2" y="3"/>
            <a:ext cx="2950529" cy="497445"/>
          </a:xfrm>
          <a:prstGeom prst="rect">
            <a:avLst/>
          </a:prstGeom>
        </p:spPr>
        <p:txBody>
          <a:bodyPr vert="horz" lIns="91550" tIns="45774" rIns="91550" bIns="45774" rtlCol="0"/>
          <a:lstStyle>
            <a:lvl1pPr algn="r">
              <a:defRPr sz="1200"/>
            </a:lvl1pPr>
          </a:lstStyle>
          <a:p>
            <a:fld id="{F4512FDF-8B59-4E44-B507-1830D45732F8}" type="datetimeFigureOut">
              <a:rPr lang="ko-KR" altLang="en-US" smtClean="0"/>
              <a:pPr/>
              <a:t>2024-12-24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305"/>
            <a:ext cx="2950529" cy="497445"/>
          </a:xfrm>
          <a:prstGeom prst="rect">
            <a:avLst/>
          </a:prstGeom>
        </p:spPr>
        <p:txBody>
          <a:bodyPr vert="horz" lIns="91550" tIns="45774" rIns="91550" bIns="4577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2" y="9440305"/>
            <a:ext cx="2950529" cy="497445"/>
          </a:xfrm>
          <a:prstGeom prst="rect">
            <a:avLst/>
          </a:prstGeom>
        </p:spPr>
        <p:txBody>
          <a:bodyPr vert="horz" lIns="91550" tIns="45774" rIns="91550" bIns="45774" rtlCol="0" anchor="b"/>
          <a:lstStyle>
            <a:lvl1pPr algn="r">
              <a:defRPr sz="1200"/>
            </a:lvl1pPr>
          </a:lstStyle>
          <a:p>
            <a:fld id="{E1C3A571-1625-4D27-B3D5-B605E471170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953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0529" cy="497524"/>
          </a:xfrm>
          <a:prstGeom prst="rect">
            <a:avLst/>
          </a:prstGeom>
        </p:spPr>
        <p:txBody>
          <a:bodyPr vert="horz" lIns="91550" tIns="45774" rIns="91550" bIns="4577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082" y="1"/>
            <a:ext cx="2950529" cy="497524"/>
          </a:xfrm>
          <a:prstGeom prst="rect">
            <a:avLst/>
          </a:prstGeom>
        </p:spPr>
        <p:txBody>
          <a:bodyPr vert="horz" lIns="91550" tIns="45774" rIns="91550" bIns="45774" rtlCol="0"/>
          <a:lstStyle>
            <a:lvl1pPr algn="r">
              <a:defRPr sz="1200"/>
            </a:lvl1pPr>
          </a:lstStyle>
          <a:p>
            <a:fld id="{709C7E0A-BEC5-4533-B3CB-EFE821C2E4A3}" type="datetimeFigureOut">
              <a:rPr lang="ko-KR" altLang="en-US" smtClean="0"/>
              <a:pPr/>
              <a:t>2024-12-24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4" rIns="91550" bIns="4577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403" y="4720911"/>
            <a:ext cx="5446396" cy="4472940"/>
          </a:xfrm>
          <a:prstGeom prst="rect">
            <a:avLst/>
          </a:prstGeom>
        </p:spPr>
        <p:txBody>
          <a:bodyPr vert="horz" lIns="91550" tIns="45774" rIns="91550" bIns="4577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226"/>
            <a:ext cx="2950529" cy="497523"/>
          </a:xfrm>
          <a:prstGeom prst="rect">
            <a:avLst/>
          </a:prstGeom>
        </p:spPr>
        <p:txBody>
          <a:bodyPr vert="horz" lIns="91550" tIns="45774" rIns="91550" bIns="4577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082" y="9440226"/>
            <a:ext cx="2950529" cy="497523"/>
          </a:xfrm>
          <a:prstGeom prst="rect">
            <a:avLst/>
          </a:prstGeom>
        </p:spPr>
        <p:txBody>
          <a:bodyPr vert="horz" lIns="91550" tIns="45774" rIns="91550" bIns="45774" rtlCol="0" anchor="b"/>
          <a:lstStyle>
            <a:lvl1pPr algn="r">
              <a:defRPr sz="1200"/>
            </a:lvl1pPr>
          </a:lstStyle>
          <a:p>
            <a:fld id="{747045FD-BA37-4B83-B6D0-7AB8FF58B15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96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DD0B3-1DEA-EB44-4202-0A39AFBF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93509E-E065-683B-C3FB-2054E811D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613F6-E664-6A86-1F84-2ED681C9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B083A8-3A39-45A7-9CD4-5C73EF6D1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569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53809-69CE-76D0-C3D8-154F599D5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F5533B-C5DA-82E3-FED0-A198A8EE4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D19A45-945C-4CAE-EFAC-E0540B3CF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6CA313-08B2-A6CE-6494-FA3CC6689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578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F5EFC-6553-93C5-752D-571B2FDD2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6D194E-8ECF-57AB-0929-2B6323F23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E92886-D37C-A80C-139B-4BF5A2C5F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154103-1C32-2AD4-12AD-551D15F69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395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69AB-4D59-E285-29D0-5F9D9672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193DA-76A2-CFED-D03F-F6B6F53F5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EFD3F8-486C-703C-D318-75E44F468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C05D7F-AD6D-DAEE-4841-E5B09364F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88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2408-B06F-68E4-CC74-DF111612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63E9A3-8844-DC5D-D318-D1D3DF693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1196E9-54E7-F833-38B2-29817C74B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C67FEE-0FB1-81E1-7329-A5530585E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566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30993-2097-EF5B-63EB-4ACF69D3F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8CCED6-05B5-EEE6-687A-6E3C39FE9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2E0C72-0E48-0D9A-3631-76BEF93EA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463DD5-EDDD-FC1E-C64A-B891EC4EE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723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B865-B1D6-6D80-895E-707DC140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DE56B8-C8CB-986D-705A-A6EC87D81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280514-5095-0ED7-5AFF-458A24E7F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8BA954-D2DB-FC8C-F527-506A9DA632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34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B8A7-1D45-82D3-CA4D-0A8B0025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44A866-EBAC-E4E9-4656-65C36E95E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9B6C50-A1DF-EC6F-F198-F4CE0E620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1CE2B8-7F27-A7E1-9224-5C92902F85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879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01CF1-A1CC-313A-730A-4CADA51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D623F-40E9-C534-29BF-7FD5CDA66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7619BB-A373-EF85-D19D-9E2D9A2DA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E2B23D-CD17-0BEE-1F98-18481FC4A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025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D513F-A514-DA49-9F2F-FE221968B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1500F8-B14A-3D06-A94A-0797242B1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BEDC18-B1C6-0D52-CB7E-9AB00C710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23319-FA34-00B9-44E8-A3E75FE7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371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D372B-8DC6-264A-92E7-4ECF997A6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706C08-28BD-3DE5-8CC7-704929774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0141CA-77C3-7315-4E38-50CD46B04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A1928-B8A4-950A-17BA-782417C49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630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24B1D-C59D-5CB1-7DE3-5D18EFC1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C73782-ADDD-5BC1-D250-6B924E6BD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96345A-F269-533A-9E88-9CBEAE562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10A8D5-66A5-4EEF-5180-238BB3B020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092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DA9FD-9D3C-28F3-C4D3-D195C649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6FD5D2-B834-6A59-1BAF-9C2D335D7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34C07A-9E0C-BAF0-3559-DC0D4BA48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6EC0F6-A247-78D9-C597-FB243CB22C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725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7E33-9161-B113-6C6C-E3FBEB7B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ABA4DC-B0EB-20B1-DC35-C300F359D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6A4EF1-8631-20BB-99EC-B885BC588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939027-B3C7-23F2-EF89-064ECAABC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661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623CF-135B-F489-D311-28FF7A2F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367F8-88D1-AD4A-9B75-55191B4F7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52DB42-E733-9D70-2C92-1CEBE4D6A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D4A24A-D35F-29E4-8D83-C262E5921E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771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1A10-8516-02A3-F878-3FCAE65D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BD19B5-E917-A540-2792-3A79B2E4F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99393E-1C50-9AE8-7EAA-7E2C4190E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BCF99-1F7D-1868-CAE5-43291951F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177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0FAC-FCF5-F37A-CC3F-1198302F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38A023-576A-B0CC-6BC1-4C6BB3F64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F5BE85-5AEA-727D-D8A2-35EA59C7C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2687A-7C01-7B77-0B67-D64EF4DD7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5512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EF840-7C54-4FD5-49AE-26084825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E51CFA-BF71-430D-5C25-B5CF23320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C0E6B3-2C10-B302-E960-82B6DA0E4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C0301E-5C2D-1176-60BA-E367E5B5F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175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C5F0-87FC-37B8-31AD-DA0666AB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FC593-48A5-0F99-C228-26FD7991B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E24D97-191F-DB41-FE5B-763C9BCA1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150F53-A525-083D-581D-FBE000A14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21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2D7E9-20BB-070F-19BB-35015A89E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5B8940-BE8D-DCC2-F39A-3C582E5D8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BF7D2A-FB74-4EC2-0756-903C73DC6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804D24-EE29-7AB8-61FF-4062D1AE87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0272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D6ACE-44AC-976E-D5B3-801D4144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50BAAB-4C09-7D4A-095E-0133E6B6E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F1F3A9-41AA-3A2E-FC58-FE80E79CD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42E8F6-A25C-E1EA-BE48-A3D9F10903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862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66A07-8DFA-FE9A-99DD-4E45EC24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2D0649-D527-2439-E851-A515427C3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A04F7-95D4-E28C-2009-161F28415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E08BF-E7F7-EC98-8648-910430EA7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1200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8DDD-3215-FC36-A6F1-9B153502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18C2AE-D224-C3D0-2D41-FA93D61E4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8AA832-B617-EE10-A38E-76C4C1A9A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4CADF-DDF9-B946-24D3-7B3CA6340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4295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370D-A3FD-C8EA-150C-761E9E15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ECE438-F6D7-2DAF-D534-26290F4C1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3545D8-DCD5-74EA-37EE-552591792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4A90B2-4DE4-D924-2817-DF71EFA63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226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B2336-8FB6-1697-83AB-64868EEB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9E3BA4-B87D-84EA-63A8-9E5392074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B1C013-3D44-97A8-8229-5664DEEE1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9B3EB-BCC8-EFB4-B42E-9DE7C3882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1046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121D-A766-19A4-2D76-DC8428631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7B2CCB-5240-83A9-CC57-D68910EAA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D43D50-9C7A-AB9D-DDC9-823423571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1E4093-9F01-1682-EE0A-4DFE38A956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05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AA557-BBC7-F745-E7B2-7C028D69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2D18D5-D324-7D0E-0BC4-F3115174E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796297-2554-25B0-15ED-C0614AF1F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FE82D-56B2-E3CD-95C7-C1FDB6262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016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37F8B-3D0F-36B5-D6FD-DED62893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06D41D-5641-7E78-A668-A5E04D15D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89E655-7D06-F351-3601-1398EF7CC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1CD10-4B98-D8FD-838A-6F0BC98BC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1925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BA10D-F357-064E-C4F0-94D63DA00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697F85-ECA7-67B4-55C2-D8C79C0DA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09FA33-0670-0FC6-D66A-3D4CAED9D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A1F099-B156-4CE5-759B-23983219C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8805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D9FC2-FA43-CAED-D0F9-F7B1FAF4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4EF46E-FCA4-3C53-0EBA-6D42C0368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30B071-848A-7533-F16F-11612AE45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4D75B4-CFAA-586B-8F4F-9E5ECB0EB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4489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4017A-220C-D1A9-98D4-4EF3BC7C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758616-26A2-EF00-8224-FAB8FA4AC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8F9DFE-1E47-B0F9-7371-E0B83A0B5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36EB0-F040-33D9-EF73-2FD023549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7577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0747-8943-85F1-7E98-B5ECB6165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45DF3A-7A1C-259B-D28B-0FB59BD3B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260C08-A995-88F0-1EF9-DB7330E6E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1B768D-F09C-41D2-3302-E0C39A4ED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2992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B2631-4079-D42F-BC29-AFC2EFA7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285263-DF31-FF43-89DE-A22F3E56F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1246E7-E069-F030-B84C-E45CBAA00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6A2A4-E3A0-AFD2-2D3A-55E55590D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6783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9863-EACD-8370-B0C7-826B1AA4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8A1B25-20AA-6920-C067-C3338B17B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0874A6-9E52-B500-D086-8F493F97D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5F336E-61F6-CC85-82E2-C733E984E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7442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0858-507F-9973-5EF3-78D2FCD77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19B9F1-BF5A-0E00-B336-C6462AE33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74EA72-61D0-6361-8D42-1CFB22656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B36A72-4F0F-6ED2-B291-981EA7F45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199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5B612-DC28-CB49-578C-8E7BB66D9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87B68A-C9B0-9F5A-24E0-7887E6A0D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F14591-7937-FF1D-09CF-35DE0475B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46689B-A56F-3447-31EA-A9B75331C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1865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B9928-0709-7341-4EA7-5156A7FF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ABE9A1-1F87-12DB-28D5-AE37117BC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00FC31-4B01-08A1-BA60-F8BE0F06A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726363-F854-372E-149B-6DC214664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8763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F24C-6483-8D68-90F0-17EF9E00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546ACB-9CD6-1330-18EB-C07D3A555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7AF490-C89A-90C6-4A2B-412CC28FD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9706C8-8DA7-D682-3D54-4C558B8D1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991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F28C0-D854-ED1F-4B95-2084D21B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B0DE8F-D07A-F01A-3DEC-72614CDD4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9CBBCE-2190-73C7-43D7-03D7A676D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986B8A-B11A-96DD-18D2-5657ED1A6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8044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EDEE-FA4C-E42B-F3EB-D406DC9E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1453F8-6746-6F94-2D9F-07420B4B4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EFF4BD-6092-EE98-00B8-E66BC173F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7973A2-2B9D-6161-6B3E-1F99C58CB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4028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CFC43-D572-0D7E-2DB7-E6DF7158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836BCF-62B5-D4CE-76AD-E98CD93BB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5DDBD9-4205-2736-E866-3498F2CBC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A3C6B1-BD8B-3748-F29E-739A399FB2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8270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32E50-C375-E250-18A4-B79B993C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FEC2A4-2CAE-7440-2978-DDF24F10A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6A0EE7-0CE4-C02C-1149-31EAEF13E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7F5FD9-39B5-C3B5-06BD-8AA945557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9296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7036-7DC1-348D-5201-C17B04D77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1B4DF1-D331-EFC0-8066-8B0F2AD87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935905-89EC-61BD-F2F1-468614F26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C9E84F-766D-B44F-187D-C26175CDB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35877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20B80-7B4E-26EE-6B16-251FC15F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3BA17B-E665-AA47-3C3B-2030F221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2A5231-8DCE-8DE5-FCE0-5CD75C522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AB2900-44AB-4EBA-548F-721572080F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2071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3AD5-FD65-4387-FC7D-6A978772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9B2007-E9B8-EBE3-711B-1F52AF37F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2217C6-AC46-9FA2-EBDD-6E6393163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121548-5AFA-9FDE-4074-9501DBED73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8537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137A-CC9F-29E7-B1AF-0F075D5E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02443B-10A5-58DB-108C-5B2F90732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266989-05C5-79F4-CBE1-CE0604D88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5BFBE9-B266-7222-925A-72769D2A1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045FD-BA37-4B83-B6D0-7AB8FF58B15E}" type="slidenum">
              <a:rPr lang="ko-KR" altLang="en-US" smtClean="0"/>
              <a:pPr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67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032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목차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3" r="6255" b="17815"/>
          <a:stretch/>
        </p:blipFill>
        <p:spPr>
          <a:xfrm>
            <a:off x="7935540" y="5301000"/>
            <a:ext cx="1841460" cy="145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69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간지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965510" y="2797382"/>
            <a:ext cx="4896157" cy="1972648"/>
          </a:xfrm>
          <a:prstGeom prst="rect">
            <a:avLst/>
          </a:prstGeom>
        </p:spPr>
        <p:txBody>
          <a:bodyPr wrap="none" anchor="t">
            <a:noAutofit/>
          </a:bodyPr>
          <a:lstStyle>
            <a:lvl1pPr marL="342900" indent="-342900"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  <a:defRPr sz="1800" b="0" i="0" spc="0" normalizeH="0" baseline="0">
                <a:ln>
                  <a:solidFill>
                    <a:srgbClr val="A9B7B7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971550" indent="-514350">
              <a:buFont typeface="+mj-lt"/>
              <a:buAutoNum type="arabicPeriod"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371600" indent="-457200">
              <a:buFont typeface="+mj-lt"/>
              <a:buAutoNum type="arabicPeriod"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828800" indent="-457200">
              <a:buFont typeface="+mj-lt"/>
              <a:buAutoNum type="arabicPeriod"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286000" indent="-457200">
              <a:buFont typeface="+mj-lt"/>
              <a:buAutoNum type="arabicPeriod"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7" name="부제목 2"/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buNone/>
              <a:defRPr sz="3200" b="0" i="0" spc="0" normalizeH="0" baseline="0">
                <a:ln>
                  <a:solidFill>
                    <a:srgbClr val="508CB4">
                      <a:alpha val="0"/>
                    </a:srgbClr>
                  </a:solidFill>
                </a:ln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5" name="제목 1"/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  <a:prstGeom prst="rect">
            <a:avLst/>
          </a:prstGeom>
          <a:noFill/>
        </p:spPr>
        <p:txBody>
          <a:bodyPr wrap="none" rtlCol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tx1"/>
              </a:contourClr>
            </a:sp3d>
          </a:bodyPr>
          <a:lstStyle>
            <a:lvl1pPr algn="l">
              <a:defRPr kumimoji="0" lang="ko-KR" altLang="en-US" sz="3200" b="1" i="0" spc="0" normalizeH="0" baseline="0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/>
              </a:defRPr>
            </a:lvl1pPr>
          </a:lstStyle>
          <a:p>
            <a:pPr lvl="0">
              <a:buFont typeface="Wingdings" pitchFamily="2" charset="2"/>
              <a:buNone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4242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속지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01000" y="120079"/>
            <a:ext cx="3130985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lvl1pPr>
              <a:defRPr kumimoji="0" lang="ko-KR" altLang="en-US" sz="2400" b="0" i="0" u="none" strike="noStrike" cap="none" spc="0" normalizeH="0" baseline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lvl="0">
              <a:lnSpc>
                <a:spcPct val="100000"/>
              </a:lnSpc>
              <a:buFont typeface="Wingdings" pitchFamily="2" charset="2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5" name="부제목 2"/>
          <p:cNvSpPr>
            <a:spLocks noGrp="1"/>
          </p:cNvSpPr>
          <p:nvPr>
            <p:ph type="subTitle" idx="10"/>
          </p:nvPr>
        </p:nvSpPr>
        <p:spPr>
          <a:xfrm>
            <a:off x="273000" y="726883"/>
            <a:ext cx="6934200" cy="360919"/>
          </a:xfrm>
          <a:prstGeom prst="rect">
            <a:avLst/>
          </a:prstGeom>
        </p:spPr>
        <p:txBody>
          <a:bodyPr wrap="none" anchor="ctr"/>
          <a:lstStyle>
            <a:lvl1pPr marL="0" indent="0" algn="l">
              <a:buNone/>
              <a:defRPr sz="1800" b="1" spc="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75723" y="1113976"/>
            <a:ext cx="9324000" cy="280417"/>
          </a:xfrm>
          <a:prstGeom prst="rect">
            <a:avLst/>
          </a:prstGeom>
        </p:spPr>
        <p:txBody>
          <a:bodyPr anchor="t"/>
          <a:lstStyle>
            <a:lvl1pPr marL="214313" indent="-214313">
              <a:lnSpc>
                <a:spcPct val="110000"/>
              </a:lnSpc>
              <a:spcAft>
                <a:spcPts val="200"/>
              </a:spcAft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  <a:defRPr sz="1300" b="0" i="0" spc="0" baseline="0">
                <a:ln>
                  <a:solidFill>
                    <a:srgbClr val="3F7CB3">
                      <a:alpha val="0"/>
                    </a:srgb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2629315-7ED1-C730-06E2-E4E6E17A0154}"/>
              </a:ext>
            </a:extLst>
          </p:cNvPr>
          <p:cNvGrpSpPr/>
          <p:nvPr userDrawn="1"/>
        </p:nvGrpSpPr>
        <p:grpSpPr>
          <a:xfrm>
            <a:off x="0" y="630331"/>
            <a:ext cx="9906000" cy="50400"/>
            <a:chOff x="0" y="1790700"/>
            <a:chExt cx="9906000" cy="1080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532491C-683A-3536-913B-361B91AD59F4}"/>
                </a:ext>
              </a:extLst>
            </p:cNvPr>
            <p:cNvSpPr/>
            <p:nvPr userDrawn="1"/>
          </p:nvSpPr>
          <p:spPr>
            <a:xfrm>
              <a:off x="0" y="1790700"/>
              <a:ext cx="9906000" cy="10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aseline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사다리꼴 6">
              <a:extLst>
                <a:ext uri="{FF2B5EF4-FFF2-40B4-BE49-F238E27FC236}">
                  <a16:creationId xmlns:a16="http://schemas.microsoft.com/office/drawing/2014/main" id="{D70A486E-95F5-44DB-F6EA-F0CE3662629D}"/>
                </a:ext>
              </a:extLst>
            </p:cNvPr>
            <p:cNvSpPr/>
            <p:nvPr userDrawn="1"/>
          </p:nvSpPr>
          <p:spPr>
            <a:xfrm>
              <a:off x="123502" y="1790700"/>
              <a:ext cx="1800000" cy="108000"/>
            </a:xfrm>
            <a:prstGeom prst="trapezoid">
              <a:avLst>
                <a:gd name="adj" fmla="val 80856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baseline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사다리꼴 7">
              <a:extLst>
                <a:ext uri="{FF2B5EF4-FFF2-40B4-BE49-F238E27FC236}">
                  <a16:creationId xmlns:a16="http://schemas.microsoft.com/office/drawing/2014/main" id="{DEEDCDD4-8266-2BBD-CB39-82212D274739}"/>
                </a:ext>
              </a:extLst>
            </p:cNvPr>
            <p:cNvSpPr/>
            <p:nvPr userDrawn="1"/>
          </p:nvSpPr>
          <p:spPr>
            <a:xfrm>
              <a:off x="0" y="1790700"/>
              <a:ext cx="1800000" cy="108000"/>
            </a:xfrm>
            <a:prstGeom prst="trapezoid">
              <a:avLst>
                <a:gd name="adj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aseline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0" name="그림 9" descr="그래픽, 텍스트, 그래픽 디자인, 폰트이(가) 표시된 사진&#10;&#10;자동 생성된 설명">
            <a:extLst>
              <a:ext uri="{FF2B5EF4-FFF2-40B4-BE49-F238E27FC236}">
                <a16:creationId xmlns:a16="http://schemas.microsoft.com/office/drawing/2014/main" id="{8983272F-73F0-38A8-3E65-521E135C4E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543" y="171594"/>
            <a:ext cx="1129637" cy="377295"/>
          </a:xfrm>
          <a:prstGeom prst="rect">
            <a:avLst/>
          </a:prstGeom>
        </p:spPr>
      </p:pic>
      <p:sp>
        <p:nvSpPr>
          <p:cNvPr id="15" name="바닥글 개체 틀 3">
            <a:extLst>
              <a:ext uri="{FF2B5EF4-FFF2-40B4-BE49-F238E27FC236}">
                <a16:creationId xmlns:a16="http://schemas.microsoft.com/office/drawing/2014/main" id="{75E4E27D-1C0F-21DF-776E-3D9708CD148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720972" y="6675524"/>
            <a:ext cx="273600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0" spc="0" baseline="0" dirty="0">
                <a:ln>
                  <a:solidFill>
                    <a:srgbClr val="6C9BD2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굴림" pitchFamily="50" charset="-127"/>
              </a:rPr>
              <a:t>Copyright © 2024 Global Research ® All rights reserved</a:t>
            </a:r>
            <a:endParaRPr kumimoji="1" lang="ko-KR" altLang="ko-KR" sz="800" b="0" spc="0" baseline="0" dirty="0">
              <a:ln>
                <a:solidFill>
                  <a:srgbClr val="6C9BD2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굴림" pitchFamily="50" charset="-127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1621DCD-5116-BA2D-E869-83ABEF9915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89234" y="6676269"/>
            <a:ext cx="34432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fld id="{54E21ACA-2B26-418F-8EFC-655A86BE9D60}" type="slidenum">
              <a:rPr kumimoji="1" lang="de-DE" altLang="ko-KR" sz="800" b="0" spc="0" baseline="0" smtClean="0">
                <a:ln>
                  <a:solidFill>
                    <a:srgbClr val="6C9BD2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굴림" pitchFamily="50" charset="-127"/>
              </a:rPr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ko-KR" sz="800" b="0" spc="0" baseline="0" dirty="0">
              <a:ln>
                <a:solidFill>
                  <a:srgbClr val="6C9BD2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851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속지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01000" y="120079"/>
            <a:ext cx="3130985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lvl1pPr>
              <a:defRPr kumimoji="0" lang="ko-KR" altLang="en-US" sz="2400" b="0" i="0" u="none" strike="noStrike" cap="none" spc="0" normalizeH="0" baseline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lvl="0">
              <a:lnSpc>
                <a:spcPct val="100000"/>
              </a:lnSpc>
              <a:buFont typeface="Wingdings" pitchFamily="2" charset="2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5000" y="792993"/>
            <a:ext cx="9324000" cy="280417"/>
          </a:xfrm>
          <a:prstGeom prst="rect">
            <a:avLst/>
          </a:prstGeom>
        </p:spPr>
        <p:txBody>
          <a:bodyPr anchor="t"/>
          <a:lstStyle>
            <a:lvl1pPr marL="214313" indent="-214313">
              <a:lnSpc>
                <a:spcPct val="110000"/>
              </a:lnSpc>
              <a:spcAft>
                <a:spcPts val="200"/>
              </a:spcAft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  <a:defRPr sz="1200" b="0" i="0" spc="0" baseline="0">
                <a:ln>
                  <a:solidFill>
                    <a:srgbClr val="3F7CB3">
                      <a:alpha val="0"/>
                    </a:srgb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F4B2E18-5A0B-B64F-FADD-8A5518E8B9BE}"/>
              </a:ext>
            </a:extLst>
          </p:cNvPr>
          <p:cNvGrpSpPr/>
          <p:nvPr userDrawn="1"/>
        </p:nvGrpSpPr>
        <p:grpSpPr>
          <a:xfrm>
            <a:off x="0" y="630331"/>
            <a:ext cx="9906000" cy="50400"/>
            <a:chOff x="0" y="1790700"/>
            <a:chExt cx="9906000" cy="1080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575E743-0192-F2A1-EC80-561BBB391A54}"/>
                </a:ext>
              </a:extLst>
            </p:cNvPr>
            <p:cNvSpPr/>
            <p:nvPr userDrawn="1"/>
          </p:nvSpPr>
          <p:spPr>
            <a:xfrm>
              <a:off x="0" y="1790700"/>
              <a:ext cx="9906000" cy="10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aseline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사다리꼴 11">
              <a:extLst>
                <a:ext uri="{FF2B5EF4-FFF2-40B4-BE49-F238E27FC236}">
                  <a16:creationId xmlns:a16="http://schemas.microsoft.com/office/drawing/2014/main" id="{AFE3DBF1-2E89-E2E0-074E-AC51D90B2633}"/>
                </a:ext>
              </a:extLst>
            </p:cNvPr>
            <p:cNvSpPr/>
            <p:nvPr userDrawn="1"/>
          </p:nvSpPr>
          <p:spPr>
            <a:xfrm>
              <a:off x="123502" y="1790700"/>
              <a:ext cx="1800000" cy="108000"/>
            </a:xfrm>
            <a:prstGeom prst="trapezoid">
              <a:avLst>
                <a:gd name="adj" fmla="val 80856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baseline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사다리꼴 12">
              <a:extLst>
                <a:ext uri="{FF2B5EF4-FFF2-40B4-BE49-F238E27FC236}">
                  <a16:creationId xmlns:a16="http://schemas.microsoft.com/office/drawing/2014/main" id="{19AD367F-FA6C-4B3A-BADD-B20BB6DF13BA}"/>
                </a:ext>
              </a:extLst>
            </p:cNvPr>
            <p:cNvSpPr/>
            <p:nvPr userDrawn="1"/>
          </p:nvSpPr>
          <p:spPr>
            <a:xfrm>
              <a:off x="0" y="1790700"/>
              <a:ext cx="1800000" cy="108000"/>
            </a:xfrm>
            <a:prstGeom prst="trapezoid">
              <a:avLst>
                <a:gd name="adj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aseline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그래픽, 텍스트, 그래픽 디자인, 폰트이(가) 표시된 사진&#10;&#10;자동 생성된 설명">
            <a:extLst>
              <a:ext uri="{FF2B5EF4-FFF2-40B4-BE49-F238E27FC236}">
                <a16:creationId xmlns:a16="http://schemas.microsoft.com/office/drawing/2014/main" id="{BE3F737C-2C48-AD41-0F30-A6DAFCA2E8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543" y="171594"/>
            <a:ext cx="1129637" cy="377295"/>
          </a:xfrm>
          <a:prstGeom prst="rect">
            <a:avLst/>
          </a:prstGeom>
        </p:spPr>
      </p:pic>
      <p:sp>
        <p:nvSpPr>
          <p:cNvPr id="15" name="바닥글 개체 틀 3">
            <a:extLst>
              <a:ext uri="{FF2B5EF4-FFF2-40B4-BE49-F238E27FC236}">
                <a16:creationId xmlns:a16="http://schemas.microsoft.com/office/drawing/2014/main" id="{C1212403-9419-B932-B00C-4A948D90D03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720972" y="6675524"/>
            <a:ext cx="273600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0" spc="0" baseline="0" dirty="0">
                <a:ln>
                  <a:solidFill>
                    <a:srgbClr val="6C9BD2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굴림" pitchFamily="50" charset="-127"/>
              </a:rPr>
              <a:t>Copyright © 2024 Global Research ® All rights reserved</a:t>
            </a:r>
            <a:endParaRPr kumimoji="1" lang="ko-KR" altLang="ko-KR" sz="800" b="0" spc="0" baseline="0" dirty="0">
              <a:ln>
                <a:solidFill>
                  <a:srgbClr val="6C9BD2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굴림" pitchFamily="50" charset="-127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8BC4F199-C15A-90F2-F8E6-3156451EB8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89234" y="6676269"/>
            <a:ext cx="34432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fld id="{54E21ACA-2B26-418F-8EFC-655A86BE9D60}" type="slidenum">
              <a:rPr kumimoji="1" lang="de-DE" altLang="ko-KR" sz="800" b="0" spc="0" baseline="0" smtClean="0">
                <a:ln>
                  <a:solidFill>
                    <a:srgbClr val="6C9BD2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굴림" pitchFamily="50" charset="-127"/>
              </a:rPr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ko-KR" sz="800" b="0" spc="0" baseline="0" dirty="0">
              <a:ln>
                <a:solidFill>
                  <a:srgbClr val="6C9BD2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1919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탱큐_1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93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35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7" r:id="rId4"/>
    <p:sldLayoutId id="2147483665" r:id="rId5"/>
    <p:sldLayoutId id="2147483655" r:id="rId6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800" b="1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j-cs"/>
        </a:defRPr>
      </a:lvl1pPr>
    </p:titleStyle>
    <p:bodyStyle>
      <a:lvl1pPr marL="187325" indent="-187325" algn="l" defTabSz="914400" rtl="0" eaLnBrk="1" latinLnBrk="1" hangingPunct="1">
        <a:lnSpc>
          <a:spcPct val="120000"/>
        </a:lnSpc>
        <a:spcBef>
          <a:spcPts val="0"/>
        </a:spcBef>
        <a:spcAft>
          <a:spcPts val="150"/>
        </a:spcAft>
        <a:buFont typeface="Arial" pitchFamily="34" charset="0"/>
        <a:buChar char="•"/>
        <a:defRPr sz="12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3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3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3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3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.xml"/><Relationship Id="rId13" Type="http://schemas.openxmlformats.org/officeDocument/2006/relationships/image" Target="../media/image9.png"/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12" Type="http://schemas.openxmlformats.org/officeDocument/2006/relationships/chart" Target="../charts/chart1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9.xml"/><Relationship Id="rId11" Type="http://schemas.openxmlformats.org/officeDocument/2006/relationships/chart" Target="../charts/chart14.xml"/><Relationship Id="rId5" Type="http://schemas.openxmlformats.org/officeDocument/2006/relationships/chart" Target="../charts/chart8.xml"/><Relationship Id="rId10" Type="http://schemas.openxmlformats.org/officeDocument/2006/relationships/chart" Target="../charts/chart13.xml"/><Relationship Id="rId4" Type="http://schemas.openxmlformats.org/officeDocument/2006/relationships/chart" Target="../charts/chart7.xml"/><Relationship Id="rId9" Type="http://schemas.openxmlformats.org/officeDocument/2006/relationships/chart" Target="../charts/char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3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36.xml"/><Relationship Id="rId5" Type="http://schemas.openxmlformats.org/officeDocument/2006/relationships/image" Target="../media/image9.png"/><Relationship Id="rId4" Type="http://schemas.openxmlformats.org/officeDocument/2006/relationships/chart" Target="../charts/char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4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4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5.xml"/><Relationship Id="rId2" Type="http://schemas.openxmlformats.org/officeDocument/2006/relationships/chart" Target="../charts/chart4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4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chart" Target="../charts/chart4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4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hart" Target="../charts/chart51.xml"/><Relationship Id="rId7" Type="http://schemas.openxmlformats.org/officeDocument/2006/relationships/image" Target="../media/image12.jpeg"/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chart" Target="../charts/chart5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6.xml"/><Relationship Id="rId2" Type="http://schemas.openxmlformats.org/officeDocument/2006/relationships/chart" Target="../charts/chart5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5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9.xml"/><Relationship Id="rId2" Type="http://schemas.openxmlformats.org/officeDocument/2006/relationships/chart" Target="../charts/chart5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6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2.xml"/><Relationship Id="rId2" Type="http://schemas.openxmlformats.org/officeDocument/2006/relationships/chart" Target="../charts/chart6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6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chart" Target="../charts/chart65.xml"/><Relationship Id="rId7" Type="http://schemas.openxmlformats.org/officeDocument/2006/relationships/image" Target="../media/image14.jpeg"/><Relationship Id="rId2" Type="http://schemas.openxmlformats.org/officeDocument/2006/relationships/chart" Target="../charts/chart6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eg"/><Relationship Id="rId5" Type="http://schemas.openxmlformats.org/officeDocument/2006/relationships/image" Target="../media/image9.png"/><Relationship Id="rId4" Type="http://schemas.openxmlformats.org/officeDocument/2006/relationships/chart" Target="../charts/chart66.xml"/><Relationship Id="rId9" Type="http://schemas.openxmlformats.org/officeDocument/2006/relationships/image" Target="../media/image16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hart" Target="../charts/chart6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1.xml"/><Relationship Id="rId2" Type="http://schemas.openxmlformats.org/officeDocument/2006/relationships/chart" Target="../charts/chart7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chart" Target="../charts/chart73.xml"/><Relationship Id="rId4" Type="http://schemas.openxmlformats.org/officeDocument/2006/relationships/chart" Target="../charts/chart7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5.xml"/><Relationship Id="rId2" Type="http://schemas.openxmlformats.org/officeDocument/2006/relationships/chart" Target="../charts/chart7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chart" Target="../charts/chart77.xml"/><Relationship Id="rId4" Type="http://schemas.openxmlformats.org/officeDocument/2006/relationships/chart" Target="../charts/chart7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hart" Target="../charts/chart7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chart" Target="../charts/chart79.xml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4.xml"/><Relationship Id="rId3" Type="http://schemas.openxmlformats.org/officeDocument/2006/relationships/chart" Target="../charts/chart80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83.xml"/><Relationship Id="rId5" Type="http://schemas.openxmlformats.org/officeDocument/2006/relationships/chart" Target="../charts/chart82.xml"/><Relationship Id="rId4" Type="http://schemas.openxmlformats.org/officeDocument/2006/relationships/chart" Target="../charts/chart81.xml"/><Relationship Id="rId9" Type="http://schemas.openxmlformats.org/officeDocument/2006/relationships/chart" Target="../charts/chart8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0.xml"/><Relationship Id="rId3" Type="http://schemas.openxmlformats.org/officeDocument/2006/relationships/chart" Target="../charts/chart86.xml"/><Relationship Id="rId7" Type="http://schemas.openxmlformats.org/officeDocument/2006/relationships/chart" Target="../charts/chart8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chart" Target="../charts/chart88.xml"/><Relationship Id="rId4" Type="http://schemas.openxmlformats.org/officeDocument/2006/relationships/chart" Target="../charts/chart8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93.xml"/><Relationship Id="rId5" Type="http://schemas.openxmlformats.org/officeDocument/2006/relationships/image" Target="../media/image9.png"/><Relationship Id="rId4" Type="http://schemas.openxmlformats.org/officeDocument/2006/relationships/chart" Target="../charts/chart9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png"/><Relationship Id="rId7" Type="http://schemas.openxmlformats.org/officeDocument/2006/relationships/chart" Target="../charts/chart96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95.xml"/><Relationship Id="rId5" Type="http://schemas.openxmlformats.org/officeDocument/2006/relationships/chart" Target="../charts/chart94.xml"/><Relationship Id="rId4" Type="http://schemas.openxmlformats.org/officeDocument/2006/relationships/image" Target="../media/image18.png"/><Relationship Id="rId9" Type="http://schemas.openxmlformats.org/officeDocument/2006/relationships/chart" Target="../charts/chart9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hart" Target="../charts/chart98.xml"/><Relationship Id="rId7" Type="http://schemas.openxmlformats.org/officeDocument/2006/relationships/chart" Target="../charts/chart10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01.xml"/><Relationship Id="rId5" Type="http://schemas.openxmlformats.org/officeDocument/2006/relationships/chart" Target="../charts/chart100.xml"/><Relationship Id="rId10" Type="http://schemas.openxmlformats.org/officeDocument/2006/relationships/chart" Target="../charts/chart104.xml"/><Relationship Id="rId4" Type="http://schemas.openxmlformats.org/officeDocument/2006/relationships/chart" Target="../charts/chart99.xml"/><Relationship Id="rId9" Type="http://schemas.openxmlformats.org/officeDocument/2006/relationships/chart" Target="../charts/chart10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9.xml"/><Relationship Id="rId3" Type="http://schemas.openxmlformats.org/officeDocument/2006/relationships/chart" Target="../charts/chart105.xml"/><Relationship Id="rId7" Type="http://schemas.openxmlformats.org/officeDocument/2006/relationships/chart" Target="../charts/chart10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07.xml"/><Relationship Id="rId11" Type="http://schemas.openxmlformats.org/officeDocument/2006/relationships/chart" Target="../charts/chart112.xml"/><Relationship Id="rId5" Type="http://schemas.openxmlformats.org/officeDocument/2006/relationships/chart" Target="../charts/chart106.xml"/><Relationship Id="rId10" Type="http://schemas.openxmlformats.org/officeDocument/2006/relationships/chart" Target="../charts/chart111.xml"/><Relationship Id="rId4" Type="http://schemas.openxmlformats.org/officeDocument/2006/relationships/image" Target="../media/image9.png"/><Relationship Id="rId9" Type="http://schemas.openxmlformats.org/officeDocument/2006/relationships/chart" Target="../charts/chart1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9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chart" Target="../charts/chart12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hart" Target="../charts/chart122.xml"/><Relationship Id="rId7" Type="http://schemas.openxmlformats.org/officeDocument/2006/relationships/chart" Target="../charts/chart126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25.xml"/><Relationship Id="rId5" Type="http://schemas.openxmlformats.org/officeDocument/2006/relationships/chart" Target="../charts/chart124.xml"/><Relationship Id="rId4" Type="http://schemas.openxmlformats.org/officeDocument/2006/relationships/chart" Target="../charts/chart12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7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30.xml"/><Relationship Id="rId5" Type="http://schemas.openxmlformats.org/officeDocument/2006/relationships/chart" Target="../charts/chart129.xml"/><Relationship Id="rId4" Type="http://schemas.openxmlformats.org/officeDocument/2006/relationships/chart" Target="../charts/chart12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694CA5-526A-4C04-85D2-52E5085568E0}"/>
              </a:ext>
            </a:extLst>
          </p:cNvPr>
          <p:cNvSpPr txBox="1"/>
          <p:nvPr/>
        </p:nvSpPr>
        <p:spPr bwMode="gray">
          <a:xfrm>
            <a:off x="399157" y="2060331"/>
            <a:ext cx="3312368" cy="400110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2000" dirty="0">
                <a:ln>
                  <a:solidFill>
                    <a:srgbClr val="3F7CB3">
                      <a:alpha val="0"/>
                    </a:srgbClr>
                  </a:solidFill>
                </a:ln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2024</a:t>
            </a:r>
            <a:r>
              <a:rPr lang="ko-KR" altLang="en-US" sz="2000" dirty="0">
                <a:ln>
                  <a:solidFill>
                    <a:srgbClr val="3F7CB3">
                      <a:alpha val="0"/>
                    </a:srgbClr>
                  </a:solidFill>
                </a:ln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55DD1D-01B8-469F-882C-7BDCFB7C702D}"/>
              </a:ext>
            </a:extLst>
          </p:cNvPr>
          <p:cNvSpPr txBox="1"/>
          <p:nvPr/>
        </p:nvSpPr>
        <p:spPr bwMode="gray">
          <a:xfrm>
            <a:off x="365669" y="2355769"/>
            <a:ext cx="7867589" cy="1281441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3200" dirty="0">
                <a:ln>
                  <a:solidFill>
                    <a:srgbClr val="3F7CB3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대한민국 구석구석 사용자</a:t>
            </a:r>
            <a:endParaRPr lang="en-US" altLang="ko-KR" sz="3200" dirty="0">
              <a:ln>
                <a:solidFill>
                  <a:srgbClr val="3F7CB3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3200" dirty="0">
                <a:ln>
                  <a:solidFill>
                    <a:srgbClr val="3F7CB3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만족도 조사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2D26D5B7-4647-88F3-FD91-7861B5646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73316" y="6389468"/>
            <a:ext cx="2133600" cy="25146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815F1A2-9D2E-8A2D-BCA1-2346FD9AD2B8}"/>
              </a:ext>
            </a:extLst>
          </p:cNvPr>
          <p:cNvGrpSpPr/>
          <p:nvPr/>
        </p:nvGrpSpPr>
        <p:grpSpPr>
          <a:xfrm>
            <a:off x="504046" y="4313457"/>
            <a:ext cx="1073584" cy="292388"/>
            <a:chOff x="656267" y="4260860"/>
            <a:chExt cx="1073584" cy="292388"/>
          </a:xfrm>
        </p:grpSpPr>
        <p:sp>
          <p:nvSpPr>
            <p:cNvPr id="8" name="모서리가 둥근 직사각형 14">
              <a:extLst>
                <a:ext uri="{FF2B5EF4-FFF2-40B4-BE49-F238E27FC236}">
                  <a16:creationId xmlns:a16="http://schemas.microsoft.com/office/drawing/2014/main" id="{2EBC5EAF-4C60-2937-63F8-FC96F4836890}"/>
                </a:ext>
              </a:extLst>
            </p:cNvPr>
            <p:cNvSpPr/>
            <p:nvPr/>
          </p:nvSpPr>
          <p:spPr>
            <a:xfrm>
              <a:off x="656267" y="4263761"/>
              <a:ext cx="1073584" cy="268331"/>
            </a:xfrm>
            <a:prstGeom prst="roundRect">
              <a:avLst>
                <a:gd name="adj" fmla="val 50000"/>
              </a:avLst>
            </a:prstGeom>
            <a:solidFill>
              <a:srgbClr val="1AB0D5"/>
            </a:solidFill>
            <a:ln w="6350">
              <a:noFill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100" b="0" i="0" u="none" strike="noStrike" kern="1200" cap="none" spc="0" normalizeH="0" noProof="0" dirty="0">
                <a:ln>
                  <a:noFill/>
                </a:ln>
                <a:solidFill>
                  <a:srgbClr val="084184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맑은 고딕 Semilight" panose="020B0502040204020203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D7DF1F4-D301-F961-031F-F97F007EB6B0}"/>
                </a:ext>
              </a:extLst>
            </p:cNvPr>
            <p:cNvSpPr/>
            <p:nvPr/>
          </p:nvSpPr>
          <p:spPr>
            <a:xfrm>
              <a:off x="756278" y="4260860"/>
              <a:ext cx="873562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1" i="0" u="none" strike="noStrike" kern="1200" cap="none" spc="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2024. 12</a:t>
              </a:r>
              <a:endParaRPr kumimoji="0" lang="ko-KR" altLang="en-US" sz="1300" b="1" i="0" u="none" strike="noStrike" kern="1200" cap="none" spc="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  <p:pic>
        <p:nvPicPr>
          <p:cNvPr id="5" name="그림 4" descr="그래픽, 텍스트, 그래픽 디자인, 폰트이(가) 표시된 사진&#10;&#10;자동 생성된 설명">
            <a:extLst>
              <a:ext uri="{FF2B5EF4-FFF2-40B4-BE49-F238E27FC236}">
                <a16:creationId xmlns:a16="http://schemas.microsoft.com/office/drawing/2014/main" id="{8E5FCFB4-6362-B586-5B36-1526CAEF95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16" y="652730"/>
            <a:ext cx="1719434" cy="57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29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부제목 11"/>
          <p:cNvSpPr txBox="1">
            <a:spLocks/>
          </p:cNvSpPr>
          <p:nvPr/>
        </p:nvSpPr>
        <p:spPr>
          <a:xfrm>
            <a:off x="273050" y="1269000"/>
            <a:ext cx="1714221" cy="583803"/>
          </a:xfrm>
          <a:prstGeom prst="rect">
            <a:avLst/>
          </a:prstGeom>
        </p:spPr>
        <p:txBody>
          <a:bodyPr/>
          <a:lstStyle>
            <a:lvl1pPr marL="187325" indent="-187325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150"/>
              </a:spcAft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00" kern="1200" baseline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00" kern="1200" baseline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00" kern="1200" baseline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00" kern="1200" baseline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007BF6"/>
              </a:buClr>
              <a:buSzPct val="80000"/>
              <a:buNone/>
            </a:pPr>
            <a:r>
              <a:rPr lang="en-US" altLang="ko-KR" sz="30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Contents</a:t>
            </a:r>
            <a:endParaRPr lang="ko-KR" altLang="en-US" sz="3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20BAA53-7696-7797-0921-DABA424AB1EE}"/>
              </a:ext>
            </a:extLst>
          </p:cNvPr>
          <p:cNvGrpSpPr/>
          <p:nvPr/>
        </p:nvGrpSpPr>
        <p:grpSpPr>
          <a:xfrm>
            <a:off x="3441000" y="1852803"/>
            <a:ext cx="4823343" cy="395295"/>
            <a:chOff x="2459909" y="2351131"/>
            <a:chExt cx="4823343" cy="39529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13195B3-D3D8-E7F4-DEAB-A22171AE3208}"/>
                </a:ext>
              </a:extLst>
            </p:cNvPr>
            <p:cNvSpPr txBox="1"/>
            <p:nvPr/>
          </p:nvSpPr>
          <p:spPr bwMode="gray">
            <a:xfrm>
              <a:off x="3694742" y="2351131"/>
              <a:ext cx="2135237" cy="373377"/>
            </a:xfrm>
            <a:prstGeom prst="rect">
              <a:avLst/>
            </a:prstGeom>
            <a:noFill/>
          </p:spPr>
          <p:txBody>
            <a:bodyPr wrap="none" lIns="0" rtlCol="0" anchor="ctr">
              <a:noAutofit/>
            </a:bodyPr>
            <a:lstStyle>
              <a:defPPr>
                <a:defRPr lang="ko-KR"/>
              </a:defPPr>
              <a:lvl1pPr marL="0" algn="l" defTabSz="914400" eaLnBrk="1" hangingPunct="1">
                <a:buClr>
                  <a:srgbClr val="007BF6"/>
                </a:buClr>
                <a:buSzPct val="80000"/>
                <a:defRPr sz="13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39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algn="l" defTabSz="914400" eaLnBrk="1" hangingPunct="1">
                <a:defRPr sz="1800">
                  <a:latin typeface="+mn-lt"/>
                  <a:ea typeface="+mn-ea"/>
                </a:defRPr>
              </a:lvl2pPr>
              <a:lvl3pPr algn="l" defTabSz="914400" eaLnBrk="1" hangingPunct="1">
                <a:defRPr sz="1800">
                  <a:latin typeface="+mn-lt"/>
                  <a:ea typeface="+mn-ea"/>
                </a:defRPr>
              </a:lvl3pPr>
              <a:lvl4pPr algn="l" defTabSz="914400" eaLnBrk="1" hangingPunct="1">
                <a:defRPr sz="1800">
                  <a:latin typeface="+mn-lt"/>
                  <a:ea typeface="+mn-ea"/>
                </a:defRPr>
              </a:lvl4pPr>
              <a:lvl5pPr algn="l" defTabSz="914400" eaLnBrk="1" hangingPunct="1">
                <a:defRPr sz="1800">
                  <a:latin typeface="+mn-lt"/>
                  <a:ea typeface="+mn-ea"/>
                </a:defRPr>
              </a:lvl5pPr>
              <a:lvl6pPr>
                <a:defRPr sz="1800">
                  <a:latin typeface="+mn-lt"/>
                  <a:ea typeface="+mn-ea"/>
                </a:defRPr>
              </a:lvl6pPr>
              <a:lvl7pPr>
                <a:defRPr sz="1800">
                  <a:latin typeface="+mn-lt"/>
                  <a:ea typeface="+mn-ea"/>
                </a:defRPr>
              </a:lvl7pPr>
              <a:lvl8pPr>
                <a:defRPr sz="1800">
                  <a:latin typeface="+mn-lt"/>
                  <a:ea typeface="+mn-ea"/>
                </a:defRPr>
              </a:lvl8pPr>
              <a:lvl9pPr>
                <a:defRPr sz="1800">
                  <a:latin typeface="+mn-lt"/>
                  <a:ea typeface="+mn-ea"/>
                </a:defRPr>
              </a:lvl9pPr>
            </a:lstStyle>
            <a:p>
              <a:pPr>
                <a:defRPr/>
              </a:pPr>
              <a:r>
                <a:rPr lang="ko-KR" altLang="en-US" sz="1600" b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조사 개요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355FF0-25AC-8BD9-0E29-1CAF20881CB7}"/>
                </a:ext>
              </a:extLst>
            </p:cNvPr>
            <p:cNvSpPr txBox="1"/>
            <p:nvPr/>
          </p:nvSpPr>
          <p:spPr bwMode="gray">
            <a:xfrm>
              <a:off x="6419909" y="2373049"/>
              <a:ext cx="863343" cy="373377"/>
            </a:xfrm>
            <a:prstGeom prst="rect">
              <a:avLst/>
            </a:prstGeom>
            <a:noFill/>
          </p:spPr>
          <p:txBody>
            <a:bodyPr wrap="none" lIns="0" rtlCol="0" anchor="ctr">
              <a:noAutofit/>
            </a:bodyPr>
            <a:lstStyle>
              <a:defPPr>
                <a:defRPr lang="ko-KR"/>
              </a:defPPr>
              <a:lvl1pPr marL="0" algn="l" defTabSz="914400" eaLnBrk="1" hangingPunct="1">
                <a:buClr>
                  <a:srgbClr val="007BF6"/>
                </a:buClr>
                <a:buSzPct val="80000"/>
                <a:defRPr sz="13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39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algn="l" defTabSz="914400" eaLnBrk="1" hangingPunct="1">
                <a:defRPr sz="1800">
                  <a:latin typeface="+mn-lt"/>
                  <a:ea typeface="+mn-ea"/>
                </a:defRPr>
              </a:lvl2pPr>
              <a:lvl3pPr algn="l" defTabSz="914400" eaLnBrk="1" hangingPunct="1">
                <a:defRPr sz="1800">
                  <a:latin typeface="+mn-lt"/>
                  <a:ea typeface="+mn-ea"/>
                </a:defRPr>
              </a:lvl3pPr>
              <a:lvl4pPr algn="l" defTabSz="914400" eaLnBrk="1" hangingPunct="1">
                <a:defRPr sz="1800">
                  <a:latin typeface="+mn-lt"/>
                  <a:ea typeface="+mn-ea"/>
                </a:defRPr>
              </a:lvl4pPr>
              <a:lvl5pPr algn="l" defTabSz="914400" eaLnBrk="1" hangingPunct="1">
                <a:defRPr sz="1800">
                  <a:latin typeface="+mn-lt"/>
                  <a:ea typeface="+mn-ea"/>
                </a:defRPr>
              </a:lvl5pPr>
              <a:lvl6pPr>
                <a:defRPr sz="1800">
                  <a:latin typeface="+mn-lt"/>
                  <a:ea typeface="+mn-ea"/>
                </a:defRPr>
              </a:lvl6pPr>
              <a:lvl7pPr>
                <a:defRPr sz="1800">
                  <a:latin typeface="+mn-lt"/>
                  <a:ea typeface="+mn-ea"/>
                </a:defRPr>
              </a:lvl7pPr>
              <a:lvl8pPr>
                <a:defRPr sz="1800">
                  <a:latin typeface="+mn-lt"/>
                  <a:ea typeface="+mn-ea"/>
                </a:defRPr>
              </a:lvl8pPr>
              <a:lvl9pPr>
                <a:defRPr sz="1800">
                  <a:latin typeface="+mn-lt"/>
                  <a:ea typeface="+mn-ea"/>
                </a:defRPr>
              </a:lvl9pPr>
            </a:lstStyle>
            <a:p>
              <a:pPr algn="r">
                <a:defRPr/>
              </a:pPr>
              <a:r>
                <a:rPr lang="en-US" altLang="ko-KR" sz="1600" b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02</a:t>
              </a:r>
              <a:endParaRPr lang="ko-KR" altLang="en-US" sz="1600" b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4588607-F493-31D5-36A0-7DF4B40C79F3}"/>
                </a:ext>
              </a:extLst>
            </p:cNvPr>
            <p:cNvGrpSpPr/>
            <p:nvPr/>
          </p:nvGrpSpPr>
          <p:grpSpPr>
            <a:xfrm>
              <a:off x="2459909" y="2358450"/>
              <a:ext cx="1068686" cy="338826"/>
              <a:chOff x="2459909" y="2358450"/>
              <a:chExt cx="1068686" cy="338826"/>
            </a:xfrm>
          </p:grpSpPr>
          <p:sp>
            <p:nvSpPr>
              <p:cNvPr id="6" name="양쪽 모서리가 둥근 사각형 4">
                <a:extLst>
                  <a:ext uri="{FF2B5EF4-FFF2-40B4-BE49-F238E27FC236}">
                    <a16:creationId xmlns:a16="http://schemas.microsoft.com/office/drawing/2014/main" id="{AC8954E0-AA23-96C6-67A0-F4C43A223FED}"/>
                  </a:ext>
                </a:extLst>
              </p:cNvPr>
              <p:cNvSpPr/>
              <p:nvPr/>
            </p:nvSpPr>
            <p:spPr bwMode="gray">
              <a:xfrm>
                <a:off x="2459909" y="2358451"/>
                <a:ext cx="985605" cy="33506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3B3B3B"/>
              </a:solidFill>
              <a:ln>
                <a:noFill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ko-KR" altLang="en-US" sz="160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7" name="직각 삼각형 6">
                <a:extLst>
                  <a:ext uri="{FF2B5EF4-FFF2-40B4-BE49-F238E27FC236}">
                    <a16:creationId xmlns:a16="http://schemas.microsoft.com/office/drawing/2014/main" id="{95BAFA7A-0857-2699-C6A7-45195E6909F1}"/>
                  </a:ext>
                </a:extLst>
              </p:cNvPr>
              <p:cNvSpPr/>
              <p:nvPr/>
            </p:nvSpPr>
            <p:spPr bwMode="gray">
              <a:xfrm rot="5400000">
                <a:off x="3362432" y="2358450"/>
                <a:ext cx="166163" cy="166163"/>
              </a:xfrm>
              <a:prstGeom prst="rtTriangle">
                <a:avLst/>
              </a:prstGeom>
              <a:solidFill>
                <a:srgbClr val="3B3B3B"/>
              </a:solidFill>
              <a:ln>
                <a:noFill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ko-KR" altLang="en-US" sz="160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49FFEAF-0DE3-C5B0-AC50-56FA1EE6708E}"/>
                  </a:ext>
                </a:extLst>
              </p:cNvPr>
              <p:cNvSpPr/>
              <p:nvPr/>
            </p:nvSpPr>
            <p:spPr bwMode="gray">
              <a:xfrm>
                <a:off x="2573936" y="2358722"/>
                <a:ext cx="817853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latinLnBrk="0">
                  <a:defRPr/>
                </a:pPr>
                <a:r>
                  <a:rPr lang="en-US" altLang="ko-KR" sz="16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Part Ⅰ</a:t>
                </a: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4CAE510-3728-400C-A9EA-2B1BED36BB74}"/>
              </a:ext>
            </a:extLst>
          </p:cNvPr>
          <p:cNvGrpSpPr/>
          <p:nvPr/>
        </p:nvGrpSpPr>
        <p:grpSpPr>
          <a:xfrm>
            <a:off x="3441000" y="2691537"/>
            <a:ext cx="4823343" cy="395295"/>
            <a:chOff x="2459909" y="2351131"/>
            <a:chExt cx="4823343" cy="39529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4D4C98A-577E-C380-387C-E2BE3ADBDA1B}"/>
                </a:ext>
              </a:extLst>
            </p:cNvPr>
            <p:cNvSpPr txBox="1"/>
            <p:nvPr/>
          </p:nvSpPr>
          <p:spPr bwMode="gray">
            <a:xfrm>
              <a:off x="3694742" y="2351131"/>
              <a:ext cx="2135237" cy="373377"/>
            </a:xfrm>
            <a:prstGeom prst="rect">
              <a:avLst/>
            </a:prstGeom>
            <a:noFill/>
          </p:spPr>
          <p:txBody>
            <a:bodyPr wrap="none" lIns="0" rtlCol="0" anchor="ctr">
              <a:noAutofit/>
            </a:bodyPr>
            <a:lstStyle>
              <a:defPPr>
                <a:defRPr lang="ko-KR"/>
              </a:defPPr>
              <a:lvl1pPr marL="0" algn="l" defTabSz="914400" eaLnBrk="1" hangingPunct="1">
                <a:buClr>
                  <a:srgbClr val="007BF6"/>
                </a:buClr>
                <a:buSzPct val="80000"/>
                <a:defRPr sz="13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39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algn="l" defTabSz="914400" eaLnBrk="1" hangingPunct="1">
                <a:defRPr sz="1800">
                  <a:latin typeface="+mn-lt"/>
                  <a:ea typeface="+mn-ea"/>
                </a:defRPr>
              </a:lvl2pPr>
              <a:lvl3pPr algn="l" defTabSz="914400" eaLnBrk="1" hangingPunct="1">
                <a:defRPr sz="1800">
                  <a:latin typeface="+mn-lt"/>
                  <a:ea typeface="+mn-ea"/>
                </a:defRPr>
              </a:lvl3pPr>
              <a:lvl4pPr algn="l" defTabSz="914400" eaLnBrk="1" hangingPunct="1">
                <a:defRPr sz="1800">
                  <a:latin typeface="+mn-lt"/>
                  <a:ea typeface="+mn-ea"/>
                </a:defRPr>
              </a:lvl4pPr>
              <a:lvl5pPr algn="l" defTabSz="914400" eaLnBrk="1" hangingPunct="1">
                <a:defRPr sz="1800">
                  <a:latin typeface="+mn-lt"/>
                  <a:ea typeface="+mn-ea"/>
                </a:defRPr>
              </a:lvl5pPr>
              <a:lvl6pPr>
                <a:defRPr sz="1800">
                  <a:latin typeface="+mn-lt"/>
                  <a:ea typeface="+mn-ea"/>
                </a:defRPr>
              </a:lvl6pPr>
              <a:lvl7pPr>
                <a:defRPr sz="1800">
                  <a:latin typeface="+mn-lt"/>
                  <a:ea typeface="+mn-ea"/>
                </a:defRPr>
              </a:lvl7pPr>
              <a:lvl8pPr>
                <a:defRPr sz="1800">
                  <a:latin typeface="+mn-lt"/>
                  <a:ea typeface="+mn-ea"/>
                </a:defRPr>
              </a:lvl8pPr>
              <a:lvl9pPr>
                <a:defRPr sz="1800">
                  <a:latin typeface="+mn-lt"/>
                  <a:ea typeface="+mn-ea"/>
                </a:defRPr>
              </a:lvl9pPr>
            </a:lstStyle>
            <a:p>
              <a:pPr>
                <a:defRPr/>
              </a:pPr>
              <a:r>
                <a:rPr lang="ko-KR" altLang="en-US" sz="1600" b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주요 조사 내용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25E0BD-3F8C-966D-B18D-AD38E9396C70}"/>
                </a:ext>
              </a:extLst>
            </p:cNvPr>
            <p:cNvSpPr txBox="1"/>
            <p:nvPr/>
          </p:nvSpPr>
          <p:spPr bwMode="gray">
            <a:xfrm>
              <a:off x="6419909" y="2373049"/>
              <a:ext cx="863343" cy="373377"/>
            </a:xfrm>
            <a:prstGeom prst="rect">
              <a:avLst/>
            </a:prstGeom>
            <a:noFill/>
          </p:spPr>
          <p:txBody>
            <a:bodyPr wrap="none" lIns="0" rtlCol="0" anchor="ctr">
              <a:noAutofit/>
            </a:bodyPr>
            <a:lstStyle>
              <a:defPPr>
                <a:defRPr lang="ko-KR"/>
              </a:defPPr>
              <a:lvl1pPr marL="0" algn="l" defTabSz="914400" eaLnBrk="1" hangingPunct="1">
                <a:buClr>
                  <a:srgbClr val="007BF6"/>
                </a:buClr>
                <a:buSzPct val="80000"/>
                <a:defRPr sz="13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39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algn="l" defTabSz="914400" eaLnBrk="1" hangingPunct="1">
                <a:defRPr sz="1800">
                  <a:latin typeface="+mn-lt"/>
                  <a:ea typeface="+mn-ea"/>
                </a:defRPr>
              </a:lvl2pPr>
              <a:lvl3pPr algn="l" defTabSz="914400" eaLnBrk="1" hangingPunct="1">
                <a:defRPr sz="1800">
                  <a:latin typeface="+mn-lt"/>
                  <a:ea typeface="+mn-ea"/>
                </a:defRPr>
              </a:lvl3pPr>
              <a:lvl4pPr algn="l" defTabSz="914400" eaLnBrk="1" hangingPunct="1">
                <a:defRPr sz="1800">
                  <a:latin typeface="+mn-lt"/>
                  <a:ea typeface="+mn-ea"/>
                </a:defRPr>
              </a:lvl4pPr>
              <a:lvl5pPr algn="l" defTabSz="914400" eaLnBrk="1" hangingPunct="1">
                <a:defRPr sz="1800">
                  <a:latin typeface="+mn-lt"/>
                  <a:ea typeface="+mn-ea"/>
                </a:defRPr>
              </a:lvl5pPr>
              <a:lvl6pPr>
                <a:defRPr sz="1800">
                  <a:latin typeface="+mn-lt"/>
                  <a:ea typeface="+mn-ea"/>
                </a:defRPr>
              </a:lvl6pPr>
              <a:lvl7pPr>
                <a:defRPr sz="1800">
                  <a:latin typeface="+mn-lt"/>
                  <a:ea typeface="+mn-ea"/>
                </a:defRPr>
              </a:lvl7pPr>
              <a:lvl8pPr>
                <a:defRPr sz="1800">
                  <a:latin typeface="+mn-lt"/>
                  <a:ea typeface="+mn-ea"/>
                </a:defRPr>
              </a:lvl8pPr>
              <a:lvl9pPr>
                <a:defRPr sz="1800">
                  <a:latin typeface="+mn-lt"/>
                  <a:ea typeface="+mn-ea"/>
                </a:defRPr>
              </a:lvl9pPr>
            </a:lstStyle>
            <a:p>
              <a:pPr algn="r">
                <a:defRPr/>
              </a:pPr>
              <a:r>
                <a:rPr lang="en-US" altLang="ko-KR" sz="1600" b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05</a:t>
              </a:r>
              <a:endParaRPr lang="ko-KR" altLang="en-US" sz="1600" b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DC052A9B-C1F8-9FE1-3F75-92234C86BFEE}"/>
                </a:ext>
              </a:extLst>
            </p:cNvPr>
            <p:cNvGrpSpPr/>
            <p:nvPr/>
          </p:nvGrpSpPr>
          <p:grpSpPr>
            <a:xfrm>
              <a:off x="2459909" y="2358450"/>
              <a:ext cx="1068686" cy="338826"/>
              <a:chOff x="2459909" y="2358450"/>
              <a:chExt cx="1068686" cy="338826"/>
            </a:xfrm>
          </p:grpSpPr>
          <p:sp>
            <p:nvSpPr>
              <p:cNvPr id="21" name="양쪽 모서리가 둥근 사각형 4">
                <a:extLst>
                  <a:ext uri="{FF2B5EF4-FFF2-40B4-BE49-F238E27FC236}">
                    <a16:creationId xmlns:a16="http://schemas.microsoft.com/office/drawing/2014/main" id="{118AF1F0-C428-6F4E-2F71-CEFB0F802F31}"/>
                  </a:ext>
                </a:extLst>
              </p:cNvPr>
              <p:cNvSpPr/>
              <p:nvPr/>
            </p:nvSpPr>
            <p:spPr bwMode="gray">
              <a:xfrm>
                <a:off x="2459909" y="2358451"/>
                <a:ext cx="985605" cy="33506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3B3B3B"/>
              </a:solidFill>
              <a:ln>
                <a:noFill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ko-KR" altLang="en-US" sz="160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2" name="직각 삼각형 21">
                <a:extLst>
                  <a:ext uri="{FF2B5EF4-FFF2-40B4-BE49-F238E27FC236}">
                    <a16:creationId xmlns:a16="http://schemas.microsoft.com/office/drawing/2014/main" id="{498AB137-719F-026D-083A-4E43F6ED506C}"/>
                  </a:ext>
                </a:extLst>
              </p:cNvPr>
              <p:cNvSpPr/>
              <p:nvPr/>
            </p:nvSpPr>
            <p:spPr bwMode="gray">
              <a:xfrm rot="5400000">
                <a:off x="3362432" y="2358450"/>
                <a:ext cx="166163" cy="166163"/>
              </a:xfrm>
              <a:prstGeom prst="rtTriangle">
                <a:avLst/>
              </a:prstGeom>
              <a:solidFill>
                <a:srgbClr val="3B3B3B"/>
              </a:solidFill>
              <a:ln>
                <a:noFill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ko-KR" altLang="en-US" sz="160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42F6AF9F-D9EE-A1D4-0483-7446738727D1}"/>
                  </a:ext>
                </a:extLst>
              </p:cNvPr>
              <p:cNvSpPr/>
              <p:nvPr/>
            </p:nvSpPr>
            <p:spPr bwMode="gray">
              <a:xfrm>
                <a:off x="2573936" y="2358722"/>
                <a:ext cx="817853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latinLnBrk="0">
                  <a:defRPr/>
                </a:pPr>
                <a:r>
                  <a:rPr lang="en-US" altLang="ko-KR" sz="16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Part Ⅱ</a:t>
                </a:r>
              </a:p>
            </p:txBody>
          </p:sp>
        </p:grp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B8EFAF3-85C1-BAEF-C329-20E4E765B77B}"/>
              </a:ext>
            </a:extLst>
          </p:cNvPr>
          <p:cNvGrpSpPr/>
          <p:nvPr/>
        </p:nvGrpSpPr>
        <p:grpSpPr>
          <a:xfrm>
            <a:off x="3441000" y="3530271"/>
            <a:ext cx="4823343" cy="395295"/>
            <a:chOff x="2459909" y="2351131"/>
            <a:chExt cx="4823343" cy="39529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886207B-13F7-7201-FC02-F4BF70FF46BA}"/>
                </a:ext>
              </a:extLst>
            </p:cNvPr>
            <p:cNvSpPr txBox="1"/>
            <p:nvPr/>
          </p:nvSpPr>
          <p:spPr bwMode="gray">
            <a:xfrm>
              <a:off x="3694742" y="2351131"/>
              <a:ext cx="2135237" cy="373377"/>
            </a:xfrm>
            <a:prstGeom prst="rect">
              <a:avLst/>
            </a:prstGeom>
            <a:noFill/>
          </p:spPr>
          <p:txBody>
            <a:bodyPr wrap="none" lIns="0" rtlCol="0" anchor="ctr">
              <a:noAutofit/>
            </a:bodyPr>
            <a:lstStyle>
              <a:defPPr>
                <a:defRPr lang="ko-KR"/>
              </a:defPPr>
              <a:lvl1pPr marL="0" algn="l" defTabSz="914400" eaLnBrk="1" hangingPunct="1">
                <a:buClr>
                  <a:srgbClr val="007BF6"/>
                </a:buClr>
                <a:buSzPct val="80000"/>
                <a:defRPr sz="13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39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algn="l" defTabSz="914400" eaLnBrk="1" hangingPunct="1">
                <a:defRPr sz="1800">
                  <a:latin typeface="+mn-lt"/>
                  <a:ea typeface="+mn-ea"/>
                </a:defRPr>
              </a:lvl2pPr>
              <a:lvl3pPr algn="l" defTabSz="914400" eaLnBrk="1" hangingPunct="1">
                <a:defRPr sz="1800">
                  <a:latin typeface="+mn-lt"/>
                  <a:ea typeface="+mn-ea"/>
                </a:defRPr>
              </a:lvl3pPr>
              <a:lvl4pPr algn="l" defTabSz="914400" eaLnBrk="1" hangingPunct="1">
                <a:defRPr sz="1800">
                  <a:latin typeface="+mn-lt"/>
                  <a:ea typeface="+mn-ea"/>
                </a:defRPr>
              </a:lvl4pPr>
              <a:lvl5pPr algn="l" defTabSz="914400" eaLnBrk="1" hangingPunct="1">
                <a:defRPr sz="1800">
                  <a:latin typeface="+mn-lt"/>
                  <a:ea typeface="+mn-ea"/>
                </a:defRPr>
              </a:lvl5pPr>
              <a:lvl6pPr>
                <a:defRPr sz="1800">
                  <a:latin typeface="+mn-lt"/>
                  <a:ea typeface="+mn-ea"/>
                </a:defRPr>
              </a:lvl6pPr>
              <a:lvl7pPr>
                <a:defRPr sz="1800">
                  <a:latin typeface="+mn-lt"/>
                  <a:ea typeface="+mn-ea"/>
                </a:defRPr>
              </a:lvl7pPr>
              <a:lvl8pPr>
                <a:defRPr sz="1800">
                  <a:latin typeface="+mn-lt"/>
                  <a:ea typeface="+mn-ea"/>
                </a:defRPr>
              </a:lvl8pPr>
              <a:lvl9pPr>
                <a:defRPr sz="1800">
                  <a:latin typeface="+mn-lt"/>
                  <a:ea typeface="+mn-ea"/>
                </a:defRPr>
              </a:lvl9pPr>
            </a:lstStyle>
            <a:p>
              <a:pPr>
                <a:defRPr/>
              </a:pPr>
              <a:r>
                <a:rPr lang="ko-KR" altLang="en-US" sz="1600" b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조사 결과 요약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BF25F5E-F358-FEA0-77B0-BBB443DDB8B5}"/>
                </a:ext>
              </a:extLst>
            </p:cNvPr>
            <p:cNvSpPr txBox="1"/>
            <p:nvPr/>
          </p:nvSpPr>
          <p:spPr bwMode="gray">
            <a:xfrm>
              <a:off x="6419909" y="2373049"/>
              <a:ext cx="863343" cy="373377"/>
            </a:xfrm>
            <a:prstGeom prst="rect">
              <a:avLst/>
            </a:prstGeom>
            <a:noFill/>
          </p:spPr>
          <p:txBody>
            <a:bodyPr wrap="none" lIns="0" rtlCol="0" anchor="ctr">
              <a:noAutofit/>
            </a:bodyPr>
            <a:lstStyle>
              <a:defPPr>
                <a:defRPr lang="ko-KR"/>
              </a:defPPr>
              <a:lvl1pPr marL="0" algn="l" defTabSz="914400" eaLnBrk="1" hangingPunct="1">
                <a:buClr>
                  <a:srgbClr val="007BF6"/>
                </a:buClr>
                <a:buSzPct val="80000"/>
                <a:defRPr sz="13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39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algn="l" defTabSz="914400" eaLnBrk="1" hangingPunct="1">
                <a:defRPr sz="1800">
                  <a:latin typeface="+mn-lt"/>
                  <a:ea typeface="+mn-ea"/>
                </a:defRPr>
              </a:lvl2pPr>
              <a:lvl3pPr algn="l" defTabSz="914400" eaLnBrk="1" hangingPunct="1">
                <a:defRPr sz="1800">
                  <a:latin typeface="+mn-lt"/>
                  <a:ea typeface="+mn-ea"/>
                </a:defRPr>
              </a:lvl3pPr>
              <a:lvl4pPr algn="l" defTabSz="914400" eaLnBrk="1" hangingPunct="1">
                <a:defRPr sz="1800">
                  <a:latin typeface="+mn-lt"/>
                  <a:ea typeface="+mn-ea"/>
                </a:defRPr>
              </a:lvl4pPr>
              <a:lvl5pPr algn="l" defTabSz="914400" eaLnBrk="1" hangingPunct="1">
                <a:defRPr sz="1800">
                  <a:latin typeface="+mn-lt"/>
                  <a:ea typeface="+mn-ea"/>
                </a:defRPr>
              </a:lvl5pPr>
              <a:lvl6pPr>
                <a:defRPr sz="1800">
                  <a:latin typeface="+mn-lt"/>
                  <a:ea typeface="+mn-ea"/>
                </a:defRPr>
              </a:lvl6pPr>
              <a:lvl7pPr>
                <a:defRPr sz="1800">
                  <a:latin typeface="+mn-lt"/>
                  <a:ea typeface="+mn-ea"/>
                </a:defRPr>
              </a:lvl7pPr>
              <a:lvl8pPr>
                <a:defRPr sz="1800">
                  <a:latin typeface="+mn-lt"/>
                  <a:ea typeface="+mn-ea"/>
                </a:defRPr>
              </a:lvl8pPr>
              <a:lvl9pPr>
                <a:defRPr sz="1800">
                  <a:latin typeface="+mn-lt"/>
                  <a:ea typeface="+mn-ea"/>
                </a:defRPr>
              </a:lvl9pPr>
            </a:lstStyle>
            <a:p>
              <a:pPr algn="r">
                <a:defRPr/>
              </a:pPr>
              <a:r>
                <a:rPr lang="en-US" altLang="ko-KR" sz="1600" b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45</a:t>
              </a:r>
              <a:endParaRPr lang="ko-KR" altLang="en-US" sz="1600" b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5BC22D4D-3F49-322A-8DCE-DD789D46EC56}"/>
                </a:ext>
              </a:extLst>
            </p:cNvPr>
            <p:cNvGrpSpPr/>
            <p:nvPr/>
          </p:nvGrpSpPr>
          <p:grpSpPr>
            <a:xfrm>
              <a:off x="2459909" y="2358450"/>
              <a:ext cx="1068686" cy="338826"/>
              <a:chOff x="2459909" y="2358450"/>
              <a:chExt cx="1068686" cy="338826"/>
            </a:xfrm>
          </p:grpSpPr>
          <p:sp>
            <p:nvSpPr>
              <p:cNvPr id="28" name="양쪽 모서리가 둥근 사각형 4">
                <a:extLst>
                  <a:ext uri="{FF2B5EF4-FFF2-40B4-BE49-F238E27FC236}">
                    <a16:creationId xmlns:a16="http://schemas.microsoft.com/office/drawing/2014/main" id="{59ECC5AB-FBB4-D125-13A7-3D00643C5EE2}"/>
                  </a:ext>
                </a:extLst>
              </p:cNvPr>
              <p:cNvSpPr/>
              <p:nvPr/>
            </p:nvSpPr>
            <p:spPr bwMode="gray">
              <a:xfrm>
                <a:off x="2459909" y="2358451"/>
                <a:ext cx="985605" cy="33506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3B3B3B"/>
              </a:solidFill>
              <a:ln>
                <a:noFill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ko-KR" altLang="en-US" sz="160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9" name="직각 삼각형 28">
                <a:extLst>
                  <a:ext uri="{FF2B5EF4-FFF2-40B4-BE49-F238E27FC236}">
                    <a16:creationId xmlns:a16="http://schemas.microsoft.com/office/drawing/2014/main" id="{E3A8D175-A02A-89E2-58F7-06B73900191F}"/>
                  </a:ext>
                </a:extLst>
              </p:cNvPr>
              <p:cNvSpPr/>
              <p:nvPr/>
            </p:nvSpPr>
            <p:spPr bwMode="gray">
              <a:xfrm rot="5400000">
                <a:off x="3362432" y="2358450"/>
                <a:ext cx="166163" cy="166163"/>
              </a:xfrm>
              <a:prstGeom prst="rtTriangle">
                <a:avLst/>
              </a:prstGeom>
              <a:solidFill>
                <a:srgbClr val="3B3B3B"/>
              </a:solidFill>
              <a:ln>
                <a:noFill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ko-KR" altLang="en-US" sz="160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15891987-C78B-A901-3A33-3E745FECC296}"/>
                  </a:ext>
                </a:extLst>
              </p:cNvPr>
              <p:cNvSpPr/>
              <p:nvPr/>
            </p:nvSpPr>
            <p:spPr bwMode="gray">
              <a:xfrm>
                <a:off x="2573936" y="2358722"/>
                <a:ext cx="817853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latinLnBrk="0">
                  <a:defRPr/>
                </a:pPr>
                <a:r>
                  <a:rPr lang="en-US" altLang="ko-KR" sz="16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Part Ⅲ</a:t>
                </a:r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4DDE18F-2341-8261-DF38-E55829893E27}"/>
              </a:ext>
            </a:extLst>
          </p:cNvPr>
          <p:cNvGrpSpPr/>
          <p:nvPr/>
        </p:nvGrpSpPr>
        <p:grpSpPr>
          <a:xfrm>
            <a:off x="3441000" y="4369005"/>
            <a:ext cx="4823343" cy="395295"/>
            <a:chOff x="2459909" y="2351131"/>
            <a:chExt cx="4823343" cy="39529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95B3CB3-51E9-8AF4-771A-F08D75EEA8A8}"/>
                </a:ext>
              </a:extLst>
            </p:cNvPr>
            <p:cNvSpPr txBox="1"/>
            <p:nvPr/>
          </p:nvSpPr>
          <p:spPr bwMode="gray">
            <a:xfrm>
              <a:off x="3694742" y="2351131"/>
              <a:ext cx="2135237" cy="373377"/>
            </a:xfrm>
            <a:prstGeom prst="rect">
              <a:avLst/>
            </a:prstGeom>
            <a:noFill/>
          </p:spPr>
          <p:txBody>
            <a:bodyPr wrap="none" lIns="0" rtlCol="0" anchor="ctr">
              <a:noAutofit/>
            </a:bodyPr>
            <a:lstStyle>
              <a:defPPr>
                <a:defRPr lang="ko-KR"/>
              </a:defPPr>
              <a:lvl1pPr marL="0" algn="l" defTabSz="914400" eaLnBrk="1" hangingPunct="1">
                <a:buClr>
                  <a:srgbClr val="007BF6"/>
                </a:buClr>
                <a:buSzPct val="80000"/>
                <a:defRPr sz="13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39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algn="l" defTabSz="914400" eaLnBrk="1" hangingPunct="1">
                <a:defRPr sz="1800">
                  <a:latin typeface="+mn-lt"/>
                  <a:ea typeface="+mn-ea"/>
                </a:defRPr>
              </a:lvl2pPr>
              <a:lvl3pPr algn="l" defTabSz="914400" eaLnBrk="1" hangingPunct="1">
                <a:defRPr sz="1800">
                  <a:latin typeface="+mn-lt"/>
                  <a:ea typeface="+mn-ea"/>
                </a:defRPr>
              </a:lvl3pPr>
              <a:lvl4pPr algn="l" defTabSz="914400" eaLnBrk="1" hangingPunct="1">
                <a:defRPr sz="1800">
                  <a:latin typeface="+mn-lt"/>
                  <a:ea typeface="+mn-ea"/>
                </a:defRPr>
              </a:lvl4pPr>
              <a:lvl5pPr algn="l" defTabSz="914400" eaLnBrk="1" hangingPunct="1">
                <a:defRPr sz="1800">
                  <a:latin typeface="+mn-lt"/>
                  <a:ea typeface="+mn-ea"/>
                </a:defRPr>
              </a:lvl5pPr>
              <a:lvl6pPr>
                <a:defRPr sz="1800">
                  <a:latin typeface="+mn-lt"/>
                  <a:ea typeface="+mn-ea"/>
                </a:defRPr>
              </a:lvl6pPr>
              <a:lvl7pPr>
                <a:defRPr sz="1800">
                  <a:latin typeface="+mn-lt"/>
                  <a:ea typeface="+mn-ea"/>
                </a:defRPr>
              </a:lvl7pPr>
              <a:lvl8pPr>
                <a:defRPr sz="1800">
                  <a:latin typeface="+mn-lt"/>
                  <a:ea typeface="+mn-ea"/>
                </a:defRPr>
              </a:lvl8pPr>
              <a:lvl9pPr>
                <a:defRPr sz="1800">
                  <a:latin typeface="+mn-lt"/>
                  <a:ea typeface="+mn-ea"/>
                </a:defRPr>
              </a:lvl9pPr>
            </a:lstStyle>
            <a:p>
              <a:pPr>
                <a:defRPr/>
              </a:pPr>
              <a:r>
                <a:rPr lang="en-US" altLang="ko-KR" sz="1600" b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Appendix</a:t>
              </a:r>
              <a:endParaRPr lang="ko-KR" altLang="en-US" sz="1600" b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23D7416-3994-7501-1FE6-A0EC8DF86F7C}"/>
                </a:ext>
              </a:extLst>
            </p:cNvPr>
            <p:cNvSpPr txBox="1"/>
            <p:nvPr/>
          </p:nvSpPr>
          <p:spPr bwMode="gray">
            <a:xfrm>
              <a:off x="6419909" y="2373049"/>
              <a:ext cx="863343" cy="373377"/>
            </a:xfrm>
            <a:prstGeom prst="rect">
              <a:avLst/>
            </a:prstGeom>
            <a:noFill/>
          </p:spPr>
          <p:txBody>
            <a:bodyPr wrap="none" lIns="0" rtlCol="0" anchor="ctr">
              <a:noAutofit/>
            </a:bodyPr>
            <a:lstStyle>
              <a:defPPr>
                <a:defRPr lang="ko-KR"/>
              </a:defPPr>
              <a:lvl1pPr marL="0" algn="l" defTabSz="914400" eaLnBrk="1" hangingPunct="1">
                <a:buClr>
                  <a:srgbClr val="007BF6"/>
                </a:buClr>
                <a:buSzPct val="80000"/>
                <a:defRPr sz="13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39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algn="l" defTabSz="914400" eaLnBrk="1" hangingPunct="1">
                <a:defRPr sz="1800">
                  <a:latin typeface="+mn-lt"/>
                  <a:ea typeface="+mn-ea"/>
                </a:defRPr>
              </a:lvl2pPr>
              <a:lvl3pPr algn="l" defTabSz="914400" eaLnBrk="1" hangingPunct="1">
                <a:defRPr sz="1800">
                  <a:latin typeface="+mn-lt"/>
                  <a:ea typeface="+mn-ea"/>
                </a:defRPr>
              </a:lvl3pPr>
              <a:lvl4pPr algn="l" defTabSz="914400" eaLnBrk="1" hangingPunct="1">
                <a:defRPr sz="1800">
                  <a:latin typeface="+mn-lt"/>
                  <a:ea typeface="+mn-ea"/>
                </a:defRPr>
              </a:lvl4pPr>
              <a:lvl5pPr algn="l" defTabSz="914400" eaLnBrk="1" hangingPunct="1">
                <a:defRPr sz="1800">
                  <a:latin typeface="+mn-lt"/>
                  <a:ea typeface="+mn-ea"/>
                </a:defRPr>
              </a:lvl5pPr>
              <a:lvl6pPr>
                <a:defRPr sz="1800">
                  <a:latin typeface="+mn-lt"/>
                  <a:ea typeface="+mn-ea"/>
                </a:defRPr>
              </a:lvl6pPr>
              <a:lvl7pPr>
                <a:defRPr sz="1800">
                  <a:latin typeface="+mn-lt"/>
                  <a:ea typeface="+mn-ea"/>
                </a:defRPr>
              </a:lvl7pPr>
              <a:lvl8pPr>
                <a:defRPr sz="1800">
                  <a:latin typeface="+mn-lt"/>
                  <a:ea typeface="+mn-ea"/>
                </a:defRPr>
              </a:lvl8pPr>
              <a:lvl9pPr>
                <a:defRPr sz="1800">
                  <a:latin typeface="+mn-lt"/>
                  <a:ea typeface="+mn-ea"/>
                </a:defRPr>
              </a:lvl9pPr>
            </a:lstStyle>
            <a:p>
              <a:pPr algn="r">
                <a:defRPr/>
              </a:pPr>
              <a:r>
                <a:rPr lang="en-US" altLang="ko-KR" sz="1600" b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52</a:t>
              </a:r>
              <a:endParaRPr lang="ko-KR" altLang="en-US" sz="1600" b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5F8EA91D-E4FA-169F-5A84-85427CFE3E28}"/>
                </a:ext>
              </a:extLst>
            </p:cNvPr>
            <p:cNvGrpSpPr/>
            <p:nvPr/>
          </p:nvGrpSpPr>
          <p:grpSpPr>
            <a:xfrm>
              <a:off x="2459909" y="2358450"/>
              <a:ext cx="1068686" cy="338826"/>
              <a:chOff x="2459909" y="2358450"/>
              <a:chExt cx="1068686" cy="338826"/>
            </a:xfrm>
          </p:grpSpPr>
          <p:sp>
            <p:nvSpPr>
              <p:cNvPr id="36" name="양쪽 모서리가 둥근 사각형 4">
                <a:extLst>
                  <a:ext uri="{FF2B5EF4-FFF2-40B4-BE49-F238E27FC236}">
                    <a16:creationId xmlns:a16="http://schemas.microsoft.com/office/drawing/2014/main" id="{2C98637D-F046-3DCA-4E0F-0309AB84BE10}"/>
                  </a:ext>
                </a:extLst>
              </p:cNvPr>
              <p:cNvSpPr/>
              <p:nvPr/>
            </p:nvSpPr>
            <p:spPr bwMode="gray">
              <a:xfrm>
                <a:off x="2459909" y="2358451"/>
                <a:ext cx="985605" cy="33506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3B3B3B"/>
              </a:solidFill>
              <a:ln>
                <a:noFill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ko-KR" altLang="en-US" sz="160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7" name="직각 삼각형 36">
                <a:extLst>
                  <a:ext uri="{FF2B5EF4-FFF2-40B4-BE49-F238E27FC236}">
                    <a16:creationId xmlns:a16="http://schemas.microsoft.com/office/drawing/2014/main" id="{A2F61384-8058-B162-6847-09E7E29FC398}"/>
                  </a:ext>
                </a:extLst>
              </p:cNvPr>
              <p:cNvSpPr/>
              <p:nvPr/>
            </p:nvSpPr>
            <p:spPr bwMode="gray">
              <a:xfrm rot="5400000">
                <a:off x="3362432" y="2358450"/>
                <a:ext cx="166163" cy="166163"/>
              </a:xfrm>
              <a:prstGeom prst="rtTriangle">
                <a:avLst/>
              </a:prstGeom>
              <a:solidFill>
                <a:srgbClr val="3B3B3B"/>
              </a:solidFill>
              <a:ln>
                <a:noFill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ko-KR" altLang="en-US" sz="160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5C40126-CD66-C99A-377F-2C7A62A82B54}"/>
                  </a:ext>
                </a:extLst>
              </p:cNvPr>
              <p:cNvSpPr/>
              <p:nvPr/>
            </p:nvSpPr>
            <p:spPr bwMode="gray">
              <a:xfrm>
                <a:off x="2573936" y="2358722"/>
                <a:ext cx="817853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latinLnBrk="0">
                  <a:defRPr/>
                </a:pPr>
                <a:r>
                  <a:rPr lang="en-US" altLang="ko-KR" sz="16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Part Ⅳ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810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E6F544F1-D2D8-6135-44E3-EB174F74C551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</p:spPr>
        <p:txBody>
          <a:bodyPr/>
          <a:lstStyle/>
          <a:p>
            <a:r>
              <a:rPr lang="en-US" altLang="ko-KR" dirty="0"/>
              <a:t>Part</a:t>
            </a:r>
          </a:p>
          <a:p>
            <a:r>
              <a:rPr lang="en-US" altLang="ko-KR" dirty="0"/>
              <a:t>Ⅰ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7FB8CD0-C516-432C-878F-85F7470A1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</p:spPr>
        <p:txBody>
          <a:bodyPr/>
          <a:lstStyle/>
          <a:p>
            <a:r>
              <a:rPr lang="ko-KR" altLang="en-US" dirty="0"/>
              <a:t>조사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4F513F-2061-6788-61C6-44E6BE3C4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조사목적 및 설계</a:t>
            </a:r>
            <a:endParaRPr lang="en-US" altLang="ko-KR" dirty="0"/>
          </a:p>
          <a:p>
            <a:r>
              <a:rPr lang="ko-KR" altLang="en-US" dirty="0"/>
              <a:t>응답자 현황</a:t>
            </a:r>
          </a:p>
        </p:txBody>
      </p:sp>
    </p:spTree>
    <p:extLst>
      <p:ext uri="{BB962C8B-B14F-4D97-AF65-F5344CB8AC3E}">
        <p14:creationId xmlns:p14="http://schemas.microsoft.com/office/powerpoint/2010/main" val="280481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92501-F307-CE61-5AFE-2EF623E4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D3419-16B7-E46D-8FD5-1245600C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2773516" cy="46166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조사 목적 및 설계 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FA2DBDD9-BBCF-A0A8-0CF6-616CF1B2C806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조사 목적 및 설계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F1FFBE-116A-43A3-92A7-045D2B84E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pc="-30" dirty="0"/>
              <a:t>본 조사는 한국관광공사가 운영하는 대한민국 구석구석 서비스 사용자를 대상으로 국내 여행 행태 파악 및 서비스 만족도 파악을 위해 실시함</a:t>
            </a:r>
            <a:endParaRPr lang="en-US" altLang="ko-KR" spc="-30" dirty="0"/>
          </a:p>
          <a:p>
            <a:r>
              <a:rPr lang="ko-KR" altLang="en-US" dirty="0"/>
              <a:t>대한민국 구석구석 서비스 전반 및 채널별 설문을 분석하여 향후 서비스 품질 향상 및 개선을 목적으로 함</a:t>
            </a:r>
            <a:endParaRPr lang="en-US" altLang="ko-KR" dirty="0"/>
          </a:p>
          <a:p>
            <a:r>
              <a:rPr lang="ko-KR" altLang="en-US" dirty="0"/>
              <a:t>한국관광공사에서 운영하는 대한민국 구석구석 </a:t>
            </a:r>
            <a:r>
              <a:rPr lang="en-US" altLang="ko-KR" dirty="0"/>
              <a:t>6</a:t>
            </a:r>
            <a:r>
              <a:rPr lang="ko-KR" altLang="en-US" dirty="0"/>
              <a:t>개 채널을 통해 대한민국 구석구석 서비스 이용자를 대상으로 조사를 진행함</a:t>
            </a: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B4679F-C410-AB65-B860-F1792C493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17868"/>
              </p:ext>
            </p:extLst>
          </p:nvPr>
        </p:nvGraphicFramePr>
        <p:xfrm>
          <a:off x="336061" y="2308180"/>
          <a:ext cx="9224939" cy="42888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9760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6905179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</a:tblGrid>
              <a:tr h="640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4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세부 조사 설게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91214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조사 방법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구조화된 설문지에 의한 온라인 조사</a:t>
                      </a:r>
                      <a:endParaRPr kumimoji="0" lang="en-US" altLang="ko-KR" sz="14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785146"/>
                  </a:ext>
                </a:extLst>
              </a:tr>
              <a:tr h="91214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조사 대상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대한민국 구석구석 서비스 이용자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대한민국 구석구석 홈페이지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앱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인스타그램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네이버 블로그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페이스북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카카오스토리 이용자 대상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8000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313249"/>
                  </a:ext>
                </a:extLst>
              </a:tr>
              <a:tr h="91214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표본 구성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11,974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홈페이지 </a:t>
                      </a:r>
                      <a:r>
                        <a:rPr kumimoji="0" lang="en-US" altLang="ko-KR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앱 </a:t>
                      </a:r>
                      <a:r>
                        <a:rPr kumimoji="0" lang="en-US" altLang="ko-KR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2,727 / </a:t>
                      </a:r>
                      <a:r>
                        <a:rPr kumimoji="0" lang="ko-KR" altLang="en-US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인스타그램 </a:t>
                      </a:r>
                      <a:r>
                        <a:rPr kumimoji="0" lang="en-US" altLang="ko-KR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2,028 / </a:t>
                      </a:r>
                      <a:r>
                        <a:rPr kumimoji="0" lang="ko-KR" altLang="en-US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네이버 블로그 </a:t>
                      </a:r>
                      <a:r>
                        <a:rPr kumimoji="0" lang="en-US" altLang="ko-KR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6,136 / </a:t>
                      </a:r>
                      <a:r>
                        <a:rPr kumimoji="0" lang="ko-KR" altLang="en-US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페이스북 </a:t>
                      </a:r>
                      <a:r>
                        <a:rPr kumimoji="0" lang="en-US" altLang="ko-KR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337 / </a:t>
                      </a:r>
                      <a:r>
                        <a:rPr kumimoji="0" lang="ko-KR" altLang="en-US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카카오스토리 </a:t>
                      </a:r>
                      <a:r>
                        <a:rPr kumimoji="0" lang="en-US" altLang="ko-KR" sz="1400" b="1" i="0" u="none" strike="noStrike" kern="1200" cap="none" spc="-12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746)</a:t>
                      </a:r>
                    </a:p>
                  </a:txBody>
                  <a:tcPr marL="18000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06790"/>
                  </a:ext>
                </a:extLst>
              </a:tr>
              <a:tr h="91214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조사 기간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2024.11.26(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~ 2024.12.06(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kumimoji="0" lang="en-US" altLang="ko-KR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4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주간 진행</a:t>
                      </a:r>
                      <a:endParaRPr kumimoji="0" lang="en-US" altLang="ko-KR" sz="12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427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18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A60A-7F79-2D6D-AC22-70E485023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BD874289-1D58-B708-D56C-D8725B38D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499196"/>
              </p:ext>
            </p:extLst>
          </p:nvPr>
        </p:nvGraphicFramePr>
        <p:xfrm>
          <a:off x="5039814" y="1701001"/>
          <a:ext cx="4544939" cy="49009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063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708772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42526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2976841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</a:tblGrid>
              <a:tr h="25683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%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9025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자녀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없음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(6,128)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640874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명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(2,426)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명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(2,893)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명 이상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(527)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290258"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직업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자영업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(798)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판매</a:t>
                      </a: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서비스직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(817)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기능직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(647)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기술직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(1,241)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사무직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(3,895)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경영</a:t>
                      </a: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관리직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(341)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전문직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(534)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자유직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(796)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전업주부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(1,588)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915657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학생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(584)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588719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무직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은퇴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(651)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287499"/>
                  </a:ext>
                </a:extLst>
              </a:tr>
              <a:tr h="29025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기타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(82)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19C8F271-52B6-4DD0-A9DB-DC7438F03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968809" cy="461665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응답자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CA65343C-B1DF-2D92-8F7E-22DD34E4D32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273050" y="727075"/>
            <a:ext cx="6934200" cy="360363"/>
          </a:xfrm>
        </p:spPr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응답자 현황</a:t>
            </a:r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D4977601-50E6-50FE-16C7-72E113AD5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서비스 만족도 조사에 참여한 응답자 현황은 다음과 같음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BD8EEE0-A260-EE4E-B974-F64015EF4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726483"/>
              </p:ext>
            </p:extLst>
          </p:nvPr>
        </p:nvGraphicFramePr>
        <p:xfrm>
          <a:off x="336061" y="1701001"/>
          <a:ext cx="4544939" cy="4896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063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708772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42526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2976841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</a:tblGrid>
              <a:tr h="28552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%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7124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(11,974)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785146"/>
                  </a:ext>
                </a:extLst>
              </a:tr>
              <a:tr h="271243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접속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경로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홈페이지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(2,727)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640874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(2,028)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(6,136)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(337)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271243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(4,344)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(7,630)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71243">
                <a:tc rowSpan="6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(1,505)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(4,173)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(3,803)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(1,561)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(886)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915657"/>
                  </a:ext>
                </a:extLst>
              </a:tr>
              <a:tr h="271243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결혼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기혼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(6,606)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588719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미혼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(5,036)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287499"/>
                  </a:ext>
                </a:extLst>
              </a:tr>
              <a:tr h="271243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미응답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(332)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1C39A426-1076-ACE4-CCA5-33A46B3E9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911541"/>
              </p:ext>
            </p:extLst>
          </p:nvPr>
        </p:nvGraphicFramePr>
        <p:xfrm>
          <a:off x="1865290" y="1981200"/>
          <a:ext cx="3069422" cy="4616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D85B039F-2BAB-9544-98AD-67BCBB3425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0840805"/>
              </p:ext>
            </p:extLst>
          </p:nvPr>
        </p:nvGraphicFramePr>
        <p:xfrm>
          <a:off x="6566328" y="1973580"/>
          <a:ext cx="3069422" cy="4630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5355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E6F544F1-D2D8-6135-44E3-EB174F74C551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</p:spPr>
        <p:txBody>
          <a:bodyPr/>
          <a:lstStyle/>
          <a:p>
            <a:r>
              <a:rPr lang="en-US" altLang="ko-KR" dirty="0"/>
              <a:t>Part</a:t>
            </a:r>
          </a:p>
          <a:p>
            <a:r>
              <a:rPr lang="en-US" altLang="ko-KR" dirty="0"/>
              <a:t>Ⅱ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7FB8CD0-C516-432C-878F-85F7470A1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</p:spPr>
        <p:txBody>
          <a:bodyPr/>
          <a:lstStyle/>
          <a:p>
            <a:r>
              <a:rPr lang="ko-KR" altLang="en-US" dirty="0"/>
              <a:t>주요 조사 내용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4F513F-2061-6788-61C6-44E6BE3C4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10" y="2797382"/>
            <a:ext cx="4896157" cy="2431618"/>
          </a:xfrm>
        </p:spPr>
        <p:txBody>
          <a:bodyPr/>
          <a:lstStyle/>
          <a:p>
            <a:r>
              <a:rPr lang="ko-KR" altLang="en-US" dirty="0"/>
              <a:t>국내 여행 정보 수집 과정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서비스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2.2. SNS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이용 현황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서비스만족도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콘텐츠 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메인 화면 선호 의견</a:t>
            </a:r>
          </a:p>
        </p:txBody>
      </p:sp>
    </p:spTree>
    <p:extLst>
      <p:ext uri="{BB962C8B-B14F-4D97-AF65-F5344CB8AC3E}">
        <p14:creationId xmlns:p14="http://schemas.microsoft.com/office/powerpoint/2010/main" val="544993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2C6D-057B-115D-1589-2AEEF37F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C8B0A-5E67-99DB-FBCB-840109D3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3576620" cy="46166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국내 여행 정보 수집 과정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0C0C4EB1-1B64-5B76-9AD8-F7E0D10DD49E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국내 및 해외 평균 여행 횟수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992BBE2-DAA9-731C-FE71-49B01934E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국내 여행 기준</a:t>
            </a:r>
            <a:r>
              <a:rPr lang="en-US" altLang="ko-KR" dirty="0"/>
              <a:t>, 1</a:t>
            </a:r>
            <a:r>
              <a:rPr lang="ko-KR" altLang="en-US" dirty="0"/>
              <a:t>년에 </a:t>
            </a:r>
            <a:r>
              <a:rPr lang="en-US" altLang="ko-KR" dirty="0"/>
              <a:t>‘1~3</a:t>
            </a:r>
            <a:r>
              <a:rPr lang="ko-KR" altLang="en-US" dirty="0"/>
              <a:t>회</a:t>
            </a:r>
            <a:r>
              <a:rPr lang="en-US" altLang="ko-KR" dirty="0"/>
              <a:t>’ </a:t>
            </a:r>
            <a:r>
              <a:rPr lang="ko-KR" altLang="en-US" dirty="0"/>
              <a:t>여행하는 비율이 </a:t>
            </a:r>
            <a:r>
              <a:rPr lang="en-US" altLang="ko-KR" dirty="0"/>
              <a:t>44.0%</a:t>
            </a:r>
            <a:r>
              <a:rPr lang="ko-KR" altLang="en-US" dirty="0"/>
              <a:t>로 가장 높았으며</a:t>
            </a:r>
            <a:r>
              <a:rPr lang="en-US" altLang="ko-KR" dirty="0"/>
              <a:t>, </a:t>
            </a:r>
            <a:r>
              <a:rPr lang="ko-KR" altLang="en-US" dirty="0"/>
              <a:t>연 평균  약 </a:t>
            </a:r>
            <a:r>
              <a:rPr lang="en-US" altLang="ko-KR" dirty="0"/>
              <a:t>5.5</a:t>
            </a:r>
            <a:r>
              <a:rPr lang="ko-KR" altLang="en-US" dirty="0"/>
              <a:t>회로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카카오스토리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평균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8.6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50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평균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6.4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연평균 국내 여행 빈도가 높음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dirty="0"/>
              <a:t>해외 여행 기준</a:t>
            </a:r>
            <a:r>
              <a:rPr lang="en-US" altLang="ko-KR" dirty="0"/>
              <a:t>, 1</a:t>
            </a:r>
            <a:r>
              <a:rPr lang="ko-KR" altLang="en-US" dirty="0"/>
              <a:t>년에 </a:t>
            </a:r>
            <a:r>
              <a:rPr lang="en-US" altLang="ko-KR" dirty="0"/>
              <a:t>‘1</a:t>
            </a:r>
            <a:r>
              <a:rPr lang="ko-KR" altLang="en-US" dirty="0"/>
              <a:t>회</a:t>
            </a:r>
            <a:r>
              <a:rPr lang="en-US" altLang="ko-KR" dirty="0"/>
              <a:t>’ </a:t>
            </a:r>
            <a:r>
              <a:rPr lang="ko-KR" altLang="en-US" dirty="0"/>
              <a:t>여행하는 비율이 </a:t>
            </a:r>
            <a:r>
              <a:rPr lang="en-US" altLang="ko-KR" dirty="0"/>
              <a:t>47.0%</a:t>
            </a:r>
            <a:r>
              <a:rPr lang="ko-KR" altLang="en-US" dirty="0"/>
              <a:t>로 가장 높았으며</a:t>
            </a:r>
            <a:r>
              <a:rPr lang="en-US" altLang="ko-KR" dirty="0"/>
              <a:t>, </a:t>
            </a:r>
            <a:r>
              <a:rPr lang="ko-KR" altLang="en-US" dirty="0"/>
              <a:t>응답자 전반의 연 평균 해외 여행은 약 </a:t>
            </a:r>
            <a:r>
              <a:rPr lang="en-US" altLang="ko-KR" dirty="0"/>
              <a:t>‘1</a:t>
            </a:r>
            <a:r>
              <a:rPr lang="ko-KR" altLang="en-US" dirty="0"/>
              <a:t>회</a:t>
            </a:r>
            <a:r>
              <a:rPr lang="en-US" altLang="ko-KR" dirty="0"/>
              <a:t>’</a:t>
            </a:r>
            <a:r>
              <a:rPr lang="ko-KR" altLang="en-US" dirty="0"/>
              <a:t>로 나타남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ADC1F00-90A5-F05B-3DE9-12D462BEE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040430"/>
              </p:ext>
            </p:extLst>
          </p:nvPr>
        </p:nvGraphicFramePr>
        <p:xfrm>
          <a:off x="336061" y="3805201"/>
          <a:ext cx="9225459" cy="28048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1433801171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4235987092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4074860703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408958074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3594979632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1930445676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2399136168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1875945445"/>
                    </a:ext>
                  </a:extLst>
                </a:gridCol>
                <a:gridCol w="691940">
                  <a:extLst>
                    <a:ext uri="{9D8B030D-6E8A-4147-A177-3AD203B41FA5}">
                      <a16:colId xmlns:a16="http://schemas.microsoft.com/office/drawing/2014/main" val="3821453783"/>
                    </a:ext>
                  </a:extLst>
                </a:gridCol>
              </a:tblGrid>
              <a:tr h="150322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국내여행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해외여행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7149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0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1~3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4~6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7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이상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평균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국내여행 횟수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0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이상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평균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해외여행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횟수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37803"/>
                  </a:ext>
                </a:extLst>
              </a:tr>
              <a:tr h="169331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(11,974)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44.0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32.3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22.5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5.5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47.0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13.7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6.7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169331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접속경로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홈페이지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43.9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640874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48.1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48.2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49.0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53.4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45.7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41.7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44.0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16933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(4,344)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46.7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45.8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(7,630)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42.5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47.7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169331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(1,505)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49.9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44.2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(4,173)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29.1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47.9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(3,803)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39.6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48.8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(1,561)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45.1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1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(886)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42.1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29.3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37.9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44.0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D998262A-62ED-9C5A-176E-4F53B1AD18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01819"/>
              </p:ext>
            </p:extLst>
          </p:nvPr>
        </p:nvGraphicFramePr>
        <p:xfrm>
          <a:off x="2865000" y="1997869"/>
          <a:ext cx="3023999" cy="1935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BCBA8DF-1F69-9E3A-5F30-AF6136A0E59E}"/>
              </a:ext>
            </a:extLst>
          </p:cNvPr>
          <p:cNvCxnSpPr>
            <a:cxnSpLocks/>
          </p:cNvCxnSpPr>
          <p:nvPr/>
        </p:nvCxnSpPr>
        <p:spPr>
          <a:xfrm>
            <a:off x="6105000" y="1916112"/>
            <a:ext cx="0" cy="187325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C7FA7795-F472-401A-DB55-AD329B730D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4408245"/>
              </p:ext>
            </p:extLst>
          </p:nvPr>
        </p:nvGraphicFramePr>
        <p:xfrm>
          <a:off x="6341175" y="1997869"/>
          <a:ext cx="3023999" cy="1935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0B3F7E-7100-454A-9088-36DDA6EC7627}"/>
              </a:ext>
            </a:extLst>
          </p:cNvPr>
          <p:cNvSpPr txBox="1"/>
          <p:nvPr/>
        </p:nvSpPr>
        <p:spPr>
          <a:xfrm>
            <a:off x="273000" y="2534239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회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2D8D51A-F1FB-107C-83BF-180EFD90072B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연평균 여행 빈도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4047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6FA0-7DAB-0290-A21A-18FDA5A1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9F716-4A91-DA94-954C-E0CA70311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3576620" cy="46166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국내 여행 정보 수집 과정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7D813A13-5F50-DC06-046C-C6B9E1AE736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국내 여행지 선택 시</a:t>
            </a:r>
            <a:r>
              <a:rPr lang="en-US" altLang="ko-KR" dirty="0"/>
              <a:t>, </a:t>
            </a:r>
            <a:r>
              <a:rPr lang="ko-KR" altLang="en-US" dirty="0"/>
              <a:t>정보 습득 채널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CA0D882-3CCB-12FE-0AB3-BB0A5AB6A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국내 여행지 선택 시 정보 습득 채널은 </a:t>
            </a:r>
            <a:r>
              <a:rPr lang="en-US" altLang="ko-KR" dirty="0"/>
              <a:t>‘</a:t>
            </a:r>
            <a:r>
              <a:rPr lang="ko-KR" altLang="en-US" dirty="0"/>
              <a:t>포털사이트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28.5%</a:t>
            </a:r>
            <a:r>
              <a:rPr lang="ko-KR" altLang="en-US" dirty="0"/>
              <a:t>로 가장 높게</a:t>
            </a:r>
            <a:r>
              <a:rPr lang="en-US" altLang="ko-KR" dirty="0"/>
              <a:t> </a:t>
            </a:r>
            <a:r>
              <a:rPr lang="ko-KR" altLang="en-US" dirty="0"/>
              <a:t>나타났으며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23</a:t>
            </a:r>
            <a:r>
              <a:rPr lang="ko-KR" altLang="en-US" dirty="0"/>
              <a:t>년</a:t>
            </a:r>
            <a:r>
              <a:rPr lang="en-US" altLang="ko-KR" dirty="0"/>
              <a:t>(26.8%)</a:t>
            </a:r>
            <a:r>
              <a:rPr lang="ko-KR" altLang="en-US" dirty="0"/>
              <a:t> 대비 </a:t>
            </a:r>
            <a:r>
              <a:rPr lang="en-US" altLang="ko-KR" dirty="0"/>
              <a:t>1.7%p </a:t>
            </a:r>
            <a:r>
              <a:rPr lang="ko-KR" altLang="en-US" dirty="0"/>
              <a:t>상승함</a:t>
            </a:r>
            <a:endParaRPr lang="en-US" altLang="ko-KR" dirty="0"/>
          </a:p>
          <a:p>
            <a:r>
              <a:rPr lang="ko-KR" altLang="en-US" dirty="0"/>
              <a:t>다음으로 </a:t>
            </a:r>
            <a:r>
              <a:rPr lang="en-US" altLang="ko-KR" dirty="0"/>
              <a:t>‘</a:t>
            </a:r>
            <a:r>
              <a:rPr lang="ko-KR" altLang="en-US" dirty="0"/>
              <a:t>대한민국 구석구석 </a:t>
            </a:r>
            <a:r>
              <a:rPr lang="en-US" altLang="ko-KR" dirty="0"/>
              <a:t>SNS’(24.0%), ‘</a:t>
            </a:r>
            <a:r>
              <a:rPr lang="ko-KR" altLang="en-US" dirty="0"/>
              <a:t>타 </a:t>
            </a:r>
            <a:r>
              <a:rPr lang="en-US" altLang="ko-KR" dirty="0"/>
              <a:t>SNS </a:t>
            </a:r>
            <a:r>
              <a:rPr lang="ko-KR" altLang="en-US" dirty="0"/>
              <a:t>채널</a:t>
            </a:r>
            <a:r>
              <a:rPr lang="en-US" altLang="ko-KR" dirty="0"/>
              <a:t>’(15.8%), ‘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’(14.6%) </a:t>
            </a:r>
            <a:r>
              <a:rPr lang="ko-KR" altLang="en-US" dirty="0"/>
              <a:t>등의 순으로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접속경로별로는 네이버 블로그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(31.0%),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성별로는 여성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(30.4%),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(32.0%)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의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포털사이트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이용률이 높음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카카오스토리는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SNS’(46.0%)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이용률이 높음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9A7745E-1526-3A50-E691-C48F60E16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75339"/>
              </p:ext>
            </p:extLst>
          </p:nvPr>
        </p:nvGraphicFramePr>
        <p:xfrm>
          <a:off x="336061" y="3805201"/>
          <a:ext cx="9225454" cy="2796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988485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988485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988485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988485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988485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  <a:gridCol w="988485">
                  <a:extLst>
                    <a:ext uri="{9D8B030D-6E8A-4147-A177-3AD203B41FA5}">
                      <a16:colId xmlns:a16="http://schemas.microsoft.com/office/drawing/2014/main" val="222328399"/>
                    </a:ext>
                  </a:extLst>
                </a:gridCol>
                <a:gridCol w="988485">
                  <a:extLst>
                    <a:ext uri="{9D8B030D-6E8A-4147-A177-3AD203B41FA5}">
                      <a16:colId xmlns:a16="http://schemas.microsoft.com/office/drawing/2014/main" val="2409676165"/>
                    </a:ext>
                  </a:extLst>
                </a:gridCol>
              </a:tblGrid>
              <a:tr h="31230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포털사이트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대한민국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SNS 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타 </a:t>
                      </a: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SNS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채널 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대한민국 구석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 홈페이지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유튜브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지역관광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홈페이지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뉴스레터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15142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(15,754)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  <a:endParaRPr kumimoji="0" lang="ko-KR" altLang="en-US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  <a:endParaRPr kumimoji="0" lang="ko-KR" altLang="en-US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15142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KoPub돋움체 Medium"/>
                          <a:cs typeface="+mn-cs"/>
                        </a:rPr>
                        <a:t>(11,974)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KoPub돋움체 Medium"/>
                          <a:cs typeface="+mn-cs"/>
                        </a:rPr>
                        <a:t>28.5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KoPub돋움체 Medium"/>
                          <a:cs typeface="+mn-cs"/>
                        </a:rPr>
                        <a:t>24.0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KoPub돋움체 Medium"/>
                          <a:cs typeface="+mn-cs"/>
                        </a:rPr>
                        <a:t>15.8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KoPub돋움체 Medium"/>
                          <a:cs typeface="+mn-cs"/>
                        </a:rPr>
                        <a:t>14.6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KoPub돋움체 Medium"/>
                          <a:cs typeface="+mn-cs"/>
                        </a:rPr>
                        <a:t>11.1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KoPub돋움체 Medium"/>
                          <a:cs typeface="+mn-cs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KoPub돋움체 Medium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15142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156315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접속경로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홈페이지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640874"/>
                  </a:ext>
                </a:extLst>
              </a:tr>
              <a:tr h="156315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156315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156315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156315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15612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(4,344)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(7,630)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15612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(1,505)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(4,173)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(3,803)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(1,561)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151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(886)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81FC253E-7837-319C-AE06-3FCE8C8BB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1631998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2BAEBE06-D7C5-E36E-F164-18595EBA57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1000" y="2682042"/>
            <a:ext cx="535217" cy="3936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49551C-8D30-DE54-E23A-E738C51AD7D1}"/>
              </a:ext>
            </a:extLst>
          </p:cNvPr>
          <p:cNvSpPr txBox="1"/>
          <p:nvPr/>
        </p:nvSpPr>
        <p:spPr>
          <a:xfrm>
            <a:off x="273000" y="2534239"/>
            <a:ext cx="1800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 신규 문항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유튜브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뉴스레터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F17A94D-BECD-E36F-292B-95E126E8A2EA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국내 여행지 정보 습득 채널</a:t>
            </a:r>
          </a:p>
        </p:txBody>
      </p:sp>
    </p:spTree>
    <p:extLst>
      <p:ext uri="{BB962C8B-B14F-4D97-AF65-F5344CB8AC3E}">
        <p14:creationId xmlns:p14="http://schemas.microsoft.com/office/powerpoint/2010/main" val="2115263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8C81-7054-C7DE-1AD0-2F8048ADF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B058B3E-92DA-BBF1-C7B4-7DE3704CB3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6533972"/>
              </p:ext>
            </p:extLst>
          </p:nvPr>
        </p:nvGraphicFramePr>
        <p:xfrm>
          <a:off x="336061" y="2331085"/>
          <a:ext cx="9225454" cy="42665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9404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905384157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859992631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3393659339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2195631877"/>
                    </a:ext>
                  </a:extLst>
                </a:gridCol>
              </a:tblGrid>
              <a:tr h="257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탐색 용이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다양한 정보 검색 가능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맞춤 정보 검색 용이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최신 관광 트렌드 파악 가능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여행관련 웹사이트 검색 가능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5715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(1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순위 기준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(11,974)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24.2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20.6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19.4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10.2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72572"/>
                  </a:ext>
                </a:extLst>
              </a:tr>
              <a:tr h="53603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대한민국 구석구석 홈페이지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(1,751)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53603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대한민국 구석구석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SNS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(2,869)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36173"/>
                  </a:ext>
                </a:extLst>
              </a:tr>
              <a:tr h="53603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포털사이트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(3,408)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53603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지역관광 홈페이지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(489)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53603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일반 </a:t>
                      </a: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SNS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(1,887)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331326"/>
                  </a:ext>
                </a:extLst>
              </a:tr>
              <a:tr h="53603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뉴스레터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(202)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67217"/>
                  </a:ext>
                </a:extLst>
              </a:tr>
              <a:tr h="53603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유튜브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(1326)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62698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02BA4CC7-BD2D-D5FD-9770-619B8E2B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3576620" cy="46166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국내 여행 정보 수집 과정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72A145E6-BB9B-11B4-5BA7-4F51CAD556A0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3)</a:t>
            </a:r>
            <a:r>
              <a:rPr lang="ko-KR" altLang="en-US" dirty="0"/>
              <a:t>국내 여행지 정보 습득 채널별 이용 이유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B4B2444-4FF9-878F-0DE8-EF8BAC9E9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pc="-60" dirty="0"/>
              <a:t>국내 여행지 정보 습득 시 대한민국 구석구석 홈페이지</a:t>
            </a:r>
            <a:r>
              <a:rPr lang="en-US" altLang="ko-KR" spc="-60" dirty="0"/>
              <a:t>/</a:t>
            </a:r>
            <a:r>
              <a:rPr lang="ko-KR" altLang="en-US" spc="-60" dirty="0"/>
              <a:t>앱</a:t>
            </a:r>
            <a:r>
              <a:rPr lang="en-US" altLang="ko-KR" spc="-60" dirty="0"/>
              <a:t> </a:t>
            </a:r>
            <a:r>
              <a:rPr lang="ko-KR" altLang="en-US" spc="-60" dirty="0"/>
              <a:t>및 지역관광 홈페이지의 채널 이용 이유는 </a:t>
            </a:r>
            <a:r>
              <a:rPr lang="en-US" altLang="ko-KR" spc="-60" dirty="0"/>
              <a:t>‘</a:t>
            </a:r>
            <a:r>
              <a:rPr lang="ko-KR" altLang="en-US" spc="-60" dirty="0"/>
              <a:t>정보 탐색이 용이</a:t>
            </a:r>
            <a:r>
              <a:rPr lang="en-US" altLang="ko-KR" spc="-60" dirty="0"/>
              <a:t>’</a:t>
            </a:r>
            <a:r>
              <a:rPr lang="ko-KR" altLang="en-US" spc="-60" dirty="0"/>
              <a:t>하여 이용하는 비율이 높음</a:t>
            </a:r>
            <a:endParaRPr lang="en-US" altLang="ko-KR" spc="-60" dirty="0"/>
          </a:p>
          <a:p>
            <a:r>
              <a:rPr lang="ko-KR" altLang="en-US" dirty="0"/>
              <a:t>일반 </a:t>
            </a:r>
            <a:r>
              <a:rPr lang="en-US" altLang="ko-KR" dirty="0"/>
              <a:t>SNS, </a:t>
            </a:r>
            <a:r>
              <a:rPr lang="ko-KR" altLang="en-US" dirty="0"/>
              <a:t>유튜브의 채널 이용 이유는 </a:t>
            </a:r>
            <a:r>
              <a:rPr lang="en-US" altLang="ko-KR" dirty="0"/>
              <a:t>‘</a:t>
            </a:r>
            <a:r>
              <a:rPr lang="ko-KR" altLang="en-US" dirty="0"/>
              <a:t>최신 관광 트렌드 파악이 가능</a:t>
            </a:r>
            <a:r>
              <a:rPr lang="en-US" altLang="ko-KR" dirty="0"/>
              <a:t>’</a:t>
            </a:r>
            <a:r>
              <a:rPr lang="ko-KR" altLang="en-US" dirty="0"/>
              <a:t>하여 이용하는 비율이 높음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유튜브는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1+2+3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순위 기준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맞춤 정보 검색 용이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’(61.9%)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하여 이용하는 비율이 상대적으로 높게 나타남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04AAD7-A677-EA94-C181-A15612EA6EBC}"/>
              </a:ext>
            </a:extLst>
          </p:cNvPr>
          <p:cNvSpPr txBox="1"/>
          <p:nvPr/>
        </p:nvSpPr>
        <p:spPr>
          <a:xfrm>
            <a:off x="273000" y="6597650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뉴스레터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유튜브는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 신규 문항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8AECF-E95B-5E45-485E-2BC04BDE0E82}"/>
              </a:ext>
            </a:extLst>
          </p:cNvPr>
          <p:cNvSpPr txBox="1"/>
          <p:nvPr/>
        </p:nvSpPr>
        <p:spPr>
          <a:xfrm>
            <a:off x="273000" y="2100253"/>
            <a:ext cx="28403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정보 습득 채널별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</p:txBody>
      </p:sp>
      <p:graphicFrame>
        <p:nvGraphicFramePr>
          <p:cNvPr id="18" name="내용 개체 틀 7">
            <a:extLst>
              <a:ext uri="{FF2B5EF4-FFF2-40B4-BE49-F238E27FC236}">
                <a16:creationId xmlns:a16="http://schemas.microsoft.com/office/drawing/2014/main" id="{13F6F70B-ECBB-A752-A938-FD8260FEDE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7662873"/>
              </p:ext>
            </p:extLst>
          </p:nvPr>
        </p:nvGraphicFramePr>
        <p:xfrm>
          <a:off x="8147803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내용 개체 틀 7">
            <a:extLst>
              <a:ext uri="{FF2B5EF4-FFF2-40B4-BE49-F238E27FC236}">
                <a16:creationId xmlns:a16="http://schemas.microsoft.com/office/drawing/2014/main" id="{908A4CCE-B75C-6603-9A8C-65E7B0EC82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6063166"/>
              </p:ext>
            </p:extLst>
          </p:nvPr>
        </p:nvGraphicFramePr>
        <p:xfrm>
          <a:off x="8147803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내용 개체 틀 7">
            <a:extLst>
              <a:ext uri="{FF2B5EF4-FFF2-40B4-BE49-F238E27FC236}">
                <a16:creationId xmlns:a16="http://schemas.microsoft.com/office/drawing/2014/main" id="{4C21C2C7-8683-CAD3-6EB9-B5CD66C22B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214697"/>
              </p:ext>
            </p:extLst>
          </p:nvPr>
        </p:nvGraphicFramePr>
        <p:xfrm>
          <a:off x="6768596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내용 개체 틀 7">
            <a:extLst>
              <a:ext uri="{FF2B5EF4-FFF2-40B4-BE49-F238E27FC236}">
                <a16:creationId xmlns:a16="http://schemas.microsoft.com/office/drawing/2014/main" id="{E99107CE-EFBA-09A6-E4C3-2107D43A11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5367880"/>
              </p:ext>
            </p:extLst>
          </p:nvPr>
        </p:nvGraphicFramePr>
        <p:xfrm>
          <a:off x="6768596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내용 개체 틀 7">
            <a:extLst>
              <a:ext uri="{FF2B5EF4-FFF2-40B4-BE49-F238E27FC236}">
                <a16:creationId xmlns:a16="http://schemas.microsoft.com/office/drawing/2014/main" id="{73FE6B4B-5C28-8146-B485-696C4F2500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3246400"/>
              </p:ext>
            </p:extLst>
          </p:nvPr>
        </p:nvGraphicFramePr>
        <p:xfrm>
          <a:off x="5379817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내용 개체 틀 7">
            <a:extLst>
              <a:ext uri="{FF2B5EF4-FFF2-40B4-BE49-F238E27FC236}">
                <a16:creationId xmlns:a16="http://schemas.microsoft.com/office/drawing/2014/main" id="{BA9FFF67-5526-9B01-5C5F-36AA1BF3CC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692390"/>
              </p:ext>
            </p:extLst>
          </p:nvPr>
        </p:nvGraphicFramePr>
        <p:xfrm>
          <a:off x="5379817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09CB0025-B3B0-1875-4020-EB1B16B40C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824320"/>
              </p:ext>
            </p:extLst>
          </p:nvPr>
        </p:nvGraphicFramePr>
        <p:xfrm>
          <a:off x="3998975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0" name="내용 개체 틀 7">
            <a:extLst>
              <a:ext uri="{FF2B5EF4-FFF2-40B4-BE49-F238E27FC236}">
                <a16:creationId xmlns:a16="http://schemas.microsoft.com/office/drawing/2014/main" id="{EA31EBF3-D11C-64FE-22D0-373AE2E572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7758508"/>
              </p:ext>
            </p:extLst>
          </p:nvPr>
        </p:nvGraphicFramePr>
        <p:xfrm>
          <a:off x="3998975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0" name="내용 개체 틀 7">
            <a:extLst>
              <a:ext uri="{FF2B5EF4-FFF2-40B4-BE49-F238E27FC236}">
                <a16:creationId xmlns:a16="http://schemas.microsoft.com/office/drawing/2014/main" id="{F408AC10-D3F2-68CA-CDD3-896B2059AF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733016"/>
              </p:ext>
            </p:extLst>
          </p:nvPr>
        </p:nvGraphicFramePr>
        <p:xfrm>
          <a:off x="2623127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1" name="내용 개체 틀 7">
            <a:extLst>
              <a:ext uri="{FF2B5EF4-FFF2-40B4-BE49-F238E27FC236}">
                <a16:creationId xmlns:a16="http://schemas.microsoft.com/office/drawing/2014/main" id="{27C0E0BE-EBE3-910D-2477-4FC82EE2A3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7192734"/>
              </p:ext>
            </p:extLst>
          </p:nvPr>
        </p:nvGraphicFramePr>
        <p:xfrm>
          <a:off x="2623127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pic>
        <p:nvPicPr>
          <p:cNvPr id="29" name="그림 28">
            <a:extLst>
              <a:ext uri="{FF2B5EF4-FFF2-40B4-BE49-F238E27FC236}">
                <a16:creationId xmlns:a16="http://schemas.microsoft.com/office/drawing/2014/main" id="{5B962328-AF0B-22B5-0042-2C00AC32BCE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89362" y="3074503"/>
            <a:ext cx="338236" cy="24875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BC799DF4-F733-F89A-D8D2-3A6ED74956D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57962" y="3620603"/>
            <a:ext cx="338236" cy="24875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6F570D2-8DAF-4E86-C72C-2180137CE2C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62562" y="4147653"/>
            <a:ext cx="338236" cy="24875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BFDA31B-6F8B-E9A9-A6D5-9D7BC8E92AE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21112" y="4687403"/>
            <a:ext cx="338236" cy="248752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7EB657B7-F38D-79C3-218B-99370793C79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50212" y="5228423"/>
            <a:ext cx="338236" cy="24875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F03F2A7-0537-1772-8032-BFA9805F55A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00832" y="5777063"/>
            <a:ext cx="338236" cy="248752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F6C97DB-3B32-BEA8-D3A0-7BD95B9FD08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81632" y="6318083"/>
            <a:ext cx="338236" cy="248752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3C53A05F-51CC-6FA4-FB63-790AA737E471}"/>
              </a:ext>
            </a:extLst>
          </p:cNvPr>
          <p:cNvGrpSpPr/>
          <p:nvPr/>
        </p:nvGrpSpPr>
        <p:grpSpPr>
          <a:xfrm>
            <a:off x="8553000" y="2122587"/>
            <a:ext cx="572277" cy="153888"/>
            <a:chOff x="5062476" y="2276475"/>
            <a:chExt cx="572277" cy="153888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3F76697-BA44-9C25-99D0-4C2BBD211363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 Box 168">
              <a:extLst>
                <a:ext uri="{FF2B5EF4-FFF2-40B4-BE49-F238E27FC236}">
                  <a16:creationId xmlns:a16="http://schemas.microsoft.com/office/drawing/2014/main" id="{D2E0EA9C-0A5D-C7C1-CFEE-46A2D51F7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23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68C36D-6E5E-4D04-C3C9-8A15EA2A734F}"/>
              </a:ext>
            </a:extLst>
          </p:cNvPr>
          <p:cNvGrpSpPr/>
          <p:nvPr/>
        </p:nvGrpSpPr>
        <p:grpSpPr>
          <a:xfrm>
            <a:off x="9057000" y="2122587"/>
            <a:ext cx="572277" cy="153888"/>
            <a:chOff x="5062476" y="2276475"/>
            <a:chExt cx="572277" cy="153888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367C54A-D34E-3D49-D919-AD928BF3ED6F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 Box 168">
              <a:extLst>
                <a:ext uri="{FF2B5EF4-FFF2-40B4-BE49-F238E27FC236}">
                  <a16:creationId xmlns:a16="http://schemas.microsoft.com/office/drawing/2014/main" id="{5D83AA9A-9E29-CFE1-395B-7AE098F59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24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2736BB7-90B5-C69B-E59A-9A517344FA35}"/>
              </a:ext>
            </a:extLst>
          </p:cNvPr>
          <p:cNvSpPr/>
          <p:nvPr/>
        </p:nvSpPr>
        <p:spPr>
          <a:xfrm>
            <a:off x="8653326" y="2163013"/>
            <a:ext cx="64800" cy="64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6A6A6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2897580-D626-185E-0272-482BD8EDA17B}"/>
              </a:ext>
            </a:extLst>
          </p:cNvPr>
          <p:cNvSpPr/>
          <p:nvPr/>
        </p:nvSpPr>
        <p:spPr>
          <a:xfrm>
            <a:off x="9146962" y="2163013"/>
            <a:ext cx="64800" cy="64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0680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F90D-A07C-D366-F202-92E7CFE18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D3344F0A-EC5F-2682-5535-9BAC08A38E83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</p:spPr>
        <p:txBody>
          <a:bodyPr/>
          <a:lstStyle/>
          <a:p>
            <a:r>
              <a:rPr lang="en-US" altLang="ko-KR" dirty="0"/>
              <a:t>Part</a:t>
            </a:r>
          </a:p>
          <a:p>
            <a:r>
              <a:rPr lang="en-US" altLang="ko-KR" dirty="0"/>
              <a:t>Ⅱ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FC965B2-3835-F565-03A6-1B9560593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</p:spPr>
        <p:txBody>
          <a:bodyPr/>
          <a:lstStyle/>
          <a:p>
            <a:r>
              <a:rPr lang="ko-KR" altLang="en-US" dirty="0"/>
              <a:t>주요 조사 내용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12220B-2F6F-5D9F-4B94-8B69B7105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10" y="2797382"/>
            <a:ext cx="4896157" cy="2431618"/>
          </a:xfrm>
        </p:spPr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국내 여행 정보 수집 과정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tx1"/>
              </a:buClr>
            </a:pPr>
            <a:r>
              <a:rPr lang="ko-KR" altLang="en-US" dirty="0"/>
              <a:t>대한민국 구석구석 서비스 이용 현황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2.1. 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2.2. SNS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이용 현황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서비스만족도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콘텐츠 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메인 화면 선호 의견</a:t>
            </a:r>
          </a:p>
        </p:txBody>
      </p:sp>
    </p:spTree>
    <p:extLst>
      <p:ext uri="{BB962C8B-B14F-4D97-AF65-F5344CB8AC3E}">
        <p14:creationId xmlns:p14="http://schemas.microsoft.com/office/powerpoint/2010/main" val="1853564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83911-0797-C23A-F45C-FF502371F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67243-57C7-59E9-31A2-8994B87D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5822428" cy="461665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대한민국 구석구석</a:t>
            </a:r>
            <a:r>
              <a:rPr lang="en-US" altLang="ko-KR" dirty="0"/>
              <a:t>_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 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B1FC063A-FC24-3718-2DD2-DD6B0B33AEB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1) 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대한민국 구석구석 방문 경로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C7D90B6-2A9D-0B07-889B-2F8E9613F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pc="-50" dirty="0"/>
              <a:t>대한민국 구석구석 홈페이지</a:t>
            </a:r>
            <a:r>
              <a:rPr lang="en-US" altLang="ko-KR" spc="-50" dirty="0"/>
              <a:t>/</a:t>
            </a:r>
            <a:r>
              <a:rPr lang="ko-KR" altLang="en-US" spc="-50" dirty="0"/>
              <a:t>앱  방문 경로는 </a:t>
            </a:r>
            <a:r>
              <a:rPr lang="en-US" altLang="ko-KR" spc="-50" dirty="0"/>
              <a:t>‘</a:t>
            </a:r>
            <a:r>
              <a:rPr lang="ko-KR" altLang="en-US" spc="-50" dirty="0"/>
              <a:t>대한민국 구석구석 </a:t>
            </a:r>
            <a:r>
              <a:rPr lang="en-US" altLang="ko-KR" spc="-50" dirty="0"/>
              <a:t>SNS’</a:t>
            </a:r>
            <a:r>
              <a:rPr lang="ko-KR" altLang="en-US" spc="-50" dirty="0"/>
              <a:t>가 </a:t>
            </a:r>
            <a:r>
              <a:rPr lang="en-US" altLang="ko-KR" spc="-50" dirty="0"/>
              <a:t>41.5%</a:t>
            </a:r>
            <a:r>
              <a:rPr lang="ko-KR" altLang="en-US" spc="-50" dirty="0"/>
              <a:t>로 가장 높았으며</a:t>
            </a:r>
            <a:r>
              <a:rPr lang="en-US" altLang="ko-KR" spc="-50" dirty="0"/>
              <a:t>, 23</a:t>
            </a:r>
            <a:r>
              <a:rPr lang="ko-KR" altLang="en-US" spc="-50" dirty="0"/>
              <a:t>년</a:t>
            </a:r>
            <a:r>
              <a:rPr lang="en-US" altLang="ko-KR" spc="-50" dirty="0"/>
              <a:t>(40.8%)</a:t>
            </a:r>
            <a:r>
              <a:rPr lang="ko-KR" altLang="en-US" spc="-50" dirty="0"/>
              <a:t> 대비 </a:t>
            </a:r>
            <a:r>
              <a:rPr lang="en-US" altLang="ko-KR" spc="-50" dirty="0"/>
              <a:t>0.7%p</a:t>
            </a:r>
            <a:r>
              <a:rPr lang="ko-KR" altLang="en-US" spc="-50" dirty="0"/>
              <a:t> 상승함</a:t>
            </a:r>
            <a:endParaRPr lang="en-US" altLang="ko-KR" spc="-50" dirty="0"/>
          </a:p>
          <a:p>
            <a:r>
              <a:rPr lang="ko-KR" altLang="en-US" dirty="0"/>
              <a:t>다음으로 </a:t>
            </a:r>
            <a:r>
              <a:rPr lang="en-US" altLang="ko-KR" dirty="0"/>
              <a:t>‘</a:t>
            </a:r>
            <a:r>
              <a:rPr lang="ko-KR" altLang="en-US" dirty="0"/>
              <a:t>지인 추천 및 일반 개인 블로그</a:t>
            </a:r>
            <a:r>
              <a:rPr lang="en-US" altLang="ko-KR" dirty="0"/>
              <a:t>’(27.9%), ‘</a:t>
            </a:r>
            <a:r>
              <a:rPr lang="ko-KR" altLang="en-US" dirty="0"/>
              <a:t>포털사이트 대한민국 구석구석 검색</a:t>
            </a:r>
            <a:r>
              <a:rPr lang="en-US" altLang="ko-KR" dirty="0"/>
              <a:t>’(30.6%) </a:t>
            </a:r>
            <a:r>
              <a:rPr lang="ko-KR" altLang="en-US" dirty="0"/>
              <a:t>등의 순으로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40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(45.1%)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SNS’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통한 대한민국 홈페이지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앱 방문율이 상대적으로 높은 편임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dirty="0"/>
              <a:t>-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지인 추천 및 일반 개인 블로그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/SNS’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는 전년 대비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4.5%p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상승한 반면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온라인 광고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이벤트 홍보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는 전년 대비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4.4%p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하락함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7217855-8B6B-4EAF-3053-F7A81D88E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790517"/>
              </p:ext>
            </p:extLst>
          </p:nvPr>
        </p:nvGraphicFramePr>
        <p:xfrm>
          <a:off x="336061" y="3805200"/>
          <a:ext cx="9225459" cy="2790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1589335295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694293312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1698628937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3892494175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대한민국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SNS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지인 추천 및 일반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개인 블로그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/SNS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포털사이트 대한민국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검색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온라인 광고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홍보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포털사이트 노출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콘텐츠 클릭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(5,801)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24.3</a:t>
                      </a:r>
                      <a:endParaRPr kumimoji="0" lang="ko-KR" altLang="en-US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41.5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29.5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(1,119)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42.6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29.1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(1,608)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(12*)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(440)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41.6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(1,065)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45.1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(295)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(166)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29.5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graphicFrame>
        <p:nvGraphicFramePr>
          <p:cNvPr id="5" name="내용 개체 틀 7">
            <a:extLst>
              <a:ext uri="{FF2B5EF4-FFF2-40B4-BE49-F238E27FC236}">
                <a16:creationId xmlns:a16="http://schemas.microsoft.com/office/drawing/2014/main" id="{7C4461F9-F1F8-C197-1747-353BC9D0CD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0911417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12A6E56F-B262-EEE2-6C89-56132D6B7B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97000" y="2312511"/>
            <a:ext cx="535217" cy="3936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4BDF2C-C509-BF70-6323-8BC2B111B081}"/>
              </a:ext>
            </a:extLst>
          </p:cNvPr>
          <p:cNvSpPr txBox="1"/>
          <p:nvPr/>
        </p:nvSpPr>
        <p:spPr>
          <a:xfrm>
            <a:off x="273000" y="2534239"/>
            <a:ext cx="1800275" cy="78483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D15700-718C-90F7-8DE7-F6EFF9FDB53F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방문 경로</a:t>
            </a:r>
          </a:p>
        </p:txBody>
      </p:sp>
    </p:spTree>
    <p:extLst>
      <p:ext uri="{BB962C8B-B14F-4D97-AF65-F5344CB8AC3E}">
        <p14:creationId xmlns:p14="http://schemas.microsoft.com/office/powerpoint/2010/main" val="2742115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13C81-87AF-7390-640E-FF3C5149D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DA411-7A5C-DDE3-7DC7-45B91E6DE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5822428" cy="461665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대한민국 구석구석</a:t>
            </a:r>
            <a:r>
              <a:rPr lang="en-US" altLang="ko-KR" dirty="0"/>
              <a:t>_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 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6CDE4BDB-B10C-92A4-B455-8B5D3912AD7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2) 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대한민국 구석구석 이용 빈도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54D0A6B-3EC2-6B91-B1BB-26736A2E1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이용 빈도는 </a:t>
            </a:r>
            <a:r>
              <a:rPr lang="en-US" altLang="ko-KR" dirty="0"/>
              <a:t>‘</a:t>
            </a:r>
            <a:r>
              <a:rPr lang="ko-KR" altLang="en-US" dirty="0"/>
              <a:t>월 </a:t>
            </a:r>
            <a:r>
              <a:rPr lang="en-US" altLang="ko-KR" dirty="0"/>
              <a:t>2~3</a:t>
            </a:r>
            <a:r>
              <a:rPr lang="ko-KR" altLang="en-US" dirty="0"/>
              <a:t>회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30.3%</a:t>
            </a:r>
            <a:r>
              <a:rPr lang="ko-KR" altLang="en-US" dirty="0"/>
              <a:t>로 가장 높게 나타났으며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(32.3%)</a:t>
            </a:r>
            <a:r>
              <a:rPr lang="ko-KR" altLang="en-US" dirty="0"/>
              <a:t>년 대비 </a:t>
            </a:r>
            <a:r>
              <a:rPr lang="en-US" altLang="ko-KR" dirty="0"/>
              <a:t>2.0%p </a:t>
            </a:r>
            <a:r>
              <a:rPr lang="ko-KR" altLang="en-US" dirty="0"/>
              <a:t>하락함</a:t>
            </a:r>
            <a:endParaRPr lang="en-US" altLang="ko-KR" dirty="0"/>
          </a:p>
          <a:p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앱을 </a:t>
            </a:r>
            <a:r>
              <a:rPr lang="en-US" altLang="ko-KR" dirty="0"/>
              <a:t>‘</a:t>
            </a:r>
            <a:r>
              <a:rPr lang="ko-KR" altLang="en-US" dirty="0"/>
              <a:t>거의 매일 방문</a:t>
            </a:r>
            <a:r>
              <a:rPr lang="en-US" altLang="ko-KR" dirty="0"/>
              <a:t>’</a:t>
            </a:r>
            <a:r>
              <a:rPr lang="ko-KR" altLang="en-US" dirty="0"/>
              <a:t>하는</a:t>
            </a:r>
            <a:r>
              <a:rPr lang="en-US" altLang="ko-KR" dirty="0"/>
              <a:t> </a:t>
            </a:r>
            <a:r>
              <a:rPr lang="ko-KR" altLang="en-US" dirty="0"/>
              <a:t>응답자는 </a:t>
            </a:r>
            <a:r>
              <a:rPr lang="en-US" altLang="ko-KR" dirty="0"/>
              <a:t>8.5%</a:t>
            </a:r>
            <a:r>
              <a:rPr lang="ko-KR" altLang="en-US" dirty="0"/>
              <a:t>로 </a:t>
            </a:r>
            <a:r>
              <a:rPr lang="en-US" altLang="ko-KR" dirty="0"/>
              <a:t>23</a:t>
            </a:r>
            <a:r>
              <a:rPr lang="ko-KR" altLang="en-US" dirty="0"/>
              <a:t>년</a:t>
            </a:r>
            <a:r>
              <a:rPr lang="en-US" altLang="ko-KR" dirty="0"/>
              <a:t>(4.1%)</a:t>
            </a:r>
            <a:r>
              <a:rPr lang="ko-KR" altLang="en-US" dirty="0"/>
              <a:t> </a:t>
            </a:r>
            <a:r>
              <a:rPr lang="en-US" altLang="ko-KR" dirty="0"/>
              <a:t>4.4%p </a:t>
            </a:r>
            <a:r>
              <a:rPr lang="ko-KR" altLang="en-US" dirty="0"/>
              <a:t>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연령대가 높을수록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2~3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대한민국 구석구석 홈페이지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앱 방문 비율이 높음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여성이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(9.9%),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(11.6%)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거의 매일 방문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하는 비율이 상대적 높게 나타남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BB0CAF-741B-0E61-A5A5-EE3DE8DD8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913202"/>
              </p:ext>
            </p:extLst>
          </p:nvPr>
        </p:nvGraphicFramePr>
        <p:xfrm>
          <a:off x="336061" y="3805200"/>
          <a:ext cx="9225457" cy="278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589335295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694293312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698628937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892494175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028137758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거의 매일 방문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주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2~3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월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4~5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월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2~3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분기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거의 이용하지 않음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(5,801)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19.3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19.7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(1,119)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(1,608)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(12*)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(440)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(1,065)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(295)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(166)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graphicFrame>
        <p:nvGraphicFramePr>
          <p:cNvPr id="3" name="내용 개체 틀 7">
            <a:extLst>
              <a:ext uri="{FF2B5EF4-FFF2-40B4-BE49-F238E27FC236}">
                <a16:creationId xmlns:a16="http://schemas.microsoft.com/office/drawing/2014/main" id="{EC7A2B30-EA00-D796-9559-73F17E9C7B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5430840"/>
              </p:ext>
            </p:extLst>
          </p:nvPr>
        </p:nvGraphicFramePr>
        <p:xfrm>
          <a:off x="2623040" y="2061000"/>
          <a:ext cx="6937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92DDFE79-D39B-8A68-5D91-5F98AB1110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608508" y="2635192"/>
            <a:ext cx="535217" cy="393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FA9BFF-A2AE-6B71-4783-C5468C0975BF}"/>
              </a:ext>
            </a:extLst>
          </p:cNvPr>
          <p:cNvSpPr txBox="1"/>
          <p:nvPr/>
        </p:nvSpPr>
        <p:spPr>
          <a:xfrm>
            <a:off x="273000" y="2534239"/>
            <a:ext cx="1800275" cy="78483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F709723-A00D-E176-3385-E0616E9C083D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이용 빈도</a:t>
            </a:r>
          </a:p>
        </p:txBody>
      </p:sp>
    </p:spTree>
    <p:extLst>
      <p:ext uri="{BB962C8B-B14F-4D97-AF65-F5344CB8AC3E}">
        <p14:creationId xmlns:p14="http://schemas.microsoft.com/office/powerpoint/2010/main" val="3007778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B0B6-0071-CD62-7BE2-6FC8A420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내용 개체 틀 7">
            <a:extLst>
              <a:ext uri="{FF2B5EF4-FFF2-40B4-BE49-F238E27FC236}">
                <a16:creationId xmlns:a16="http://schemas.microsoft.com/office/drawing/2014/main" id="{97B61A5C-67BA-F45D-DFD9-848F5DA0B4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092221"/>
              </p:ext>
            </p:extLst>
          </p:nvPr>
        </p:nvGraphicFramePr>
        <p:xfrm>
          <a:off x="2625890" y="1932508"/>
          <a:ext cx="6919200" cy="1928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내용 개체 틀 7">
            <a:extLst>
              <a:ext uri="{FF2B5EF4-FFF2-40B4-BE49-F238E27FC236}">
                <a16:creationId xmlns:a16="http://schemas.microsoft.com/office/drawing/2014/main" id="{F6C2F19D-61C7-A8B2-1D30-7FB4A28007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129037"/>
              </p:ext>
            </p:extLst>
          </p:nvPr>
        </p:nvGraphicFramePr>
        <p:xfrm>
          <a:off x="2623040" y="2061000"/>
          <a:ext cx="691920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1403E583-B6F2-9DC2-1760-751C0CC17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5822428" cy="461665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대한민국 구석구석</a:t>
            </a:r>
            <a:r>
              <a:rPr lang="en-US" altLang="ko-KR" dirty="0"/>
              <a:t>_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 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C6F16B91-DF56-A986-6AA3-B9AE993E8751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3) 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대한민국 구석구석 이용 이유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E2F43DD-356F-0330-C9F6-F0DBE67A2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순위 기준</a:t>
            </a:r>
            <a:r>
              <a:rPr lang="en-US" altLang="ko-KR" dirty="0"/>
              <a:t>,</a:t>
            </a:r>
            <a:r>
              <a:rPr lang="ko-KR" altLang="en-US" dirty="0"/>
              <a:t> 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이용 이유는 </a:t>
            </a:r>
            <a:r>
              <a:rPr lang="en-US" altLang="ko-KR" dirty="0"/>
              <a:t>‘</a:t>
            </a:r>
            <a:r>
              <a:rPr lang="ko-KR" altLang="en-US" dirty="0"/>
              <a:t>시기</a:t>
            </a:r>
            <a:r>
              <a:rPr lang="en-US" altLang="ko-KR" dirty="0"/>
              <a:t>/</a:t>
            </a:r>
            <a:r>
              <a:rPr lang="ko-KR" altLang="en-US" dirty="0"/>
              <a:t>목적에 맞는 맞춤 추천 정보 보유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21.0%</a:t>
            </a:r>
            <a:r>
              <a:rPr lang="ko-KR" altLang="en-US" dirty="0"/>
              <a:t>로 가장 높게 나타남</a:t>
            </a:r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디지털 관광주민증 혜택 활용</a:t>
            </a:r>
            <a:r>
              <a:rPr lang="en-US" altLang="ko-KR" dirty="0"/>
              <a:t>’</a:t>
            </a:r>
            <a:r>
              <a:rPr lang="ko-KR" altLang="en-US" dirty="0"/>
              <a:t>은 </a:t>
            </a:r>
            <a:r>
              <a:rPr lang="en-US" altLang="ko-KR" dirty="0"/>
              <a:t>1</a:t>
            </a:r>
            <a:r>
              <a:rPr lang="ko-KR" altLang="en-US" dirty="0"/>
              <a:t>순위 기준 </a:t>
            </a:r>
            <a:r>
              <a:rPr lang="en-US" altLang="ko-KR" dirty="0"/>
              <a:t>9.4%</a:t>
            </a:r>
            <a:r>
              <a:rPr lang="ko-KR" altLang="en-US" dirty="0"/>
              <a:t>로 가장 낮게 나타났으나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(5.0%)</a:t>
            </a:r>
            <a:r>
              <a:rPr lang="ko-KR" altLang="en-US" dirty="0"/>
              <a:t> 대비 </a:t>
            </a:r>
            <a:r>
              <a:rPr lang="en-US" altLang="ko-KR" dirty="0"/>
              <a:t>4.4%p </a:t>
            </a:r>
            <a:r>
              <a:rPr lang="ko-KR" altLang="en-US" dirty="0"/>
              <a:t>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- 50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(27.1%), 60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 이상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(24.7%)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연령대에서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시기와 목적에 맞는 맞춤 추천 정보 보유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비율이 상대적으로 높음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01FACF6-FC51-FA9B-4707-F4AE00873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73399"/>
              </p:ext>
            </p:extLst>
          </p:nvPr>
        </p:nvGraphicFramePr>
        <p:xfrm>
          <a:off x="336061" y="3805200"/>
          <a:ext cx="9225461" cy="278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589335295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694293312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698628937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3892494175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289757686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061898179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시기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목적에 맞는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맞춤 추천 정보 보유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다량의 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관광정보 보유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광고無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신뢰도 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높은 정보 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 참여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사용자 맞춤형 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 정보 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최신 관광 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트렌드 파악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디지털관광주민증 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혜택 활용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(5,801)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13.7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12.2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(1,119)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(1,608)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(12*)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(440)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(1,065)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(295)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(166)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22968EF2-CBFC-1EE2-CCF6-FF9A979370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1000" y="3080792"/>
            <a:ext cx="535217" cy="3936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CB9D25-635F-9FBF-E75A-4226BAE07C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1000" y="2531241"/>
            <a:ext cx="535217" cy="39362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F361274-FDDF-CBAB-70AF-5870C2A573F6}"/>
              </a:ext>
            </a:extLst>
          </p:cNvPr>
          <p:cNvGrpSpPr/>
          <p:nvPr/>
        </p:nvGrpSpPr>
        <p:grpSpPr>
          <a:xfrm>
            <a:off x="5062476" y="2299516"/>
            <a:ext cx="572277" cy="153888"/>
            <a:chOff x="5062476" y="2276475"/>
            <a:chExt cx="572277" cy="15388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9038726-5E55-B81B-EED9-4C82DD0C0757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 Box 168">
              <a:extLst>
                <a:ext uri="{FF2B5EF4-FFF2-40B4-BE49-F238E27FC236}">
                  <a16:creationId xmlns:a16="http://schemas.microsoft.com/office/drawing/2014/main" id="{8FDDDFA5-817D-746C-C2DB-229DF10C1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06FE137-64C3-BE7A-9C1D-F6C81A806DE4}"/>
              </a:ext>
            </a:extLst>
          </p:cNvPr>
          <p:cNvGrpSpPr/>
          <p:nvPr/>
        </p:nvGrpSpPr>
        <p:grpSpPr>
          <a:xfrm>
            <a:off x="6289640" y="2299516"/>
            <a:ext cx="572277" cy="153888"/>
            <a:chOff x="5062476" y="2276475"/>
            <a:chExt cx="572277" cy="15388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CCD8B93-8669-0706-57B5-D4C710EC6E2C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Text Box 168">
              <a:extLst>
                <a:ext uri="{FF2B5EF4-FFF2-40B4-BE49-F238E27FC236}">
                  <a16:creationId xmlns:a16="http://schemas.microsoft.com/office/drawing/2014/main" id="{5393207B-AF80-D3E6-6898-622173187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E0C9F8E-1E6D-70D4-222C-148CAB75EE8B}"/>
              </a:ext>
            </a:extLst>
          </p:cNvPr>
          <p:cNvSpPr txBox="1"/>
          <p:nvPr/>
        </p:nvSpPr>
        <p:spPr>
          <a:xfrm>
            <a:off x="273000" y="2534239"/>
            <a:ext cx="1800275" cy="1061829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1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순위 기준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응답값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표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60271BF-56B8-5A3B-D450-CE255F5F5614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이용 이유</a:t>
            </a:r>
          </a:p>
        </p:txBody>
      </p:sp>
    </p:spTree>
    <p:extLst>
      <p:ext uri="{BB962C8B-B14F-4D97-AF65-F5344CB8AC3E}">
        <p14:creationId xmlns:p14="http://schemas.microsoft.com/office/powerpoint/2010/main" val="293771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B9F1F-C34E-E922-EC80-AD7B3C7F8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7">
            <a:extLst>
              <a:ext uri="{FF2B5EF4-FFF2-40B4-BE49-F238E27FC236}">
                <a16:creationId xmlns:a16="http://schemas.microsoft.com/office/drawing/2014/main" id="{5A8254FC-9B1C-A2F5-BF30-0CB0BCCE39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985964"/>
              </p:ext>
            </p:extLst>
          </p:nvPr>
        </p:nvGraphicFramePr>
        <p:xfrm>
          <a:off x="2625890" y="1908695"/>
          <a:ext cx="6919200" cy="1928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26708BC0-0428-CF03-FF9D-D22048DCE6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211928"/>
              </p:ext>
            </p:extLst>
          </p:nvPr>
        </p:nvGraphicFramePr>
        <p:xfrm>
          <a:off x="2625890" y="2062788"/>
          <a:ext cx="691920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D67D4ABE-FB85-0DD0-F6B6-24CFD4D9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5822428" cy="461665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대한민국 구석구석</a:t>
            </a:r>
            <a:r>
              <a:rPr lang="en-US" altLang="ko-KR" dirty="0"/>
              <a:t>_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 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F42BCDCA-F69F-AF05-3DED-9070AF40A87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4) 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대한민국 구석구석 가장 유용한 정보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BE3607C-4B3E-65DF-7D65-3C408784C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순위 기준</a:t>
            </a:r>
            <a:r>
              <a:rPr lang="en-US" altLang="ko-KR" dirty="0"/>
              <a:t>,</a:t>
            </a:r>
            <a:r>
              <a:rPr lang="ko-KR" altLang="en-US" dirty="0"/>
              <a:t> 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내 가장  유용한 정보는 </a:t>
            </a:r>
            <a:r>
              <a:rPr lang="en-US" altLang="ko-KR" dirty="0"/>
              <a:t>‘</a:t>
            </a:r>
            <a:r>
              <a:rPr lang="ko-KR" altLang="en-US" dirty="0"/>
              <a:t>관광지 정보</a:t>
            </a:r>
            <a:r>
              <a:rPr lang="en-US" altLang="ko-KR" dirty="0"/>
              <a:t>’(44.2%)</a:t>
            </a:r>
            <a:r>
              <a:rPr lang="ko-KR" altLang="en-US" dirty="0"/>
              <a:t>로 나타남</a:t>
            </a:r>
            <a:endParaRPr lang="en-US" altLang="ko-KR" dirty="0"/>
          </a:p>
          <a:p>
            <a:r>
              <a:rPr lang="ko-KR" altLang="en-US" dirty="0"/>
              <a:t>다음으로 </a:t>
            </a:r>
            <a:r>
              <a:rPr lang="en-US" altLang="ko-KR" dirty="0"/>
              <a:t>‘</a:t>
            </a:r>
            <a:r>
              <a:rPr lang="ko-KR" altLang="en-US" dirty="0"/>
              <a:t>여행 소식</a:t>
            </a:r>
            <a:r>
              <a:rPr lang="en-US" altLang="ko-KR" dirty="0"/>
              <a:t>/</a:t>
            </a:r>
            <a:r>
              <a:rPr lang="ko-KR" altLang="en-US" dirty="0"/>
              <a:t>이벤트 정보</a:t>
            </a:r>
            <a:r>
              <a:rPr lang="en-US" altLang="ko-KR" dirty="0"/>
              <a:t>’(21.2%), ‘</a:t>
            </a:r>
            <a:r>
              <a:rPr lang="ko-KR" altLang="en-US" dirty="0"/>
              <a:t>여행코스 정보</a:t>
            </a:r>
            <a:r>
              <a:rPr lang="en-US" altLang="ko-KR" dirty="0"/>
              <a:t>’(16.6%), ‘</a:t>
            </a:r>
            <a:r>
              <a:rPr lang="ko-KR" altLang="en-US" dirty="0"/>
              <a:t>축제정보</a:t>
            </a:r>
            <a:r>
              <a:rPr lang="en-US" altLang="ko-KR" dirty="0"/>
              <a:t>’(12.1%) </a:t>
            </a:r>
            <a:r>
              <a:rPr lang="ko-KR" altLang="en-US" dirty="0"/>
              <a:t>등의 순으로 유용한 것으로 조사됨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9A683-5456-C9FC-28C3-7BC61CFFA447}"/>
              </a:ext>
            </a:extLst>
          </p:cNvPr>
          <p:cNvSpPr txBox="1"/>
          <p:nvPr/>
        </p:nvSpPr>
        <p:spPr>
          <a:xfrm>
            <a:off x="273000" y="6597650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세부 분석은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년도 기준으로 작성함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C2E88EE-1D80-D77A-91BA-79BF73D08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363385"/>
              </p:ext>
            </p:extLst>
          </p:nvPr>
        </p:nvGraphicFramePr>
        <p:xfrm>
          <a:off x="336061" y="3805200"/>
          <a:ext cx="9225461" cy="2790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589335295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694293312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698628937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3892494175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289757686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061898179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관광지 정보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여행소식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 정보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여행코스 정보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축제 정보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공연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행사 정보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음식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식당 정보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숙박 정보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(5,801)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  <a:endParaRPr kumimoji="0" lang="ko-KR" altLang="en-US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  <a:endParaRPr kumimoji="0" lang="ko-KR" altLang="en-US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  <a:endParaRPr kumimoji="0" lang="ko-KR" altLang="en-US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24.8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16.6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9.6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(1,119)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(1,608)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(12*)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(440)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(1,065)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8.5</a:t>
                      </a: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(295)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29.8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(166)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68FDCFB0-B49C-9D13-C72E-3810B71E2B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1000" y="2479321"/>
            <a:ext cx="535217" cy="39362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7FD6A9-F476-4E6B-983B-27D8D9B5E5E1}"/>
              </a:ext>
            </a:extLst>
          </p:cNvPr>
          <p:cNvGrpSpPr/>
          <p:nvPr/>
        </p:nvGrpSpPr>
        <p:grpSpPr>
          <a:xfrm>
            <a:off x="5062476" y="2275703"/>
            <a:ext cx="572277" cy="153888"/>
            <a:chOff x="5062476" y="2276475"/>
            <a:chExt cx="572277" cy="153888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8719F3D-1090-A427-1AA3-DDC276F7DD76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 Box 168">
              <a:extLst>
                <a:ext uri="{FF2B5EF4-FFF2-40B4-BE49-F238E27FC236}">
                  <a16:creationId xmlns:a16="http://schemas.microsoft.com/office/drawing/2014/main" id="{45B7FE19-18D6-A1B6-6EB6-C0ED14E4F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1A07A70-9D04-9A34-3ABD-1EC2B05635AC}"/>
              </a:ext>
            </a:extLst>
          </p:cNvPr>
          <p:cNvGrpSpPr/>
          <p:nvPr/>
        </p:nvGrpSpPr>
        <p:grpSpPr>
          <a:xfrm>
            <a:off x="6289640" y="2275703"/>
            <a:ext cx="572277" cy="153888"/>
            <a:chOff x="5062476" y="2276475"/>
            <a:chExt cx="572277" cy="15388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ABB2B1E-818E-27DB-102B-E4B4E0A67B35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Text Box 168">
              <a:extLst>
                <a:ext uri="{FF2B5EF4-FFF2-40B4-BE49-F238E27FC236}">
                  <a16:creationId xmlns:a16="http://schemas.microsoft.com/office/drawing/2014/main" id="{7385FEA1-A33C-2EEF-D4ED-BBED03374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5FE5DFDC-BF15-491F-306C-3F8CAB6A74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1000" y="3009621"/>
            <a:ext cx="535217" cy="3936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1FAC76-3520-041C-BC6B-57DDDCA4F454}"/>
              </a:ext>
            </a:extLst>
          </p:cNvPr>
          <p:cNvSpPr txBox="1"/>
          <p:nvPr/>
        </p:nvSpPr>
        <p:spPr>
          <a:xfrm>
            <a:off x="273000" y="2534239"/>
            <a:ext cx="1800275" cy="1231106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(n=2,727),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  <a:b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3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  <a:endParaRPr lang="en-US" altLang="ko-KR" sz="8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24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 보기 문항 변경으로 비교 불가</a:t>
            </a:r>
            <a:endParaRPr lang="en-US" altLang="ko-KR" sz="8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여행소식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이벤트 정보</a:t>
            </a:r>
            <a:endParaRPr lang="en-US" altLang="ko-KR" sz="8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축제정보</a:t>
            </a:r>
            <a:endParaRPr lang="en-US" altLang="ko-KR" sz="8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공연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행사정보</a:t>
            </a:r>
            <a:endParaRPr lang="en-US" altLang="ko-KR" sz="8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3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1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순위 기준 </a:t>
            </a:r>
            <a:r>
              <a:rPr lang="ko-KR" altLang="en-US" sz="8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응답값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표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b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3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endParaRPr lang="en-US" altLang="ko-KR" sz="8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325862C-79D0-AAFA-E98D-E5E73B19F3B6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유용한 정보</a:t>
            </a:r>
          </a:p>
        </p:txBody>
      </p:sp>
    </p:spTree>
    <p:extLst>
      <p:ext uri="{BB962C8B-B14F-4D97-AF65-F5344CB8AC3E}">
        <p14:creationId xmlns:p14="http://schemas.microsoft.com/office/powerpoint/2010/main" val="1272455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74E40-99A0-BBFA-9821-43BDD07D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내용 개체 틀 7">
            <a:extLst>
              <a:ext uri="{FF2B5EF4-FFF2-40B4-BE49-F238E27FC236}">
                <a16:creationId xmlns:a16="http://schemas.microsoft.com/office/drawing/2014/main" id="{B9FD042F-02EB-B950-3ADA-77111178E6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8681758"/>
              </p:ext>
            </p:extLst>
          </p:nvPr>
        </p:nvGraphicFramePr>
        <p:xfrm>
          <a:off x="2601270" y="1932508"/>
          <a:ext cx="6957060" cy="1928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내용 개체 틀 7">
            <a:extLst>
              <a:ext uri="{FF2B5EF4-FFF2-40B4-BE49-F238E27FC236}">
                <a16:creationId xmlns:a16="http://schemas.microsoft.com/office/drawing/2014/main" id="{117ECDA5-0268-9FF9-76E4-7433E6FBD3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5764729"/>
              </p:ext>
            </p:extLst>
          </p:nvPr>
        </p:nvGraphicFramePr>
        <p:xfrm>
          <a:off x="2598420" y="2061000"/>
          <a:ext cx="69570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B976A5E5-7525-D48A-1B7E-C9CA423E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5822428" cy="461665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대한민국 구석구석</a:t>
            </a:r>
            <a:r>
              <a:rPr lang="en-US" altLang="ko-KR" dirty="0"/>
              <a:t>_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 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1DD83E6F-405C-650F-8B04-E1FF7C01262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5) 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대한민국 구석구석 주 활용 서비스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C517FA1-3BED-4DD1-ED33-DAC2C6CEB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순위 기준</a:t>
            </a:r>
            <a:r>
              <a:rPr lang="en-US" altLang="ko-KR" dirty="0"/>
              <a:t>,</a:t>
            </a:r>
            <a:r>
              <a:rPr lang="ko-KR" altLang="en-US" dirty="0"/>
              <a:t> 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내 주 활용 서비스는 </a:t>
            </a:r>
            <a:r>
              <a:rPr lang="en-US" altLang="ko-KR" dirty="0"/>
              <a:t>‘</a:t>
            </a:r>
            <a:r>
              <a:rPr lang="ko-KR" altLang="en-US" dirty="0"/>
              <a:t>여행지 검색</a:t>
            </a:r>
            <a:r>
              <a:rPr lang="en-US" altLang="ko-KR" dirty="0"/>
              <a:t>’(16.6%)</a:t>
            </a:r>
            <a:r>
              <a:rPr lang="ko-KR" altLang="en-US" dirty="0"/>
              <a:t>로 조사됨</a:t>
            </a:r>
            <a:endParaRPr lang="en-US" altLang="ko-KR" dirty="0"/>
          </a:p>
          <a:p>
            <a:r>
              <a:rPr lang="ko-KR" altLang="en-US" dirty="0"/>
              <a:t>다음으로 </a:t>
            </a:r>
            <a:r>
              <a:rPr lang="en-US" altLang="ko-KR" dirty="0"/>
              <a:t>‘</a:t>
            </a:r>
            <a:r>
              <a:rPr lang="ko-KR" altLang="en-US" dirty="0"/>
              <a:t>축제정보 검색</a:t>
            </a:r>
            <a:r>
              <a:rPr lang="en-US" altLang="ko-KR" dirty="0"/>
              <a:t>’(11.7%), ‘</a:t>
            </a:r>
            <a:r>
              <a:rPr lang="ko-KR" altLang="en-US" dirty="0"/>
              <a:t>지역별 인기정보</a:t>
            </a:r>
            <a:r>
              <a:rPr lang="en-US" altLang="ko-KR" dirty="0"/>
              <a:t>’(10.9%), ‘</a:t>
            </a:r>
            <a:r>
              <a:rPr lang="ko-KR" altLang="en-US" dirty="0"/>
              <a:t>이벤트</a:t>
            </a:r>
            <a:r>
              <a:rPr lang="en-US" altLang="ko-KR" dirty="0"/>
              <a:t>’(8.4%) </a:t>
            </a:r>
            <a:r>
              <a:rPr lang="ko-KR" altLang="en-US" dirty="0"/>
              <a:t>등의 순으로 나타남</a:t>
            </a:r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공연</a:t>
            </a:r>
            <a:r>
              <a:rPr lang="en-US" altLang="ko-KR" dirty="0"/>
              <a:t>/</a:t>
            </a:r>
            <a:r>
              <a:rPr lang="ko-KR" altLang="en-US" dirty="0"/>
              <a:t>행사 정보 검색</a:t>
            </a:r>
            <a:r>
              <a:rPr lang="en-US" altLang="ko-KR" dirty="0"/>
              <a:t>’</a:t>
            </a:r>
            <a:r>
              <a:rPr lang="ko-KR" altLang="en-US" dirty="0"/>
              <a:t>은 </a:t>
            </a:r>
            <a:r>
              <a:rPr lang="en-US" altLang="ko-KR" dirty="0"/>
              <a:t>1</a:t>
            </a:r>
            <a:r>
              <a:rPr lang="ko-KR" altLang="en-US" dirty="0"/>
              <a:t>순위 기준 </a:t>
            </a:r>
            <a:r>
              <a:rPr lang="en-US" altLang="ko-KR" dirty="0"/>
              <a:t>6.3%</a:t>
            </a:r>
            <a:r>
              <a:rPr lang="ko-KR" altLang="en-US" dirty="0"/>
              <a:t>로 낮게 나타났으나</a:t>
            </a:r>
            <a:r>
              <a:rPr lang="en-US" altLang="ko-KR" dirty="0"/>
              <a:t>, 1+2+3 </a:t>
            </a:r>
            <a:r>
              <a:rPr lang="ko-KR" altLang="en-US" dirty="0"/>
              <a:t>순위 기준으로는 </a:t>
            </a:r>
            <a:r>
              <a:rPr lang="en-US" altLang="ko-KR" dirty="0"/>
              <a:t>21.7%</a:t>
            </a:r>
            <a:r>
              <a:rPr lang="ko-KR" altLang="en-US" dirty="0"/>
              <a:t>로 상대적으로 높게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- 40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대는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축제정보검색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’(12.0%), 60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 이상은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지역별 인기 정보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’(14.5%)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서비스 비율이 상대적으로 높음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904340-6826-4FF0-A03E-D7FF137333FB}"/>
              </a:ext>
            </a:extLst>
          </p:cNvPr>
          <p:cNvSpPr txBox="1"/>
          <p:nvPr/>
        </p:nvSpPr>
        <p:spPr>
          <a:xfrm>
            <a:off x="273000" y="6597650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세부 분석은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년도 기준으로 작성함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7C2C1E7-DD53-586C-D098-8FD5FA627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169964"/>
              </p:ext>
            </p:extLst>
          </p:nvPr>
        </p:nvGraphicFramePr>
        <p:xfrm>
          <a:off x="336061" y="3805200"/>
          <a:ext cx="9225465" cy="27917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1677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19187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2052042148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1589335295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694293312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1698628937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3892494175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289757686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3063049216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731815453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1694579552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1426470135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1805825566"/>
                    </a:ext>
                  </a:extLst>
                </a:gridCol>
                <a:gridCol w="532302">
                  <a:extLst>
                    <a:ext uri="{9D8B030D-6E8A-4147-A177-3AD203B41FA5}">
                      <a16:colId xmlns:a16="http://schemas.microsoft.com/office/drawing/2014/main" val="106189817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rtl="0" fontAlgn="ctr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 rtl="0" fontAlgn="ctr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여행지 검색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축제정보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검색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지역별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인기정보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추천코스</a:t>
                      </a:r>
                      <a:r>
                        <a:rPr lang="en-US" altLang="ko-KR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, AI</a:t>
                      </a: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콕콕 플래너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가볼래</a:t>
                      </a:r>
                      <a:r>
                        <a:rPr lang="en-US" altLang="ko-KR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터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여행상품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검색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디지털관광주민증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공연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행사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검색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테마별 정보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여행기사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검색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AI</a:t>
                      </a: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콕콕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배지콕콕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7633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11.7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10.9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7.0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6.3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5.6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76333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(1,119)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(1,608)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76333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(12*)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(440)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(1,065)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(749)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(295)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76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(166)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5ABB61C2-CAC7-8FFA-696D-268BA85650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33391" y="2438382"/>
            <a:ext cx="535217" cy="3936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2B82FB-A155-F245-E9DB-D6669D8DE4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33391" y="3146768"/>
            <a:ext cx="535217" cy="39362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630D5913-B335-1F93-19FF-297B7DC0FAE5}"/>
              </a:ext>
            </a:extLst>
          </p:cNvPr>
          <p:cNvGrpSpPr/>
          <p:nvPr/>
        </p:nvGrpSpPr>
        <p:grpSpPr>
          <a:xfrm>
            <a:off x="6371006" y="2478754"/>
            <a:ext cx="669994" cy="153888"/>
            <a:chOff x="5062476" y="2276475"/>
            <a:chExt cx="669994" cy="15388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B0EF64E-E3C9-D146-AA6A-9819FA39BFEB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Text Box 168">
              <a:extLst>
                <a:ext uri="{FF2B5EF4-FFF2-40B4-BE49-F238E27FC236}">
                  <a16:creationId xmlns:a16="http://schemas.microsoft.com/office/drawing/2014/main" id="{E297C60A-1FB3-8EE9-317F-2B6581E4A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632934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1+2+3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6FBFFD-CDFA-3682-92D0-AD7E274432D9}"/>
              </a:ext>
            </a:extLst>
          </p:cNvPr>
          <p:cNvSpPr txBox="1"/>
          <p:nvPr/>
        </p:nvSpPr>
        <p:spPr>
          <a:xfrm>
            <a:off x="273000" y="2534239"/>
            <a:ext cx="1800275" cy="1200329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 문항만 기재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1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순위 기준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응답값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표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8EBD39A-4224-B2F4-648E-265C680A9184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주 활용 서비스</a:t>
            </a:r>
          </a:p>
        </p:txBody>
      </p:sp>
    </p:spTree>
    <p:extLst>
      <p:ext uri="{BB962C8B-B14F-4D97-AF65-F5344CB8AC3E}">
        <p14:creationId xmlns:p14="http://schemas.microsoft.com/office/powerpoint/2010/main" val="347505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D3D2-3749-8FD2-8B32-DBE500FA9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내용 개체 틀 7">
            <a:extLst>
              <a:ext uri="{FF2B5EF4-FFF2-40B4-BE49-F238E27FC236}">
                <a16:creationId xmlns:a16="http://schemas.microsoft.com/office/drawing/2014/main" id="{482429EA-03EB-CBA7-8DA6-9793BF6B19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3946446"/>
              </p:ext>
            </p:extLst>
          </p:nvPr>
        </p:nvGraphicFramePr>
        <p:xfrm>
          <a:off x="2625890" y="1932508"/>
          <a:ext cx="6919200" cy="1928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내용 개체 틀 7">
            <a:extLst>
              <a:ext uri="{FF2B5EF4-FFF2-40B4-BE49-F238E27FC236}">
                <a16:creationId xmlns:a16="http://schemas.microsoft.com/office/drawing/2014/main" id="{1FA191C0-7790-5387-7623-67EFFF6220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7808780"/>
              </p:ext>
            </p:extLst>
          </p:nvPr>
        </p:nvGraphicFramePr>
        <p:xfrm>
          <a:off x="2623040" y="2061000"/>
          <a:ext cx="691920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938BE82-1746-42B3-56DC-D47A6371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5822428" cy="461665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대한민국 구석구석</a:t>
            </a:r>
            <a:r>
              <a:rPr lang="en-US" altLang="ko-KR" dirty="0"/>
              <a:t>_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 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29CC5748-A767-B510-1FF1-5770F6876974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6) 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대한민국 구석구석 개선사항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3419CD0-AF29-74D5-5004-9602B7D98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주요 개선 사항은 </a:t>
            </a:r>
            <a:r>
              <a:rPr lang="en-US" altLang="ko-KR" dirty="0"/>
              <a:t>‘</a:t>
            </a:r>
            <a:r>
              <a:rPr lang="ko-KR" altLang="en-US" dirty="0"/>
              <a:t>최신정보 다양화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27.8%</a:t>
            </a:r>
            <a:r>
              <a:rPr lang="ko-KR" altLang="en-US" dirty="0"/>
              <a:t>로 가장 높고</a:t>
            </a:r>
            <a:r>
              <a:rPr lang="en-US" altLang="ko-KR" dirty="0"/>
              <a:t>, 23</a:t>
            </a:r>
            <a:r>
              <a:rPr lang="ko-KR" altLang="en-US" dirty="0"/>
              <a:t>년과 최우선 개선사항이 동일하게 나타남</a:t>
            </a:r>
            <a:endParaRPr lang="en-US" altLang="ko-KR" dirty="0"/>
          </a:p>
          <a:p>
            <a:r>
              <a:rPr lang="ko-KR" altLang="en-US" dirty="0"/>
              <a:t>다음으로 </a:t>
            </a:r>
            <a:r>
              <a:rPr lang="en-US" altLang="ko-KR" dirty="0"/>
              <a:t>‘</a:t>
            </a:r>
            <a:r>
              <a:rPr lang="ko-KR" altLang="en-US" dirty="0"/>
              <a:t>검색기능개선</a:t>
            </a:r>
            <a:r>
              <a:rPr lang="en-US" altLang="ko-KR" dirty="0"/>
              <a:t>’(22.4%), ‘</a:t>
            </a:r>
            <a:r>
              <a:rPr lang="ko-KR" altLang="en-US" dirty="0"/>
              <a:t>여행 취향을 반영한 맞춤형 추천</a:t>
            </a:r>
            <a:r>
              <a:rPr lang="en-US" altLang="ko-KR" dirty="0"/>
              <a:t>’(20.5%) </a:t>
            </a:r>
            <a:r>
              <a:rPr lang="ko-KR" altLang="en-US" dirty="0"/>
              <a:t>등의 개선사항이 필요한 것으로 조사됨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남성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(21.3%),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(27.1%)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최신정보 다양화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 대한 개선 의견이 상대적으로 높음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C4D65-63EB-CB9D-7FF0-E1651542EA4E}"/>
              </a:ext>
            </a:extLst>
          </p:cNvPr>
          <p:cNvSpPr txBox="1"/>
          <p:nvPr/>
        </p:nvSpPr>
        <p:spPr>
          <a:xfrm>
            <a:off x="273000" y="6597650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세부 분석은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년도 기준으로 작성함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42C97EA-B1BA-9698-267F-5D5AC7681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3161"/>
              </p:ext>
            </p:extLst>
          </p:nvPr>
        </p:nvGraphicFramePr>
        <p:xfrm>
          <a:off x="336061" y="3805200"/>
          <a:ext cx="9225459" cy="2790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1589335295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694293312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1698628937"/>
                    </a:ext>
                  </a:extLst>
                </a:gridCol>
                <a:gridCol w="1383880">
                  <a:extLst>
                    <a:ext uri="{9D8B030D-6E8A-4147-A177-3AD203B41FA5}">
                      <a16:colId xmlns:a16="http://schemas.microsoft.com/office/drawing/2014/main" val="3892494175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최신 정보 다양화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검색 기능 개선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 취향을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반영한 맞춤형 추천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주제별 특화된 정보 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사이트 디자인 및 메뉴 구성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(5,801)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(1,119)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(1,608)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(12*)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(440)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(1,065)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(295)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(166)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6DDF7F9-6001-6C89-0B22-3F8043A635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96999" y="2855990"/>
            <a:ext cx="535217" cy="3936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054F1A-CE3F-26CA-0E99-9D3E545170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97000" y="2317436"/>
            <a:ext cx="535217" cy="39362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40C22EAE-82C4-8EFC-0B05-FBCA34F4CA53}"/>
              </a:ext>
            </a:extLst>
          </p:cNvPr>
          <p:cNvGrpSpPr/>
          <p:nvPr/>
        </p:nvGrpSpPr>
        <p:grpSpPr>
          <a:xfrm>
            <a:off x="5062476" y="2299516"/>
            <a:ext cx="572277" cy="153888"/>
            <a:chOff x="5062476" y="2276475"/>
            <a:chExt cx="572277" cy="15388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86750EC-B2E2-FB8B-51BD-DD73DD9974D0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 Box 168">
              <a:extLst>
                <a:ext uri="{FF2B5EF4-FFF2-40B4-BE49-F238E27FC236}">
                  <a16:creationId xmlns:a16="http://schemas.microsoft.com/office/drawing/2014/main" id="{5B0FE7E1-8CCD-43C3-04A2-12CE0BB58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CB84336-E4AF-2142-24D9-2497C4442274}"/>
              </a:ext>
            </a:extLst>
          </p:cNvPr>
          <p:cNvGrpSpPr/>
          <p:nvPr/>
        </p:nvGrpSpPr>
        <p:grpSpPr>
          <a:xfrm>
            <a:off x="6289640" y="2299516"/>
            <a:ext cx="572277" cy="153888"/>
            <a:chOff x="5062476" y="2276475"/>
            <a:chExt cx="572277" cy="153888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DD72FE1-1293-6883-C803-5744978FF914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Text Box 168">
              <a:extLst>
                <a:ext uri="{FF2B5EF4-FFF2-40B4-BE49-F238E27FC236}">
                  <a16:creationId xmlns:a16="http://schemas.microsoft.com/office/drawing/2014/main" id="{5425B435-6370-18A6-AA75-E322E64A5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2493737-682E-7AF2-5E47-7987357D9F95}"/>
              </a:ext>
            </a:extLst>
          </p:cNvPr>
          <p:cNvSpPr txBox="1"/>
          <p:nvPr/>
        </p:nvSpPr>
        <p:spPr>
          <a:xfrm>
            <a:off x="273000" y="2534239"/>
            <a:ext cx="1800275" cy="1061829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1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순위 기준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응답값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표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94766A7-582E-53E0-C667-2BD35940C8A2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개선사항</a:t>
            </a:r>
          </a:p>
        </p:txBody>
      </p:sp>
    </p:spTree>
    <p:extLst>
      <p:ext uri="{BB962C8B-B14F-4D97-AF65-F5344CB8AC3E}">
        <p14:creationId xmlns:p14="http://schemas.microsoft.com/office/powerpoint/2010/main" val="1275970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37D9-FBA6-753E-63F7-C926E0403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17A2C5C-3318-FA7E-EDF8-5F060EA0CA0B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</p:spPr>
        <p:txBody>
          <a:bodyPr/>
          <a:lstStyle/>
          <a:p>
            <a:r>
              <a:rPr lang="en-US" altLang="ko-KR" dirty="0"/>
              <a:t>Part</a:t>
            </a:r>
          </a:p>
          <a:p>
            <a:r>
              <a:rPr lang="en-US" altLang="ko-KR" dirty="0"/>
              <a:t>Ⅱ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6F08616-B39A-C25B-0512-8F20D1221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</p:spPr>
        <p:txBody>
          <a:bodyPr/>
          <a:lstStyle/>
          <a:p>
            <a:r>
              <a:rPr lang="ko-KR" altLang="en-US" dirty="0"/>
              <a:t>주요 조사 내용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1B5305-1764-A087-77D2-88C6FEC28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10" y="2797382"/>
            <a:ext cx="4896157" cy="2431618"/>
          </a:xfrm>
        </p:spPr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국내 여행 정보 수집 과정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tx1"/>
              </a:buClr>
            </a:pPr>
            <a:r>
              <a:rPr lang="ko-KR" altLang="en-US" dirty="0"/>
              <a:t>대한민국 구석구석 서비스 이용 현황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/>
              <a:t>2.2. SNS </a:t>
            </a:r>
            <a:r>
              <a:rPr lang="ko-KR" altLang="en-US" dirty="0"/>
              <a:t>이용 현황</a:t>
            </a:r>
            <a:endParaRPr lang="en-US" altLang="ko-KR" dirty="0"/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서비스만족도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콘텐츠 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메인 화면 선호 의견</a:t>
            </a:r>
          </a:p>
        </p:txBody>
      </p:sp>
    </p:spTree>
    <p:extLst>
      <p:ext uri="{BB962C8B-B14F-4D97-AF65-F5344CB8AC3E}">
        <p14:creationId xmlns:p14="http://schemas.microsoft.com/office/powerpoint/2010/main" val="3783672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52246-7504-61D5-54FF-8E8161455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9E88C-582E-2ED7-3EB4-3279E9E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935967" cy="461665"/>
          </a:xfrm>
        </p:spPr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대한민국 구석구석</a:t>
            </a:r>
            <a:r>
              <a:rPr lang="en-US" altLang="ko-KR" dirty="0"/>
              <a:t>_SNS </a:t>
            </a:r>
            <a:r>
              <a:rPr lang="ko-KR" altLang="en-US" dirty="0"/>
              <a:t>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8F4B6E7A-784C-E166-5629-6E45F9DAAE2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1) [SNS] </a:t>
            </a:r>
            <a:r>
              <a:rPr lang="ko-KR" altLang="en-US" dirty="0"/>
              <a:t>대한민국 구석구석 방문 경로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803528A-DBA8-155C-957D-7647934FC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pc="-50" dirty="0"/>
              <a:t>대한민국 구석구석 </a:t>
            </a:r>
            <a:r>
              <a:rPr lang="en-US" altLang="ko-KR" spc="-50" dirty="0"/>
              <a:t>SNS </a:t>
            </a:r>
            <a:r>
              <a:rPr lang="ko-KR" altLang="en-US" spc="-50" dirty="0"/>
              <a:t>방문</a:t>
            </a:r>
            <a:r>
              <a:rPr lang="en-US" altLang="ko-KR" spc="-50" dirty="0"/>
              <a:t> </a:t>
            </a:r>
            <a:r>
              <a:rPr lang="ko-KR" altLang="en-US" spc="-50" dirty="0"/>
              <a:t>경로는 </a:t>
            </a:r>
            <a:r>
              <a:rPr lang="en-US" altLang="ko-KR" spc="-50" dirty="0"/>
              <a:t>‘</a:t>
            </a:r>
            <a:r>
              <a:rPr lang="ko-KR" altLang="en-US" spc="-50" dirty="0"/>
              <a:t>지인 추천 및 일반 개인 블로그</a:t>
            </a:r>
            <a:r>
              <a:rPr lang="en-US" altLang="ko-KR" spc="-50" dirty="0"/>
              <a:t>’</a:t>
            </a:r>
            <a:r>
              <a:rPr lang="ko-KR" altLang="en-US" spc="-50" dirty="0"/>
              <a:t>가 </a:t>
            </a:r>
            <a:r>
              <a:rPr lang="en-US" altLang="ko-KR" spc="-50" dirty="0"/>
              <a:t>30.5%</a:t>
            </a:r>
            <a:r>
              <a:rPr lang="ko-KR" altLang="en-US" spc="-50" dirty="0"/>
              <a:t>로 가장 높았으며</a:t>
            </a:r>
            <a:r>
              <a:rPr lang="en-US" altLang="ko-KR" spc="-50" dirty="0"/>
              <a:t>, 23</a:t>
            </a:r>
            <a:r>
              <a:rPr lang="ko-KR" altLang="en-US" spc="-50" dirty="0"/>
              <a:t>년</a:t>
            </a:r>
            <a:r>
              <a:rPr lang="en-US" altLang="ko-KR" spc="-50" dirty="0"/>
              <a:t>(27.1%)</a:t>
            </a:r>
            <a:r>
              <a:rPr lang="ko-KR" altLang="en-US" spc="-50" dirty="0"/>
              <a:t> 대비 </a:t>
            </a:r>
            <a:r>
              <a:rPr lang="en-US" altLang="ko-KR" spc="-50" dirty="0"/>
              <a:t>3.4%p</a:t>
            </a:r>
            <a:r>
              <a:rPr lang="ko-KR" altLang="en-US" spc="-50" dirty="0"/>
              <a:t> 상승함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dirty="0"/>
              <a:t>다음으로 </a:t>
            </a:r>
            <a:r>
              <a:rPr lang="en-US" altLang="ko-KR" dirty="0"/>
              <a:t>‘</a:t>
            </a:r>
            <a:r>
              <a:rPr lang="ko-KR" altLang="en-US" dirty="0"/>
              <a:t>대한민국 구석구석 다른 </a:t>
            </a:r>
            <a:r>
              <a:rPr lang="en-US" altLang="ko-KR" dirty="0"/>
              <a:t>SNS’(27.7%), ‘</a:t>
            </a:r>
            <a:r>
              <a:rPr lang="ko-KR" altLang="en-US" dirty="0"/>
              <a:t>대한민국 구석구석 홈페이지를 통해</a:t>
            </a:r>
            <a:r>
              <a:rPr lang="en-US" altLang="ko-KR" dirty="0"/>
              <a:t>’(24.9%) </a:t>
            </a:r>
            <a:r>
              <a:rPr lang="ko-KR" altLang="en-US" dirty="0"/>
              <a:t>등의 순으로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- 19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세 이하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(32.4%)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지인 추천 및 일반 개인 블로그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통한 대한민국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SNS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방문율이 상대적으로 높은 편임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포털사이트 노출 콘텐츠 클릭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통한 방문은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24.3%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23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년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(28.3%)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4.0%p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하락함</a:t>
            </a:r>
          </a:p>
        </p:txBody>
      </p:sp>
      <p:graphicFrame>
        <p:nvGraphicFramePr>
          <p:cNvPr id="5" name="내용 개체 틀 7">
            <a:extLst>
              <a:ext uri="{FF2B5EF4-FFF2-40B4-BE49-F238E27FC236}">
                <a16:creationId xmlns:a16="http://schemas.microsoft.com/office/drawing/2014/main" id="{04236F69-612D-BF88-249A-BD9A9D4EAA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7848969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0BEB42F-2B5F-5CE9-68DB-1EEC89477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203196"/>
              </p:ext>
            </p:extLst>
          </p:nvPr>
        </p:nvGraphicFramePr>
        <p:xfrm>
          <a:off x="336061" y="3805201"/>
          <a:ext cx="9225457" cy="27908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090915213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2156606057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601146368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158404847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115374204"/>
                    </a:ext>
                  </a:extLst>
                </a:gridCol>
              </a:tblGrid>
              <a:tr h="31230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지인 추천 및 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일반 개인 블로그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/SNS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대한민국 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다른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SNS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대한민국 구석구석 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홈페이지를 통해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온라인 광고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홍보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포털사이트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노출 콘텐츠 클릭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포털사이트 대한민국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검색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(9,953)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27.1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25.2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22.2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(9,247)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27.7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24.9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24.6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24.3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▼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▼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▼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▼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165234">
                <a:tc rowSpan="4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29.3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33.1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25.8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27.6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22.6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13.9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29.2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16523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(3,225)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28.7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(6,022)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27.2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25.1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165234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17.6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17.6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(1,065)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27.5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(3,108)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26.1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(3,054)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(1,266)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29.7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(720)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27.5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28.2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BC944CFD-A802-349E-AED2-2D5929B1BF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53000" y="2635193"/>
            <a:ext cx="535217" cy="393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873D6C-1974-9F84-DCBE-E0FD1EC5CBBF}"/>
              </a:ext>
            </a:extLst>
          </p:cNvPr>
          <p:cNvSpPr txBox="1"/>
          <p:nvPr/>
        </p:nvSpPr>
        <p:spPr>
          <a:xfrm>
            <a:off x="273000" y="2534239"/>
            <a:ext cx="1800275" cy="646331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SNS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(n=9,247),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F8424FE-FEE0-6101-0CDE-33AA34A18560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방문 경로</a:t>
            </a:r>
          </a:p>
        </p:txBody>
      </p:sp>
    </p:spTree>
    <p:extLst>
      <p:ext uri="{BB962C8B-B14F-4D97-AF65-F5344CB8AC3E}">
        <p14:creationId xmlns:p14="http://schemas.microsoft.com/office/powerpoint/2010/main" val="2052868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21452-B399-E7A4-1942-657860C9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71211-F838-A118-8174-BB8D9A98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935967" cy="461665"/>
          </a:xfrm>
        </p:spPr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대한민국 구석구석</a:t>
            </a:r>
            <a:r>
              <a:rPr lang="en-US" altLang="ko-KR" dirty="0"/>
              <a:t>_SNS </a:t>
            </a:r>
            <a:r>
              <a:rPr lang="ko-KR" altLang="en-US" dirty="0"/>
              <a:t>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28E5F560-1D2C-638F-1F09-ACF05C962CA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2) [SNS] </a:t>
            </a:r>
            <a:r>
              <a:rPr lang="ko-KR" altLang="en-US" dirty="0"/>
              <a:t>대한민국 구석구석 이용 빈도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5FF82FE-194E-EAA6-0B8B-53507F7D4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SNS</a:t>
            </a:r>
            <a:r>
              <a:rPr lang="ko-KR" altLang="en-US" dirty="0"/>
              <a:t> 이용 빈도는 </a:t>
            </a:r>
            <a:r>
              <a:rPr lang="en-US" altLang="ko-KR" dirty="0"/>
              <a:t>‘</a:t>
            </a:r>
            <a:r>
              <a:rPr lang="ko-KR" altLang="en-US" dirty="0"/>
              <a:t>월 </a:t>
            </a:r>
            <a:r>
              <a:rPr lang="en-US" altLang="ko-KR" dirty="0"/>
              <a:t>2~3</a:t>
            </a:r>
            <a:r>
              <a:rPr lang="ko-KR" altLang="en-US" dirty="0"/>
              <a:t>회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31.7%</a:t>
            </a:r>
            <a:r>
              <a:rPr lang="ko-KR" altLang="en-US" dirty="0"/>
              <a:t>로 가장 높게 나타났으며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(24.0%) </a:t>
            </a:r>
            <a:r>
              <a:rPr lang="ko-KR" altLang="en-US" dirty="0"/>
              <a:t>대비 </a:t>
            </a:r>
            <a:r>
              <a:rPr lang="en-US" altLang="ko-KR" dirty="0"/>
              <a:t>7.7%p </a:t>
            </a:r>
            <a:r>
              <a:rPr lang="ko-KR" altLang="en-US" dirty="0"/>
              <a:t>상승함</a:t>
            </a:r>
            <a:endParaRPr lang="en-US" altLang="ko-KR" dirty="0"/>
          </a:p>
          <a:p>
            <a:r>
              <a:rPr lang="en-US" altLang="ko-KR" spc="-20" dirty="0"/>
              <a:t>23</a:t>
            </a:r>
            <a:r>
              <a:rPr lang="ko-KR" altLang="en-US" spc="-20" dirty="0"/>
              <a:t>년은 </a:t>
            </a:r>
            <a:r>
              <a:rPr lang="en-US" altLang="ko-KR" spc="-20" dirty="0"/>
              <a:t>‘</a:t>
            </a:r>
            <a:r>
              <a:rPr lang="ko-KR" altLang="en-US" spc="-20" dirty="0"/>
              <a:t>주 </a:t>
            </a:r>
            <a:r>
              <a:rPr lang="en-US" altLang="ko-KR" spc="-20" dirty="0"/>
              <a:t>2~3</a:t>
            </a:r>
            <a:r>
              <a:rPr lang="ko-KR" altLang="en-US" spc="-20" dirty="0"/>
              <a:t>회</a:t>
            </a:r>
            <a:r>
              <a:rPr lang="en-US" altLang="ko-KR" spc="-20" dirty="0"/>
              <a:t>’ </a:t>
            </a:r>
            <a:r>
              <a:rPr lang="ko-KR" altLang="en-US" spc="-20" dirty="0"/>
              <a:t>비율이 가장 높았으나</a:t>
            </a:r>
            <a:r>
              <a:rPr lang="en-US" altLang="ko-KR" spc="-20" dirty="0"/>
              <a:t>, 24</a:t>
            </a:r>
            <a:r>
              <a:rPr lang="ko-KR" altLang="en-US" spc="-20" dirty="0"/>
              <a:t>년은 </a:t>
            </a:r>
            <a:r>
              <a:rPr lang="en-US" altLang="ko-KR" spc="-20" dirty="0"/>
              <a:t>‘</a:t>
            </a:r>
            <a:r>
              <a:rPr lang="ko-KR" altLang="en-US" spc="-20" dirty="0"/>
              <a:t>월 </a:t>
            </a:r>
            <a:r>
              <a:rPr lang="en-US" altLang="ko-KR" spc="-20" dirty="0"/>
              <a:t>2~3</a:t>
            </a:r>
            <a:r>
              <a:rPr lang="ko-KR" altLang="en-US" spc="-20" dirty="0"/>
              <a:t>회</a:t>
            </a:r>
            <a:r>
              <a:rPr lang="en-US" altLang="ko-KR" spc="-20" dirty="0"/>
              <a:t>’ </a:t>
            </a:r>
            <a:r>
              <a:rPr lang="ko-KR" altLang="en-US" spc="-20" dirty="0"/>
              <a:t>비율이 높게 나타나 전반적으로 대한민국 구석구석 이용빈도가 낮아짐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접속경로별로는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네이버블로그에서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이용빈도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2~3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’(35.3%)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비율이 높음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대에서 이용빈도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2~3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응답비율이 가장 높음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7" name="내용 개체 틀 7">
            <a:extLst>
              <a:ext uri="{FF2B5EF4-FFF2-40B4-BE49-F238E27FC236}">
                <a16:creationId xmlns:a16="http://schemas.microsoft.com/office/drawing/2014/main" id="{892AE833-59C2-DD2B-731A-61FD349D79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0554820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B638E37C-D945-97CE-AECF-3BC11FAC4F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609000" y="2558479"/>
            <a:ext cx="535217" cy="3936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50A25C-3557-280F-935B-897C95EAF9D4}"/>
              </a:ext>
            </a:extLst>
          </p:cNvPr>
          <p:cNvSpPr txBox="1"/>
          <p:nvPr/>
        </p:nvSpPr>
        <p:spPr>
          <a:xfrm>
            <a:off x="273000" y="2534239"/>
            <a:ext cx="1800275" cy="646331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SNS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(n=9,247),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92CCBA9-24A8-4ACA-E5BD-3B1E23DD76C0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이용 빈도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FD21046-119B-358B-25B8-3E0D6D159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848811"/>
              </p:ext>
            </p:extLst>
          </p:nvPr>
        </p:nvGraphicFramePr>
        <p:xfrm>
          <a:off x="336061" y="3805201"/>
          <a:ext cx="9225457" cy="27908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090915213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2156606057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601146368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158404847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115374204"/>
                    </a:ext>
                  </a:extLst>
                </a:gridCol>
              </a:tblGrid>
              <a:tr h="31230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거의 매일 방문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주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2~3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월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4~5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월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2~3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분기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거의 이용하지 않음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(9,953)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(9,247)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5.3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9.5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7.7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165234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접속경로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35.3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44.2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35.5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16523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(3,225)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(6,022)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165234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(1,065)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(3,108)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(3,054)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(1,266)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(720)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114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521C-EF4C-4F0B-1D00-4BB413A6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내용 개체 틀 7">
            <a:extLst>
              <a:ext uri="{FF2B5EF4-FFF2-40B4-BE49-F238E27FC236}">
                <a16:creationId xmlns:a16="http://schemas.microsoft.com/office/drawing/2014/main" id="{B0B960D5-8E94-137A-7FF1-3BE8D5BC96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4443638"/>
              </p:ext>
            </p:extLst>
          </p:nvPr>
        </p:nvGraphicFramePr>
        <p:xfrm>
          <a:off x="2625890" y="1932508"/>
          <a:ext cx="6919200" cy="1928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내용 개체 틀 7">
            <a:extLst>
              <a:ext uri="{FF2B5EF4-FFF2-40B4-BE49-F238E27FC236}">
                <a16:creationId xmlns:a16="http://schemas.microsoft.com/office/drawing/2014/main" id="{9B86ACEF-2442-02D1-5C89-9D076B5988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5676260"/>
              </p:ext>
            </p:extLst>
          </p:nvPr>
        </p:nvGraphicFramePr>
        <p:xfrm>
          <a:off x="2634104" y="2045293"/>
          <a:ext cx="691920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B90814F-CD88-D75D-67E4-9A856C86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935967" cy="461665"/>
          </a:xfrm>
        </p:spPr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대한민국 구석구석</a:t>
            </a:r>
            <a:r>
              <a:rPr lang="en-US" altLang="ko-KR" dirty="0"/>
              <a:t>_SNS </a:t>
            </a:r>
            <a:r>
              <a:rPr lang="ko-KR" altLang="en-US" dirty="0"/>
              <a:t>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F0EC9225-500B-3F39-D29E-0115AF686A27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3) [SNS] </a:t>
            </a:r>
            <a:r>
              <a:rPr lang="ko-KR" altLang="en-US" dirty="0"/>
              <a:t>대한민국 구석구석 이용 이유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46BEB2E-6D89-E96F-6E49-9F24602D9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순위 기준</a:t>
            </a:r>
            <a:r>
              <a:rPr lang="en-US" altLang="ko-KR" dirty="0"/>
              <a:t>,</a:t>
            </a:r>
            <a:r>
              <a:rPr lang="ko-KR" altLang="en-US" dirty="0"/>
              <a:t> 대한민국 구석구석 </a:t>
            </a:r>
            <a:r>
              <a:rPr lang="en-US" altLang="ko-KR" dirty="0"/>
              <a:t>SNS</a:t>
            </a:r>
            <a:r>
              <a:rPr lang="ko-KR" altLang="en-US" dirty="0"/>
              <a:t> 이용 이유는 </a:t>
            </a:r>
            <a:r>
              <a:rPr lang="en-US" altLang="ko-KR" dirty="0"/>
              <a:t>‘</a:t>
            </a:r>
            <a:r>
              <a:rPr lang="ko-KR" altLang="en-US" dirty="0"/>
              <a:t>시기</a:t>
            </a:r>
            <a:r>
              <a:rPr lang="en-US" altLang="ko-KR" dirty="0"/>
              <a:t>/</a:t>
            </a:r>
            <a:r>
              <a:rPr lang="ko-KR" altLang="en-US" dirty="0"/>
              <a:t>목적에 맞는 맞춤 추천 정보 보유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25.5%</a:t>
            </a:r>
            <a:r>
              <a:rPr lang="ko-KR" altLang="en-US" dirty="0"/>
              <a:t>로 가장 높고 </a:t>
            </a:r>
            <a:r>
              <a:rPr lang="en-US" altLang="ko-KR" dirty="0"/>
              <a:t>23</a:t>
            </a:r>
            <a:r>
              <a:rPr lang="ko-KR" altLang="en-US" dirty="0"/>
              <a:t>년</a:t>
            </a:r>
            <a:r>
              <a:rPr lang="en-US" altLang="ko-KR" dirty="0"/>
              <a:t>(22.7%)</a:t>
            </a:r>
            <a:r>
              <a:rPr lang="ko-KR" altLang="en-US" dirty="0"/>
              <a:t> 대비 </a:t>
            </a:r>
            <a:r>
              <a:rPr lang="en-US" altLang="ko-KR" dirty="0"/>
              <a:t>2.8%p </a:t>
            </a:r>
            <a:r>
              <a:rPr lang="ko-KR" altLang="en-US" dirty="0"/>
              <a:t>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접속경로별로는 카카오스토리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(44.6%)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(32.5%)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시기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목적에 맞는 추천정보 보유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비율이 높게 나타남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- 19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세 미만은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최신 관광 트렌드 파악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’(29.4%) 20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광고無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신뢰도 높은 정보 제공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’(20.0%)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비율이 상대적으로 높음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FA769E0-65B3-C2E9-3993-EB6C3DB3C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443702"/>
              </p:ext>
            </p:extLst>
          </p:nvPr>
        </p:nvGraphicFramePr>
        <p:xfrm>
          <a:off x="336061" y="3805201"/>
          <a:ext cx="9225457" cy="28223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090915213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2156606057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601146368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158404847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115374204"/>
                    </a:ext>
                  </a:extLst>
                </a:gridCol>
              </a:tblGrid>
              <a:tr h="343799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시기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목적에 맞는 맞춤 추천 정보 보유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다량의 관광정보 보유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광고無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신뢰도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높은 정보 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최신 관광 트렌드 파악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사용자 맞춤형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 정보 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 참여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(9,953)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22.7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20.0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20.0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16.4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10.6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10.0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(9,247)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25.5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18.0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17.5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16.3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0.7</a:t>
                      </a: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31CC"/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16523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접속경로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24.5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23.7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18.4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15.5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22.8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15.1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13.9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44.6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13.0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16523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(3,225)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18.7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(6,022)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26.6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165234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14.7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(1,065)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18.1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(3,108)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21.6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(3,054)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18.6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(1,266)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32.5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18.5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17.7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9.7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(720)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18.6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13.8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13.1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F530FB46-E751-5856-9BF3-9BEC92BCC3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73851" y="2289700"/>
            <a:ext cx="535217" cy="3936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6CF806C-E4A1-93F2-36F7-FDC9437793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66771" y="2932493"/>
            <a:ext cx="535217" cy="393620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6412FFFF-00FB-6805-A623-85F3CB135793}"/>
              </a:ext>
            </a:extLst>
          </p:cNvPr>
          <p:cNvGrpSpPr/>
          <p:nvPr/>
        </p:nvGrpSpPr>
        <p:grpSpPr>
          <a:xfrm>
            <a:off x="5062476" y="2299516"/>
            <a:ext cx="572277" cy="153888"/>
            <a:chOff x="5062476" y="2276475"/>
            <a:chExt cx="572277" cy="15388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094B624-8580-C931-79AB-2017EAA1A84C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 Box 168">
              <a:extLst>
                <a:ext uri="{FF2B5EF4-FFF2-40B4-BE49-F238E27FC236}">
                  <a16:creationId xmlns:a16="http://schemas.microsoft.com/office/drawing/2014/main" id="{1F8A06B7-F1A1-B48E-B513-F8356FBFC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896E4F-CFDD-D7A7-2B6A-BBCA4FE0A1F8}"/>
              </a:ext>
            </a:extLst>
          </p:cNvPr>
          <p:cNvGrpSpPr/>
          <p:nvPr/>
        </p:nvGrpSpPr>
        <p:grpSpPr>
          <a:xfrm>
            <a:off x="6289640" y="2299516"/>
            <a:ext cx="572277" cy="153888"/>
            <a:chOff x="5062476" y="2276475"/>
            <a:chExt cx="572277" cy="153888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56C10D2-D347-F8DB-2BD0-5C52332C2A12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Text Box 168">
              <a:extLst>
                <a:ext uri="{FF2B5EF4-FFF2-40B4-BE49-F238E27FC236}">
                  <a16:creationId xmlns:a16="http://schemas.microsoft.com/office/drawing/2014/main" id="{FEA130F0-500C-BCC1-D04D-E1CA44A1D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53521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2D877E-B8AD-843C-E661-AD6301B40A29}"/>
              </a:ext>
            </a:extLst>
          </p:cNvPr>
          <p:cNvSpPr txBox="1"/>
          <p:nvPr/>
        </p:nvSpPr>
        <p:spPr>
          <a:xfrm>
            <a:off x="273000" y="2534239"/>
            <a:ext cx="1800275" cy="92333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SNS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(n=9,247),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1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순위 기준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응답값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표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011F0ED-F894-81A3-6C23-8C4B2C0FE287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이용 이유</a:t>
            </a:r>
          </a:p>
        </p:txBody>
      </p:sp>
    </p:spTree>
    <p:extLst>
      <p:ext uri="{BB962C8B-B14F-4D97-AF65-F5344CB8AC3E}">
        <p14:creationId xmlns:p14="http://schemas.microsoft.com/office/powerpoint/2010/main" val="2481539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C644-FF5E-5657-F56A-8D4CB7596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C090E-55D8-1D37-EF00-7A83C2C8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935967" cy="461665"/>
          </a:xfrm>
        </p:spPr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대한민국 구석구석</a:t>
            </a:r>
            <a:r>
              <a:rPr lang="en-US" altLang="ko-KR" dirty="0"/>
              <a:t>_SNS </a:t>
            </a:r>
            <a:r>
              <a:rPr lang="ko-KR" altLang="en-US" dirty="0"/>
              <a:t>이용 현황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B8C6CE52-CE27-38ED-F0EC-A6B13329AC5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4) [SNS] </a:t>
            </a:r>
            <a:r>
              <a:rPr lang="ko-KR" altLang="en-US" dirty="0"/>
              <a:t>대한민국 구석구석 경쟁력 강화를 위한 필요 요소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5DC0BC0-1AC1-6DA2-9799-CAFE91528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SNS</a:t>
            </a:r>
            <a:r>
              <a:rPr lang="ko-KR" altLang="en-US" dirty="0"/>
              <a:t>의 경쟁력 강화를 위해 </a:t>
            </a:r>
            <a:r>
              <a:rPr lang="en-US" altLang="ko-KR" dirty="0"/>
              <a:t>‘</a:t>
            </a:r>
            <a:r>
              <a:rPr lang="ko-KR" altLang="en-US" dirty="0" err="1"/>
              <a:t>테마콘텐츠</a:t>
            </a:r>
            <a:r>
              <a:rPr lang="ko-KR" altLang="en-US" dirty="0"/>
              <a:t> 제공</a:t>
            </a:r>
            <a:r>
              <a:rPr lang="en-US" altLang="ko-KR" dirty="0"/>
              <a:t>’, ‘</a:t>
            </a:r>
            <a:r>
              <a:rPr lang="ko-KR" altLang="en-US" dirty="0"/>
              <a:t>가보고 싶은 느낌이 드는 고품질 이미지 강화</a:t>
            </a:r>
            <a:r>
              <a:rPr lang="en-US" altLang="ko-KR" dirty="0"/>
              <a:t>’(</a:t>
            </a:r>
            <a:r>
              <a:rPr lang="ko-KR" altLang="en-US" dirty="0"/>
              <a:t>각 </a:t>
            </a:r>
            <a:r>
              <a:rPr lang="en-US" altLang="ko-KR" dirty="0"/>
              <a:t>21.3%)</a:t>
            </a:r>
            <a:r>
              <a:rPr lang="ko-KR" altLang="en-US" dirty="0"/>
              <a:t>가 가장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필요한 것으로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가보고 싶은 느낌이 드는 고품질 이미지 강화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23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년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(15.9%)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5.4%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상승하여 최우선 강화 요소로 확인됨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B15A6DA-3F3D-9740-7A62-0A28C7992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193566"/>
              </p:ext>
            </p:extLst>
          </p:nvPr>
        </p:nvGraphicFramePr>
        <p:xfrm>
          <a:off x="336061" y="3805201"/>
          <a:ext cx="9225457" cy="27908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090915213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2156606057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601146368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3158404847"/>
                    </a:ext>
                  </a:extLst>
                </a:gridCol>
                <a:gridCol w="1153233">
                  <a:extLst>
                    <a:ext uri="{9D8B030D-6E8A-4147-A177-3AD203B41FA5}">
                      <a16:colId xmlns:a16="http://schemas.microsoft.com/office/drawing/2014/main" val="1115374204"/>
                    </a:ext>
                  </a:extLst>
                </a:gridCol>
              </a:tblGrid>
              <a:tr h="31230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테마콘텐츠</a:t>
                      </a: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제공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가보고 싶은 느낌이 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드는 고품질 이미지 강화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흥미도 높은 동영상 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콘텐츠 제공 증대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 횟수 증가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일반 이용자 제보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콘텐츠의 활용 범위 확대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콘텐츠별 </a:t>
                      </a:r>
                      <a:r>
                        <a:rPr lang="ko-KR" altLang="en-US" sz="95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정보성</a:t>
                      </a: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강화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(9,953)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(9,247)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13.9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13.5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12.9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E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E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E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E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16523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접속경로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(2,028)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(6,136)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(337)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(746)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16523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(3,225)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(6,022)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165234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(34)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(1,065)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(3,108)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(3,054)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(1,266)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(720)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99A5EA38-6960-F47C-EEB7-A2A6EB9AD0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1213549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2A8F4B8C-3C11-DE6B-8221-4F99293FA9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01271" y="2896754"/>
            <a:ext cx="535217" cy="39362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8F842CD-8A5F-726F-0D7D-4A4782C8A1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05000" y="2896754"/>
            <a:ext cx="535217" cy="3936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7A5151-2D2F-5185-500B-EF50476C933E}"/>
              </a:ext>
            </a:extLst>
          </p:cNvPr>
          <p:cNvSpPr txBox="1"/>
          <p:nvPr/>
        </p:nvSpPr>
        <p:spPr>
          <a:xfrm>
            <a:off x="273000" y="2534239"/>
            <a:ext cx="1800275" cy="646331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SNS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(n=9,247),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5DF9E70-163E-2CDC-2B93-8FD8E561C794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경쟁력 강화를 위한 필요 요소</a:t>
            </a:r>
          </a:p>
        </p:txBody>
      </p:sp>
    </p:spTree>
    <p:extLst>
      <p:ext uri="{BB962C8B-B14F-4D97-AF65-F5344CB8AC3E}">
        <p14:creationId xmlns:p14="http://schemas.microsoft.com/office/powerpoint/2010/main" val="3572942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23A2-D289-FB70-D116-564CBA3A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30DFEB64-499F-D2C7-5BDB-045EAE114D8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</p:spPr>
        <p:txBody>
          <a:bodyPr/>
          <a:lstStyle/>
          <a:p>
            <a:r>
              <a:rPr lang="en-US" altLang="ko-KR" dirty="0"/>
              <a:t>Part</a:t>
            </a:r>
          </a:p>
          <a:p>
            <a:r>
              <a:rPr lang="en-US" altLang="ko-KR" dirty="0"/>
              <a:t>Ⅱ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0439294-AB2C-FD57-B537-7BA2E2EB6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</p:spPr>
        <p:txBody>
          <a:bodyPr/>
          <a:lstStyle/>
          <a:p>
            <a:r>
              <a:rPr lang="ko-KR" altLang="en-US" dirty="0"/>
              <a:t>주요 조사 내용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844B00-9840-F61F-13F0-3978B52BF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10" y="2797382"/>
            <a:ext cx="4896157" cy="2431618"/>
          </a:xfrm>
        </p:spPr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국내 여행 정보 수집 과정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서비스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2.2. SNS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이용 현황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Tx/>
            </a:pPr>
            <a:r>
              <a:rPr lang="ko-KR" altLang="en-US" dirty="0"/>
              <a:t>대한민국 구석구석 서비스만족도</a:t>
            </a:r>
            <a:endParaRPr lang="en-US" altLang="ko-KR" dirty="0"/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콘텐츠 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메인 화면 선호 의견</a:t>
            </a:r>
          </a:p>
        </p:txBody>
      </p:sp>
    </p:spTree>
    <p:extLst>
      <p:ext uri="{BB962C8B-B14F-4D97-AF65-F5344CB8AC3E}">
        <p14:creationId xmlns:p14="http://schemas.microsoft.com/office/powerpoint/2010/main" val="3922477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A8905ED2-BC67-AC13-3874-5149F7D2C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838115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(15,754)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(11,974)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9D924FD3-0A15-4D91-6097-188A486923AD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ABFB4A7-D894-4B82-3C7F-FF856D82AFEB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39" name="부분 원형 38">
                <a:extLst>
                  <a:ext uri="{FF2B5EF4-FFF2-40B4-BE49-F238E27FC236}">
                    <a16:creationId xmlns:a16="http://schemas.microsoft.com/office/drawing/2014/main" id="{F43EF740-EABB-B1F8-FAB5-00CD060E9163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36903"/>
                  <a:gd name="adj2" fmla="val 11640600"/>
                </a:avLst>
              </a:prstGeom>
              <a:solidFill>
                <a:srgbClr val="DFF1FB"/>
              </a:solidFill>
              <a:ln w="3175" cap="flat" cmpd="sng" algn="ctr">
                <a:solidFill>
                  <a:srgbClr val="2E8ED5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8" name="부분 원형 37">
                <a:extLst>
                  <a:ext uri="{FF2B5EF4-FFF2-40B4-BE49-F238E27FC236}">
                    <a16:creationId xmlns:a16="http://schemas.microsoft.com/office/drawing/2014/main" id="{DB2F79C7-5D89-D606-EA2A-D98BB27562D6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884956"/>
                  <a:gd name="adj2" fmla="val 13031211"/>
                </a:avLst>
              </a:prstGeom>
              <a:solidFill>
                <a:srgbClr val="F8EFF2"/>
              </a:solidFill>
              <a:ln w="3175" cap="flat" cmpd="sng" algn="ctr">
                <a:solidFill>
                  <a:srgbClr val="A55477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435FF2C-862F-24F4-3EAA-0CFE05F1E299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9EC4E650-D3B1-1AB0-1BAA-52D434F014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0739637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17AAFA67-18BB-E34F-6679-5162C6718B97}"/>
              </a:ext>
            </a:extLst>
          </p:cNvPr>
          <p:cNvGrpSpPr/>
          <p:nvPr/>
        </p:nvGrpSpPr>
        <p:grpSpPr>
          <a:xfrm>
            <a:off x="449242" y="3263865"/>
            <a:ext cx="2009716" cy="1995019"/>
            <a:chOff x="2735242" y="3263865"/>
            <a:chExt cx="2009716" cy="1995019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0297123-F35D-D63A-7F65-2C8B949C1699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53" name="부분 원형 52">
                <a:extLst>
                  <a:ext uri="{FF2B5EF4-FFF2-40B4-BE49-F238E27FC236}">
                    <a16:creationId xmlns:a16="http://schemas.microsoft.com/office/drawing/2014/main" id="{E4154660-A03F-94E0-B4D6-B9C951D104BA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60190"/>
                  <a:gd name="adj2" fmla="val 11183508"/>
                </a:avLst>
              </a:prstGeom>
              <a:solidFill>
                <a:schemeClr val="tx1">
                  <a:lumMod val="95000"/>
                  <a:lumOff val="5000"/>
                  <a:alpha val="20000"/>
                </a:schemeClr>
              </a:solidFill>
              <a:ln w="3175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52" name="부분 원형 51">
                <a:extLst>
                  <a:ext uri="{FF2B5EF4-FFF2-40B4-BE49-F238E27FC236}">
                    <a16:creationId xmlns:a16="http://schemas.microsoft.com/office/drawing/2014/main" id="{67C2574D-62D9-CED7-F40B-C7C3890965FE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776411"/>
                  <a:gd name="adj2" fmla="val 13049581"/>
                </a:avLst>
              </a:prstGeom>
              <a:solidFill>
                <a:schemeClr val="bg1">
                  <a:lumMod val="50000"/>
                  <a:alpha val="14000"/>
                </a:schemeClr>
              </a:solidFill>
              <a:ln w="3175" cap="flat" cmpd="sng" algn="ctr">
                <a:solidFill>
                  <a:schemeClr val="bg1">
                    <a:lumMod val="50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9D3990A-7329-AE74-07DA-E4B11A7AF0BA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33EDDBDB-1450-36B1-4CA8-A5155272B8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6638180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D819FBB-3D25-A152-8FE3-92AA28230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61661"/>
              </p:ext>
            </p:extLst>
          </p:nvPr>
        </p:nvGraphicFramePr>
        <p:xfrm>
          <a:off x="5000929" y="2888042"/>
          <a:ext cx="4573335" cy="3709605"/>
        </p:xfrm>
        <a:graphic>
          <a:graphicData uri="http://schemas.openxmlformats.org/drawingml/2006/table">
            <a:tbl>
              <a:tblPr/>
              <a:tblGrid>
                <a:gridCol w="35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홈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페이지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스북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카카오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스토리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(4,344)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(7,630)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(1,505)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(4,173)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(3,803)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(1,561)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(886)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5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접속 경로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A8B91E7-67F2-21AF-8738-8D6BF911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467890" cy="461665"/>
          </a:xfrm>
        </p:spPr>
        <p:txBody>
          <a:bodyPr/>
          <a:lstStyle/>
          <a:p>
            <a:pPr>
              <a:buClrTx/>
            </a:pPr>
            <a:r>
              <a:rPr lang="en-US" altLang="ko-KR" dirty="0"/>
              <a:t>3. </a:t>
            </a:r>
            <a:r>
              <a:rPr lang="ko-KR" altLang="en-US" dirty="0"/>
              <a:t>대한민국 구석구석 서비스만족도</a:t>
            </a:r>
            <a:endParaRPr lang="en-US" altLang="ko-KR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BF24AE-4755-143E-9689-BDA47BC67607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대한민국 구석구석 전반적 만족도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889047-93A5-E1D9-3F03-E2A527574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</a:t>
            </a:r>
            <a:r>
              <a:rPr lang="en-US" altLang="ko-KR" dirty="0"/>
              <a:t> </a:t>
            </a:r>
            <a:r>
              <a:rPr lang="ko-KR" altLang="en-US" dirty="0"/>
              <a:t>전반적 만족도는 </a:t>
            </a:r>
            <a:r>
              <a:rPr lang="en-US" altLang="ko-KR" dirty="0"/>
              <a:t>85.3</a:t>
            </a:r>
            <a:r>
              <a:rPr lang="ko-KR" altLang="en-US" dirty="0"/>
              <a:t>점으로 높은 수준이며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(84.8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r>
              <a:rPr lang="ko-KR" altLang="en-US" dirty="0"/>
              <a:t> 대비 </a:t>
            </a:r>
            <a:r>
              <a:rPr lang="en-US" altLang="ko-KR" dirty="0"/>
              <a:t>0.5</a:t>
            </a:r>
            <a:r>
              <a:rPr lang="ko-KR" altLang="en-US" dirty="0"/>
              <a:t>점 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접속 경로별로는 인스타그램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(89.7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여성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(85.4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19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세 이하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(89.9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전반적 만족도가 높게 나타남</a:t>
            </a: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C657293A-8DA1-DB17-F724-EF2D1A03B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39047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 환산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)]</a:t>
            </a:r>
          </a:p>
        </p:txBody>
      </p:sp>
      <p:graphicFrame>
        <p:nvGraphicFramePr>
          <p:cNvPr id="6" name="세로챠트-일반">
            <a:extLst>
              <a:ext uri="{FF2B5EF4-FFF2-40B4-BE49-F238E27FC236}">
                <a16:creationId xmlns:a16="http://schemas.microsoft.com/office/drawing/2014/main" id="{CD958ECB-4EE4-0A37-EB3B-F70165EA0B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6768811"/>
              </p:ext>
            </p:extLst>
          </p:nvPr>
        </p:nvGraphicFramePr>
        <p:xfrm>
          <a:off x="4953000" y="2384169"/>
          <a:ext cx="4674972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Box 168">
            <a:extLst>
              <a:ext uri="{FF2B5EF4-FFF2-40B4-BE49-F238E27FC236}">
                <a16:creationId xmlns:a16="http://schemas.microsoft.com/office/drawing/2014/main" id="{501C88B4-5034-F492-7E1B-775E69E7A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019" y="2437213"/>
            <a:ext cx="505020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점 </a:t>
            </a:r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환산 평균</a:t>
            </a:r>
            <a:endParaRPr lang="en-US" altLang="ko-KR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ECEAFB6-DFF4-FAB3-A78D-F911E1E727EF}"/>
              </a:ext>
            </a:extLst>
          </p:cNvPr>
          <p:cNvGrpSpPr/>
          <p:nvPr/>
        </p:nvGrpSpPr>
        <p:grpSpPr>
          <a:xfrm>
            <a:off x="5000931" y="2875080"/>
            <a:ext cx="4573339" cy="193920"/>
            <a:chOff x="5025001" y="2781000"/>
            <a:chExt cx="4573337" cy="19392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9AAFBC1-7C82-C172-EC11-FB58B993073E}"/>
                </a:ext>
              </a:extLst>
            </p:cNvPr>
            <p:cNvGrpSpPr/>
            <p:nvPr/>
          </p:nvGrpSpPr>
          <p:grpSpPr>
            <a:xfrm>
              <a:off x="5030772" y="2781000"/>
              <a:ext cx="4567566" cy="193920"/>
              <a:chOff x="59250" y="320300"/>
              <a:chExt cx="4567566" cy="193920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7E4563F2-B1A1-7A48-1AB8-4D815BAB5F7C}"/>
                  </a:ext>
                </a:extLst>
              </p:cNvPr>
              <p:cNvSpPr/>
              <p:nvPr/>
            </p:nvSpPr>
            <p:spPr bwMode="auto">
              <a:xfrm>
                <a:off x="59250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D189110E-65ED-D448-DFF7-F6842A06ED92}"/>
                  </a:ext>
                </a:extLst>
              </p:cNvPr>
              <p:cNvSpPr/>
              <p:nvPr/>
            </p:nvSpPr>
            <p:spPr bwMode="auto">
              <a:xfrm>
                <a:off x="412893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B110AA45-1BBB-AAC6-CE44-B07B2007EDB3}"/>
                  </a:ext>
                </a:extLst>
              </p:cNvPr>
              <p:cNvSpPr/>
              <p:nvPr/>
            </p:nvSpPr>
            <p:spPr bwMode="auto">
              <a:xfrm>
                <a:off x="766536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E4276411-17A5-B67E-CA48-3A50AA770E91}"/>
                  </a:ext>
                </a:extLst>
              </p:cNvPr>
              <p:cNvSpPr/>
              <p:nvPr/>
            </p:nvSpPr>
            <p:spPr bwMode="auto">
              <a:xfrm>
                <a:off x="1120179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BAA49CAC-C038-2ECC-562F-1FF339735E8B}"/>
                  </a:ext>
                </a:extLst>
              </p:cNvPr>
              <p:cNvSpPr/>
              <p:nvPr/>
            </p:nvSpPr>
            <p:spPr bwMode="auto">
              <a:xfrm>
                <a:off x="1473822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6B01E58B-AFB5-B119-A605-7403BD3534B7}"/>
                  </a:ext>
                </a:extLst>
              </p:cNvPr>
              <p:cNvSpPr/>
              <p:nvPr/>
            </p:nvSpPr>
            <p:spPr bwMode="auto">
              <a:xfrm>
                <a:off x="4302966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EA5D9C27-0F8F-D561-0401-3D117CFCF9DE}"/>
                  </a:ext>
                </a:extLst>
              </p:cNvPr>
              <p:cNvSpPr/>
              <p:nvPr/>
            </p:nvSpPr>
            <p:spPr bwMode="auto">
              <a:xfrm>
                <a:off x="3949323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2F283CFB-0714-C679-BB9D-880256CD1FCC}"/>
                  </a:ext>
                </a:extLst>
              </p:cNvPr>
              <p:cNvSpPr/>
              <p:nvPr/>
            </p:nvSpPr>
            <p:spPr bwMode="auto">
              <a:xfrm>
                <a:off x="3595680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6A952C8C-603D-4CB2-F740-C722B20D5C36}"/>
                  </a:ext>
                </a:extLst>
              </p:cNvPr>
              <p:cNvSpPr/>
              <p:nvPr/>
            </p:nvSpPr>
            <p:spPr bwMode="auto">
              <a:xfrm>
                <a:off x="3242037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A0889029-DA98-436E-0B16-8F1BAE5BC456}"/>
                  </a:ext>
                </a:extLst>
              </p:cNvPr>
              <p:cNvSpPr/>
              <p:nvPr/>
            </p:nvSpPr>
            <p:spPr bwMode="auto">
              <a:xfrm>
                <a:off x="2888394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7EB5CB7B-24D1-6A8D-7873-6F59497352D3}"/>
                  </a:ext>
                </a:extLst>
              </p:cNvPr>
              <p:cNvSpPr/>
              <p:nvPr/>
            </p:nvSpPr>
            <p:spPr bwMode="auto">
              <a:xfrm>
                <a:off x="2534751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C0496BF5-C5BF-EDCA-23C7-4241E9B50A3F}"/>
                  </a:ext>
                </a:extLst>
              </p:cNvPr>
              <p:cNvSpPr/>
              <p:nvPr/>
            </p:nvSpPr>
            <p:spPr bwMode="auto">
              <a:xfrm>
                <a:off x="2181108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DDE47CFE-E64C-6740-F5EA-4E84D2F3B8D7}"/>
                  </a:ext>
                </a:extLst>
              </p:cNvPr>
              <p:cNvSpPr/>
              <p:nvPr/>
            </p:nvSpPr>
            <p:spPr bwMode="auto">
              <a:xfrm>
                <a:off x="1827465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</p:grpSp>
        <p:graphicFrame>
          <p:nvGraphicFramePr>
            <p:cNvPr id="54" name="Group 3">
              <a:extLst>
                <a:ext uri="{FF2B5EF4-FFF2-40B4-BE49-F238E27FC236}">
                  <a16:creationId xmlns:a16="http://schemas.microsoft.com/office/drawing/2014/main" id="{7F894852-6C40-9283-6C30-E28865DF86D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10307852"/>
                </p:ext>
              </p:extLst>
            </p:nvPr>
          </p:nvGraphicFramePr>
          <p:xfrm>
            <a:off x="5025001" y="2793963"/>
            <a:ext cx="4573333" cy="180957"/>
          </p:xfrm>
          <a:graphic>
            <a:graphicData uri="http://schemas.openxmlformats.org/drawingml/2006/table">
              <a:tbl>
                <a:tblPr/>
                <a:tblGrid>
                  <a:gridCol w="3517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53318139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21046604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13550007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07637941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04418758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85.7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89.7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83.3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86.8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88.3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85.3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85.4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89.9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86.3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85.2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84.9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85.7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85.4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FA8F45BE-58BD-8971-9009-BBC50E9B0104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100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점 평균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+0.5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점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5151CFC2-2F92-897D-3122-67259B0B7476}"/>
              </a:ext>
            </a:extLst>
          </p:cNvPr>
          <p:cNvSpPr/>
          <p:nvPr/>
        </p:nvSpPr>
        <p:spPr>
          <a:xfrm>
            <a:off x="2676790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06E99308-88B5-C089-5EC1-2390998E1E8E}"/>
              </a:ext>
            </a:extLst>
          </p:cNvPr>
          <p:cNvSpPr/>
          <p:nvPr/>
        </p:nvSpPr>
        <p:spPr>
          <a:xfrm>
            <a:off x="344495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939BBA71-F91F-BC2F-06CE-21F5DE7A5E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35340" y="2775230"/>
            <a:ext cx="383437" cy="393620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B961887E-5CE3-761E-1C6B-1158B1F63E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98219" y="2775230"/>
            <a:ext cx="383437" cy="39362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82D1412E-5B03-1961-9D56-0B79DFA603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66163" y="2775230"/>
            <a:ext cx="38343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90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5D7EF-CF25-C3E7-A587-8C8A5A902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4073E-0086-E451-CCF5-F07D58F1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467890" cy="46166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대한민국 구석구석 서비스만족도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220B8E99-2517-3585-0735-609CC58EB88D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대한민국 구석구석 세부 속성 평가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7FD937F-A16A-4A69-95D9-1829DB664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</a:t>
            </a:r>
            <a:r>
              <a:rPr lang="en-US" altLang="ko-KR" dirty="0"/>
              <a:t> </a:t>
            </a:r>
            <a:r>
              <a:rPr lang="ko-KR" altLang="en-US" dirty="0"/>
              <a:t>세부속성 평가 결과</a:t>
            </a:r>
            <a:r>
              <a:rPr lang="en-US" altLang="ko-KR" dirty="0"/>
              <a:t>, ‘</a:t>
            </a:r>
            <a:r>
              <a:rPr lang="ko-KR" altLang="en-US" dirty="0"/>
              <a:t>정보신뢰성</a:t>
            </a:r>
            <a:r>
              <a:rPr lang="en-US" altLang="ko-KR" dirty="0"/>
              <a:t>’</a:t>
            </a:r>
            <a:r>
              <a:rPr lang="ko-KR" altLang="en-US" dirty="0"/>
              <a:t>이 </a:t>
            </a:r>
            <a:r>
              <a:rPr lang="en-US" altLang="ko-KR" dirty="0"/>
              <a:t>87.2</a:t>
            </a:r>
            <a:r>
              <a:rPr lang="ko-KR" altLang="en-US" dirty="0"/>
              <a:t>점으로 가장 높게</a:t>
            </a:r>
            <a:r>
              <a:rPr lang="en-US" altLang="ko-KR" dirty="0"/>
              <a:t> </a:t>
            </a:r>
            <a:r>
              <a:rPr lang="ko-KR" altLang="en-US" dirty="0"/>
              <a:t>나타났으며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(87.2</a:t>
            </a:r>
            <a:r>
              <a:rPr lang="ko-KR" altLang="en-US" dirty="0"/>
              <a:t>점</a:t>
            </a:r>
            <a:r>
              <a:rPr lang="en-US" altLang="ko-KR" dirty="0"/>
              <a:t>) </a:t>
            </a:r>
            <a:r>
              <a:rPr lang="ko-KR" altLang="en-US" dirty="0"/>
              <a:t>대비 </a:t>
            </a:r>
            <a:r>
              <a:rPr lang="en-US" altLang="ko-KR" dirty="0"/>
              <a:t>0.5</a:t>
            </a:r>
            <a:r>
              <a:rPr lang="ko-KR" altLang="en-US" dirty="0"/>
              <a:t>점 상승함</a:t>
            </a:r>
            <a:endParaRPr lang="en-US" altLang="ko-KR" dirty="0"/>
          </a:p>
          <a:p>
            <a:r>
              <a:rPr lang="ko-KR" altLang="en-US" dirty="0"/>
              <a:t>다음으로 </a:t>
            </a:r>
            <a:r>
              <a:rPr lang="en-US" altLang="ko-KR" dirty="0"/>
              <a:t>‘</a:t>
            </a:r>
            <a:r>
              <a:rPr lang="ko-KR" altLang="en-US" dirty="0"/>
              <a:t>정보 유용성</a:t>
            </a:r>
            <a:r>
              <a:rPr lang="en-US" altLang="ko-KR" dirty="0"/>
              <a:t>’(85.5</a:t>
            </a:r>
            <a:r>
              <a:rPr lang="ko-KR" altLang="en-US" dirty="0"/>
              <a:t>점</a:t>
            </a:r>
            <a:r>
              <a:rPr lang="en-US" altLang="ko-KR" dirty="0"/>
              <a:t>), ‘</a:t>
            </a:r>
            <a:r>
              <a:rPr lang="ko-KR" altLang="en-US" dirty="0"/>
              <a:t>정보 다양성</a:t>
            </a:r>
            <a:r>
              <a:rPr lang="en-US" altLang="ko-KR" dirty="0"/>
              <a:t>’(84.0</a:t>
            </a:r>
            <a:r>
              <a:rPr lang="ko-KR" altLang="en-US" dirty="0"/>
              <a:t>점</a:t>
            </a:r>
            <a:r>
              <a:rPr lang="en-US" altLang="ko-KR" dirty="0"/>
              <a:t>), ‘</a:t>
            </a:r>
            <a:r>
              <a:rPr lang="ko-KR" altLang="en-US" dirty="0"/>
              <a:t>정보 최신화</a:t>
            </a:r>
            <a:r>
              <a:rPr lang="en-US" altLang="ko-KR" dirty="0"/>
              <a:t>’(82.3</a:t>
            </a:r>
            <a:r>
              <a:rPr lang="ko-KR" altLang="en-US" dirty="0"/>
              <a:t>점</a:t>
            </a:r>
            <a:r>
              <a:rPr lang="en-US" altLang="ko-KR" dirty="0"/>
              <a:t>) </a:t>
            </a:r>
            <a:r>
              <a:rPr lang="ko-KR" altLang="en-US" dirty="0"/>
              <a:t>등의 순으로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정보 유용성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제외한 모든 속성에서 점수가 소폭 상승함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- 19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세 미만은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정보 유용성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’(90.2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가장 긍정적으로 평가함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34F072C-1BD9-EC6B-24FA-11038E8C8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167319"/>
              </p:ext>
            </p:extLst>
          </p:nvPr>
        </p:nvGraphicFramePr>
        <p:xfrm>
          <a:off x="336061" y="3805201"/>
          <a:ext cx="7280937" cy="2796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425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07149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49486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270882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270882">
                  <a:extLst>
                    <a:ext uri="{9D8B030D-6E8A-4147-A177-3AD203B41FA5}">
                      <a16:colId xmlns:a16="http://schemas.microsoft.com/office/drawing/2014/main" val="1939511377"/>
                    </a:ext>
                  </a:extLst>
                </a:gridCol>
                <a:gridCol w="1270882">
                  <a:extLst>
                    <a:ext uri="{9D8B030D-6E8A-4147-A177-3AD203B41FA5}">
                      <a16:colId xmlns:a16="http://schemas.microsoft.com/office/drawing/2014/main" val="873204736"/>
                    </a:ext>
                  </a:extLst>
                </a:gridCol>
                <a:gridCol w="1270882">
                  <a:extLst>
                    <a:ext uri="{9D8B030D-6E8A-4147-A177-3AD203B41FA5}">
                      <a16:colId xmlns:a16="http://schemas.microsoft.com/office/drawing/2014/main" val="3316930616"/>
                    </a:ext>
                  </a:extLst>
                </a:gridCol>
              </a:tblGrid>
              <a:tr h="31230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신뢰성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유용성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다양성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최신화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15142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(15,754)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15142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(11,974)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87.2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85.5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15142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156315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접속경로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홈페이지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640874"/>
                  </a:ext>
                </a:extLst>
              </a:tr>
              <a:tr h="156315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156315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156315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156315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15612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(4,344)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(7,630)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15612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(1,505)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(4,173)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(3,803)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156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(1,561)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151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(886)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graphicFrame>
        <p:nvGraphicFramePr>
          <p:cNvPr id="16" name="내용 개체 틀 7">
            <a:extLst>
              <a:ext uri="{FF2B5EF4-FFF2-40B4-BE49-F238E27FC236}">
                <a16:creationId xmlns:a16="http://schemas.microsoft.com/office/drawing/2014/main" id="{2BFF57B5-D638-AB99-A61B-E8186BBAFC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9494858"/>
              </p:ext>
            </p:extLst>
          </p:nvPr>
        </p:nvGraphicFramePr>
        <p:xfrm>
          <a:off x="2527278" y="2013101"/>
          <a:ext cx="5008779" cy="182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FA059E51-4DDD-6D2B-9C2D-15793C26E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550689"/>
              </p:ext>
            </p:extLst>
          </p:nvPr>
        </p:nvGraphicFramePr>
        <p:xfrm>
          <a:off x="7680060" y="3805201"/>
          <a:ext cx="1889880" cy="2796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4940">
                  <a:extLst>
                    <a:ext uri="{9D8B030D-6E8A-4147-A177-3AD203B41FA5}">
                      <a16:colId xmlns:a16="http://schemas.microsoft.com/office/drawing/2014/main" val="460500694"/>
                    </a:ext>
                  </a:extLst>
                </a:gridCol>
                <a:gridCol w="1304940">
                  <a:extLst>
                    <a:ext uri="{9D8B030D-6E8A-4147-A177-3AD203B41FA5}">
                      <a16:colId xmlns:a16="http://schemas.microsoft.com/office/drawing/2014/main" val="2848283024"/>
                    </a:ext>
                  </a:extLst>
                </a:gridCol>
              </a:tblGrid>
              <a:tr h="31230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접근성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6500"/>
                  </a:ext>
                </a:extLst>
              </a:tr>
              <a:tr h="1514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(1,1540)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333051"/>
                  </a:ext>
                </a:extLst>
              </a:tr>
              <a:tr h="1514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(8,863)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956837"/>
                  </a:ext>
                </a:extLst>
              </a:tr>
              <a:tr h="1514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726456"/>
                  </a:ext>
                </a:extLst>
              </a:tr>
              <a:tr h="1563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739768"/>
                  </a:ext>
                </a:extLst>
              </a:tr>
              <a:tr h="1563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098627"/>
                  </a:ext>
                </a:extLst>
              </a:tr>
              <a:tr h="1563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162233"/>
                  </a:ext>
                </a:extLst>
              </a:tr>
              <a:tr h="1563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88503"/>
                  </a:ext>
                </a:extLst>
              </a:tr>
              <a:tr h="1563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494601"/>
                  </a:ext>
                </a:extLst>
              </a:tr>
              <a:tr h="156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(4,344)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607544"/>
                  </a:ext>
                </a:extLst>
              </a:tr>
              <a:tr h="156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(7,630)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49075"/>
                  </a:ext>
                </a:extLst>
              </a:tr>
              <a:tr h="156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(46)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766593"/>
                  </a:ext>
                </a:extLst>
              </a:tr>
              <a:tr h="156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(1,505)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688727"/>
                  </a:ext>
                </a:extLst>
              </a:tr>
              <a:tr h="156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(4,173)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850046"/>
                  </a:ext>
                </a:extLst>
              </a:tr>
              <a:tr h="156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(3,803)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661864"/>
                  </a:ext>
                </a:extLst>
              </a:tr>
              <a:tr h="156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(1,561)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877695"/>
                  </a:ext>
                </a:extLst>
              </a:tr>
              <a:tr h="1514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(886)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213248"/>
                  </a:ext>
                </a:extLst>
              </a:tr>
            </a:tbl>
          </a:graphicData>
        </a:graphic>
      </p:graphicFrame>
      <p:graphicFrame>
        <p:nvGraphicFramePr>
          <p:cNvPr id="20" name="내용 개체 틀 7">
            <a:extLst>
              <a:ext uri="{FF2B5EF4-FFF2-40B4-BE49-F238E27FC236}">
                <a16:creationId xmlns:a16="http://schemas.microsoft.com/office/drawing/2014/main" id="{9A6FD38E-F26F-87BE-868F-C43147E0FF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7862541"/>
              </p:ext>
            </p:extLst>
          </p:nvPr>
        </p:nvGraphicFramePr>
        <p:xfrm>
          <a:off x="8409000" y="2061000"/>
          <a:ext cx="1016939" cy="182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A9F27E0-520F-A141-609B-E410EE324DB4}"/>
              </a:ext>
            </a:extLst>
          </p:cNvPr>
          <p:cNvCxnSpPr/>
          <p:nvPr/>
        </p:nvCxnSpPr>
        <p:spPr>
          <a:xfrm>
            <a:off x="7642400" y="2276475"/>
            <a:ext cx="0" cy="4321175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0E0ADF88-3454-ABFA-A188-24E56465A0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1000" y="2317610"/>
            <a:ext cx="535217" cy="393620"/>
          </a:xfrm>
          <a:prstGeom prst="rect">
            <a:avLst/>
          </a:prstGeom>
        </p:spPr>
      </p:pic>
      <p:graphicFrame>
        <p:nvGraphicFramePr>
          <p:cNvPr id="5" name="내용 개체 틀 7">
            <a:extLst>
              <a:ext uri="{FF2B5EF4-FFF2-40B4-BE49-F238E27FC236}">
                <a16:creationId xmlns:a16="http://schemas.microsoft.com/office/drawing/2014/main" id="{5931C2B0-1B91-C8F6-D98C-EAE961E55B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783859"/>
              </p:ext>
            </p:extLst>
          </p:nvPr>
        </p:nvGraphicFramePr>
        <p:xfrm>
          <a:off x="8315457" y="1894962"/>
          <a:ext cx="1116554" cy="556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3583D9-30B5-FC70-9F89-6AD9D724E84C}"/>
              </a:ext>
            </a:extLst>
          </p:cNvPr>
          <p:cNvSpPr txBox="1"/>
          <p:nvPr/>
        </p:nvSpPr>
        <p:spPr>
          <a:xfrm>
            <a:off x="273000" y="2534239"/>
            <a:ext cx="18000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 환산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정보접근성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네이버 블로그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(n=8,863),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 환산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)]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A7F7462-0C7D-427B-FAFF-C1FC537CC4FD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세부 속성 평가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0407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3401F-9F49-48D7-2CF2-9DC8E91B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5AB42-DFE9-1CD7-47BD-438EFF137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467890" cy="46166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대한민국 구석구석 서비스만족도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2E7A0868-04B2-BA2F-0380-0AF8FD46DFB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사용 편의성 평가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55774CB-CA7C-81EA-6011-08D328C4D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</a:t>
            </a:r>
            <a:r>
              <a:rPr lang="en-US" altLang="ko-KR" dirty="0"/>
              <a:t> 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 사용 편의성 평가 결과</a:t>
            </a:r>
            <a:r>
              <a:rPr lang="en-US" altLang="ko-KR" dirty="0"/>
              <a:t>, ‘</a:t>
            </a:r>
            <a:r>
              <a:rPr lang="ko-KR" altLang="en-US" dirty="0"/>
              <a:t>용어 이해도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84.1</a:t>
            </a:r>
            <a:r>
              <a:rPr lang="ko-KR" altLang="en-US" dirty="0"/>
              <a:t>점으로 가장 높게 나타남</a:t>
            </a:r>
            <a:endParaRPr lang="en-US" altLang="ko-KR" dirty="0"/>
          </a:p>
          <a:p>
            <a:r>
              <a:rPr lang="ko-KR" altLang="en-US" dirty="0"/>
              <a:t>다음으로 </a:t>
            </a:r>
            <a:r>
              <a:rPr lang="en-US" altLang="ko-KR" dirty="0"/>
              <a:t>‘</a:t>
            </a:r>
            <a:r>
              <a:rPr lang="ko-KR" altLang="en-US" dirty="0"/>
              <a:t>화면 구성 가시성</a:t>
            </a:r>
            <a:r>
              <a:rPr lang="en-US" altLang="ko-KR" dirty="0"/>
              <a:t>’, ‘</a:t>
            </a:r>
            <a:r>
              <a:rPr lang="ko-KR" altLang="en-US" dirty="0"/>
              <a:t>이용 속도 적정성</a:t>
            </a:r>
            <a:r>
              <a:rPr lang="en-US" altLang="ko-KR" dirty="0"/>
              <a:t>’(</a:t>
            </a:r>
            <a:r>
              <a:rPr lang="ko-KR" altLang="en-US" dirty="0"/>
              <a:t>각 </a:t>
            </a:r>
            <a:r>
              <a:rPr lang="en-US" altLang="ko-KR" dirty="0"/>
              <a:t>82.0</a:t>
            </a:r>
            <a:r>
              <a:rPr lang="ko-KR" altLang="en-US" dirty="0"/>
              <a:t>점</a:t>
            </a:r>
            <a:r>
              <a:rPr lang="en-US" altLang="ko-KR" dirty="0"/>
              <a:t>), ‘</a:t>
            </a:r>
            <a:r>
              <a:rPr lang="ko-KR" altLang="en-US" dirty="0"/>
              <a:t>디자인</a:t>
            </a:r>
            <a:r>
              <a:rPr lang="en-US" altLang="ko-KR" dirty="0"/>
              <a:t>/</a:t>
            </a:r>
            <a:r>
              <a:rPr lang="ko-KR" altLang="en-US" dirty="0"/>
              <a:t>색상 일관성</a:t>
            </a:r>
            <a:r>
              <a:rPr lang="en-US" altLang="ko-KR" dirty="0"/>
              <a:t>’(81.8</a:t>
            </a:r>
            <a:r>
              <a:rPr lang="ko-KR" altLang="en-US" dirty="0"/>
              <a:t>점</a:t>
            </a:r>
            <a:r>
              <a:rPr lang="en-US" altLang="ko-KR" dirty="0"/>
              <a:t>) </a:t>
            </a:r>
            <a:r>
              <a:rPr lang="ko-KR" altLang="en-US" dirty="0"/>
              <a:t>등의 순으로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앱 사용 편의성의 모든 속성은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23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년 대비 소폭 상승함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7" name="내용 개체 틀 7">
            <a:extLst>
              <a:ext uri="{FF2B5EF4-FFF2-40B4-BE49-F238E27FC236}">
                <a16:creationId xmlns:a16="http://schemas.microsoft.com/office/drawing/2014/main" id="{9A5E686B-2F6D-192B-B716-3A1919200E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2110429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980AEC6-D3A9-7C67-8B17-CB83B05E3B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1000" y="2472141"/>
            <a:ext cx="535217" cy="393620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6459C1-DF47-C67B-BAFB-C682C5672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10132"/>
              </p:ext>
            </p:extLst>
          </p:nvPr>
        </p:nvGraphicFramePr>
        <p:xfrm>
          <a:off x="336061" y="3805200"/>
          <a:ext cx="9225461" cy="278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4277896288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2438521884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834640982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746666253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930320881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2781144691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용어 이해도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화면 구성 가시성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이용 속도 적정성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디자인</a:t>
                      </a:r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색상 일관성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메뉴 항목 명확성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메뉴 경로 표시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오류 메시지 이해도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(5,801)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84.1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81.7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81.2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81.2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(1,119)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(1,608)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(12*)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94.4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93.1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94.4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93.1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90.3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(440)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(1,065)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(749)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78.8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78.7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(295)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(166)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8326EB5-425A-6809-5F63-DA0F842F309F}"/>
              </a:ext>
            </a:extLst>
          </p:cNvPr>
          <p:cNvSpPr txBox="1"/>
          <p:nvPr/>
        </p:nvSpPr>
        <p:spPr>
          <a:xfrm>
            <a:off x="273000" y="2534239"/>
            <a:ext cx="1800275" cy="78483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D39A36F-97C8-4E40-87CA-3FD531F2592C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홈페이지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/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앱 사용 편의성 평가</a:t>
            </a:r>
          </a:p>
        </p:txBody>
      </p:sp>
    </p:spTree>
    <p:extLst>
      <p:ext uri="{BB962C8B-B14F-4D97-AF65-F5344CB8AC3E}">
        <p14:creationId xmlns:p14="http://schemas.microsoft.com/office/powerpoint/2010/main" val="3488222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18219-AA5D-B766-8564-77CAE120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F102F626-941F-8157-8267-D731443A676C}"/>
              </a:ext>
            </a:extLst>
          </p:cNvPr>
          <p:cNvGrpSpPr/>
          <p:nvPr/>
        </p:nvGrpSpPr>
        <p:grpSpPr>
          <a:xfrm>
            <a:off x="449242" y="3263865"/>
            <a:ext cx="2009716" cy="1995020"/>
            <a:chOff x="2735242" y="3263865"/>
            <a:chExt cx="2009716" cy="1995020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E5D6E2C-4BA2-92C6-9EF4-E7582C60290F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20"/>
              <a:chOff x="3420123" y="1963455"/>
              <a:chExt cx="1930624" cy="1930625"/>
            </a:xfrm>
          </p:grpSpPr>
          <p:sp>
            <p:nvSpPr>
              <p:cNvPr id="53" name="부분 원형 52">
                <a:extLst>
                  <a:ext uri="{FF2B5EF4-FFF2-40B4-BE49-F238E27FC236}">
                    <a16:creationId xmlns:a16="http://schemas.microsoft.com/office/drawing/2014/main" id="{A2A23656-DD35-F2DE-B499-A973BFBBC6C4}"/>
                  </a:ext>
                </a:extLst>
              </p:cNvPr>
              <p:cNvSpPr/>
              <p:nvPr/>
            </p:nvSpPr>
            <p:spPr bwMode="auto">
              <a:xfrm>
                <a:off x="3420123" y="1963456"/>
                <a:ext cx="1930624" cy="1930624"/>
              </a:xfrm>
              <a:prstGeom prst="pie">
                <a:avLst>
                  <a:gd name="adj1" fmla="val 13060190"/>
                  <a:gd name="adj2" fmla="val 10803822"/>
                </a:avLst>
              </a:prstGeom>
              <a:solidFill>
                <a:schemeClr val="tx1">
                  <a:lumMod val="95000"/>
                  <a:lumOff val="5000"/>
                  <a:alpha val="20000"/>
                </a:schemeClr>
              </a:solidFill>
              <a:ln w="3175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52" name="부분 원형 51">
                <a:extLst>
                  <a:ext uri="{FF2B5EF4-FFF2-40B4-BE49-F238E27FC236}">
                    <a16:creationId xmlns:a16="http://schemas.microsoft.com/office/drawing/2014/main" id="{17B520BF-B346-F2CE-FC51-BB8ADAE56D46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776411"/>
                  <a:gd name="adj2" fmla="val 13049581"/>
                </a:avLst>
              </a:prstGeom>
              <a:solidFill>
                <a:schemeClr val="bg1">
                  <a:lumMod val="50000"/>
                  <a:alpha val="14000"/>
                </a:schemeClr>
              </a:solidFill>
              <a:ln w="3175" cap="flat" cmpd="sng" algn="ctr">
                <a:solidFill>
                  <a:schemeClr val="bg1">
                    <a:lumMod val="50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C670F1E-8CF5-1711-E8B0-FF731CFCF0A1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56ACD184-9129-3DAD-5505-1884223A3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2173176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2671F51C-1409-05B6-F6B6-2D60BD3FE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32278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(15,754)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(11,974)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CC3D7E65-F0C0-FC0D-B3BC-211DB15134A4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9EE5D569-A6F5-F399-AADE-31C04E1F6813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39" name="부분 원형 38">
                <a:extLst>
                  <a:ext uri="{FF2B5EF4-FFF2-40B4-BE49-F238E27FC236}">
                    <a16:creationId xmlns:a16="http://schemas.microsoft.com/office/drawing/2014/main" id="{9A61CA25-1914-751E-6ED9-4D0D330E870D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36903"/>
                  <a:gd name="adj2" fmla="val 12030684"/>
                </a:avLst>
              </a:prstGeom>
              <a:solidFill>
                <a:srgbClr val="DFF1FB"/>
              </a:solidFill>
              <a:ln w="3175" cap="flat" cmpd="sng" algn="ctr">
                <a:solidFill>
                  <a:srgbClr val="2E8ED5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8" name="부분 원형 37">
                <a:extLst>
                  <a:ext uri="{FF2B5EF4-FFF2-40B4-BE49-F238E27FC236}">
                    <a16:creationId xmlns:a16="http://schemas.microsoft.com/office/drawing/2014/main" id="{8346455C-E5E1-36AB-9D9C-E0856E31853A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884956"/>
                  <a:gd name="adj2" fmla="val 13031211"/>
                </a:avLst>
              </a:prstGeom>
              <a:solidFill>
                <a:srgbClr val="F8EFF2"/>
              </a:solidFill>
              <a:ln w="3175" cap="flat" cmpd="sng" algn="ctr">
                <a:solidFill>
                  <a:srgbClr val="A55477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268FDC1D-65CE-CC5F-0E29-186CBC4ABBB0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6BF3CCFA-9C20-EF40-9999-E319E2038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3631456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4F14811-7C94-32A3-2582-9601D96A3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57254"/>
              </p:ext>
            </p:extLst>
          </p:nvPr>
        </p:nvGraphicFramePr>
        <p:xfrm>
          <a:off x="5000930" y="2888042"/>
          <a:ext cx="4573335" cy="3709605"/>
        </p:xfrm>
        <a:graphic>
          <a:graphicData uri="http://schemas.openxmlformats.org/drawingml/2006/table">
            <a:tbl>
              <a:tblPr/>
              <a:tblGrid>
                <a:gridCol w="35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홈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페이지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스북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카카오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스토리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(4,344)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(7,630)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(1,505)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(4,173)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(3,803)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(1,561)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(886)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5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접속 경로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DB5DAFC9-F8FB-0D0D-80DA-9187C59F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467890" cy="46166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대한민국 구석구석 서비스만족도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B33177-4FBF-7767-672B-16A769F677E9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4) </a:t>
            </a:r>
            <a:r>
              <a:rPr lang="ko-KR" altLang="en-US" dirty="0"/>
              <a:t>대한민국 구석구석 추천 의향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EDB7A1-3901-04F1-CF90-1F035417F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</a:t>
            </a:r>
            <a:r>
              <a:rPr lang="en-US" altLang="ko-KR" dirty="0"/>
              <a:t> </a:t>
            </a:r>
            <a:r>
              <a:rPr lang="ko-KR" altLang="en-US" dirty="0"/>
              <a:t>추천 의향은 </a:t>
            </a:r>
            <a:r>
              <a:rPr lang="en-US" altLang="ko-KR" dirty="0"/>
              <a:t>84.1</a:t>
            </a:r>
            <a:r>
              <a:rPr lang="ko-KR" altLang="en-US" dirty="0"/>
              <a:t>점으로 긍정적이며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(83.7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r>
              <a:rPr lang="ko-KR" altLang="en-US" dirty="0"/>
              <a:t> 대비 </a:t>
            </a:r>
            <a:r>
              <a:rPr lang="en-US" altLang="ko-KR" dirty="0"/>
              <a:t>0.4</a:t>
            </a:r>
            <a:r>
              <a:rPr lang="ko-KR" altLang="en-US" dirty="0"/>
              <a:t>점 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접속 경로별로는 인스타그램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(87.2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여성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(84.2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19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세 이하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(87.3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추천의향이 높게 나타남</a:t>
            </a: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AE8A757C-C531-BEBC-4900-E1D9E41A1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39047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 환산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)]</a:t>
            </a:r>
          </a:p>
        </p:txBody>
      </p:sp>
      <p:graphicFrame>
        <p:nvGraphicFramePr>
          <p:cNvPr id="6" name="세로챠트-일반">
            <a:extLst>
              <a:ext uri="{FF2B5EF4-FFF2-40B4-BE49-F238E27FC236}">
                <a16:creationId xmlns:a16="http://schemas.microsoft.com/office/drawing/2014/main" id="{2673E227-B951-8BED-21DA-BEF62641F8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151766"/>
              </p:ext>
            </p:extLst>
          </p:nvPr>
        </p:nvGraphicFramePr>
        <p:xfrm>
          <a:off x="4953000" y="2384169"/>
          <a:ext cx="4674972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Box 168">
            <a:extLst>
              <a:ext uri="{FF2B5EF4-FFF2-40B4-BE49-F238E27FC236}">
                <a16:creationId xmlns:a16="http://schemas.microsoft.com/office/drawing/2014/main" id="{616A9E95-8FA9-1006-D10B-223A780A0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019" y="2437213"/>
            <a:ext cx="505020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점 </a:t>
            </a:r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환산 평균</a:t>
            </a:r>
            <a:endParaRPr lang="en-US" altLang="ko-KR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70B679FC-AA07-1659-703C-3E1337287E70}"/>
              </a:ext>
            </a:extLst>
          </p:cNvPr>
          <p:cNvGrpSpPr/>
          <p:nvPr/>
        </p:nvGrpSpPr>
        <p:grpSpPr>
          <a:xfrm>
            <a:off x="5000931" y="2875080"/>
            <a:ext cx="4573339" cy="193920"/>
            <a:chOff x="5025001" y="2781000"/>
            <a:chExt cx="4573337" cy="19392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8F5DDCB-1FD0-AFF7-75B3-1F09EF7721E9}"/>
                </a:ext>
              </a:extLst>
            </p:cNvPr>
            <p:cNvGrpSpPr/>
            <p:nvPr/>
          </p:nvGrpSpPr>
          <p:grpSpPr>
            <a:xfrm>
              <a:off x="5030772" y="2781000"/>
              <a:ext cx="4567566" cy="193920"/>
              <a:chOff x="59250" y="320300"/>
              <a:chExt cx="4567566" cy="193920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8096AE66-25EE-8695-7D41-941838DD90FD}"/>
                  </a:ext>
                </a:extLst>
              </p:cNvPr>
              <p:cNvSpPr/>
              <p:nvPr/>
            </p:nvSpPr>
            <p:spPr bwMode="auto">
              <a:xfrm>
                <a:off x="59250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24CC419F-73FD-6789-C3F4-D1C6E7D3657C}"/>
                  </a:ext>
                </a:extLst>
              </p:cNvPr>
              <p:cNvSpPr/>
              <p:nvPr/>
            </p:nvSpPr>
            <p:spPr bwMode="auto">
              <a:xfrm>
                <a:off x="412893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C481B952-0584-FA16-87DB-7BB4AD8BDD02}"/>
                  </a:ext>
                </a:extLst>
              </p:cNvPr>
              <p:cNvSpPr/>
              <p:nvPr/>
            </p:nvSpPr>
            <p:spPr bwMode="auto">
              <a:xfrm>
                <a:off x="766536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9B09B6FF-32A4-3458-4A7B-4EF58E70C046}"/>
                  </a:ext>
                </a:extLst>
              </p:cNvPr>
              <p:cNvSpPr/>
              <p:nvPr/>
            </p:nvSpPr>
            <p:spPr bwMode="auto">
              <a:xfrm>
                <a:off x="1120179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687FDE4F-5274-C99A-875C-B01C3E9CA9AB}"/>
                  </a:ext>
                </a:extLst>
              </p:cNvPr>
              <p:cNvSpPr/>
              <p:nvPr/>
            </p:nvSpPr>
            <p:spPr bwMode="auto">
              <a:xfrm>
                <a:off x="1473822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7DCC68F5-376A-2E03-AB25-7A00D2B3A777}"/>
                  </a:ext>
                </a:extLst>
              </p:cNvPr>
              <p:cNvSpPr/>
              <p:nvPr/>
            </p:nvSpPr>
            <p:spPr bwMode="auto">
              <a:xfrm>
                <a:off x="4302966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F7749904-5798-87C8-09B0-75A547CF6749}"/>
                  </a:ext>
                </a:extLst>
              </p:cNvPr>
              <p:cNvSpPr/>
              <p:nvPr/>
            </p:nvSpPr>
            <p:spPr bwMode="auto">
              <a:xfrm>
                <a:off x="3949323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88833A9B-C56B-FF3F-BC0F-3EADB9C4FCCA}"/>
                  </a:ext>
                </a:extLst>
              </p:cNvPr>
              <p:cNvSpPr/>
              <p:nvPr/>
            </p:nvSpPr>
            <p:spPr bwMode="auto">
              <a:xfrm>
                <a:off x="3595680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FF8B7AC-562A-97AA-59E1-A0BD77E53ABA}"/>
                  </a:ext>
                </a:extLst>
              </p:cNvPr>
              <p:cNvSpPr/>
              <p:nvPr/>
            </p:nvSpPr>
            <p:spPr bwMode="auto">
              <a:xfrm>
                <a:off x="3242037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BE800529-D6F0-6BAA-2AF6-3C87F30E95F5}"/>
                  </a:ext>
                </a:extLst>
              </p:cNvPr>
              <p:cNvSpPr/>
              <p:nvPr/>
            </p:nvSpPr>
            <p:spPr bwMode="auto">
              <a:xfrm>
                <a:off x="2888394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E1D156EA-99D6-EB4D-92A5-074819B81427}"/>
                  </a:ext>
                </a:extLst>
              </p:cNvPr>
              <p:cNvSpPr/>
              <p:nvPr/>
            </p:nvSpPr>
            <p:spPr bwMode="auto">
              <a:xfrm>
                <a:off x="2534751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81583FCC-1A6A-7C1F-4522-ABF41395858B}"/>
                  </a:ext>
                </a:extLst>
              </p:cNvPr>
              <p:cNvSpPr/>
              <p:nvPr/>
            </p:nvSpPr>
            <p:spPr bwMode="auto">
              <a:xfrm>
                <a:off x="2181108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6E113E34-660B-61F9-3C78-F51DA7DAE24A}"/>
                  </a:ext>
                </a:extLst>
              </p:cNvPr>
              <p:cNvSpPr/>
              <p:nvPr/>
            </p:nvSpPr>
            <p:spPr bwMode="auto">
              <a:xfrm>
                <a:off x="1827465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</p:grpSp>
        <p:graphicFrame>
          <p:nvGraphicFramePr>
            <p:cNvPr id="54" name="Group 3">
              <a:extLst>
                <a:ext uri="{FF2B5EF4-FFF2-40B4-BE49-F238E27FC236}">
                  <a16:creationId xmlns:a16="http://schemas.microsoft.com/office/drawing/2014/main" id="{754C6812-533B-E72D-92D4-EF0E395E884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22236709"/>
                </p:ext>
              </p:extLst>
            </p:nvPr>
          </p:nvGraphicFramePr>
          <p:xfrm>
            <a:off x="5025001" y="2793963"/>
            <a:ext cx="4573333" cy="180957"/>
          </p:xfrm>
          <a:graphic>
            <a:graphicData uri="http://schemas.openxmlformats.org/drawingml/2006/table">
              <a:tbl>
                <a:tblPr/>
                <a:tblGrid>
                  <a:gridCol w="3517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53318139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21046604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13550007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07637941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04418758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84.9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87.2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82.4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84.5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87.0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84.0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84.2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87.3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84.2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84.0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84.1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84.5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84.1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65366A85-6D30-FB78-E851-48D65C71D831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100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점 평균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+0.4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점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60008A-48AD-559E-7CD6-6AA229C27FDC}"/>
              </a:ext>
            </a:extLst>
          </p:cNvPr>
          <p:cNvSpPr/>
          <p:nvPr/>
        </p:nvSpPr>
        <p:spPr>
          <a:xfrm>
            <a:off x="2676790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비추천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추천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8C964-5666-5083-62A0-298097082008}"/>
              </a:ext>
            </a:extLst>
          </p:cNvPr>
          <p:cNvSpPr/>
          <p:nvPr/>
        </p:nvSpPr>
        <p:spPr>
          <a:xfrm>
            <a:off x="344495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비추천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추천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A569B2D-DBC6-27C8-AE5F-52BCE954FF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37476" y="2775230"/>
            <a:ext cx="383437" cy="39362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DD62C16-B59A-00CA-4CD5-9D3C405626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89397" y="2775230"/>
            <a:ext cx="383437" cy="39362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9763392-B822-873B-7B1D-945562D9CB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70985" y="2775230"/>
            <a:ext cx="38343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55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3513A-E24F-45FB-6FA7-7AAE52D2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B50E9DF7-5815-9EDD-E5DB-DA0579DE0CDF}"/>
              </a:ext>
            </a:extLst>
          </p:cNvPr>
          <p:cNvGrpSpPr/>
          <p:nvPr/>
        </p:nvGrpSpPr>
        <p:grpSpPr>
          <a:xfrm>
            <a:off x="449242" y="3263865"/>
            <a:ext cx="2009716" cy="1995019"/>
            <a:chOff x="2735242" y="3263865"/>
            <a:chExt cx="2009716" cy="1995019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3958511-8101-54BB-1010-FE32AC346C75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53" name="부분 원형 52">
                <a:extLst>
                  <a:ext uri="{FF2B5EF4-FFF2-40B4-BE49-F238E27FC236}">
                    <a16:creationId xmlns:a16="http://schemas.microsoft.com/office/drawing/2014/main" id="{1DA468D7-A2DB-BE35-2319-EC8729A8C755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60190"/>
                  <a:gd name="adj2" fmla="val 11360335"/>
                </a:avLst>
              </a:prstGeom>
              <a:solidFill>
                <a:schemeClr val="tx1">
                  <a:lumMod val="95000"/>
                  <a:lumOff val="5000"/>
                  <a:alpha val="20000"/>
                </a:schemeClr>
              </a:solidFill>
              <a:ln w="3175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52" name="부분 원형 51">
                <a:extLst>
                  <a:ext uri="{FF2B5EF4-FFF2-40B4-BE49-F238E27FC236}">
                    <a16:creationId xmlns:a16="http://schemas.microsoft.com/office/drawing/2014/main" id="{97162AD4-7038-7F19-178D-860D5E63C814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776411"/>
                  <a:gd name="adj2" fmla="val 13049581"/>
                </a:avLst>
              </a:prstGeom>
              <a:solidFill>
                <a:schemeClr val="bg1">
                  <a:lumMod val="50000"/>
                  <a:alpha val="14000"/>
                </a:schemeClr>
              </a:solidFill>
              <a:ln w="3175" cap="flat" cmpd="sng" algn="ctr">
                <a:solidFill>
                  <a:schemeClr val="bg1">
                    <a:lumMod val="50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6A70D4C-19C6-019A-094B-A4F10A330ADA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4BF25212-FA3B-2772-B840-0C06F6D418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6339992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72BCB3D8-2FC5-82A9-2099-BB211AF7C478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7167AE9A-497D-3AFC-9987-0A74C5CA52B4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39" name="부분 원형 38">
                <a:extLst>
                  <a:ext uri="{FF2B5EF4-FFF2-40B4-BE49-F238E27FC236}">
                    <a16:creationId xmlns:a16="http://schemas.microsoft.com/office/drawing/2014/main" id="{4095FF3C-57E9-DED1-5B96-08C4C6B2856F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980789"/>
                  <a:gd name="adj2" fmla="val 12250072"/>
                </a:avLst>
              </a:prstGeom>
              <a:solidFill>
                <a:srgbClr val="DFF1FB"/>
              </a:solidFill>
              <a:ln w="3175" cap="flat" cmpd="sng" algn="ctr">
                <a:solidFill>
                  <a:srgbClr val="2E8ED5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8" name="부분 원형 37">
                <a:extLst>
                  <a:ext uri="{FF2B5EF4-FFF2-40B4-BE49-F238E27FC236}">
                    <a16:creationId xmlns:a16="http://schemas.microsoft.com/office/drawing/2014/main" id="{60BC511A-AA02-641C-F304-F679D779A50F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891700"/>
                  <a:gd name="adj2" fmla="val 12957307"/>
                </a:avLst>
              </a:prstGeom>
              <a:solidFill>
                <a:srgbClr val="F8EFF2"/>
              </a:solidFill>
              <a:ln w="3175" cap="flat" cmpd="sng" algn="ctr">
                <a:solidFill>
                  <a:srgbClr val="A55477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C593EF0-9D51-BFAA-F560-296BE64143E3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7FC1B7DD-B7A4-83BA-9063-B542D11AD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820725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(15,754)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(11,974)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217F27BC-8445-9491-4B4E-8E07B662D4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811854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3DD7634-5F7D-AEDF-2BA8-39FFBBB70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289055"/>
              </p:ext>
            </p:extLst>
          </p:nvPr>
        </p:nvGraphicFramePr>
        <p:xfrm>
          <a:off x="5000930" y="2888042"/>
          <a:ext cx="4549311" cy="3709605"/>
        </p:xfrm>
        <a:graphic>
          <a:graphicData uri="http://schemas.openxmlformats.org/drawingml/2006/table">
            <a:tbl>
              <a:tblPr/>
              <a:tblGrid>
                <a:gridCol w="349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99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홈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페이지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스북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카카오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스토리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(4,344)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(7,630)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(1,505)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(4,173)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(3,803)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(1,561)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(886)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5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접속 경로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1C33D2E-0F07-32D0-03E9-991597F9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467890" cy="46166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대한민국 구석구석 서비스만족도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4BD6C5-099D-E861-9EC9-AE02473739B3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5) </a:t>
            </a:r>
            <a:r>
              <a:rPr lang="ko-KR" altLang="en-US" dirty="0"/>
              <a:t>대한민국 구석구석 서비스 이용 후 국내 여행 의향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B2CFF6-3CCF-C1AF-E01B-72E4E2A01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</a:t>
            </a:r>
            <a:r>
              <a:rPr lang="en-US" altLang="ko-KR" dirty="0"/>
              <a:t> </a:t>
            </a:r>
            <a:r>
              <a:rPr lang="ko-KR" altLang="en-US" dirty="0"/>
              <a:t>서비스 이용 후 국내 여행 의향은 </a:t>
            </a:r>
            <a:r>
              <a:rPr lang="en-US" altLang="ko-KR" dirty="0"/>
              <a:t>85.4</a:t>
            </a:r>
            <a:r>
              <a:rPr lang="ko-KR" altLang="en-US" dirty="0"/>
              <a:t>점으로 긍정적이며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(84.9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r>
              <a:rPr lang="ko-KR" altLang="en-US" dirty="0"/>
              <a:t> 대비 </a:t>
            </a:r>
            <a:r>
              <a:rPr lang="en-US" altLang="ko-KR" dirty="0"/>
              <a:t>0.5</a:t>
            </a:r>
            <a:r>
              <a:rPr lang="ko-KR" altLang="en-US" dirty="0"/>
              <a:t>점 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접속 경로별로는 카카오스토리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(89.3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여성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(85.6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(85.9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국내 여행 의향이 높게 나타남</a:t>
            </a: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4A86EB4A-B223-7A69-3191-442B74084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39047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 환산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)]</a:t>
            </a:r>
          </a:p>
        </p:txBody>
      </p:sp>
      <p:graphicFrame>
        <p:nvGraphicFramePr>
          <p:cNvPr id="6" name="세로챠트-일반">
            <a:extLst>
              <a:ext uri="{FF2B5EF4-FFF2-40B4-BE49-F238E27FC236}">
                <a16:creationId xmlns:a16="http://schemas.microsoft.com/office/drawing/2014/main" id="{C8DA6652-EDF2-4CEC-B7F3-C50B18077F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3934410"/>
              </p:ext>
            </p:extLst>
          </p:nvPr>
        </p:nvGraphicFramePr>
        <p:xfrm>
          <a:off x="4953000" y="2384169"/>
          <a:ext cx="4674972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Box 168">
            <a:extLst>
              <a:ext uri="{FF2B5EF4-FFF2-40B4-BE49-F238E27FC236}">
                <a16:creationId xmlns:a16="http://schemas.microsoft.com/office/drawing/2014/main" id="{3D4EADB4-9E1A-C69B-2ABD-4FC5A668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019" y="2437213"/>
            <a:ext cx="505020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점 </a:t>
            </a:r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환산 평균</a:t>
            </a:r>
            <a:endParaRPr lang="en-US" altLang="ko-KR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8A580F5-1801-8416-91F5-AB58D5F80BF8}"/>
              </a:ext>
            </a:extLst>
          </p:cNvPr>
          <p:cNvGrpSpPr/>
          <p:nvPr/>
        </p:nvGrpSpPr>
        <p:grpSpPr>
          <a:xfrm>
            <a:off x="5000931" y="2875080"/>
            <a:ext cx="4573339" cy="193920"/>
            <a:chOff x="5025001" y="2781000"/>
            <a:chExt cx="4573337" cy="19392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AF59EB4-C796-C14B-658E-1D6E49E06721}"/>
                </a:ext>
              </a:extLst>
            </p:cNvPr>
            <p:cNvGrpSpPr/>
            <p:nvPr/>
          </p:nvGrpSpPr>
          <p:grpSpPr>
            <a:xfrm>
              <a:off x="5030772" y="2781000"/>
              <a:ext cx="4567566" cy="193920"/>
              <a:chOff x="59250" y="320300"/>
              <a:chExt cx="4567566" cy="193920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6ED3F469-A4B1-B55A-C9FC-45F1677F7428}"/>
                  </a:ext>
                </a:extLst>
              </p:cNvPr>
              <p:cNvSpPr/>
              <p:nvPr/>
            </p:nvSpPr>
            <p:spPr bwMode="auto">
              <a:xfrm>
                <a:off x="59250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3B0943BB-7D28-2BEE-A25A-609981947559}"/>
                  </a:ext>
                </a:extLst>
              </p:cNvPr>
              <p:cNvSpPr/>
              <p:nvPr/>
            </p:nvSpPr>
            <p:spPr bwMode="auto">
              <a:xfrm>
                <a:off x="412893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3BD513EA-8B6A-3851-E3AF-1750E0F345DB}"/>
                  </a:ext>
                </a:extLst>
              </p:cNvPr>
              <p:cNvSpPr/>
              <p:nvPr/>
            </p:nvSpPr>
            <p:spPr bwMode="auto">
              <a:xfrm>
                <a:off x="766536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358FDC5E-DAEF-121F-54BE-B12ACD0065B6}"/>
                  </a:ext>
                </a:extLst>
              </p:cNvPr>
              <p:cNvSpPr/>
              <p:nvPr/>
            </p:nvSpPr>
            <p:spPr bwMode="auto">
              <a:xfrm>
                <a:off x="1120179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951E9FBC-C88C-D2F8-94D4-1C08DD4A80E5}"/>
                  </a:ext>
                </a:extLst>
              </p:cNvPr>
              <p:cNvSpPr/>
              <p:nvPr/>
            </p:nvSpPr>
            <p:spPr bwMode="auto">
              <a:xfrm>
                <a:off x="1473822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65DC42A6-A649-96B7-775D-0F5286380CDC}"/>
                  </a:ext>
                </a:extLst>
              </p:cNvPr>
              <p:cNvSpPr/>
              <p:nvPr/>
            </p:nvSpPr>
            <p:spPr bwMode="auto">
              <a:xfrm>
                <a:off x="4302966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B9827157-BBEA-5B9D-052D-EC55D89F70B3}"/>
                  </a:ext>
                </a:extLst>
              </p:cNvPr>
              <p:cNvSpPr/>
              <p:nvPr/>
            </p:nvSpPr>
            <p:spPr bwMode="auto">
              <a:xfrm>
                <a:off x="3949323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C0EB9912-FB19-7514-F20C-E1815EE23089}"/>
                  </a:ext>
                </a:extLst>
              </p:cNvPr>
              <p:cNvSpPr/>
              <p:nvPr/>
            </p:nvSpPr>
            <p:spPr bwMode="auto">
              <a:xfrm>
                <a:off x="3595680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25183115-6060-399D-63E2-33C99354B6E4}"/>
                  </a:ext>
                </a:extLst>
              </p:cNvPr>
              <p:cNvSpPr/>
              <p:nvPr/>
            </p:nvSpPr>
            <p:spPr bwMode="auto">
              <a:xfrm>
                <a:off x="3242037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19741946-21BB-08AA-890B-792B24D00805}"/>
                  </a:ext>
                </a:extLst>
              </p:cNvPr>
              <p:cNvSpPr/>
              <p:nvPr/>
            </p:nvSpPr>
            <p:spPr bwMode="auto">
              <a:xfrm>
                <a:off x="2888394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B4860D57-32C6-F532-A385-0184BE3A92D8}"/>
                  </a:ext>
                </a:extLst>
              </p:cNvPr>
              <p:cNvSpPr/>
              <p:nvPr/>
            </p:nvSpPr>
            <p:spPr bwMode="auto">
              <a:xfrm>
                <a:off x="2534751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525576A4-F7DC-9E35-15B5-4F9CE4AB9E2E}"/>
                  </a:ext>
                </a:extLst>
              </p:cNvPr>
              <p:cNvSpPr/>
              <p:nvPr/>
            </p:nvSpPr>
            <p:spPr bwMode="auto">
              <a:xfrm>
                <a:off x="2181108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8C32B8E9-11D6-A44D-5B00-F1FE3210053A}"/>
                  </a:ext>
                </a:extLst>
              </p:cNvPr>
              <p:cNvSpPr/>
              <p:nvPr/>
            </p:nvSpPr>
            <p:spPr bwMode="auto">
              <a:xfrm>
                <a:off x="1827465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</p:grpSp>
        <p:graphicFrame>
          <p:nvGraphicFramePr>
            <p:cNvPr id="54" name="Group 3">
              <a:extLst>
                <a:ext uri="{FF2B5EF4-FFF2-40B4-BE49-F238E27FC236}">
                  <a16:creationId xmlns:a16="http://schemas.microsoft.com/office/drawing/2014/main" id="{BC55AE78-5321-679D-8427-A074AEC16C6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03276564"/>
                </p:ext>
              </p:extLst>
            </p:nvPr>
          </p:nvGraphicFramePr>
          <p:xfrm>
            <a:off x="5025001" y="2793963"/>
            <a:ext cx="4573333" cy="180957"/>
          </p:xfrm>
          <a:graphic>
            <a:graphicData uri="http://schemas.openxmlformats.org/drawingml/2006/table">
              <a:tbl>
                <a:tblPr/>
                <a:tblGrid>
                  <a:gridCol w="3517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53318139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21046604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13550007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07637941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04418758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86.7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87.5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83.6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85.9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89.3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85.1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85.6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88.0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85.5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85.3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85.3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85.9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85.0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E97C80-6DB1-91BB-E687-5F44A21AB831}"/>
              </a:ext>
            </a:extLst>
          </p:cNvPr>
          <p:cNvSpPr/>
          <p:nvPr/>
        </p:nvSpPr>
        <p:spPr>
          <a:xfrm>
            <a:off x="344494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의향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의향 있음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8C06DC-E20F-C558-0B3F-83037769CBE7}"/>
              </a:ext>
            </a:extLst>
          </p:cNvPr>
          <p:cNvSpPr/>
          <p:nvPr/>
        </p:nvSpPr>
        <p:spPr>
          <a:xfrm>
            <a:off x="2673341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의향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의향 있음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5CB70A-3147-E9A1-EAAC-E2430C8567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91481" y="2781711"/>
            <a:ext cx="383437" cy="3936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AA861CF-408D-1F2B-0ACA-DB1B359329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95879" y="2775230"/>
            <a:ext cx="383437" cy="3936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2E974C2-1B62-8003-3F96-42EF285AF9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860312" y="2769770"/>
            <a:ext cx="383437" cy="39362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C0C736D-68FE-6DA8-3009-2C191FC6D4C1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100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점 평균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+0.5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점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25153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63D3-452A-B6F6-10DB-06E6F73EF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B5D49D8F-E02A-5C92-34C3-A31209CDB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691801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(15,754)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(11,974)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7A0CFF67-500A-F4D6-AD51-4B2A86A86C0B}"/>
              </a:ext>
            </a:extLst>
          </p:cNvPr>
          <p:cNvGrpSpPr/>
          <p:nvPr/>
        </p:nvGrpSpPr>
        <p:grpSpPr>
          <a:xfrm>
            <a:off x="449242" y="3263865"/>
            <a:ext cx="2009716" cy="1995019"/>
            <a:chOff x="2735242" y="3263865"/>
            <a:chExt cx="2009716" cy="1995019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5760ABF1-CB91-CE0C-E2F3-F22F14D41378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53" name="부분 원형 52">
                <a:extLst>
                  <a:ext uri="{FF2B5EF4-FFF2-40B4-BE49-F238E27FC236}">
                    <a16:creationId xmlns:a16="http://schemas.microsoft.com/office/drawing/2014/main" id="{E3EB21F4-2145-0792-725B-B906975B554F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60190"/>
                  <a:gd name="adj2" fmla="val 11549683"/>
                </a:avLst>
              </a:prstGeom>
              <a:solidFill>
                <a:schemeClr val="tx1">
                  <a:lumMod val="95000"/>
                  <a:lumOff val="5000"/>
                  <a:alpha val="20000"/>
                </a:schemeClr>
              </a:solidFill>
              <a:ln w="3175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52" name="부분 원형 51">
                <a:extLst>
                  <a:ext uri="{FF2B5EF4-FFF2-40B4-BE49-F238E27FC236}">
                    <a16:creationId xmlns:a16="http://schemas.microsoft.com/office/drawing/2014/main" id="{C341AD67-1DFD-4D6B-C452-112E4FBFFEDE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776411"/>
                  <a:gd name="adj2" fmla="val 13049581"/>
                </a:avLst>
              </a:prstGeom>
              <a:solidFill>
                <a:schemeClr val="bg1">
                  <a:lumMod val="50000"/>
                  <a:alpha val="14000"/>
                </a:schemeClr>
              </a:solidFill>
              <a:ln w="3175" cap="flat" cmpd="sng" algn="ctr">
                <a:solidFill>
                  <a:schemeClr val="bg1">
                    <a:lumMod val="50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AF1149BD-D537-0FC4-B6DE-AE44CB265697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E4894A36-6AF1-8FEE-1BCA-7C8C34E601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202586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5072755D-DC30-84E8-AC70-065BD3EA623B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352554B-DDA0-692A-8E4D-3E538E927662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39" name="부분 원형 38">
                <a:extLst>
                  <a:ext uri="{FF2B5EF4-FFF2-40B4-BE49-F238E27FC236}">
                    <a16:creationId xmlns:a16="http://schemas.microsoft.com/office/drawing/2014/main" id="{991D40ED-16C3-DD3F-3CBC-5D450F680232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36903"/>
                  <a:gd name="adj2" fmla="val 11958858"/>
                </a:avLst>
              </a:prstGeom>
              <a:solidFill>
                <a:srgbClr val="DFF1FB"/>
              </a:solidFill>
              <a:ln w="3175" cap="flat" cmpd="sng" algn="ctr">
                <a:solidFill>
                  <a:srgbClr val="2E8ED5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8" name="부분 원형 37">
                <a:extLst>
                  <a:ext uri="{FF2B5EF4-FFF2-40B4-BE49-F238E27FC236}">
                    <a16:creationId xmlns:a16="http://schemas.microsoft.com/office/drawing/2014/main" id="{7A94E84F-7EFF-A5D0-B38E-0CB4BDA478BD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588978"/>
                  <a:gd name="adj2" fmla="val 13031211"/>
                </a:avLst>
              </a:prstGeom>
              <a:solidFill>
                <a:srgbClr val="F8EFF2"/>
              </a:solidFill>
              <a:ln w="3175" cap="flat" cmpd="sng" algn="ctr">
                <a:solidFill>
                  <a:srgbClr val="A55477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8110A46-8085-4F20-DAD0-240B9524D52E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20522F71-9AA2-AF2C-6C96-19B692FD2A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70809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E483EDF-076A-45EE-8956-7A04A0D00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396865"/>
              </p:ext>
            </p:extLst>
          </p:nvPr>
        </p:nvGraphicFramePr>
        <p:xfrm>
          <a:off x="5000929" y="2888042"/>
          <a:ext cx="4573335" cy="3709605"/>
        </p:xfrm>
        <a:graphic>
          <a:graphicData uri="http://schemas.openxmlformats.org/drawingml/2006/table">
            <a:tbl>
              <a:tblPr/>
              <a:tblGrid>
                <a:gridCol w="35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17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홈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페이지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스북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카카오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스토리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(4,344)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(7,630)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(1,505)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(4,173)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(3,803)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(1,561)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(886)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5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접속 경로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401A665A-E392-6DC7-B537-BD7CD848F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467890" cy="46166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대한민국 구석구석 서비스만족도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4C8050-F6EE-3505-72D8-4DBCA0FA33E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6) </a:t>
            </a:r>
            <a:r>
              <a:rPr lang="ko-KR" altLang="en-US" dirty="0"/>
              <a:t>대한민국 구석구석 서비스 내 접촉 여행지 방문 의향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1DB3C2-D5E4-BFD9-9917-4D5328F7D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</a:t>
            </a:r>
            <a:r>
              <a:rPr lang="en-US" altLang="ko-KR" dirty="0"/>
              <a:t> </a:t>
            </a:r>
            <a:r>
              <a:rPr lang="ko-KR" altLang="en-US" dirty="0"/>
              <a:t>서비스 내 접촉 여행지 방문의향 </a:t>
            </a:r>
            <a:r>
              <a:rPr lang="en-US" altLang="ko-KR" dirty="0"/>
              <a:t>85.4</a:t>
            </a:r>
            <a:r>
              <a:rPr lang="ko-KR" altLang="en-US" dirty="0"/>
              <a:t>점으로 긍정적이며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(85.0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r>
              <a:rPr lang="ko-KR" altLang="en-US" dirty="0"/>
              <a:t> 대비 </a:t>
            </a:r>
            <a:r>
              <a:rPr lang="en-US" altLang="ko-KR" dirty="0"/>
              <a:t>0.4</a:t>
            </a:r>
            <a:r>
              <a:rPr lang="ko-KR" altLang="en-US" dirty="0"/>
              <a:t>점 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접속 경로별로는 카카오스토리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(89.1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여성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(85.6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19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세 이하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(86.6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방문의향이 높게 나타남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18868A6B-FEA7-EB0D-14D5-A88BA78C1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39047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 환산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)]</a:t>
            </a:r>
          </a:p>
        </p:txBody>
      </p:sp>
      <p:graphicFrame>
        <p:nvGraphicFramePr>
          <p:cNvPr id="6" name="세로챠트-일반">
            <a:extLst>
              <a:ext uri="{FF2B5EF4-FFF2-40B4-BE49-F238E27FC236}">
                <a16:creationId xmlns:a16="http://schemas.microsoft.com/office/drawing/2014/main" id="{27810905-AFC6-9C9C-050B-FBEEB8B007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209758"/>
              </p:ext>
            </p:extLst>
          </p:nvPr>
        </p:nvGraphicFramePr>
        <p:xfrm>
          <a:off x="4953000" y="2384169"/>
          <a:ext cx="4674972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Box 168">
            <a:extLst>
              <a:ext uri="{FF2B5EF4-FFF2-40B4-BE49-F238E27FC236}">
                <a16:creationId xmlns:a16="http://schemas.microsoft.com/office/drawing/2014/main" id="{0D555D26-9807-B08D-1E95-0D5BDEF58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019" y="2437213"/>
            <a:ext cx="505020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점 </a:t>
            </a:r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환산 평균</a:t>
            </a:r>
            <a:endParaRPr lang="en-US" altLang="ko-KR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126B580-3894-0BD9-FA45-7EFD98720B35}"/>
              </a:ext>
            </a:extLst>
          </p:cNvPr>
          <p:cNvGrpSpPr/>
          <p:nvPr/>
        </p:nvGrpSpPr>
        <p:grpSpPr>
          <a:xfrm>
            <a:off x="5000931" y="2875080"/>
            <a:ext cx="4573339" cy="193920"/>
            <a:chOff x="5025001" y="2781000"/>
            <a:chExt cx="4573337" cy="19392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41A6692-23B5-B0A1-F3DB-2D8E33AC08E7}"/>
                </a:ext>
              </a:extLst>
            </p:cNvPr>
            <p:cNvGrpSpPr/>
            <p:nvPr/>
          </p:nvGrpSpPr>
          <p:grpSpPr>
            <a:xfrm>
              <a:off x="5030772" y="2781000"/>
              <a:ext cx="4567566" cy="193920"/>
              <a:chOff x="59250" y="320300"/>
              <a:chExt cx="4567566" cy="193920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6879931E-150C-4AFE-9402-1610956BF694}"/>
                  </a:ext>
                </a:extLst>
              </p:cNvPr>
              <p:cNvSpPr/>
              <p:nvPr/>
            </p:nvSpPr>
            <p:spPr bwMode="auto">
              <a:xfrm>
                <a:off x="59250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E49586EE-DD57-C166-6B8E-455A8CF0CEB9}"/>
                  </a:ext>
                </a:extLst>
              </p:cNvPr>
              <p:cNvSpPr/>
              <p:nvPr/>
            </p:nvSpPr>
            <p:spPr bwMode="auto">
              <a:xfrm>
                <a:off x="412893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84150DC2-B628-4C39-C93B-3970D2230D67}"/>
                  </a:ext>
                </a:extLst>
              </p:cNvPr>
              <p:cNvSpPr/>
              <p:nvPr/>
            </p:nvSpPr>
            <p:spPr bwMode="auto">
              <a:xfrm>
                <a:off x="766536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9F824A2A-9978-B3C4-9B76-04632A936C7F}"/>
                  </a:ext>
                </a:extLst>
              </p:cNvPr>
              <p:cNvSpPr/>
              <p:nvPr/>
            </p:nvSpPr>
            <p:spPr bwMode="auto">
              <a:xfrm>
                <a:off x="1120179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5975076A-0EF8-80C3-CBBB-DA903E6BC7F6}"/>
                  </a:ext>
                </a:extLst>
              </p:cNvPr>
              <p:cNvSpPr/>
              <p:nvPr/>
            </p:nvSpPr>
            <p:spPr bwMode="auto">
              <a:xfrm>
                <a:off x="1473822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A7237BEF-C97E-0494-1F41-69C86961BE80}"/>
                  </a:ext>
                </a:extLst>
              </p:cNvPr>
              <p:cNvSpPr/>
              <p:nvPr/>
            </p:nvSpPr>
            <p:spPr bwMode="auto">
              <a:xfrm>
                <a:off x="4302966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C2B80865-A5EE-0617-2E49-CB09BB873A69}"/>
                  </a:ext>
                </a:extLst>
              </p:cNvPr>
              <p:cNvSpPr/>
              <p:nvPr/>
            </p:nvSpPr>
            <p:spPr bwMode="auto">
              <a:xfrm>
                <a:off x="3949323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9621390E-9D11-A151-A5A0-552385199071}"/>
                  </a:ext>
                </a:extLst>
              </p:cNvPr>
              <p:cNvSpPr/>
              <p:nvPr/>
            </p:nvSpPr>
            <p:spPr bwMode="auto">
              <a:xfrm>
                <a:off x="3595680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540A7E58-C046-558E-BD72-DA4A42191003}"/>
                  </a:ext>
                </a:extLst>
              </p:cNvPr>
              <p:cNvSpPr/>
              <p:nvPr/>
            </p:nvSpPr>
            <p:spPr bwMode="auto">
              <a:xfrm>
                <a:off x="3242037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C7FDF288-0952-20DB-1DE1-55A1A39EA373}"/>
                  </a:ext>
                </a:extLst>
              </p:cNvPr>
              <p:cNvSpPr/>
              <p:nvPr/>
            </p:nvSpPr>
            <p:spPr bwMode="auto">
              <a:xfrm>
                <a:off x="2888394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7DBCC527-8BF8-C608-AE99-08F3FC8C55D0}"/>
                  </a:ext>
                </a:extLst>
              </p:cNvPr>
              <p:cNvSpPr/>
              <p:nvPr/>
            </p:nvSpPr>
            <p:spPr bwMode="auto">
              <a:xfrm>
                <a:off x="2534751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2E0BEE9A-64DF-9A38-D813-934BEAABC6CF}"/>
                  </a:ext>
                </a:extLst>
              </p:cNvPr>
              <p:cNvSpPr/>
              <p:nvPr/>
            </p:nvSpPr>
            <p:spPr bwMode="auto">
              <a:xfrm>
                <a:off x="2181108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FA677087-3D2C-AC8D-10FA-ECD0FBA86F60}"/>
                  </a:ext>
                </a:extLst>
              </p:cNvPr>
              <p:cNvSpPr/>
              <p:nvPr/>
            </p:nvSpPr>
            <p:spPr bwMode="auto">
              <a:xfrm>
                <a:off x="1827465" y="320300"/>
                <a:ext cx="323850" cy="193920"/>
              </a:xfrm>
              <a:prstGeom prst="roundRect">
                <a:avLst/>
              </a:prstGeom>
              <a:solidFill>
                <a:srgbClr val="FFE285">
                  <a:alpha val="58000"/>
                </a:srgb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1" hangingPunct="1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</p:grpSp>
        <p:graphicFrame>
          <p:nvGraphicFramePr>
            <p:cNvPr id="54" name="Group 3">
              <a:extLst>
                <a:ext uri="{FF2B5EF4-FFF2-40B4-BE49-F238E27FC236}">
                  <a16:creationId xmlns:a16="http://schemas.microsoft.com/office/drawing/2014/main" id="{65F985A0-47F2-C74C-F7BD-E3618758C46A}"/>
                </a:ext>
              </a:extLst>
            </p:cNvPr>
            <p:cNvGraphicFramePr/>
            <p:nvPr/>
          </p:nvGraphicFramePr>
          <p:xfrm>
            <a:off x="5025001" y="2793963"/>
            <a:ext cx="4573333" cy="180957"/>
          </p:xfrm>
          <a:graphic>
            <a:graphicData uri="http://schemas.openxmlformats.org/drawingml/2006/table">
              <a:tbl>
                <a:tblPr/>
                <a:tblGrid>
                  <a:gridCol w="35179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53318139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221046604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135500072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3076379417"/>
                      </a:ext>
                    </a:extLst>
                  </a:gridCol>
                  <a:gridCol w="351795">
                    <a:extLst>
                      <a:ext uri="{9D8B030D-6E8A-4147-A177-3AD203B41FA5}">
                        <a16:colId xmlns:a16="http://schemas.microsoft.com/office/drawing/2014/main" val="104418758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86.6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87.6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83.6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85.9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89.1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85.0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85.6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86.6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85.5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85.1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85.4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86.1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85.1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DAC3C-69C6-AFCF-1919-63528B85D286}"/>
              </a:ext>
            </a:extLst>
          </p:cNvPr>
          <p:cNvSpPr/>
          <p:nvPr/>
        </p:nvSpPr>
        <p:spPr>
          <a:xfrm>
            <a:off x="344494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의향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의향 있음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767431-EB83-84C8-DD31-287BC5391424}"/>
              </a:ext>
            </a:extLst>
          </p:cNvPr>
          <p:cNvSpPr/>
          <p:nvPr/>
        </p:nvSpPr>
        <p:spPr>
          <a:xfrm>
            <a:off x="2673341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의향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의향 있음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C1C9C60-BFA1-20ED-26F0-8918A52FC418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100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점 평균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+0.4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점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CF4880A-1CA7-49D7-C44E-7C1B49189E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91480" y="2775230"/>
            <a:ext cx="383437" cy="3936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427F28C-B014-BE28-A5A0-8C3EE47F32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110186" y="2775230"/>
            <a:ext cx="383437" cy="3936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A55CEF3-947E-4F28-AB73-E8D34D1E5E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60143" y="2775230"/>
            <a:ext cx="38343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08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234B-4832-BA78-9FAA-54F499CA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CAC9750A-E05E-C2C9-5C17-56D92CD1A8B5}"/>
              </a:ext>
            </a:extLst>
          </p:cNvPr>
          <p:cNvGrpSpPr/>
          <p:nvPr/>
        </p:nvGrpSpPr>
        <p:grpSpPr>
          <a:xfrm>
            <a:off x="449242" y="3263865"/>
            <a:ext cx="2009716" cy="1995019"/>
            <a:chOff x="2735242" y="3263865"/>
            <a:chExt cx="2009716" cy="1995019"/>
          </a:xfrm>
        </p:grpSpPr>
        <p:sp>
          <p:nvSpPr>
            <p:cNvPr id="53" name="부분 원형 52">
              <a:extLst>
                <a:ext uri="{FF2B5EF4-FFF2-40B4-BE49-F238E27FC236}">
                  <a16:creationId xmlns:a16="http://schemas.microsoft.com/office/drawing/2014/main" id="{A66EAA78-3C67-3166-AD50-3C260FD8533C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3377064"/>
                <a:gd name="adj2" fmla="val 8317837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1ADBE11-B178-F004-0B7F-4E9DDCE9E84B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A18A8A6C-8CAD-6221-B624-51650D391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28723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(15,754)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(11,974)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01DB3B37-E937-4466-C379-2FC6B9F8F6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2394287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7A20013A-BE5A-A48A-1E5C-46A4A2EFA1C4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sp>
          <p:nvSpPr>
            <p:cNvPr id="39" name="부분 원형 38">
              <a:extLst>
                <a:ext uri="{FF2B5EF4-FFF2-40B4-BE49-F238E27FC236}">
                  <a16:creationId xmlns:a16="http://schemas.microsoft.com/office/drawing/2014/main" id="{0426A29C-A19E-CC05-64A4-67AE72D1C0A4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3462771"/>
                <a:gd name="adj2" fmla="val 8520183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544AD79-29F6-483C-7E5A-82AB729B1089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76590803-2F1C-447F-C268-D9F98A24C1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2572698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0A288B-C1ED-1785-BC8D-B3188BADC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228534"/>
              </p:ext>
            </p:extLst>
          </p:nvPr>
        </p:nvGraphicFramePr>
        <p:xfrm>
          <a:off x="5000929" y="2888042"/>
          <a:ext cx="4553341" cy="3709605"/>
        </p:xfrm>
        <a:graphic>
          <a:graphicData uri="http://schemas.openxmlformats.org/drawingml/2006/table">
            <a:tbl>
              <a:tblPr/>
              <a:tblGrid>
                <a:gridCol w="350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홈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페이지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스북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카카오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스토리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(4,344)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(7,630)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(1,505)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(4,173)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(3,803)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(1,561)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(886)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5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접속 경로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D38B64E8-749C-30F8-5377-01DEFFAA5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467890" cy="46166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대한민국 구석구석 서비스만족도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DAECE5-6C33-25CE-DF97-E52CC5406449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7) </a:t>
            </a:r>
            <a:r>
              <a:rPr lang="ko-KR" altLang="en-US" dirty="0"/>
              <a:t>대한민국 구석구석 서비스 내 접촉 여행지 방문 경험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468035-0373-1BF3-0B19-EE884C9D2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서비스 내 접촉 여행지 방문 </a:t>
            </a:r>
            <a:r>
              <a:rPr lang="en-US" altLang="ko-KR" dirty="0"/>
              <a:t>‘</a:t>
            </a:r>
            <a:r>
              <a:rPr lang="ko-KR" altLang="en-US" dirty="0"/>
              <a:t>경험이 있는</a:t>
            </a:r>
            <a:r>
              <a:rPr lang="en-US" altLang="ko-KR" dirty="0"/>
              <a:t>’</a:t>
            </a:r>
            <a:r>
              <a:rPr lang="ko-KR" altLang="en-US" dirty="0"/>
              <a:t>응답자는 </a:t>
            </a:r>
            <a:r>
              <a:rPr lang="en-US" altLang="ko-KR" dirty="0"/>
              <a:t>77.3%, ‘</a:t>
            </a:r>
            <a:r>
              <a:rPr lang="ko-KR" altLang="en-US" dirty="0"/>
              <a:t>경험이 없는</a:t>
            </a:r>
            <a:r>
              <a:rPr lang="en-US" altLang="ko-KR" dirty="0"/>
              <a:t>’ </a:t>
            </a:r>
            <a:r>
              <a:rPr lang="ko-KR" altLang="en-US" dirty="0"/>
              <a:t>응답자는 </a:t>
            </a:r>
            <a:r>
              <a:rPr lang="en-US" altLang="ko-KR" dirty="0"/>
              <a:t>22.7%</a:t>
            </a:r>
            <a:r>
              <a:rPr lang="ko-KR" altLang="en-US" dirty="0"/>
              <a:t>로 조사됨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접속 경로별로는 카카오스토리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(89.1%),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남성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(79.3%),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(79.5%)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방문경험이 높게 나타남</a:t>
            </a: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A508BBF2-E608-27EA-0B45-28CFEFDF9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39047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graphicFrame>
        <p:nvGraphicFramePr>
          <p:cNvPr id="6" name="세로챠트-일반">
            <a:extLst>
              <a:ext uri="{FF2B5EF4-FFF2-40B4-BE49-F238E27FC236}">
                <a16:creationId xmlns:a16="http://schemas.microsoft.com/office/drawing/2014/main" id="{CD756226-6E3F-8CBA-C0D5-FC9198ABF1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9351847"/>
              </p:ext>
            </p:extLst>
          </p:nvPr>
        </p:nvGraphicFramePr>
        <p:xfrm>
          <a:off x="4953000" y="2384169"/>
          <a:ext cx="4674972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B44482-4783-8387-9828-FC771F9BE9E9}"/>
              </a:ext>
            </a:extLst>
          </p:cNvPr>
          <p:cNvSpPr/>
          <p:nvPr/>
        </p:nvSpPr>
        <p:spPr>
          <a:xfrm>
            <a:off x="344494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없음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B16966-AB78-B010-5BA0-DFF6AF1EF6F5}"/>
              </a:ext>
            </a:extLst>
          </p:cNvPr>
          <p:cNvSpPr/>
          <p:nvPr/>
        </p:nvSpPr>
        <p:spPr>
          <a:xfrm>
            <a:off x="2673341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있음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DA414D2-3831-B559-D406-0CE18A9DEEFF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방문 경험 비율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+0.3%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F673BBE-8430-8C3A-21D3-17AE84D79D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91480" y="4253127"/>
            <a:ext cx="383437" cy="3936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C6010E8-C84F-F25B-A26D-F0EAE91337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33040" y="4374244"/>
            <a:ext cx="383437" cy="3936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469B808-821F-24B2-6EC4-2ABDC97E48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07028" y="4374244"/>
            <a:ext cx="38343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76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5E935-BCB1-DAB4-E473-6F589A2D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잘린 위쪽 모서리 2">
            <a:extLst>
              <a:ext uri="{FF2B5EF4-FFF2-40B4-BE49-F238E27FC236}">
                <a16:creationId xmlns:a16="http://schemas.microsoft.com/office/drawing/2014/main" id="{1DEAFA4A-9B66-5EFF-0225-4D23A6BEC9BF}"/>
              </a:ext>
            </a:extLst>
          </p:cNvPr>
          <p:cNvSpPr/>
          <p:nvPr/>
        </p:nvSpPr>
        <p:spPr>
          <a:xfrm rot="5400000">
            <a:off x="4078497" y="3898122"/>
            <a:ext cx="4701006" cy="648000"/>
          </a:xfrm>
          <a:prstGeom prst="snip2SameRect">
            <a:avLst>
              <a:gd name="adj1" fmla="val 45354"/>
              <a:gd name="adj2" fmla="val 0"/>
            </a:avLst>
          </a:prstGeom>
          <a:solidFill>
            <a:srgbClr val="5A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7FB149-D394-ED7C-8720-F4CC8D62F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467890" cy="46166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대한민국 구석구석 서비스만족도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FBC4C449-FDFB-A6C3-B0C3-296EF1C75C5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8) 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대한민국 구석구석 요청사항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D1433CB-2E92-2643-2948-045E9143E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앱에 대한 요청사항으로는 </a:t>
            </a:r>
            <a:r>
              <a:rPr lang="en-US" altLang="ko-KR" dirty="0"/>
              <a:t>UI </a:t>
            </a:r>
            <a:r>
              <a:rPr lang="ko-KR" altLang="en-US" dirty="0"/>
              <a:t>및 디자인 개선</a:t>
            </a:r>
            <a:r>
              <a:rPr lang="en-US" altLang="ko-KR" dirty="0"/>
              <a:t>, </a:t>
            </a:r>
            <a:r>
              <a:rPr lang="ko-KR" altLang="en-US" dirty="0"/>
              <a:t>접속 및 네트워크의 안정성 강화</a:t>
            </a:r>
            <a:r>
              <a:rPr lang="en-US" altLang="ko-KR" dirty="0"/>
              <a:t>, </a:t>
            </a:r>
            <a:r>
              <a:rPr lang="ko-KR" altLang="en-US" dirty="0"/>
              <a:t>다양한 콘텐츠와 정보의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확대</a:t>
            </a:r>
            <a:r>
              <a:rPr lang="en-US" altLang="ko-KR" dirty="0"/>
              <a:t>, </a:t>
            </a:r>
            <a:r>
              <a:rPr lang="ko-KR" altLang="en-US" dirty="0"/>
              <a:t>다양한 연령이 쉽게 접근 할 수 있는 접근성 향상</a:t>
            </a:r>
            <a:r>
              <a:rPr lang="en-US" altLang="ko-KR" dirty="0"/>
              <a:t>,</a:t>
            </a:r>
            <a:r>
              <a:rPr lang="ko-KR" altLang="en-US" dirty="0"/>
              <a:t> 사용자 편의성을 위한 다양한 기능 및 서비스를 필요로 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8E6222-4332-24E5-7F37-9E962A14DE34}"/>
              </a:ext>
            </a:extLst>
          </p:cNvPr>
          <p:cNvSpPr/>
          <p:nvPr/>
        </p:nvSpPr>
        <p:spPr bwMode="gray">
          <a:xfrm>
            <a:off x="294284" y="1871619"/>
            <a:ext cx="6170716" cy="4708928"/>
          </a:xfrm>
          <a:prstGeom prst="rect">
            <a:avLst/>
          </a:prstGeom>
          <a:solidFill>
            <a:srgbClr val="5BA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" name="모서리가 둥근 직사각형 22">
            <a:extLst>
              <a:ext uri="{FF2B5EF4-FFF2-40B4-BE49-F238E27FC236}">
                <a16:creationId xmlns:a16="http://schemas.microsoft.com/office/drawing/2014/main" id="{FED88695-4B4C-399D-20F3-2281B86FCC53}"/>
              </a:ext>
            </a:extLst>
          </p:cNvPr>
          <p:cNvSpPr/>
          <p:nvPr/>
        </p:nvSpPr>
        <p:spPr bwMode="gray">
          <a:xfrm>
            <a:off x="405461" y="1752033"/>
            <a:ext cx="5977370" cy="4727069"/>
          </a:xfrm>
          <a:prstGeom prst="roundRect">
            <a:avLst>
              <a:gd name="adj" fmla="val 2579"/>
            </a:avLst>
          </a:prstGeom>
          <a:solidFill>
            <a:schemeClr val="bg1"/>
          </a:solidFill>
          <a:ln w="19050">
            <a:solidFill>
              <a:srgbClr val="3971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6C8CE3D-5259-D712-7C33-7AAAEB57FE77}"/>
              </a:ext>
            </a:extLst>
          </p:cNvPr>
          <p:cNvGrpSpPr/>
          <p:nvPr/>
        </p:nvGrpSpPr>
        <p:grpSpPr>
          <a:xfrm>
            <a:off x="294285" y="1836035"/>
            <a:ext cx="3146716" cy="379567"/>
            <a:chOff x="302138" y="1967459"/>
            <a:chExt cx="3578483" cy="580483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F62BCE2-A342-4C4C-6DD8-D306A87EB13D}"/>
                </a:ext>
              </a:extLst>
            </p:cNvPr>
            <p:cNvGrpSpPr/>
            <p:nvPr/>
          </p:nvGrpSpPr>
          <p:grpSpPr bwMode="gray">
            <a:xfrm>
              <a:off x="302138" y="1967459"/>
              <a:ext cx="3578483" cy="580483"/>
              <a:chOff x="5006339" y="1645376"/>
              <a:chExt cx="3578483" cy="736600"/>
            </a:xfrm>
            <a:solidFill>
              <a:srgbClr val="004981"/>
            </a:solidFill>
          </p:grpSpPr>
          <p:sp>
            <p:nvSpPr>
              <p:cNvPr id="11" name="자유형 101">
                <a:extLst>
                  <a:ext uri="{FF2B5EF4-FFF2-40B4-BE49-F238E27FC236}">
                    <a16:creationId xmlns:a16="http://schemas.microsoft.com/office/drawing/2014/main" id="{40C7CB3F-019B-129B-9189-C2A4BDD8CC94}"/>
                  </a:ext>
                </a:extLst>
              </p:cNvPr>
              <p:cNvSpPr/>
              <p:nvPr/>
            </p:nvSpPr>
            <p:spPr bwMode="gray">
              <a:xfrm>
                <a:off x="5006339" y="1645376"/>
                <a:ext cx="41910" cy="736600"/>
              </a:xfrm>
              <a:custGeom>
                <a:avLst/>
                <a:gdLst>
                  <a:gd name="connsiteX0" fmla="*/ 0 w 41910"/>
                  <a:gd name="connsiteY0" fmla="*/ 0 h 736600"/>
                  <a:gd name="connsiteX1" fmla="*/ 36118 w 41910"/>
                  <a:gd name="connsiteY1" fmla="*/ 68515 h 736600"/>
                  <a:gd name="connsiteX2" fmla="*/ 41910 w 41910"/>
                  <a:gd name="connsiteY2" fmla="*/ 70866 h 736600"/>
                  <a:gd name="connsiteX3" fmla="*/ 41910 w 41910"/>
                  <a:gd name="connsiteY3" fmla="*/ 660093 h 736600"/>
                  <a:gd name="connsiteX4" fmla="*/ 36118 w 41910"/>
                  <a:gd name="connsiteY4" fmla="*/ 661050 h 736600"/>
                  <a:gd name="connsiteX5" fmla="*/ 0 w 41910"/>
                  <a:gd name="connsiteY5" fmla="*/ 736600 h 736600"/>
                  <a:gd name="connsiteX6" fmla="*/ 0 w 41910"/>
                  <a:gd name="connsiteY6" fmla="*/ 517237 h 736600"/>
                  <a:gd name="connsiteX7" fmla="*/ 0 w 41910"/>
                  <a:gd name="connsiteY7" fmla="*/ 0 h 73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910" h="736600">
                    <a:moveTo>
                      <a:pt x="0" y="0"/>
                    </a:moveTo>
                    <a:cubicBezTo>
                      <a:pt x="0" y="46760"/>
                      <a:pt x="20391" y="61480"/>
                      <a:pt x="36118" y="68515"/>
                    </a:cubicBezTo>
                    <a:lnTo>
                      <a:pt x="41910" y="70866"/>
                    </a:lnTo>
                    <a:lnTo>
                      <a:pt x="41910" y="660093"/>
                    </a:lnTo>
                    <a:lnTo>
                      <a:pt x="36118" y="661050"/>
                    </a:lnTo>
                    <a:cubicBezTo>
                      <a:pt x="20391" y="666317"/>
                      <a:pt x="0" y="683491"/>
                      <a:pt x="0" y="736600"/>
                    </a:cubicBezTo>
                    <a:cubicBezTo>
                      <a:pt x="0" y="517237"/>
                      <a:pt x="0" y="517237"/>
                      <a:pt x="0" y="517237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971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345E928-5C4E-1F73-76B5-2462D7DE4CB3}"/>
                  </a:ext>
                </a:extLst>
              </p:cNvPr>
              <p:cNvSpPr/>
              <p:nvPr/>
            </p:nvSpPr>
            <p:spPr bwMode="gray">
              <a:xfrm>
                <a:off x="5046080" y="1714432"/>
                <a:ext cx="356976" cy="590400"/>
              </a:xfrm>
              <a:prstGeom prst="rect">
                <a:avLst/>
              </a:prstGeom>
              <a:solidFill>
                <a:srgbClr val="3971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3" name="모서리가 둥근 직사각형 103">
                <a:extLst>
                  <a:ext uri="{FF2B5EF4-FFF2-40B4-BE49-F238E27FC236}">
                    <a16:creationId xmlns:a16="http://schemas.microsoft.com/office/drawing/2014/main" id="{2C7D6406-5F98-7A1C-5212-F6FF773EE498}"/>
                  </a:ext>
                </a:extLst>
              </p:cNvPr>
              <p:cNvSpPr/>
              <p:nvPr/>
            </p:nvSpPr>
            <p:spPr bwMode="gray">
              <a:xfrm>
                <a:off x="5117516" y="1714432"/>
                <a:ext cx="3467306" cy="590400"/>
              </a:xfrm>
              <a:prstGeom prst="roundRect">
                <a:avLst>
                  <a:gd name="adj" fmla="val 50000"/>
                </a:avLst>
              </a:prstGeom>
              <a:solidFill>
                <a:srgbClr val="3971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</p:grpSp>
        <p:sp>
          <p:nvSpPr>
            <p:cNvPr id="10" name="Text Box 38">
              <a:extLst>
                <a:ext uri="{FF2B5EF4-FFF2-40B4-BE49-F238E27FC236}">
                  <a16:creationId xmlns:a16="http://schemas.microsoft.com/office/drawing/2014/main" id="{1394802E-E2B3-2C68-EC96-290D94D8F01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72440" y="2030681"/>
              <a:ext cx="3408181" cy="47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400" b="1" kern="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Arial" pitchFamily="34" charset="0"/>
                </a:rPr>
                <a:t>대한민국 구석구석 홈페이지</a:t>
              </a:r>
              <a:r>
                <a:rPr lang="en-US" altLang="ko-KR" sz="1400" b="1" kern="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Arial" pitchFamily="34" charset="0"/>
                </a:rPr>
                <a:t>/</a:t>
              </a:r>
              <a:r>
                <a:rPr lang="ko-KR" altLang="en-US" sz="1400" b="1" kern="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Arial" pitchFamily="34" charset="0"/>
                </a:rPr>
                <a:t>앱</a:t>
              </a:r>
              <a:r>
                <a:rPr lang="en-US" altLang="ko-KR" sz="1400" b="1" kern="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Arial" pitchFamily="34" charset="0"/>
                </a:rPr>
                <a:t> </a:t>
              </a:r>
              <a:r>
                <a:rPr lang="ko-KR" altLang="en-US" sz="1400" b="1" kern="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Arial" pitchFamily="34" charset="0"/>
                </a:rPr>
                <a:t>요청사항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4A2B2C-3037-B02F-67FA-61CFB7D93E20}"/>
              </a:ext>
            </a:extLst>
          </p:cNvPr>
          <p:cNvSpPr/>
          <p:nvPr/>
        </p:nvSpPr>
        <p:spPr>
          <a:xfrm>
            <a:off x="466810" y="2236479"/>
            <a:ext cx="5916021" cy="707886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UI </a:t>
            </a: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및 디자인 개선 필요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메뉴가 너무 복잡해서 원하는 정보를 찾는 데 시간이 오래 걸립니다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이미지 및 미디어 개선이 필요합니다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앱에서 버튼 크기와 간격이 불편해 잘못된 클릭이 자주 발생합니다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  </a:t>
            </a:r>
            <a:endParaRPr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8E09DD-981C-1F28-9477-DB76CD3DAC94}"/>
              </a:ext>
            </a:extLst>
          </p:cNvPr>
          <p:cNvSpPr/>
          <p:nvPr/>
        </p:nvSpPr>
        <p:spPr>
          <a:xfrm>
            <a:off x="466810" y="2948671"/>
            <a:ext cx="5808957" cy="707886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접속 및 네트워크 안정성 강화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앱이 자주 멈추거나 강제 종료되는 일이 많습니다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버퍼링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없이 빠르게 작동했으면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</a:p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홈페이지 로딩 속도가 너무 느려서 도중에 이탈하게 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검색 후 화면 멈춤 현상이 있습니다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endParaRPr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4196CEA-5941-0DBC-19B3-409357D59822}"/>
              </a:ext>
            </a:extLst>
          </p:cNvPr>
          <p:cNvSpPr/>
          <p:nvPr/>
        </p:nvSpPr>
        <p:spPr>
          <a:xfrm>
            <a:off x="447750" y="4565415"/>
            <a:ext cx="5808957" cy="489878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 홍보 및 접근성 향상이 필요함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홍보활동이 이루어져 접근성이 높았으며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다양한 연령이 접근할 수 있도록 메뉴 구성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endParaRPr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501DD60-E981-713D-A47F-80E2475E4CF5}"/>
              </a:ext>
            </a:extLst>
          </p:cNvPr>
          <p:cNvSpPr/>
          <p:nvPr/>
        </p:nvSpPr>
        <p:spPr>
          <a:xfrm>
            <a:off x="466810" y="5059600"/>
            <a:ext cx="5808957" cy="1334596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편의성을 위한 기능 추가 및 서비스 개선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• 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검색 및 필터 기능 강화 요청 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: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j-ea"/>
                <a:ea typeface="+mj-ea"/>
                <a:cs typeface="함초롬돋움" panose="020B0604000101010101" pitchFamily="50" charset="-127"/>
              </a:rPr>
              <a:t>  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검색 기능 강화 및 다양성과 </a:t>
            </a:r>
            <a:r>
              <a:rPr lang="ko-KR" altLang="en-US" sz="1100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챗봇기능이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있으면 좋을 듯 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b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• 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리뷰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/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평가 기능 개선 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: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j-ea"/>
                <a:ea typeface="+mj-ea"/>
                <a:cs typeface="함초롬돋움" panose="020B0604000101010101" pitchFamily="50" charset="-127"/>
              </a:rPr>
              <a:t>  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방문자들의 최신 리뷰나 피드백을 확인할 수 있는 기능이 강화되면 좋을 듯 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endParaRPr lang="en-US" altLang="ko-KR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ea typeface="맑은 고딕" panose="020B0503020000020004" pitchFamily="50" charset="-127"/>
              <a:cs typeface="함초롬돋움" panose="020B0604000101010101" pitchFamily="50" charset="-127"/>
            </a:endParaRPr>
          </a:p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• 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다국어 지원 기능 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: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j-ea"/>
                <a:ea typeface="+mj-ea"/>
                <a:cs typeface="함초롬돋움" panose="020B0604000101010101" pitchFamily="50" charset="-127"/>
              </a:rPr>
              <a:t>  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외국인을 위한 다국어 번역 기능이 있으면 좋을 듯 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 </a:t>
            </a:r>
          </a:p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• 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사용자 중심의 데이터 베이스 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: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j-ea"/>
                <a:ea typeface="+mj-ea"/>
                <a:cs typeface="함초롬돋움" panose="020B0604000101010101" pitchFamily="50" charset="-127"/>
              </a:rPr>
              <a:t>  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사용자의 검색기록 기반으로 맞춤형 여행 추천이 있으면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b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• 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교통 정보 요청 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: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j-ea"/>
                <a:ea typeface="+mj-ea"/>
                <a:cs typeface="함초롬돋움" panose="020B0604000101010101" pitchFamily="50" charset="-127"/>
              </a:rPr>
              <a:t>  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외국인이어서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관광지까지 대중교통 정보를 알려주면 감사하겠습니다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endParaRPr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D71B8B-12FD-7398-E137-73EB9CD2E7DB}"/>
              </a:ext>
            </a:extLst>
          </p:cNvPr>
          <p:cNvSpPr/>
          <p:nvPr/>
        </p:nvSpPr>
        <p:spPr>
          <a:xfrm>
            <a:off x="447750" y="3660863"/>
            <a:ext cx="5808957" cy="900246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 다양한 콘텐츠 및 정보의 확대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지역별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테마별 여행 정보가 더욱 풍성해졌으면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빠른 정보 업데이트로 신뢰성 향상 필요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b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지역 정보 확충이 필요합니다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체험 프로그램이 있었으면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다양한 할인 이벤트 및 </a:t>
            </a:r>
            <a:r>
              <a:rPr lang="ko-KR" altLang="en-US" sz="1100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관광지랑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연계한 이벤트 상품이 있었으면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endParaRPr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F1C2AA-8CD2-3753-911C-028C07E3F63D}"/>
              </a:ext>
            </a:extLst>
          </p:cNvPr>
          <p:cNvSpPr/>
          <p:nvPr/>
        </p:nvSpPr>
        <p:spPr bwMode="gray">
          <a:xfrm>
            <a:off x="7896892" y="2062364"/>
            <a:ext cx="636714" cy="31451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-5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rPr>
              <a:t>제 언 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66B5DEF-07B6-8E2B-74F8-E5A24F1EE7D1}"/>
              </a:ext>
            </a:extLst>
          </p:cNvPr>
          <p:cNvGrpSpPr/>
          <p:nvPr/>
        </p:nvGrpSpPr>
        <p:grpSpPr bwMode="gray">
          <a:xfrm>
            <a:off x="6716373" y="1989000"/>
            <a:ext cx="2895343" cy="388459"/>
            <a:chOff x="6678396" y="1092867"/>
            <a:chExt cx="2925722" cy="388459"/>
          </a:xfrm>
          <a:solidFill>
            <a:schemeClr val="accent5">
              <a:lumMod val="50000"/>
            </a:schemeClr>
          </a:solidFill>
        </p:grpSpPr>
        <p:sp>
          <p:nvSpPr>
            <p:cNvPr id="28" name="모서리가 둥근 직사각형 77">
              <a:extLst>
                <a:ext uri="{FF2B5EF4-FFF2-40B4-BE49-F238E27FC236}">
                  <a16:creationId xmlns:a16="http://schemas.microsoft.com/office/drawing/2014/main" id="{CCDE535F-9350-79A7-A13A-DB3084DFFCAD}"/>
                </a:ext>
              </a:extLst>
            </p:cNvPr>
            <p:cNvSpPr/>
            <p:nvPr/>
          </p:nvSpPr>
          <p:spPr bwMode="gray">
            <a:xfrm>
              <a:off x="6753000" y="1097981"/>
              <a:ext cx="2851118" cy="383345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</a:schemeClr>
            </a:solidFill>
            <a:ln w="19050" cap="flat" cmpd="sng" algn="ctr">
              <a:noFill/>
              <a:prstDash val="solid"/>
            </a:ln>
            <a:effectLst/>
          </p:spPr>
          <p:txBody>
            <a:bodyPr wrap="none" lIns="0" tIns="0" rIns="0" bIns="36000" anchor="ctr"/>
            <a:lstStyle/>
            <a:p>
              <a:pPr marL="0" marR="0" lvl="0" indent="0" algn="ctr" defTabSz="914400" rtl="0" eaLnBrk="1" fontAlgn="ctr" latinLnBrk="1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1" i="0" u="none" strike="noStrike" kern="1200" cap="none" spc="-50" normalizeH="0" baseline="0" noProof="0">
                <a:ln>
                  <a:solidFill>
                    <a:srgbClr val="70A4DE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1E8E660-B5E4-E1E6-0D41-8EFDED943CD4}"/>
                </a:ext>
              </a:extLst>
            </p:cNvPr>
            <p:cNvSpPr/>
            <p:nvPr/>
          </p:nvSpPr>
          <p:spPr bwMode="gray">
            <a:xfrm>
              <a:off x="7871301" y="1166231"/>
              <a:ext cx="643395" cy="31451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-5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+mj-ea"/>
                  <a:ea typeface="+mj-ea"/>
                  <a:cs typeface="KoPubWorld돋움체 Bold" panose="00000800000000000000" pitchFamily="2" charset="-127"/>
                </a:rPr>
                <a:t>제 언 </a:t>
              </a:r>
            </a:p>
          </p:txBody>
        </p:sp>
        <p:sp>
          <p:nvSpPr>
            <p:cNvPr id="32" name="직각 삼각형 31">
              <a:extLst>
                <a:ext uri="{FF2B5EF4-FFF2-40B4-BE49-F238E27FC236}">
                  <a16:creationId xmlns:a16="http://schemas.microsoft.com/office/drawing/2014/main" id="{3603C25E-7707-5A0B-CB0A-9EC6AF0D99F4}"/>
                </a:ext>
              </a:extLst>
            </p:cNvPr>
            <p:cNvSpPr/>
            <p:nvPr/>
          </p:nvSpPr>
          <p:spPr bwMode="gray">
            <a:xfrm flipH="1">
              <a:off x="6678396" y="1092867"/>
              <a:ext cx="77441" cy="358247"/>
            </a:xfrm>
            <a:prstGeom prst="rt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1942650-C9F2-0BC8-8E68-6E286A1CA2F0}"/>
              </a:ext>
            </a:extLst>
          </p:cNvPr>
          <p:cNvSpPr/>
          <p:nvPr/>
        </p:nvSpPr>
        <p:spPr bwMode="gray">
          <a:xfrm>
            <a:off x="6716373" y="2347248"/>
            <a:ext cx="2878894" cy="3913594"/>
          </a:xfrm>
          <a:prstGeom prst="rect">
            <a:avLst/>
          </a:prstGeom>
          <a:solidFill>
            <a:schemeClr val="bg1"/>
          </a:solidFill>
          <a:ln>
            <a:solidFill>
              <a:srgbClr val="17375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174A0F8-CDE9-3986-0739-41E8EEE39FE7}"/>
              </a:ext>
            </a:extLst>
          </p:cNvPr>
          <p:cNvGrpSpPr/>
          <p:nvPr/>
        </p:nvGrpSpPr>
        <p:grpSpPr>
          <a:xfrm>
            <a:off x="6762486" y="2440696"/>
            <a:ext cx="2832782" cy="1251540"/>
            <a:chOff x="6762486" y="2440696"/>
            <a:chExt cx="2832782" cy="1251540"/>
          </a:xfrm>
        </p:grpSpPr>
        <p:sp>
          <p:nvSpPr>
            <p:cNvPr id="21" name="Rectangle 264">
              <a:extLst>
                <a:ext uri="{FF2B5EF4-FFF2-40B4-BE49-F238E27FC236}">
                  <a16:creationId xmlns:a16="http://schemas.microsoft.com/office/drawing/2014/main" id="{B19CF80B-5267-44DD-3EB1-0CB28326633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762486" y="2453566"/>
              <a:ext cx="2797770" cy="1238670"/>
            </a:xfrm>
            <a:prstGeom prst="round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72000" anchor="ctr"/>
            <a:lstStyle/>
            <a:p>
              <a:pPr marL="247650" marR="0" lvl="0" indent="-171450" algn="l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500"/>
                </a:spcAft>
                <a:buClr>
                  <a:srgbClr val="DA5255"/>
                </a:buClr>
                <a:buSzTx/>
                <a:buFont typeface="Wingdings" panose="05000000000000000000" pitchFamily="2" charset="2"/>
                <a:buChar char="ü"/>
                <a:tabLst/>
                <a:defRPr/>
              </a:pPr>
              <a:endParaRPr kumimoji="1" lang="ko-KR" altLang="ko-KR" sz="1100" b="0" i="0" u="none" strike="noStrike" kern="0" cap="none" spc="-50" normalizeH="0" baseline="0" noProof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C0C02DC-D27E-2A65-A6B4-72C013E5064B}"/>
                </a:ext>
              </a:extLst>
            </p:cNvPr>
            <p:cNvSpPr/>
            <p:nvPr/>
          </p:nvSpPr>
          <p:spPr>
            <a:xfrm>
              <a:off x="6809247" y="2440696"/>
              <a:ext cx="2786021" cy="629647"/>
            </a:xfrm>
            <a:prstGeom prst="rect">
              <a:avLst/>
            </a:prstGeom>
            <a:noFill/>
          </p:spPr>
          <p:txBody>
            <a:bodyPr wrap="square" lIns="72000" rIns="0" anchor="t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spcBef>
                  <a:spcPts val="0"/>
                </a:spcBef>
                <a:spcAft>
                  <a:spcPts val="100"/>
                </a:spcAft>
                <a:buClr>
                  <a:srgbClr val="085D96"/>
                </a:buClr>
                <a:buSzPct val="100000"/>
                <a:tabLst>
                  <a:tab pos="290513" algn="l"/>
                  <a:tab pos="508000" algn="l"/>
                </a:tabLst>
                <a:defRPr/>
              </a:pPr>
              <a:r>
                <a:rPr lang="ko-KR" altLang="en-US" sz="14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highlight>
                    <a:srgbClr val="FFC000"/>
                  </a:highlight>
                  <a:latin typeface="+mj-ea"/>
                  <a:ea typeface="+mj-ea"/>
                  <a:cs typeface="함초롬돋움" panose="020B0604000101010101" pitchFamily="50" charset="-127"/>
                </a:rPr>
                <a:t>홍보활동 및 접근성 강화 필요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/>
              </a:r>
              <a:br>
                <a:rPr lang="en-US" altLang="ko-KR" sz="14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</a:br>
              <a:r>
                <a:rPr lang="ko-KR" altLang="en-US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대한민국 구석구석 홈페이지</a:t>
              </a:r>
              <a:r>
                <a:rPr lang="en-US" altLang="ko-KR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/</a:t>
              </a:r>
              <a:r>
                <a:rPr lang="ko-KR" altLang="en-US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앱의 실효성 및  이용자의 만족도는 높지만</a:t>
              </a:r>
              <a:r>
                <a:rPr lang="en-US" altLang="ko-KR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, </a:t>
              </a:r>
              <a:r>
                <a:rPr lang="ko-KR" altLang="en-US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더 많은 이용자를 유치하고 다양한 연령대에서 쉽게 접근하기 위한 메뉴 구성 및 홍보활동 필요</a:t>
              </a:r>
              <a:endParaRPr lang="en-US" altLang="ko-KR" sz="12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5980EC4-52DE-E29B-E45B-F9B2C0238170}"/>
              </a:ext>
            </a:extLst>
          </p:cNvPr>
          <p:cNvGrpSpPr/>
          <p:nvPr/>
        </p:nvGrpSpPr>
        <p:grpSpPr>
          <a:xfrm>
            <a:off x="6762486" y="3784493"/>
            <a:ext cx="2849230" cy="1236127"/>
            <a:chOff x="6762486" y="3784493"/>
            <a:chExt cx="2849230" cy="1236127"/>
          </a:xfrm>
        </p:grpSpPr>
        <p:sp>
          <p:nvSpPr>
            <p:cNvPr id="16" name="Rectangle 264">
              <a:extLst>
                <a:ext uri="{FF2B5EF4-FFF2-40B4-BE49-F238E27FC236}">
                  <a16:creationId xmlns:a16="http://schemas.microsoft.com/office/drawing/2014/main" id="{E70B67C1-CF2A-E618-3F03-E9AA3A3A8A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762486" y="3838140"/>
              <a:ext cx="2797770" cy="1182480"/>
            </a:xfrm>
            <a:prstGeom prst="round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72000" anchor="ctr"/>
            <a:lstStyle/>
            <a:p>
              <a:pPr marL="247650" marR="0" lvl="0" indent="-171450" algn="l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500"/>
                </a:spcAft>
                <a:buClr>
                  <a:srgbClr val="DA5255"/>
                </a:buClr>
                <a:buSzTx/>
                <a:buFont typeface="Wingdings" panose="05000000000000000000" pitchFamily="2" charset="2"/>
                <a:buChar char="ü"/>
                <a:tabLst/>
                <a:defRPr/>
              </a:pPr>
              <a:endParaRPr kumimoji="1" lang="ko-KR" altLang="ko-KR" sz="1100" b="0" i="0" u="none" strike="noStrike" kern="0" cap="none" spc="-50" normalizeH="0" baseline="0" noProof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E62F1D8-4694-071E-7E5A-11E7EC58942F}"/>
                </a:ext>
              </a:extLst>
            </p:cNvPr>
            <p:cNvSpPr/>
            <p:nvPr/>
          </p:nvSpPr>
          <p:spPr>
            <a:xfrm>
              <a:off x="6825695" y="3784493"/>
              <a:ext cx="2786021" cy="629647"/>
            </a:xfrm>
            <a:prstGeom prst="rect">
              <a:avLst/>
            </a:prstGeom>
          </p:spPr>
          <p:txBody>
            <a:bodyPr wrap="square" lIns="72000" rIns="0" anchor="t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spcBef>
                  <a:spcPts val="0"/>
                </a:spcBef>
                <a:spcAft>
                  <a:spcPts val="100"/>
                </a:spcAft>
                <a:buClr>
                  <a:srgbClr val="085D96"/>
                </a:buClr>
                <a:buSzPct val="100000"/>
                <a:tabLst>
                  <a:tab pos="290513" algn="l"/>
                  <a:tab pos="508000" algn="l"/>
                </a:tabLst>
                <a:defRPr/>
              </a:pPr>
              <a:r>
                <a:rPr lang="ko-KR" altLang="en-US" sz="14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highlight>
                    <a:srgbClr val="FFC000"/>
                  </a:highlight>
                  <a:latin typeface="+mj-ea"/>
                  <a:ea typeface="+mj-ea"/>
                  <a:cs typeface="함초롬돋움" panose="020B0604000101010101" pitchFamily="50" charset="-127"/>
                </a:rPr>
                <a:t>이용자 중심의 기능 개선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/>
              </a:r>
              <a:br>
                <a:rPr lang="en-US" altLang="ko-KR" sz="14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</a:br>
              <a:r>
                <a:rPr lang="ko-KR" altLang="en-US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이용자의 데이터를 분석하여 개개인 맞춤형  인터페이스 제공하여 이용자 편의 증진</a:t>
              </a:r>
              <a:r>
                <a:rPr lang="en-US" altLang="ko-KR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. </a:t>
              </a:r>
              <a:br>
                <a:rPr lang="en-US" altLang="ko-KR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</a:br>
              <a:r>
                <a:rPr lang="en-US" altLang="ko-KR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UI </a:t>
              </a:r>
              <a:r>
                <a:rPr lang="ko-KR" altLang="en-US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및 디자인이 복잡하다는 의견이 있어</a:t>
              </a:r>
              <a:r>
                <a:rPr lang="en-US" altLang="ko-KR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, </a:t>
              </a:r>
              <a:r>
                <a:rPr lang="ko-KR" altLang="en-US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메뉴 간소화 및 직관적으로 디자인 개선 필요</a:t>
              </a:r>
              <a:endParaRPr lang="en-US" altLang="ko-KR" sz="12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F3128C63-D0A6-653A-0DC9-6924A6B82F60}"/>
              </a:ext>
            </a:extLst>
          </p:cNvPr>
          <p:cNvGrpSpPr/>
          <p:nvPr/>
        </p:nvGrpSpPr>
        <p:grpSpPr>
          <a:xfrm>
            <a:off x="6762486" y="5179860"/>
            <a:ext cx="2849230" cy="1008000"/>
            <a:chOff x="6762486" y="5179860"/>
            <a:chExt cx="2849230" cy="1008000"/>
          </a:xfrm>
        </p:grpSpPr>
        <p:sp>
          <p:nvSpPr>
            <p:cNvPr id="34" name="Rectangle 264">
              <a:extLst>
                <a:ext uri="{FF2B5EF4-FFF2-40B4-BE49-F238E27FC236}">
                  <a16:creationId xmlns:a16="http://schemas.microsoft.com/office/drawing/2014/main" id="{A2FA0466-512C-BDF8-7F69-FCCAE7016E4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762486" y="5179860"/>
              <a:ext cx="2797770" cy="1008000"/>
            </a:xfrm>
            <a:prstGeom prst="round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lIns="0" tIns="0" rIns="0" bIns="72000" anchor="ctr"/>
            <a:lstStyle/>
            <a:p>
              <a:pPr marL="247650" marR="0" lvl="0" indent="-171450" algn="l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500"/>
                </a:spcAft>
                <a:buClr>
                  <a:srgbClr val="DA5255"/>
                </a:buClr>
                <a:buSzTx/>
                <a:buFont typeface="Wingdings" panose="05000000000000000000" pitchFamily="2" charset="2"/>
                <a:buChar char="ü"/>
                <a:tabLst/>
                <a:defRPr/>
              </a:pPr>
              <a:endParaRPr kumimoji="1" lang="ko-KR" altLang="ko-KR" sz="1100" b="0" i="0" u="none" strike="noStrike" kern="0" cap="none" spc="-50" normalizeH="0" baseline="0" noProof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070FD07-0997-03FD-78F0-29D26130C288}"/>
                </a:ext>
              </a:extLst>
            </p:cNvPr>
            <p:cNvSpPr/>
            <p:nvPr/>
          </p:nvSpPr>
          <p:spPr>
            <a:xfrm>
              <a:off x="6825695" y="5187480"/>
              <a:ext cx="2786021" cy="629647"/>
            </a:xfrm>
            <a:prstGeom prst="rect">
              <a:avLst/>
            </a:prstGeom>
          </p:spPr>
          <p:txBody>
            <a:bodyPr wrap="square" lIns="72000" rIns="0" anchor="t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charset="-127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spcBef>
                  <a:spcPts val="0"/>
                </a:spcBef>
                <a:spcAft>
                  <a:spcPts val="100"/>
                </a:spcAft>
                <a:buClr>
                  <a:srgbClr val="085D96"/>
                </a:buClr>
                <a:buSzPct val="100000"/>
                <a:tabLst>
                  <a:tab pos="290513" algn="l"/>
                  <a:tab pos="508000" algn="l"/>
                </a:tabLst>
                <a:defRPr/>
              </a:pPr>
              <a:r>
                <a:rPr lang="ko-KR" altLang="en-US" sz="14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highlight>
                    <a:srgbClr val="FFC000"/>
                  </a:highlight>
                  <a:latin typeface="+mj-ea"/>
                  <a:ea typeface="+mj-ea"/>
                  <a:cs typeface="함초롬돋움" panose="020B0604000101010101" pitchFamily="50" charset="-127"/>
                </a:rPr>
                <a:t>시스템의 안정성 확보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/>
              </a:r>
              <a:br>
                <a:rPr lang="en-US" altLang="ko-KR" sz="14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</a:br>
              <a:r>
                <a:rPr lang="ko-KR" altLang="en-US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사용자 트래픽을 처리 할 수 있는 안정적 서버 구축 및 정기적인 모니터링으로 시스템 기능 </a:t>
              </a:r>
              <a:r>
                <a:rPr lang="en-US" altLang="ko-KR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/>
              </a:r>
              <a:br>
                <a:rPr lang="en-US" altLang="ko-KR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</a:br>
              <a:r>
                <a:rPr lang="ko-KR" altLang="en-US" sz="12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n-ea"/>
                  <a:ea typeface="+mn-ea"/>
                  <a:cs typeface="함초롬돋움" panose="020B0604000101010101" pitchFamily="50" charset="-127"/>
                </a:rPr>
                <a:t>점검 필요</a:t>
              </a:r>
              <a:endParaRPr lang="en-US" altLang="ko-KR" sz="12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0610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D78B-9D26-C636-6BA8-F18FE6642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잘린 위쪽 모서리 2">
            <a:extLst>
              <a:ext uri="{FF2B5EF4-FFF2-40B4-BE49-F238E27FC236}">
                <a16:creationId xmlns:a16="http://schemas.microsoft.com/office/drawing/2014/main" id="{DCD990D2-3A74-50DA-5648-AF67FAB754E7}"/>
              </a:ext>
            </a:extLst>
          </p:cNvPr>
          <p:cNvSpPr/>
          <p:nvPr/>
        </p:nvSpPr>
        <p:spPr>
          <a:xfrm rot="5400000">
            <a:off x="4078497" y="3898122"/>
            <a:ext cx="4701006" cy="648000"/>
          </a:xfrm>
          <a:prstGeom prst="snip2SameRect">
            <a:avLst>
              <a:gd name="adj1" fmla="val 45354"/>
              <a:gd name="adj2" fmla="val 0"/>
            </a:avLst>
          </a:prstGeom>
          <a:solidFill>
            <a:srgbClr val="5A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D86EB0-7799-4D42-A9B3-BA3A4BE4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4467890" cy="46166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대한민국 구석구석 서비스만족도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8F75EB6E-060D-D57F-F1B6-1227A7017196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9) [SNS] </a:t>
            </a:r>
            <a:r>
              <a:rPr lang="ko-KR" altLang="en-US" dirty="0"/>
              <a:t>대한민국 구석구석 요청사항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77CB671-AB7F-8832-9384-FED2295AB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SNS</a:t>
            </a:r>
            <a:r>
              <a:rPr lang="ko-KR" altLang="en-US" dirty="0"/>
              <a:t>에 대한 요청사항으로는 이용자</a:t>
            </a:r>
            <a:r>
              <a:rPr lang="en-US" altLang="ko-KR" dirty="0"/>
              <a:t>(</a:t>
            </a:r>
            <a:r>
              <a:rPr lang="ko-KR" altLang="en-US" dirty="0"/>
              <a:t>구독자</a:t>
            </a:r>
            <a:r>
              <a:rPr lang="en-US" altLang="ko-KR" dirty="0"/>
              <a:t>)</a:t>
            </a:r>
            <a:r>
              <a:rPr lang="ko-KR" altLang="en-US" dirty="0"/>
              <a:t>의 소통창구를 통해 정보의 교환 및 </a:t>
            </a:r>
            <a:r>
              <a:rPr lang="ko-KR" altLang="en-US" dirty="0" err="1"/>
              <a:t>경험당</a:t>
            </a:r>
            <a:r>
              <a:rPr lang="ko-KR" altLang="en-US" dirty="0"/>
              <a:t> 공유를 원하고 있으며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여행지의 상세 정보를 통해 실용성을 높이고자 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485FCF-BD60-A77D-AE06-08E06D929D9B}"/>
              </a:ext>
            </a:extLst>
          </p:cNvPr>
          <p:cNvSpPr/>
          <p:nvPr/>
        </p:nvSpPr>
        <p:spPr bwMode="gray">
          <a:xfrm>
            <a:off x="294284" y="1871619"/>
            <a:ext cx="6170716" cy="4708928"/>
          </a:xfrm>
          <a:prstGeom prst="rect">
            <a:avLst/>
          </a:prstGeom>
          <a:solidFill>
            <a:srgbClr val="5BA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" name="모서리가 둥근 직사각형 22">
            <a:extLst>
              <a:ext uri="{FF2B5EF4-FFF2-40B4-BE49-F238E27FC236}">
                <a16:creationId xmlns:a16="http://schemas.microsoft.com/office/drawing/2014/main" id="{9BFEA864-8C7F-A63D-5DF5-7899BFDD4077}"/>
              </a:ext>
            </a:extLst>
          </p:cNvPr>
          <p:cNvSpPr/>
          <p:nvPr/>
        </p:nvSpPr>
        <p:spPr bwMode="gray">
          <a:xfrm>
            <a:off x="405461" y="1752033"/>
            <a:ext cx="5977370" cy="4727069"/>
          </a:xfrm>
          <a:prstGeom prst="roundRect">
            <a:avLst>
              <a:gd name="adj" fmla="val 2579"/>
            </a:avLst>
          </a:prstGeom>
          <a:solidFill>
            <a:schemeClr val="bg1"/>
          </a:solidFill>
          <a:ln w="19050">
            <a:solidFill>
              <a:srgbClr val="3971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1F44454-06BA-D833-1C67-968DA82F843F}"/>
              </a:ext>
            </a:extLst>
          </p:cNvPr>
          <p:cNvGrpSpPr/>
          <p:nvPr/>
        </p:nvGrpSpPr>
        <p:grpSpPr>
          <a:xfrm>
            <a:off x="294285" y="1836035"/>
            <a:ext cx="3146716" cy="379567"/>
            <a:chOff x="302138" y="1967459"/>
            <a:chExt cx="3578483" cy="580483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6764717-679F-18BE-D420-8418FECA209D}"/>
                </a:ext>
              </a:extLst>
            </p:cNvPr>
            <p:cNvGrpSpPr/>
            <p:nvPr/>
          </p:nvGrpSpPr>
          <p:grpSpPr bwMode="gray">
            <a:xfrm>
              <a:off x="302138" y="1967459"/>
              <a:ext cx="3578483" cy="580483"/>
              <a:chOff x="5006339" y="1645376"/>
              <a:chExt cx="3578483" cy="736600"/>
            </a:xfrm>
            <a:solidFill>
              <a:srgbClr val="004981"/>
            </a:solidFill>
          </p:grpSpPr>
          <p:sp>
            <p:nvSpPr>
              <p:cNvPr id="11" name="자유형 101">
                <a:extLst>
                  <a:ext uri="{FF2B5EF4-FFF2-40B4-BE49-F238E27FC236}">
                    <a16:creationId xmlns:a16="http://schemas.microsoft.com/office/drawing/2014/main" id="{D0EF0B91-268B-C0E0-5808-AD94B21DEE5E}"/>
                  </a:ext>
                </a:extLst>
              </p:cNvPr>
              <p:cNvSpPr/>
              <p:nvPr/>
            </p:nvSpPr>
            <p:spPr bwMode="gray">
              <a:xfrm>
                <a:off x="5006339" y="1645376"/>
                <a:ext cx="41910" cy="736600"/>
              </a:xfrm>
              <a:custGeom>
                <a:avLst/>
                <a:gdLst>
                  <a:gd name="connsiteX0" fmla="*/ 0 w 41910"/>
                  <a:gd name="connsiteY0" fmla="*/ 0 h 736600"/>
                  <a:gd name="connsiteX1" fmla="*/ 36118 w 41910"/>
                  <a:gd name="connsiteY1" fmla="*/ 68515 h 736600"/>
                  <a:gd name="connsiteX2" fmla="*/ 41910 w 41910"/>
                  <a:gd name="connsiteY2" fmla="*/ 70866 h 736600"/>
                  <a:gd name="connsiteX3" fmla="*/ 41910 w 41910"/>
                  <a:gd name="connsiteY3" fmla="*/ 660093 h 736600"/>
                  <a:gd name="connsiteX4" fmla="*/ 36118 w 41910"/>
                  <a:gd name="connsiteY4" fmla="*/ 661050 h 736600"/>
                  <a:gd name="connsiteX5" fmla="*/ 0 w 41910"/>
                  <a:gd name="connsiteY5" fmla="*/ 736600 h 736600"/>
                  <a:gd name="connsiteX6" fmla="*/ 0 w 41910"/>
                  <a:gd name="connsiteY6" fmla="*/ 517237 h 736600"/>
                  <a:gd name="connsiteX7" fmla="*/ 0 w 41910"/>
                  <a:gd name="connsiteY7" fmla="*/ 0 h 73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910" h="736600">
                    <a:moveTo>
                      <a:pt x="0" y="0"/>
                    </a:moveTo>
                    <a:cubicBezTo>
                      <a:pt x="0" y="46760"/>
                      <a:pt x="20391" y="61480"/>
                      <a:pt x="36118" y="68515"/>
                    </a:cubicBezTo>
                    <a:lnTo>
                      <a:pt x="41910" y="70866"/>
                    </a:lnTo>
                    <a:lnTo>
                      <a:pt x="41910" y="660093"/>
                    </a:lnTo>
                    <a:lnTo>
                      <a:pt x="36118" y="661050"/>
                    </a:lnTo>
                    <a:cubicBezTo>
                      <a:pt x="20391" y="666317"/>
                      <a:pt x="0" y="683491"/>
                      <a:pt x="0" y="736600"/>
                    </a:cubicBezTo>
                    <a:cubicBezTo>
                      <a:pt x="0" y="517237"/>
                      <a:pt x="0" y="517237"/>
                      <a:pt x="0" y="517237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971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911EA5CE-DFA6-6A72-8C54-95D7DC867921}"/>
                  </a:ext>
                </a:extLst>
              </p:cNvPr>
              <p:cNvSpPr/>
              <p:nvPr/>
            </p:nvSpPr>
            <p:spPr bwMode="gray">
              <a:xfrm>
                <a:off x="5046080" y="1714432"/>
                <a:ext cx="356976" cy="590400"/>
              </a:xfrm>
              <a:prstGeom prst="rect">
                <a:avLst/>
              </a:prstGeom>
              <a:solidFill>
                <a:srgbClr val="3971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3" name="모서리가 둥근 직사각형 103">
                <a:extLst>
                  <a:ext uri="{FF2B5EF4-FFF2-40B4-BE49-F238E27FC236}">
                    <a16:creationId xmlns:a16="http://schemas.microsoft.com/office/drawing/2014/main" id="{5314CF37-8D05-1943-E94E-AE9BE781B501}"/>
                  </a:ext>
                </a:extLst>
              </p:cNvPr>
              <p:cNvSpPr/>
              <p:nvPr/>
            </p:nvSpPr>
            <p:spPr bwMode="gray">
              <a:xfrm>
                <a:off x="5117516" y="1714432"/>
                <a:ext cx="3467306" cy="590400"/>
              </a:xfrm>
              <a:prstGeom prst="roundRect">
                <a:avLst>
                  <a:gd name="adj" fmla="val 50000"/>
                </a:avLst>
              </a:prstGeom>
              <a:solidFill>
                <a:srgbClr val="3971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</p:grpSp>
        <p:sp>
          <p:nvSpPr>
            <p:cNvPr id="10" name="Text Box 38">
              <a:extLst>
                <a:ext uri="{FF2B5EF4-FFF2-40B4-BE49-F238E27FC236}">
                  <a16:creationId xmlns:a16="http://schemas.microsoft.com/office/drawing/2014/main" id="{A2A6CFD2-D3B0-54E7-2F6C-BC2AA299112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72440" y="2030681"/>
              <a:ext cx="3408181" cy="47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400" b="1" kern="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Arial" pitchFamily="34" charset="0"/>
                </a:rPr>
                <a:t>대한민국 구석구석 </a:t>
              </a:r>
              <a:r>
                <a:rPr lang="en-US" altLang="ko-KR" sz="1400" b="1" kern="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Arial" pitchFamily="34" charset="0"/>
                </a:rPr>
                <a:t>SNS </a:t>
              </a:r>
              <a:r>
                <a:rPr lang="ko-KR" altLang="en-US" sz="1400" b="1" kern="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Arial" pitchFamily="34" charset="0"/>
                </a:rPr>
                <a:t>요청사항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0A05EA-CDD1-1508-0D16-3181D0B60919}"/>
              </a:ext>
            </a:extLst>
          </p:cNvPr>
          <p:cNvSpPr/>
          <p:nvPr/>
        </p:nvSpPr>
        <p:spPr bwMode="gray">
          <a:xfrm>
            <a:off x="6716374" y="2347247"/>
            <a:ext cx="2895342" cy="3961753"/>
          </a:xfrm>
          <a:prstGeom prst="rect">
            <a:avLst/>
          </a:prstGeom>
          <a:solidFill>
            <a:schemeClr val="bg1"/>
          </a:solidFill>
          <a:ln>
            <a:solidFill>
              <a:srgbClr val="4E4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6" name="Rectangle 264">
            <a:extLst>
              <a:ext uri="{FF2B5EF4-FFF2-40B4-BE49-F238E27FC236}">
                <a16:creationId xmlns:a16="http://schemas.microsoft.com/office/drawing/2014/main" id="{6A63FF98-F5CD-56B8-E893-7CDB333150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62486" y="2470838"/>
            <a:ext cx="2797770" cy="1187108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lIns="0" tIns="0" rIns="0" bIns="72000" anchor="ctr"/>
          <a:lstStyle/>
          <a:p>
            <a:pPr marL="247650" marR="0" lvl="0" indent="-1714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500"/>
              </a:spcAft>
              <a:buClr>
                <a:srgbClr val="DA5255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endParaRPr kumimoji="1" lang="ko-KR" altLang="ko-KR" sz="1100" b="0" i="0" u="none" strike="noStrike" kern="0" cap="none" spc="-50" normalizeH="0" baseline="0" noProof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3380675-721E-ACB1-5FB2-1A1A843260E9}"/>
              </a:ext>
            </a:extLst>
          </p:cNvPr>
          <p:cNvGrpSpPr/>
          <p:nvPr/>
        </p:nvGrpSpPr>
        <p:grpSpPr bwMode="gray">
          <a:xfrm>
            <a:off x="6716373" y="1989000"/>
            <a:ext cx="2895343" cy="388459"/>
            <a:chOff x="6678396" y="1092867"/>
            <a:chExt cx="2925722" cy="388459"/>
          </a:xfrm>
          <a:solidFill>
            <a:schemeClr val="accent5">
              <a:lumMod val="50000"/>
            </a:schemeClr>
          </a:solidFill>
        </p:grpSpPr>
        <p:sp>
          <p:nvSpPr>
            <p:cNvPr id="18" name="모서리가 둥근 직사각형 77">
              <a:extLst>
                <a:ext uri="{FF2B5EF4-FFF2-40B4-BE49-F238E27FC236}">
                  <a16:creationId xmlns:a16="http://schemas.microsoft.com/office/drawing/2014/main" id="{9D291CF6-1BA3-10B5-4EA6-C2A4BC58755C}"/>
                </a:ext>
              </a:extLst>
            </p:cNvPr>
            <p:cNvSpPr/>
            <p:nvPr/>
          </p:nvSpPr>
          <p:spPr bwMode="gray">
            <a:xfrm>
              <a:off x="6753000" y="1097981"/>
              <a:ext cx="2851118" cy="383345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</a:schemeClr>
            </a:solidFill>
            <a:ln w="19050" cap="flat" cmpd="sng" algn="ctr">
              <a:noFill/>
              <a:prstDash val="solid"/>
            </a:ln>
            <a:effectLst/>
          </p:spPr>
          <p:txBody>
            <a:bodyPr wrap="none" lIns="0" tIns="0" rIns="0" bIns="36000" anchor="ctr"/>
            <a:lstStyle/>
            <a:p>
              <a:pPr marL="0" marR="0" lvl="0" indent="0" algn="ctr" defTabSz="914400" rtl="0" eaLnBrk="1" fontAlgn="ctr" latinLnBrk="1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1" i="0" u="none" strike="noStrike" kern="1200" cap="none" spc="-50" normalizeH="0" baseline="0" noProof="0">
                <a:ln>
                  <a:solidFill>
                    <a:srgbClr val="70A4DE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28264F8-17EB-0BDF-6F00-8730F4321518}"/>
                </a:ext>
              </a:extLst>
            </p:cNvPr>
            <p:cNvSpPr/>
            <p:nvPr/>
          </p:nvSpPr>
          <p:spPr bwMode="gray">
            <a:xfrm>
              <a:off x="7871301" y="1166231"/>
              <a:ext cx="643395" cy="31451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-5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+mj-ea"/>
                  <a:ea typeface="+mj-ea"/>
                  <a:cs typeface="KoPubWorld돋움체 Bold" panose="00000800000000000000" pitchFamily="2" charset="-127"/>
                </a:rPr>
                <a:t>제 언 </a:t>
              </a:r>
            </a:p>
          </p:txBody>
        </p:sp>
        <p:sp>
          <p:nvSpPr>
            <p:cNvPr id="20" name="직각 삼각형 19">
              <a:extLst>
                <a:ext uri="{FF2B5EF4-FFF2-40B4-BE49-F238E27FC236}">
                  <a16:creationId xmlns:a16="http://schemas.microsoft.com/office/drawing/2014/main" id="{BE7F8241-3396-97E2-AF39-5B25E03E1A7F}"/>
                </a:ext>
              </a:extLst>
            </p:cNvPr>
            <p:cNvSpPr/>
            <p:nvPr/>
          </p:nvSpPr>
          <p:spPr bwMode="gray">
            <a:xfrm flipH="1">
              <a:off x="6678396" y="1092867"/>
              <a:ext cx="77441" cy="358247"/>
            </a:xfrm>
            <a:prstGeom prst="rt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880896-2DF3-F12A-D21D-E1EFA840EC8F}"/>
              </a:ext>
            </a:extLst>
          </p:cNvPr>
          <p:cNvSpPr/>
          <p:nvPr/>
        </p:nvSpPr>
        <p:spPr>
          <a:xfrm>
            <a:off x="6825695" y="2401950"/>
            <a:ext cx="2786021" cy="629647"/>
          </a:xfrm>
          <a:prstGeom prst="rect">
            <a:avLst/>
          </a:prstGeom>
        </p:spPr>
        <p:txBody>
          <a:bodyPr wrap="square" lIns="72000" rIns="0" anchor="t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FC000"/>
                </a:highlight>
                <a:latin typeface="+mj-ea"/>
                <a:ea typeface="+mj-ea"/>
                <a:cs typeface="함초롬돋움" panose="020B0604000101010101" pitchFamily="50" charset="-127"/>
              </a:rPr>
              <a:t>정보의 상세화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이용자들은 콘텐츠 내에 구체적이고 실질적인 정보가 부족하다고 느끼고 있음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.  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장소에 대한 정확한 주소와 함께 주변의 교통 정보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입장료 등 실용적인 정보를 포함 하여 이용자 편의성 증대</a:t>
            </a:r>
            <a:endParaRPr lang="en-US" altLang="ko-KR" sz="12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34" name="Rectangle 264">
            <a:extLst>
              <a:ext uri="{FF2B5EF4-FFF2-40B4-BE49-F238E27FC236}">
                <a16:creationId xmlns:a16="http://schemas.microsoft.com/office/drawing/2014/main" id="{1366E749-D366-B3B5-D266-7C112434FC62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62486" y="3710650"/>
            <a:ext cx="2797770" cy="129600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lIns="0" tIns="0" rIns="0" bIns="72000" anchor="ctr"/>
          <a:lstStyle/>
          <a:p>
            <a:pPr marL="247650" marR="0" lvl="0" indent="-1714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500"/>
              </a:spcAft>
              <a:buClr>
                <a:srgbClr val="DA5255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endParaRPr kumimoji="1" lang="ko-KR" altLang="ko-KR" sz="1100" b="0" i="0" u="none" strike="noStrike" kern="0" cap="none" spc="-50" normalizeH="0" baseline="0" noProof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F254428-7EF2-0E99-2285-581939A6EC9B}"/>
              </a:ext>
            </a:extLst>
          </p:cNvPr>
          <p:cNvSpPr/>
          <p:nvPr/>
        </p:nvSpPr>
        <p:spPr>
          <a:xfrm>
            <a:off x="6825695" y="3718270"/>
            <a:ext cx="2786021" cy="629647"/>
          </a:xfrm>
          <a:prstGeom prst="rect">
            <a:avLst/>
          </a:prstGeom>
        </p:spPr>
        <p:txBody>
          <a:bodyPr wrap="square" lIns="72000" rIns="0" anchor="t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FC000"/>
                </a:highlight>
                <a:latin typeface="+mj-ea"/>
                <a:ea typeface="+mj-ea"/>
                <a:cs typeface="함초롬돋움" panose="020B0604000101010101" pitchFamily="50" charset="-127"/>
              </a:rPr>
              <a:t>이용자를 위한 소통의 창구 마련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FC000"/>
                </a:highlight>
                <a:latin typeface="+mj-ea"/>
                <a:ea typeface="+mj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FC000"/>
                </a:highlight>
                <a:latin typeface="+mj-ea"/>
                <a:ea typeface="+mj-ea"/>
                <a:cs typeface="함초롬돋움" panose="020B0604000101010101" pitchFamily="50" charset="-127"/>
              </a:rPr>
            </a:b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사용자들은 플랫폼에서의 소통이 부족하다고 느끼며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더 적극적인 커뮤니케이션을 원하고 있음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.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이용자 게시판 등을 통한 이용자들의 정보 교환 및 커뮤니티 제공</a:t>
            </a:r>
            <a:endParaRPr lang="en-US" altLang="ko-KR" sz="12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0119A3-62B8-6C64-FA13-348B50D8218B}"/>
              </a:ext>
            </a:extLst>
          </p:cNvPr>
          <p:cNvSpPr/>
          <p:nvPr/>
        </p:nvSpPr>
        <p:spPr>
          <a:xfrm>
            <a:off x="466810" y="2210510"/>
            <a:ext cx="5808957" cy="707886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이벤트 참여 과정이 복잡하고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, </a:t>
            </a: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불명확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“SNS 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이벤트 참여 방법이 너무 복잡해서 도전하다가 포기했습니다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</a:p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이벤트 당첨자 발표가 투명하지 않은 것 같습니다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이벤트 관련 알림을 놓쳐서 참여하지 못했습니다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endParaRPr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E3B45B-99DC-21EC-55B2-75C5F9A34EF5}"/>
              </a:ext>
            </a:extLst>
          </p:cNvPr>
          <p:cNvSpPr/>
          <p:nvPr/>
        </p:nvSpPr>
        <p:spPr>
          <a:xfrm>
            <a:off x="466810" y="2902918"/>
            <a:ext cx="5808957" cy="695062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콘텐츠 업데이트 빈도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내용이 자주 올라왔으면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정기적으로 새로운 콘텐츠가 나오면 더 좋겠어요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b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더 많은 정보와 잦은 업데이트 부탁드립니다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최신 정보를 바로 알 수 있는 알림 기능이 필요합니다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 </a:t>
            </a:r>
            <a:endParaRPr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A3EC780-2C86-59AE-A51D-8547A93CAA39}"/>
              </a:ext>
            </a:extLst>
          </p:cNvPr>
          <p:cNvSpPr/>
          <p:nvPr/>
        </p:nvSpPr>
        <p:spPr>
          <a:xfrm>
            <a:off x="466810" y="3582502"/>
            <a:ext cx="5808957" cy="695062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정보의 상세화 및 실용성 강화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촬영지에 대한 주소나 더 자세한 정보가 필요합니다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여행지 관련 정보가 너무 모호합니다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b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교통 숙소 포함해서 날씨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휴무일 등 좀더 지역여행하기 좋은 깨알정보들이 많았으면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endParaRPr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C6D97F-E4CC-045E-5FF0-86BE1EB38987}"/>
              </a:ext>
            </a:extLst>
          </p:cNvPr>
          <p:cNvSpPr/>
          <p:nvPr/>
        </p:nvSpPr>
        <p:spPr>
          <a:xfrm>
            <a:off x="466810" y="4290660"/>
            <a:ext cx="5808957" cy="707886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이용자 소통 및 피드백 반영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“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DM 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답변이 느리고 공식적인 소통 창구가 필요합니다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이용자 의견이 콘텐츠에 반영되면 좋겠어요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 </a:t>
            </a:r>
            <a:b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많은 사람들이 자신만의 유용한 정보 및 의견을 서로 공유하고 소통 할 수 있는 채널을 있으면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A64CE4E-4487-C57F-DE4B-023D3E109E81}"/>
              </a:ext>
            </a:extLst>
          </p:cNvPr>
          <p:cNvSpPr/>
          <p:nvPr/>
        </p:nvSpPr>
        <p:spPr>
          <a:xfrm>
            <a:off x="466810" y="5542943"/>
            <a:ext cx="5808957" cy="910057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다양한 콘텐츠 및 이벤트 제공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00FFFF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• 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다양한 콘텐츠 주제 발굴 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: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j-ea"/>
                <a:ea typeface="+mj-ea"/>
                <a:cs typeface="함초롬돋움" panose="020B0604000101010101" pitchFamily="50" charset="-127"/>
              </a:rPr>
              <a:t>  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특정테마에만 집중하지 말고 폭 넓은 이야기를 다뤄주세요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endParaRPr lang="en-US" altLang="ko-KR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ea typeface="맑은 고딕" panose="020B0503020000020004" pitchFamily="50" charset="-127"/>
              <a:cs typeface="함초롬돋움" panose="020B0604000101010101" pitchFamily="50" charset="-127"/>
            </a:endParaRPr>
          </a:p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• 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이벤트 제공 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: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j-ea"/>
                <a:ea typeface="+mj-ea"/>
                <a:cs typeface="함초롬돋움" panose="020B0604000101010101" pitchFamily="50" charset="-127"/>
              </a:rPr>
              <a:t>  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다양한 이벤트 제공 및 할인 혜택이 있으면 좋겠습니다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 </a:t>
            </a:r>
            <a:b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• 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시각적 콘텐츠 강화 필요 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: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0F7FE"/>
                </a:highlight>
                <a:latin typeface="+mj-ea"/>
                <a:ea typeface="+mj-ea"/>
                <a:cs typeface="함초롬돋움" panose="020B0604000101010101" pitchFamily="50" charset="-127"/>
              </a:rPr>
              <a:t> 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“360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도 사진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VR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로 현장감을 재현하면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좋을 듯 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</a:p>
        </p:txBody>
      </p:sp>
      <p:sp>
        <p:nvSpPr>
          <p:cNvPr id="29" name="Rectangle 264">
            <a:extLst>
              <a:ext uri="{FF2B5EF4-FFF2-40B4-BE49-F238E27FC236}">
                <a16:creationId xmlns:a16="http://schemas.microsoft.com/office/drawing/2014/main" id="{9928893A-DA8D-5368-55E7-80761A71AA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62486" y="5106379"/>
            <a:ext cx="2797770" cy="120262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lIns="0" tIns="0" rIns="0" bIns="72000" anchor="ctr"/>
          <a:lstStyle/>
          <a:p>
            <a:pPr marL="247650" marR="0" lvl="0" indent="-1714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500"/>
              </a:spcAft>
              <a:buClr>
                <a:srgbClr val="DA5255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endParaRPr kumimoji="1" lang="ko-KR" altLang="ko-KR" sz="1100" b="0" i="0" u="none" strike="noStrike" kern="0" cap="none" spc="-50" normalizeH="0" baseline="0" noProof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KoPubWorld돋움체 Bold" panose="00000800000000000000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AC50E25-A8CF-1A5E-D3D9-643B40037155}"/>
              </a:ext>
            </a:extLst>
          </p:cNvPr>
          <p:cNvSpPr/>
          <p:nvPr/>
        </p:nvSpPr>
        <p:spPr>
          <a:xfrm>
            <a:off x="6825695" y="5065998"/>
            <a:ext cx="2786021" cy="629647"/>
          </a:xfrm>
          <a:prstGeom prst="rect">
            <a:avLst/>
          </a:prstGeom>
        </p:spPr>
        <p:txBody>
          <a:bodyPr wrap="square" lIns="72000" rIns="0" anchor="t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FC000"/>
                </a:highlight>
                <a:latin typeface="+mj-ea"/>
                <a:ea typeface="+mj-ea"/>
                <a:cs typeface="함초롬돋움" panose="020B0604000101010101" pitchFamily="50" charset="-127"/>
              </a:rPr>
              <a:t>다양한 콘텐츠 제작 및 이벤트 활성화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FC000"/>
                </a:highlight>
                <a:latin typeface="+mj-ea"/>
                <a:ea typeface="+mj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FFC000"/>
                </a:highlight>
                <a:latin typeface="+mj-ea"/>
                <a:ea typeface="+mj-ea"/>
                <a:cs typeface="함초롬돋움" panose="020B0604000101010101" pitchFamily="50" charset="-127"/>
              </a:rPr>
            </a:b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여행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음식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문화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역사 등 다양한 주제를 발굴하여 다각도로 접근하고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 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계절별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연령별 맞춤형 콘텐츠 기획 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.  </a:t>
            </a:r>
            <a:r>
              <a:rPr lang="ko-KR" altLang="en-US" sz="12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밈이나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2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릴스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, </a:t>
            </a:r>
            <a:r>
              <a:rPr lang="ko-KR" altLang="en-US" sz="12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숏츠</a:t>
            </a: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등 다양한 시각적 자료를</a:t>
            </a:r>
            <a: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ko-KR" altLang="en-US" sz="12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활용하여 홍보 및 관심 유발</a:t>
            </a:r>
            <a:endParaRPr lang="en-US" altLang="ko-KR" sz="12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91A051A-363F-4195-9219-084388704AFB}"/>
              </a:ext>
            </a:extLst>
          </p:cNvPr>
          <p:cNvSpPr/>
          <p:nvPr/>
        </p:nvSpPr>
        <p:spPr>
          <a:xfrm>
            <a:off x="447750" y="5027122"/>
            <a:ext cx="5808957" cy="489878"/>
          </a:xfrm>
          <a:prstGeom prst="rect">
            <a:avLst/>
          </a:prstGeom>
        </p:spPr>
        <p:txBody>
          <a:bodyPr wrap="square" lIns="72000" rIns="0" anchor="t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latinLnBrk="0">
              <a:lnSpc>
                <a:spcPts val="1600"/>
              </a:lnSpc>
              <a:spcBef>
                <a:spcPts val="0"/>
              </a:spcBef>
              <a:spcAft>
                <a:spcPts val="100"/>
              </a:spcAft>
              <a:buClr>
                <a:srgbClr val="085D96"/>
              </a:buClr>
              <a:buSzPct val="100000"/>
              <a:tabLst>
                <a:tab pos="290513" algn="l"/>
                <a:tab pos="508000" algn="l"/>
              </a:tabLst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highlight>
                  <a:srgbClr val="2E8ED5"/>
                </a:highlight>
                <a:latin typeface="+mj-ea"/>
                <a:ea typeface="+mj-ea"/>
                <a:cs typeface="함초롬돋움" panose="020B0604000101010101" pitchFamily="50" charset="-127"/>
              </a:rPr>
              <a:t> 홍보 및 접근성 향상이 필요함</a:t>
            </a:r>
            <a: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B6DFF8"/>
                </a:highlight>
                <a:latin typeface="+mn-ea"/>
                <a:ea typeface="+mn-ea"/>
                <a:cs typeface="함초롬돋움" panose="020B0604000101010101" pitchFamily="50" charset="-127"/>
              </a:rPr>
              <a:t/>
            </a:r>
            <a:br>
              <a:rPr lang="en-US" altLang="ko-KR" sz="14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highlight>
                  <a:srgbClr val="B6DFF8"/>
                </a:highlight>
                <a:latin typeface="+mn-ea"/>
                <a:ea typeface="+mn-ea"/>
                <a:cs typeface="함초롬돋움" panose="020B0604000101010101" pitchFamily="50" charset="-127"/>
              </a:rPr>
            </a:b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“</a:t>
            </a:r>
            <a:r>
              <a:rPr lang="ko-KR" altLang="en-US" sz="1100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인플루언서와의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</a:t>
            </a:r>
            <a:r>
              <a:rPr lang="ko-KR" altLang="en-US" sz="1100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콜라보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 콘텐츠를 확대하면 좋을 듯 합니다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”/ “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적극적인 홍보를 통해 접근성 확대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  <a:cs typeface="함초롬돋움" panose="020B0604000101010101" pitchFamily="50" charset="-127"/>
              </a:rPr>
              <a:t>”</a:t>
            </a:r>
            <a:endParaRPr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  <a:ea typeface="+mn-ea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1067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F3328-3E38-6E7E-41FE-F39DF0F6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9416220A-0D5C-DEA2-2533-9973A2C0817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</p:spPr>
        <p:txBody>
          <a:bodyPr/>
          <a:lstStyle/>
          <a:p>
            <a:r>
              <a:rPr lang="en-US" altLang="ko-KR" dirty="0"/>
              <a:t>Part</a:t>
            </a:r>
          </a:p>
          <a:p>
            <a:r>
              <a:rPr lang="en-US" altLang="ko-KR" dirty="0"/>
              <a:t>Ⅱ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B764642-89BA-973B-285C-488995EE5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</p:spPr>
        <p:txBody>
          <a:bodyPr/>
          <a:lstStyle/>
          <a:p>
            <a:r>
              <a:rPr lang="ko-KR" altLang="en-US" dirty="0"/>
              <a:t>주요 조사 내용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70EED3-5CFC-117A-AE11-C83CC988E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10" y="2797382"/>
            <a:ext cx="4896157" cy="2431618"/>
          </a:xfrm>
        </p:spPr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국내 여행 정보 수집 과정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서비스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2.2. SNS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이용 현황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Tx/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서비스만족도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Tx/>
            </a:pP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  <a:endParaRPr lang="en-US" altLang="ko-KR" dirty="0"/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메인 화면 선호 의견</a:t>
            </a:r>
          </a:p>
        </p:txBody>
      </p:sp>
    </p:spTree>
    <p:extLst>
      <p:ext uri="{BB962C8B-B14F-4D97-AF65-F5344CB8AC3E}">
        <p14:creationId xmlns:p14="http://schemas.microsoft.com/office/powerpoint/2010/main" val="1082918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AD75-6338-07F8-40EC-725D563B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F1B3E450-4247-A5C1-42C6-B65618829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89684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(5,801)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089F3281-4F85-81D8-5619-9583AEAEF914}"/>
              </a:ext>
            </a:extLst>
          </p:cNvPr>
          <p:cNvGrpSpPr/>
          <p:nvPr/>
        </p:nvGrpSpPr>
        <p:grpSpPr>
          <a:xfrm>
            <a:off x="449242" y="3263865"/>
            <a:ext cx="2009716" cy="1995019"/>
            <a:chOff x="2735242" y="3263865"/>
            <a:chExt cx="2009716" cy="1995019"/>
          </a:xfrm>
        </p:grpSpPr>
        <p:sp>
          <p:nvSpPr>
            <p:cNvPr id="53" name="부분 원형 52">
              <a:extLst>
                <a:ext uri="{FF2B5EF4-FFF2-40B4-BE49-F238E27FC236}">
                  <a16:creationId xmlns:a16="http://schemas.microsoft.com/office/drawing/2014/main" id="{11E7D699-ABB5-1314-4740-F07C60131595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6227725"/>
                <a:gd name="adj2" fmla="val 5319685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7535DDF-5E9C-F881-827F-1ABC425C1096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42A266E2-A45C-AE86-057D-85D561B7CC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7004066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B8787ABD-472C-2680-7B52-9482151C9088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sp>
          <p:nvSpPr>
            <p:cNvPr id="39" name="부분 원형 38">
              <a:extLst>
                <a:ext uri="{FF2B5EF4-FFF2-40B4-BE49-F238E27FC236}">
                  <a16:creationId xmlns:a16="http://schemas.microsoft.com/office/drawing/2014/main" id="{FB6BF125-6277-9A17-3E46-9EB3519ABE97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4653759"/>
                <a:gd name="adj2" fmla="val 6999256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E4FA079-0C01-6486-8502-8D87370CF8F8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0F520410-113F-BC0C-8C0F-7E6991D9AC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8185316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BB15246-B07A-E3A0-E674-0770F09F8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997938"/>
              </p:ext>
            </p:extLst>
          </p:nvPr>
        </p:nvGraphicFramePr>
        <p:xfrm>
          <a:off x="7772404" y="2888041"/>
          <a:ext cx="1789109" cy="3709605"/>
        </p:xfrm>
        <a:graphic>
          <a:graphicData uri="http://schemas.openxmlformats.org/drawingml/2006/table">
            <a:tbl>
              <a:tblPr/>
              <a:tblGrid>
                <a:gridCol w="1789109">
                  <a:extLst>
                    <a:ext uri="{9D8B030D-6E8A-4147-A177-3AD203B41FA5}">
                      <a16:colId xmlns:a16="http://schemas.microsoft.com/office/drawing/2014/main" val="4009110308"/>
                    </a:ext>
                  </a:extLst>
                </a:gridCol>
              </a:tblGrid>
              <a:tr h="349278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3258519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가볼래터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예시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977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CB459D9-E692-4D0C-693E-8CF47F7F4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411156"/>
              </p:ext>
            </p:extLst>
          </p:nvPr>
        </p:nvGraphicFramePr>
        <p:xfrm>
          <a:off x="4967940" y="2888042"/>
          <a:ext cx="2804464" cy="3709605"/>
        </p:xfrm>
        <a:graphic>
          <a:graphicData uri="http://schemas.openxmlformats.org/drawingml/2006/table">
            <a:tbl>
              <a:tblPr/>
              <a:tblGrid>
                <a:gridCol w="3505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(1,119)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(1,608)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(12*)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(440)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(1,065)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(749)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(295)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(166)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DAC1268-6533-F7D3-BDB7-3AF046BDE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pPr>
              <a:buClrTx/>
            </a:pPr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  <a:endParaRPr lang="en-US" altLang="ko-KR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7351DF-9C6A-A4C5-DEF0-657055FA54D3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1) [</a:t>
            </a:r>
            <a:r>
              <a:rPr lang="ko-KR" altLang="en-US" dirty="0" err="1"/>
              <a:t>가볼래</a:t>
            </a:r>
            <a:r>
              <a:rPr lang="en-US" altLang="ko-KR" dirty="0"/>
              <a:t>-</a:t>
            </a:r>
            <a:r>
              <a:rPr lang="ko-KR" altLang="en-US" dirty="0"/>
              <a:t>터</a:t>
            </a:r>
            <a:r>
              <a:rPr lang="en-US" altLang="ko-KR" dirty="0"/>
              <a:t>] </a:t>
            </a:r>
            <a:r>
              <a:rPr lang="ko-KR" altLang="en-US" dirty="0"/>
              <a:t>구독 여부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50CCCD-D05B-3F3D-A235-187B0B516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‘</a:t>
            </a:r>
            <a:r>
              <a:rPr lang="ko-KR" altLang="en-US" dirty="0" err="1"/>
              <a:t>가볼래</a:t>
            </a:r>
            <a:r>
              <a:rPr lang="en-US" altLang="ko-KR" dirty="0"/>
              <a:t>-</a:t>
            </a:r>
            <a:r>
              <a:rPr lang="ko-KR" altLang="en-US" dirty="0"/>
              <a:t>터</a:t>
            </a:r>
            <a:r>
              <a:rPr lang="en-US" altLang="ko-KR" dirty="0"/>
              <a:t>’ </a:t>
            </a:r>
            <a:r>
              <a:rPr lang="ko-KR" altLang="en-US" dirty="0"/>
              <a:t>구독률은 </a:t>
            </a:r>
            <a:r>
              <a:rPr lang="en-US" altLang="ko-KR" dirty="0"/>
              <a:t>64.5%</a:t>
            </a:r>
            <a:r>
              <a:rPr lang="ko-KR" altLang="en-US" dirty="0"/>
              <a:t>이며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(49.8%) </a:t>
            </a:r>
            <a:r>
              <a:rPr lang="ko-KR" altLang="en-US" dirty="0"/>
              <a:t>대비 </a:t>
            </a:r>
            <a:r>
              <a:rPr lang="en-US" altLang="ko-KR" dirty="0"/>
              <a:t>14.7%p </a:t>
            </a:r>
            <a:r>
              <a:rPr lang="ko-KR" altLang="en-US" dirty="0"/>
              <a:t>대폭 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여성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(65.3%),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(68.1%)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구독률이 높게 나타남</a:t>
            </a: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A165284C-874C-EE9C-44C0-43A09E82B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390473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  <a:r>
              <a:rPr lang="en-US" altLang="ko-KR" spc="-50" dirty="0">
                <a:latin typeface="+mj-ea"/>
                <a:ea typeface="+mj-ea"/>
              </a:rPr>
              <a:t/>
            </a:r>
            <a:br>
              <a:rPr lang="en-US" altLang="ko-KR" spc="-50" dirty="0">
                <a:latin typeface="+mj-ea"/>
                <a:ea typeface="+mj-ea"/>
              </a:rPr>
            </a:br>
            <a:r>
              <a:rPr lang="en-US" altLang="ko-KR" spc="-50" dirty="0">
                <a:latin typeface="+mj-ea"/>
                <a:ea typeface="+mj-ea"/>
              </a:rPr>
              <a:t>*(n</a:t>
            </a:r>
            <a:r>
              <a:rPr lang="ko-KR" altLang="en-US" spc="-50" dirty="0">
                <a:latin typeface="+mj-ea"/>
                <a:ea typeface="+mj-ea"/>
              </a:rPr>
              <a:t>≤</a:t>
            </a:r>
            <a:r>
              <a:rPr lang="en-US" altLang="ko-KR" spc="-50" dirty="0">
                <a:latin typeface="+mj-ea"/>
                <a:ea typeface="+mj-ea"/>
              </a:rPr>
              <a:t>30</a:t>
            </a:r>
            <a:r>
              <a:rPr lang="ko-KR" altLang="en-US" spc="-50" dirty="0">
                <a:latin typeface="+mj-ea"/>
                <a:ea typeface="+mj-ea"/>
              </a:rPr>
              <a:t>는 해석에 유의</a:t>
            </a:r>
            <a:r>
              <a:rPr lang="en-US" altLang="ko-KR" spc="-50" dirty="0"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6" name="세로챠트-일반">
            <a:extLst>
              <a:ext uri="{FF2B5EF4-FFF2-40B4-BE49-F238E27FC236}">
                <a16:creationId xmlns:a16="http://schemas.microsoft.com/office/drawing/2014/main" id="{FDC42D01-504B-0744-BB15-449836BB53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744049"/>
              </p:ext>
            </p:extLst>
          </p:nvPr>
        </p:nvGraphicFramePr>
        <p:xfrm>
          <a:off x="4953000" y="2384169"/>
          <a:ext cx="2849985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A4CB70-6476-B0BF-3F62-3912B9610F8D}"/>
              </a:ext>
            </a:extLst>
          </p:cNvPr>
          <p:cNvSpPr/>
          <p:nvPr/>
        </p:nvSpPr>
        <p:spPr>
          <a:xfrm>
            <a:off x="344494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9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Calibri Light" panose="020F0302020204030204" pitchFamily="34" charset="0"/>
              </a:rPr>
              <a:t>비구독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구독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6235FC-9CF5-9748-4493-F08476FEDBA0}"/>
              </a:ext>
            </a:extLst>
          </p:cNvPr>
          <p:cNvSpPr/>
          <p:nvPr/>
        </p:nvSpPr>
        <p:spPr>
          <a:xfrm>
            <a:off x="2673341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비구독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구독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0DA4AD3-51A3-27BD-BCCC-C42AAE2646E6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가볼래터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구독 비율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+14.7%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1031" name="_x378774376">
            <a:extLst>
              <a:ext uri="{FF2B5EF4-FFF2-40B4-BE49-F238E27FC236}">
                <a16:creationId xmlns:a16="http://schemas.microsoft.com/office/drawing/2014/main" id="{896D21BA-EE28-28B2-3D4F-7B68DF7D9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"/>
          <a:stretch>
            <a:fillRect/>
          </a:stretch>
        </p:blipFill>
        <p:spPr bwMode="auto">
          <a:xfrm>
            <a:off x="7839546" y="2843186"/>
            <a:ext cx="1069898" cy="1728000"/>
          </a:xfrm>
          <a:prstGeom prst="flowChartAlternateProcess">
            <a:avLst/>
          </a:prstGeom>
          <a:noFill/>
          <a:effectLst>
            <a:outerShdw blurRad="50800" dist="50800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_x378781576">
            <a:extLst>
              <a:ext uri="{FF2B5EF4-FFF2-40B4-BE49-F238E27FC236}">
                <a16:creationId xmlns:a16="http://schemas.microsoft.com/office/drawing/2014/main" id="{A72AB324-625C-829E-1F10-54AA95579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"/>
          <a:stretch>
            <a:fillRect/>
          </a:stretch>
        </p:blipFill>
        <p:spPr bwMode="auto">
          <a:xfrm>
            <a:off x="8104446" y="3443352"/>
            <a:ext cx="1069898" cy="1730116"/>
          </a:xfrm>
          <a:prstGeom prst="flowChartAlternateProcess">
            <a:avLst/>
          </a:prstGeom>
          <a:noFill/>
          <a:effectLst>
            <a:outerShdw blurRad="50800" dist="50800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_x378787624">
            <a:extLst>
              <a:ext uri="{FF2B5EF4-FFF2-40B4-BE49-F238E27FC236}">
                <a16:creationId xmlns:a16="http://schemas.microsoft.com/office/drawing/2014/main" id="{C82AD647-F07B-98AB-CA74-EACAA30D6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396" y="4607086"/>
            <a:ext cx="1069898" cy="1701914"/>
          </a:xfrm>
          <a:prstGeom prst="flowChartAlternateProcess">
            <a:avLst/>
          </a:prstGeom>
          <a:noFill/>
          <a:effectLst>
            <a:outerShdw blurRad="50800" dist="50800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8">
            <a:extLst>
              <a:ext uri="{FF2B5EF4-FFF2-40B4-BE49-F238E27FC236}">
                <a16:creationId xmlns:a16="http://schemas.microsoft.com/office/drawing/2014/main" id="{106DF7F1-DD63-A8F6-02C7-635AF3EC9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9225" y="595683"/>
            <a:ext cx="45719" cy="238056"/>
          </a:xfrm>
          <a:prstGeom prst="flowChartAlternateProcess">
            <a:avLst/>
          </a:prstGeom>
          <a:noFill/>
          <a:ln>
            <a:noFill/>
          </a:ln>
          <a:effectLst>
            <a:outerShdw blurRad="50800" dist="50800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B85D9E4-C22C-2904-4780-DEC847A9BE6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40106" y="4546033"/>
            <a:ext cx="383437" cy="39362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70FDB68-69A1-7423-8643-BEFDD39A745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00180" y="4607086"/>
            <a:ext cx="38343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71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13CCA-982E-A8D0-3644-186452838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7EA90-5B58-0D32-D664-67AF4149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46053761-6FD2-3A8E-E91A-DD7F50E2CDF7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2) [</a:t>
            </a:r>
            <a:r>
              <a:rPr lang="ko-KR" altLang="en-US" dirty="0" err="1"/>
              <a:t>가볼래</a:t>
            </a:r>
            <a:r>
              <a:rPr lang="en-US" altLang="ko-KR" dirty="0"/>
              <a:t>-</a:t>
            </a:r>
            <a:r>
              <a:rPr lang="ko-KR" altLang="en-US" dirty="0"/>
              <a:t>터</a:t>
            </a:r>
            <a:r>
              <a:rPr lang="en-US" altLang="ko-KR" dirty="0"/>
              <a:t>]</a:t>
            </a:r>
            <a:r>
              <a:rPr lang="ko-KR" altLang="en-US" dirty="0"/>
              <a:t> 전반 평가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6ABF77A-72FD-C018-1E13-EBB129FBE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‘</a:t>
            </a:r>
            <a:r>
              <a:rPr lang="ko-KR" altLang="en-US" dirty="0" err="1"/>
              <a:t>가볼래</a:t>
            </a:r>
            <a:r>
              <a:rPr lang="en-US" altLang="ko-KR" dirty="0"/>
              <a:t>-</a:t>
            </a:r>
            <a:r>
              <a:rPr lang="ko-KR" altLang="en-US" dirty="0"/>
              <a:t>터</a:t>
            </a:r>
            <a:r>
              <a:rPr lang="en-US" altLang="ko-KR" dirty="0"/>
              <a:t>’ </a:t>
            </a:r>
            <a:r>
              <a:rPr lang="ko-KR" altLang="en-US" dirty="0"/>
              <a:t>전반평가 결과</a:t>
            </a:r>
            <a:r>
              <a:rPr lang="en-US" altLang="ko-KR" dirty="0"/>
              <a:t>, ‘</a:t>
            </a:r>
            <a:r>
              <a:rPr lang="ko-KR" altLang="en-US" dirty="0"/>
              <a:t>지속 이용 의향</a:t>
            </a:r>
            <a:r>
              <a:rPr lang="en-US" altLang="ko-KR" dirty="0"/>
              <a:t>’ </a:t>
            </a:r>
            <a:r>
              <a:rPr lang="ko-KR" altLang="en-US" dirty="0"/>
              <a:t>항목이 </a:t>
            </a:r>
            <a:r>
              <a:rPr lang="en-US" altLang="ko-KR" dirty="0"/>
              <a:t>87.6</a:t>
            </a:r>
            <a:r>
              <a:rPr lang="ko-KR" altLang="en-US" dirty="0"/>
              <a:t>점으로 가장 높게 평가됨</a:t>
            </a:r>
            <a:endParaRPr lang="en-US" altLang="ko-KR" dirty="0"/>
          </a:p>
          <a:p>
            <a:r>
              <a:rPr lang="ko-KR" altLang="en-US" dirty="0"/>
              <a:t>다음으로 </a:t>
            </a:r>
            <a:r>
              <a:rPr lang="en-US" altLang="ko-KR" dirty="0"/>
              <a:t>‘</a:t>
            </a:r>
            <a:r>
              <a:rPr lang="ko-KR" altLang="en-US" dirty="0"/>
              <a:t>콘텐츠 유용성</a:t>
            </a:r>
            <a:r>
              <a:rPr lang="en-US" altLang="ko-KR" dirty="0"/>
              <a:t>’(86.4</a:t>
            </a:r>
            <a:r>
              <a:rPr lang="ko-KR" altLang="en-US" dirty="0"/>
              <a:t>점</a:t>
            </a:r>
            <a:r>
              <a:rPr lang="en-US" altLang="ko-KR" dirty="0"/>
              <a:t>), ‘</a:t>
            </a:r>
            <a:r>
              <a:rPr lang="ko-KR" altLang="en-US" dirty="0"/>
              <a:t>전반적 만족도</a:t>
            </a:r>
            <a:r>
              <a:rPr lang="en-US" altLang="ko-KR" dirty="0"/>
              <a:t>’(85.8</a:t>
            </a:r>
            <a:r>
              <a:rPr lang="ko-KR" altLang="en-US" dirty="0"/>
              <a:t>점</a:t>
            </a:r>
            <a:r>
              <a:rPr lang="en-US" altLang="ko-KR" dirty="0"/>
              <a:t>) </a:t>
            </a:r>
            <a:r>
              <a:rPr lang="ko-KR" altLang="en-US" dirty="0"/>
              <a:t>순으로 나타났으며</a:t>
            </a:r>
            <a:r>
              <a:rPr lang="en-US" altLang="ko-KR" dirty="0"/>
              <a:t>, </a:t>
            </a:r>
            <a:r>
              <a:rPr lang="ko-KR" altLang="en-US" dirty="0"/>
              <a:t>모든 항목이 </a:t>
            </a:r>
            <a:r>
              <a:rPr lang="en-US" altLang="ko-KR" dirty="0"/>
              <a:t>23</a:t>
            </a:r>
            <a:r>
              <a:rPr lang="ko-KR" altLang="en-US" dirty="0"/>
              <a:t>년 대비 소폭 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여성이 남성 대비 모든 항목을 긍정적으로 평가한 것으로 나타남</a:t>
            </a:r>
          </a:p>
        </p:txBody>
      </p:sp>
      <p:graphicFrame>
        <p:nvGraphicFramePr>
          <p:cNvPr id="7" name="내용 개체 틀 7">
            <a:extLst>
              <a:ext uri="{FF2B5EF4-FFF2-40B4-BE49-F238E27FC236}">
                <a16:creationId xmlns:a16="http://schemas.microsoft.com/office/drawing/2014/main" id="{348EAC2B-E3A9-C8F2-E9C0-8FB6347017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3965551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F03C05C8-F33C-00D8-A012-04815B9293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740100" y="2342670"/>
            <a:ext cx="535217" cy="393620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80C6647-5586-8D0F-57EC-6B6E03DA2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43945"/>
              </p:ext>
            </p:extLst>
          </p:nvPr>
        </p:nvGraphicFramePr>
        <p:xfrm>
          <a:off x="336061" y="3805200"/>
          <a:ext cx="9225460" cy="278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2306467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2306467">
                  <a:extLst>
                    <a:ext uri="{9D8B030D-6E8A-4147-A177-3AD203B41FA5}">
                      <a16:colId xmlns:a16="http://schemas.microsoft.com/office/drawing/2014/main" val="4277896288"/>
                    </a:ext>
                  </a:extLst>
                </a:gridCol>
                <a:gridCol w="2306467">
                  <a:extLst>
                    <a:ext uri="{9D8B030D-6E8A-4147-A177-3AD203B41FA5}">
                      <a16:colId xmlns:a16="http://schemas.microsoft.com/office/drawing/2014/main" val="2438521884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지속 이용 의향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콘텐츠 유용성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전반적 만족도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(2,888)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(1,758)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87.6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85.6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(708)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(1,050)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88.6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(10*)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91.7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(278)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(668)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88.4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(499)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(201)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(102)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8C93DF-93E2-7EC3-B2CD-9908C3B04D5B}"/>
              </a:ext>
            </a:extLst>
          </p:cNvPr>
          <p:cNvSpPr txBox="1"/>
          <p:nvPr/>
        </p:nvSpPr>
        <p:spPr>
          <a:xfrm>
            <a:off x="273000" y="2534239"/>
            <a:ext cx="1800275" cy="92333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&amp;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가볼래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터 구독자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(n=1,758),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824A23F-DF5B-009E-637C-5FA0938DECD9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가볼래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-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터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전반 평가</a:t>
            </a:r>
          </a:p>
        </p:txBody>
      </p:sp>
    </p:spTree>
    <p:extLst>
      <p:ext uri="{BB962C8B-B14F-4D97-AF65-F5344CB8AC3E}">
        <p14:creationId xmlns:p14="http://schemas.microsoft.com/office/powerpoint/2010/main" val="31356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3C2B2-0C1C-A06C-396F-98991E49D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A46E4-4FFC-372D-4523-51456E52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C9984B85-A517-DE09-9826-57E7CA122463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3) [</a:t>
            </a:r>
            <a:r>
              <a:rPr lang="ko-KR" altLang="en-US" dirty="0" err="1"/>
              <a:t>가볼래</a:t>
            </a:r>
            <a:r>
              <a:rPr lang="en-US" altLang="ko-KR" dirty="0"/>
              <a:t>-</a:t>
            </a:r>
            <a:r>
              <a:rPr lang="ko-KR" altLang="en-US" dirty="0"/>
              <a:t>터</a:t>
            </a:r>
            <a:r>
              <a:rPr lang="en-US" altLang="ko-KR" dirty="0"/>
              <a:t>] </a:t>
            </a:r>
            <a:r>
              <a:rPr lang="ko-KR" altLang="en-US" dirty="0" err="1"/>
              <a:t>비구독</a:t>
            </a:r>
            <a:r>
              <a:rPr lang="ko-KR" altLang="en-US" dirty="0"/>
              <a:t> 이유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5033282-70AD-CCA7-4B84-861B3FA42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pc="-80" dirty="0"/>
              <a:t>대한민국 구석구석 </a:t>
            </a:r>
            <a:r>
              <a:rPr lang="en-US" altLang="ko-KR" spc="-80" dirty="0"/>
              <a:t>‘</a:t>
            </a:r>
            <a:r>
              <a:rPr lang="ko-KR" altLang="en-US" spc="-80" dirty="0" err="1"/>
              <a:t>가볼래</a:t>
            </a:r>
            <a:r>
              <a:rPr lang="en-US" altLang="ko-KR" spc="-80" dirty="0"/>
              <a:t>-</a:t>
            </a:r>
            <a:r>
              <a:rPr lang="ko-KR" altLang="en-US" spc="-80" dirty="0"/>
              <a:t>터</a:t>
            </a:r>
            <a:r>
              <a:rPr lang="en-US" altLang="ko-KR" spc="-80" dirty="0"/>
              <a:t>’ </a:t>
            </a:r>
            <a:r>
              <a:rPr lang="ko-KR" altLang="en-US" spc="-80" dirty="0"/>
              <a:t>서비스 비구독자를 대상으로 그 이유를 조사한 결과</a:t>
            </a:r>
            <a:r>
              <a:rPr lang="en-US" altLang="ko-KR" spc="-80" dirty="0"/>
              <a:t>, ‘</a:t>
            </a:r>
            <a:r>
              <a:rPr lang="ko-KR" altLang="en-US" spc="-80" dirty="0"/>
              <a:t>어떤 서비스인지 몰라서</a:t>
            </a:r>
            <a:r>
              <a:rPr lang="en-US" altLang="ko-KR" spc="-80" dirty="0"/>
              <a:t>’(36.8%) </a:t>
            </a:r>
            <a:r>
              <a:rPr lang="ko-KR" altLang="en-US" spc="-80" dirty="0"/>
              <a:t>구독하지 않는 것으로 나타남</a:t>
            </a:r>
            <a:endParaRPr lang="en-US" altLang="ko-KR" spc="-80" dirty="0"/>
          </a:p>
          <a:p>
            <a:r>
              <a:rPr lang="ko-KR" altLang="en-US" spc="-80" dirty="0"/>
              <a:t>다음으로 </a:t>
            </a:r>
            <a:r>
              <a:rPr lang="en-US" altLang="ko-KR" spc="-80" dirty="0"/>
              <a:t>‘</a:t>
            </a:r>
            <a:r>
              <a:rPr lang="ko-KR" altLang="en-US" spc="-80" dirty="0" err="1"/>
              <a:t>가볼래</a:t>
            </a:r>
            <a:r>
              <a:rPr lang="en-US" altLang="ko-KR" spc="-80" dirty="0"/>
              <a:t>-</a:t>
            </a:r>
            <a:r>
              <a:rPr lang="ko-KR" altLang="en-US" spc="-80" dirty="0"/>
              <a:t>터</a:t>
            </a:r>
            <a:r>
              <a:rPr lang="en-US" altLang="ko-KR" spc="-80" dirty="0"/>
              <a:t>’</a:t>
            </a:r>
            <a:r>
              <a:rPr lang="ko-KR" altLang="en-US" spc="-80" dirty="0"/>
              <a:t> 서비스를 제공하고 있는지 몰라서</a:t>
            </a:r>
            <a:r>
              <a:rPr lang="en-US" altLang="ko-KR" spc="-80" dirty="0"/>
              <a:t>’(35.1%), ‘</a:t>
            </a:r>
            <a:r>
              <a:rPr lang="ko-KR" altLang="en-US" spc="-80" dirty="0"/>
              <a:t>로그인하기 귀찮아서</a:t>
            </a:r>
            <a:r>
              <a:rPr lang="en-US" altLang="ko-KR" spc="-80" dirty="0"/>
              <a:t>‘(17.2%) </a:t>
            </a:r>
            <a:r>
              <a:rPr lang="ko-KR" altLang="en-US" spc="-80" dirty="0"/>
              <a:t>등의 이유로 조사됨</a:t>
            </a:r>
            <a:r>
              <a:rPr lang="en-US" altLang="ko-KR" spc="-80" dirty="0"/>
              <a:t/>
            </a:r>
            <a:br>
              <a:rPr lang="en-US" altLang="ko-KR" spc="-80" dirty="0"/>
            </a:br>
            <a:r>
              <a:rPr lang="en-US" altLang="ko-KR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 </a:t>
            </a:r>
            <a:r>
              <a:rPr lang="ko-KR" altLang="en-US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연령대가 높은 </a:t>
            </a:r>
            <a:r>
              <a:rPr lang="en-US" altLang="ko-KR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50</a:t>
            </a:r>
            <a:r>
              <a:rPr lang="ko-KR" altLang="en-US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60</a:t>
            </a:r>
            <a:r>
              <a:rPr lang="ko-KR" altLang="en-US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 이상에서 </a:t>
            </a:r>
            <a:r>
              <a:rPr lang="en-US" altLang="ko-KR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spc="-8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가볼래</a:t>
            </a:r>
            <a:r>
              <a:rPr lang="en-US" altLang="ko-KR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ko-KR" altLang="en-US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터</a:t>
            </a:r>
            <a:r>
              <a:rPr lang="en-US" altLang="ko-KR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 </a:t>
            </a:r>
            <a:r>
              <a:rPr lang="ko-KR" altLang="en-US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서비스를  몰라 구독하지 않는다는 비율이 </a:t>
            </a:r>
            <a:r>
              <a:rPr lang="en-US" altLang="ko-KR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40% </a:t>
            </a:r>
            <a:r>
              <a:rPr lang="ko-KR" altLang="en-US" sz="12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이상으로 높게 나타남</a:t>
            </a:r>
            <a:endParaRPr lang="en-US" altLang="ko-KR" spc="-80" dirty="0"/>
          </a:p>
        </p:txBody>
      </p:sp>
      <p:graphicFrame>
        <p:nvGraphicFramePr>
          <p:cNvPr id="12" name="내용 개체 틀 7">
            <a:extLst>
              <a:ext uri="{FF2B5EF4-FFF2-40B4-BE49-F238E27FC236}">
                <a16:creationId xmlns:a16="http://schemas.microsoft.com/office/drawing/2014/main" id="{C6E68285-C359-43E2-3899-0246E35A30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2864074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F36EA0EF-7942-0B06-E40F-35319E2D54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81000" y="2736290"/>
            <a:ext cx="535217" cy="393620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19E1A0E-1DF9-F124-3245-21F1F5E39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673970"/>
              </p:ext>
            </p:extLst>
          </p:nvPr>
        </p:nvGraphicFramePr>
        <p:xfrm>
          <a:off x="336061" y="3805200"/>
          <a:ext cx="9225461" cy="278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4277896288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2438521884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834640982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746666253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1930320881"/>
                    </a:ext>
                  </a:extLst>
                </a:gridCol>
                <a:gridCol w="988486">
                  <a:extLst>
                    <a:ext uri="{9D8B030D-6E8A-4147-A177-3AD203B41FA5}">
                      <a16:colId xmlns:a16="http://schemas.microsoft.com/office/drawing/2014/main" val="2781144691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어떤 서비스인지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몰라서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가볼래터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서비스를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1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제공하고 있는지 몰라서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로그인하기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귀찮아서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유료 서비스라고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생각해서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본인 인증하기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귀찮아서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여행지 추천 서비스가 필요하지 않아서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경품이 매력적이지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않아서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(2,913)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57.0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(969)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36.8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35.1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17.2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15.2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14.3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9.7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5.5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36.8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(411)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37.5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15.3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(558)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36.4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(2*)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(162)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37.7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(397)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35.0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(250)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18.4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(94)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44.7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36.2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43.8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43.8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7EC10B-6B92-89B7-7B00-62A833F952CA}"/>
              </a:ext>
            </a:extLst>
          </p:cNvPr>
          <p:cNvSpPr txBox="1"/>
          <p:nvPr/>
        </p:nvSpPr>
        <p:spPr>
          <a:xfrm>
            <a:off x="273000" y="2534239"/>
            <a:ext cx="1800275" cy="1323439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&amp;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가볼래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터 비구독자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(n=969,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r>
              <a:rPr lang="en-US" altLang="ko-KR" sz="3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 신규문항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어떤 서비스인지 몰라서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유료서비스라고 생각해서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3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7A58529-65D0-8BDC-ACBA-1DC29AE4F9A2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가볼래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-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터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비구독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이유</a:t>
            </a:r>
          </a:p>
        </p:txBody>
      </p:sp>
    </p:spTree>
    <p:extLst>
      <p:ext uri="{BB962C8B-B14F-4D97-AF65-F5344CB8AC3E}">
        <p14:creationId xmlns:p14="http://schemas.microsoft.com/office/powerpoint/2010/main" val="115843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253B-72FB-968E-D709-552E684DB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689D3053-F9E1-605A-F77B-2DE4FBE1ADED}"/>
              </a:ext>
            </a:extLst>
          </p:cNvPr>
          <p:cNvGrpSpPr/>
          <p:nvPr/>
        </p:nvGrpSpPr>
        <p:grpSpPr>
          <a:xfrm>
            <a:off x="449242" y="3263865"/>
            <a:ext cx="2009716" cy="1995019"/>
            <a:chOff x="2735242" y="3263865"/>
            <a:chExt cx="2009716" cy="1995019"/>
          </a:xfrm>
        </p:grpSpPr>
        <p:sp>
          <p:nvSpPr>
            <p:cNvPr id="53" name="부분 원형 52">
              <a:extLst>
                <a:ext uri="{FF2B5EF4-FFF2-40B4-BE49-F238E27FC236}">
                  <a16:creationId xmlns:a16="http://schemas.microsoft.com/office/drawing/2014/main" id="{25EE6F22-9686-D33E-BC23-2F9D8631E165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5345101"/>
                <a:gd name="adj2" fmla="val 6102858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137AA26F-B2B1-20D5-B70A-2E117E18261B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30E50819-03E8-7C87-F83C-81EBAAA13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836376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4E7F601A-B9A2-9A2A-FC20-57C533ACD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082337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(5,801)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E56A0A42-8C99-AB5A-BDDD-EF8A7220B18A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sp>
          <p:nvSpPr>
            <p:cNvPr id="39" name="부분 원형 38">
              <a:extLst>
                <a:ext uri="{FF2B5EF4-FFF2-40B4-BE49-F238E27FC236}">
                  <a16:creationId xmlns:a16="http://schemas.microsoft.com/office/drawing/2014/main" id="{CD3FF094-1FEB-35D8-17C8-C2F807B024E7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3426570"/>
                <a:gd name="adj2" fmla="val 8066632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205060D-B73C-6771-62B1-A762D8B9275F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099A6592-2E2D-5220-FFE5-986B8B279F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79304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359F9B2-F3B1-8425-09E0-D44675D49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275654"/>
              </p:ext>
            </p:extLst>
          </p:nvPr>
        </p:nvGraphicFramePr>
        <p:xfrm>
          <a:off x="5000928" y="2888042"/>
          <a:ext cx="4560584" cy="3709605"/>
        </p:xfrm>
        <a:graphic>
          <a:graphicData uri="http://schemas.openxmlformats.org/drawingml/2006/table">
            <a:tbl>
              <a:tblPr/>
              <a:tblGrid>
                <a:gridCol w="5700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(1,119)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(1,608)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(12*)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(440)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(1,065)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(749)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(295)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(166)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5A75959C-756F-8370-D1C5-977767F8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9999F0-6B23-530B-4145-EC43AF7DE49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4) [</a:t>
            </a:r>
            <a:r>
              <a:rPr lang="ko-KR" altLang="en-US" dirty="0"/>
              <a:t>여행상품</a:t>
            </a:r>
            <a:r>
              <a:rPr lang="en-US" altLang="ko-KR" dirty="0"/>
              <a:t>]</a:t>
            </a:r>
            <a:r>
              <a:rPr lang="ko-KR" altLang="en-US" dirty="0"/>
              <a:t> 인지 여부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AE39CC-B9FD-08F8-61C6-2C958E2DF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‘</a:t>
            </a:r>
            <a:r>
              <a:rPr lang="ko-KR" altLang="en-US" dirty="0"/>
              <a:t>여행상품</a:t>
            </a:r>
            <a:r>
              <a:rPr lang="en-US" altLang="ko-KR" dirty="0"/>
              <a:t>’ </a:t>
            </a:r>
            <a:r>
              <a:rPr lang="ko-KR" altLang="en-US" dirty="0"/>
              <a:t>서비스 인지율은 </a:t>
            </a:r>
            <a:r>
              <a:rPr lang="en-US" altLang="ko-KR" dirty="0"/>
              <a:t>74.8%</a:t>
            </a:r>
            <a:r>
              <a:rPr lang="ko-KR" altLang="en-US" dirty="0"/>
              <a:t>이며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(57.4%) </a:t>
            </a:r>
            <a:r>
              <a:rPr lang="ko-KR" altLang="en-US" dirty="0"/>
              <a:t>대비 </a:t>
            </a:r>
            <a:r>
              <a:rPr lang="en-US" altLang="ko-KR" dirty="0"/>
              <a:t>17.4%p </a:t>
            </a:r>
            <a:r>
              <a:rPr lang="ko-KR" altLang="en-US" dirty="0"/>
              <a:t>대폭 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남성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(75.8%),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(80.3%)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여행상품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서비스 인지율이 높게 나타남</a:t>
            </a: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FBAF8478-4F06-C589-7231-6074CBCFE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390473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</a:br>
            <a:r>
              <a:rPr lang="en-US" altLang="ko-KR" spc="-50" dirty="0">
                <a:latin typeface="+mj-ea"/>
                <a:ea typeface="+mj-ea"/>
              </a:rPr>
              <a:t>*(n</a:t>
            </a:r>
            <a:r>
              <a:rPr lang="ko-KR" altLang="en-US" spc="-50" dirty="0">
                <a:latin typeface="+mj-ea"/>
                <a:ea typeface="+mj-ea"/>
              </a:rPr>
              <a:t>≤</a:t>
            </a:r>
            <a:r>
              <a:rPr lang="en-US" altLang="ko-KR" spc="-50" dirty="0">
                <a:latin typeface="+mj-ea"/>
                <a:ea typeface="+mj-ea"/>
              </a:rPr>
              <a:t>30</a:t>
            </a:r>
            <a:r>
              <a:rPr lang="ko-KR" altLang="en-US" spc="-50" dirty="0">
                <a:latin typeface="+mj-ea"/>
                <a:ea typeface="+mj-ea"/>
              </a:rPr>
              <a:t>는 해석에 유의</a:t>
            </a:r>
            <a:r>
              <a:rPr lang="en-US" altLang="ko-KR" spc="-50" dirty="0"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6" name="세로챠트-일반">
            <a:extLst>
              <a:ext uri="{FF2B5EF4-FFF2-40B4-BE49-F238E27FC236}">
                <a16:creationId xmlns:a16="http://schemas.microsoft.com/office/drawing/2014/main" id="{9D9AA245-9366-9032-8C6A-A19F1919AE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4320830"/>
              </p:ext>
            </p:extLst>
          </p:nvPr>
        </p:nvGraphicFramePr>
        <p:xfrm>
          <a:off x="4953000" y="2384169"/>
          <a:ext cx="4621314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818E19-D206-B07D-58A1-538ED234BE1B}"/>
              </a:ext>
            </a:extLst>
          </p:cNvPr>
          <p:cNvSpPr/>
          <p:nvPr/>
        </p:nvSpPr>
        <p:spPr>
          <a:xfrm>
            <a:off x="344494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비인지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인지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5547C1-96FE-ADB7-EA8A-A65E97F389D7}"/>
              </a:ext>
            </a:extLst>
          </p:cNvPr>
          <p:cNvSpPr/>
          <p:nvPr/>
        </p:nvSpPr>
        <p:spPr>
          <a:xfrm>
            <a:off x="2673341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비인지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인지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70D35E6-0188-A9AE-3468-F63554B9CA32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여행상품 인지율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+17.4%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D1BEBA4-376F-9D1B-4E67-439B4884E9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98527" y="4437000"/>
            <a:ext cx="383437" cy="3936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DF71E7-C50F-C989-B58C-64C226BBA6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481000" y="4349224"/>
            <a:ext cx="38343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31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65C91-3878-929B-868E-EF8569CD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0AABAC3E-C7DC-724B-7571-5207EEF2E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223778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(3,330)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(2,040)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1D8639DA-69C8-E0A8-80C8-523CCB1006BB}"/>
              </a:ext>
            </a:extLst>
          </p:cNvPr>
          <p:cNvGrpSpPr/>
          <p:nvPr/>
        </p:nvGrpSpPr>
        <p:grpSpPr>
          <a:xfrm>
            <a:off x="449242" y="3263865"/>
            <a:ext cx="2009716" cy="1995019"/>
            <a:chOff x="2735242" y="3263865"/>
            <a:chExt cx="2009716" cy="1995019"/>
          </a:xfrm>
        </p:grpSpPr>
        <p:sp>
          <p:nvSpPr>
            <p:cNvPr id="53" name="부분 원형 52">
              <a:extLst>
                <a:ext uri="{FF2B5EF4-FFF2-40B4-BE49-F238E27FC236}">
                  <a16:creationId xmlns:a16="http://schemas.microsoft.com/office/drawing/2014/main" id="{01063901-94C4-C784-F520-BCDD77EA2456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5177693"/>
                <a:gd name="adj2" fmla="val 6710604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23906FB-424F-5C15-7C7C-489332FBE4D4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D4261144-7B65-E857-243C-413BB5FE1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0528736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FD941D30-FFCC-3EB8-3265-632039DFB57C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sp>
          <p:nvSpPr>
            <p:cNvPr id="39" name="부분 원형 38">
              <a:extLst>
                <a:ext uri="{FF2B5EF4-FFF2-40B4-BE49-F238E27FC236}">
                  <a16:creationId xmlns:a16="http://schemas.microsoft.com/office/drawing/2014/main" id="{ED9C4F25-966E-D610-298A-6C1845D3ECDD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4972567"/>
                <a:gd name="adj2" fmla="val 6769997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62B4843-44F9-560F-1D93-CA512E17A951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A41113BA-D8CA-431E-1BC4-F9DEC89DAE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1384143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DE91CBB-8BB5-2258-5485-E374B55CA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26173"/>
              </p:ext>
            </p:extLst>
          </p:nvPr>
        </p:nvGraphicFramePr>
        <p:xfrm>
          <a:off x="5000928" y="2888042"/>
          <a:ext cx="4560584" cy="3709605"/>
        </p:xfrm>
        <a:graphic>
          <a:graphicData uri="http://schemas.openxmlformats.org/drawingml/2006/table">
            <a:tbl>
              <a:tblPr/>
              <a:tblGrid>
                <a:gridCol w="5700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(848)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(1,192)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(10*)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(304)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(779)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(592)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(237)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(118)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E29F075B-1A3F-84E4-582C-E36A089A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8A55F7-C64E-90E5-41BD-E3B6C8C37974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5) [</a:t>
            </a:r>
            <a:r>
              <a:rPr lang="ko-KR" altLang="en-US" dirty="0"/>
              <a:t>여행상품</a:t>
            </a:r>
            <a:r>
              <a:rPr lang="en-US" altLang="ko-KR" dirty="0"/>
              <a:t>]</a:t>
            </a:r>
            <a:r>
              <a:rPr lang="ko-KR" altLang="en-US" dirty="0"/>
              <a:t> 경험 여부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D83C7C-EE2C-78C6-CC7F-62C1B7759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‘</a:t>
            </a:r>
            <a:r>
              <a:rPr lang="ko-KR" altLang="en-US" dirty="0"/>
              <a:t>여행상품</a:t>
            </a:r>
            <a:r>
              <a:rPr lang="en-US" altLang="ko-KR" dirty="0"/>
              <a:t>’ </a:t>
            </a:r>
            <a:r>
              <a:rPr lang="ko-KR" altLang="en-US" dirty="0"/>
              <a:t>서비스 인지자</a:t>
            </a:r>
            <a:r>
              <a:rPr lang="en-US" altLang="ko-KR" dirty="0"/>
              <a:t> </a:t>
            </a:r>
            <a:r>
              <a:rPr lang="ko-KR" altLang="en-US" dirty="0"/>
              <a:t>중 서비스 이용 </a:t>
            </a:r>
            <a:r>
              <a:rPr lang="en-US" altLang="ko-KR" dirty="0"/>
              <a:t>‘</a:t>
            </a:r>
            <a:r>
              <a:rPr lang="ko-KR" altLang="en-US" dirty="0"/>
              <a:t>경험이 있는</a:t>
            </a:r>
            <a:r>
              <a:rPr lang="en-US" altLang="ko-KR" dirty="0"/>
              <a:t>’ </a:t>
            </a:r>
            <a:r>
              <a:rPr lang="ko-KR" altLang="en-US" dirty="0"/>
              <a:t>비율은 </a:t>
            </a:r>
            <a:r>
              <a:rPr lang="en-US" altLang="ko-KR" dirty="0"/>
              <a:t>61.9%</a:t>
            </a:r>
            <a:r>
              <a:rPr lang="ko-KR" altLang="en-US" dirty="0"/>
              <a:t>이며</a:t>
            </a:r>
            <a:r>
              <a:rPr lang="en-US" altLang="ko-KR" dirty="0"/>
              <a:t>, ‘</a:t>
            </a:r>
            <a:r>
              <a:rPr lang="ko-KR" altLang="en-US" dirty="0"/>
              <a:t>경험이 없는</a:t>
            </a:r>
            <a:r>
              <a:rPr lang="en-US" altLang="ko-KR" dirty="0"/>
              <a:t>’ </a:t>
            </a:r>
            <a:r>
              <a:rPr lang="ko-KR" altLang="en-US" dirty="0"/>
              <a:t>비율은 </a:t>
            </a:r>
            <a:r>
              <a:rPr lang="en-US" altLang="ko-KR" dirty="0"/>
              <a:t>38.1%</a:t>
            </a:r>
            <a:r>
              <a:rPr lang="ko-KR" altLang="en-US" dirty="0"/>
              <a:t>로 조사됨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남성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(64.7%),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(69.5%)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여행상품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서비스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경험률이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높게 나타남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06FD91F1-87D2-B2E3-B980-509F43807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894473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&amp;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여행상품 인지자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(n=2,040),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</a:br>
            <a:r>
              <a:rPr lang="en-US" altLang="ko-KR" spc="-50" dirty="0">
                <a:latin typeface="+mj-ea"/>
                <a:ea typeface="+mj-ea"/>
              </a:rPr>
              <a:t>*(n</a:t>
            </a:r>
            <a:r>
              <a:rPr lang="ko-KR" altLang="en-US" spc="-50" dirty="0">
                <a:latin typeface="+mj-ea"/>
                <a:ea typeface="+mj-ea"/>
              </a:rPr>
              <a:t>≤</a:t>
            </a:r>
            <a:r>
              <a:rPr lang="en-US" altLang="ko-KR" spc="-50" dirty="0">
                <a:latin typeface="+mj-ea"/>
                <a:ea typeface="+mj-ea"/>
              </a:rPr>
              <a:t>30</a:t>
            </a:r>
            <a:r>
              <a:rPr lang="ko-KR" altLang="en-US" spc="-50" dirty="0">
                <a:latin typeface="+mj-ea"/>
                <a:ea typeface="+mj-ea"/>
              </a:rPr>
              <a:t>는 해석에 유의</a:t>
            </a:r>
            <a:r>
              <a:rPr lang="en-US" altLang="ko-KR" spc="-50" dirty="0"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6" name="세로챠트-일반">
            <a:extLst>
              <a:ext uri="{FF2B5EF4-FFF2-40B4-BE49-F238E27FC236}">
                <a16:creationId xmlns:a16="http://schemas.microsoft.com/office/drawing/2014/main" id="{DDA29EFC-7A26-62C0-CF00-8C3DBF0F0B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0501962"/>
              </p:ext>
            </p:extLst>
          </p:nvPr>
        </p:nvGraphicFramePr>
        <p:xfrm>
          <a:off x="4953000" y="2384169"/>
          <a:ext cx="4621314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AF7C027E-48B0-209B-8CD3-C8E0EBC0574F}"/>
              </a:ext>
            </a:extLst>
          </p:cNvPr>
          <p:cNvSpPr/>
          <p:nvPr/>
        </p:nvSpPr>
        <p:spPr>
          <a:xfrm>
            <a:off x="344494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없음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AA3033-0FD5-6E50-77B2-01559932663F}"/>
              </a:ext>
            </a:extLst>
          </p:cNvPr>
          <p:cNvSpPr/>
          <p:nvPr/>
        </p:nvSpPr>
        <p:spPr>
          <a:xfrm>
            <a:off x="2673341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있음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980732A-D203-490E-4231-0F7DDF6DBD63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여행상품 </a:t>
            </a:r>
            <a:r>
              <a:rPr lang="ko-KR" altLang="en-US" sz="10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경험률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+0.9%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26412EE-A16D-FC51-F30E-20817DC489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72316" y="4581000"/>
            <a:ext cx="383437" cy="3936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D30B281-55FF-8BE1-51E8-12CEFA334B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032638" y="4519005"/>
            <a:ext cx="38343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489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C0BD0-78D1-A12C-45AA-0473C983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473A2CB8-7158-5BAD-E0E0-7CEED0A28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368091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(2,030)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(1,262)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5977B9E0-C505-FF9D-5188-D5D92E60A11B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80294CC-A703-5DE9-C215-5F54FFE298A5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15" name="부분 원형 14">
                <a:extLst>
                  <a:ext uri="{FF2B5EF4-FFF2-40B4-BE49-F238E27FC236}">
                    <a16:creationId xmlns:a16="http://schemas.microsoft.com/office/drawing/2014/main" id="{B401E721-6B82-4080-B0B4-3404C00A1871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36903"/>
                  <a:gd name="adj2" fmla="val 11086560"/>
                </a:avLst>
              </a:prstGeom>
              <a:solidFill>
                <a:srgbClr val="DFF1FB"/>
              </a:solidFill>
              <a:ln w="3175" cap="flat" cmpd="sng" algn="ctr">
                <a:solidFill>
                  <a:srgbClr val="2E8ED5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6" name="부분 원형 15">
                <a:extLst>
                  <a:ext uri="{FF2B5EF4-FFF2-40B4-BE49-F238E27FC236}">
                    <a16:creationId xmlns:a16="http://schemas.microsoft.com/office/drawing/2014/main" id="{6FB78196-2491-C875-2D40-0F6B4451FFC0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656230"/>
                  <a:gd name="adj2" fmla="val 13031211"/>
                </a:avLst>
              </a:prstGeom>
              <a:solidFill>
                <a:srgbClr val="F8EFF2"/>
              </a:solidFill>
              <a:ln w="3175" cap="flat" cmpd="sng" algn="ctr">
                <a:solidFill>
                  <a:srgbClr val="A55477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C0AE40F-5D35-E9C2-2436-CB042177D9F7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04ED8032-CF26-786B-85AD-16ABCE197E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540753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05927E22-CC60-99ED-951E-AA59CB105DF6}"/>
              </a:ext>
            </a:extLst>
          </p:cNvPr>
          <p:cNvGrpSpPr/>
          <p:nvPr/>
        </p:nvGrpSpPr>
        <p:grpSpPr>
          <a:xfrm>
            <a:off x="449242" y="3263865"/>
            <a:ext cx="2009716" cy="1995019"/>
            <a:chOff x="2735242" y="3263865"/>
            <a:chExt cx="2009716" cy="199501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DE4B678-DC55-CEE1-C692-6748C8D93B93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22" name="부분 원형 21">
                <a:extLst>
                  <a:ext uri="{FF2B5EF4-FFF2-40B4-BE49-F238E27FC236}">
                    <a16:creationId xmlns:a16="http://schemas.microsoft.com/office/drawing/2014/main" id="{8477ACA7-90B2-8CE9-611E-B1AEC2DF91C3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60190"/>
                  <a:gd name="adj2" fmla="val 10581074"/>
                </a:avLst>
              </a:prstGeom>
              <a:solidFill>
                <a:schemeClr val="tx1">
                  <a:lumMod val="95000"/>
                  <a:lumOff val="5000"/>
                  <a:alpha val="20000"/>
                </a:schemeClr>
              </a:solidFill>
              <a:ln w="3175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3" name="부분 원형 22">
                <a:extLst>
                  <a:ext uri="{FF2B5EF4-FFF2-40B4-BE49-F238E27FC236}">
                    <a16:creationId xmlns:a16="http://schemas.microsoft.com/office/drawing/2014/main" id="{624F4625-6A80-2E27-895C-ED5D0D8B1AC9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776411"/>
                  <a:gd name="adj2" fmla="val 13049581"/>
                </a:avLst>
              </a:prstGeom>
              <a:solidFill>
                <a:schemeClr val="bg1">
                  <a:lumMod val="50000"/>
                  <a:alpha val="14000"/>
                </a:schemeClr>
              </a:solidFill>
              <a:ln w="3175" cap="flat" cmpd="sng" algn="ctr">
                <a:solidFill>
                  <a:schemeClr val="bg1">
                    <a:lumMod val="50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6DF7DED-2F3D-0AFE-C269-4365397F3196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24" name="차트 23">
            <a:extLst>
              <a:ext uri="{FF2B5EF4-FFF2-40B4-BE49-F238E27FC236}">
                <a16:creationId xmlns:a16="http://schemas.microsoft.com/office/drawing/2014/main" id="{B9C3DFBA-2917-1863-35D3-DC28EE7466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7616386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B2BF167D-52CC-DA11-25F9-16C68FF0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715E35-1107-80CA-CFF7-8FBDE11F7B99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6) [</a:t>
            </a:r>
            <a:r>
              <a:rPr lang="ko-KR" altLang="en-US" dirty="0"/>
              <a:t>여행상품</a:t>
            </a:r>
            <a:r>
              <a:rPr lang="en-US" altLang="ko-KR" dirty="0"/>
              <a:t>]</a:t>
            </a:r>
            <a:r>
              <a:rPr lang="ko-KR" altLang="en-US" dirty="0"/>
              <a:t> 전반적 만족도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E13A02-545A-F27E-9FF2-BCC226EB8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‘</a:t>
            </a:r>
            <a:r>
              <a:rPr lang="ko-KR" altLang="en-US" dirty="0"/>
              <a:t>여행상품</a:t>
            </a:r>
            <a:r>
              <a:rPr lang="en-US" altLang="ko-KR" dirty="0"/>
              <a:t>’</a:t>
            </a:r>
            <a:r>
              <a:rPr lang="ko-KR" altLang="en-US" dirty="0"/>
              <a:t> 서비스의</a:t>
            </a:r>
            <a:r>
              <a:rPr lang="en-US" altLang="ko-KR" dirty="0"/>
              <a:t> </a:t>
            </a:r>
            <a:r>
              <a:rPr lang="ko-KR" altLang="en-US" dirty="0"/>
              <a:t>전반적 만족도는 </a:t>
            </a:r>
            <a:r>
              <a:rPr lang="en-US" altLang="ko-KR" dirty="0"/>
              <a:t>84.8</a:t>
            </a:r>
            <a:r>
              <a:rPr lang="ko-KR" altLang="en-US" dirty="0"/>
              <a:t>점으로 높은 수준이며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(83.9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r>
              <a:rPr lang="ko-KR" altLang="en-US" dirty="0"/>
              <a:t> 대비 </a:t>
            </a:r>
            <a:r>
              <a:rPr lang="en-US" altLang="ko-KR" dirty="0"/>
              <a:t>0.9</a:t>
            </a:r>
            <a:r>
              <a:rPr lang="ko-KR" altLang="en-US" dirty="0"/>
              <a:t>점 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여성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(85.8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(85.9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여행상품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서비스에 대한 전반적 만족도가 높게 나타남</a:t>
            </a: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BA7C9F24-E9DE-A81C-A9B5-0E3E65DD8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894473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&amp;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여행상품 경험자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(n=1,262),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]</a:t>
            </a:r>
          </a:p>
          <a:p>
            <a:pPr algn="l"/>
            <a:r>
              <a:rPr lang="en-US" altLang="ko-KR" spc="-50" dirty="0">
                <a:latin typeface="+mj-ea"/>
                <a:ea typeface="+mj-ea"/>
              </a:rPr>
              <a:t>*(n</a:t>
            </a:r>
            <a:r>
              <a:rPr lang="ko-KR" altLang="en-US" spc="-50" dirty="0">
                <a:latin typeface="+mj-ea"/>
                <a:ea typeface="+mj-ea"/>
              </a:rPr>
              <a:t>≤</a:t>
            </a:r>
            <a:r>
              <a:rPr lang="en-US" altLang="ko-KR" spc="-50" dirty="0">
                <a:latin typeface="+mj-ea"/>
                <a:ea typeface="+mj-ea"/>
              </a:rPr>
              <a:t>30</a:t>
            </a:r>
            <a:r>
              <a:rPr lang="ko-KR" altLang="en-US" spc="-50" dirty="0">
                <a:latin typeface="+mj-ea"/>
                <a:ea typeface="+mj-ea"/>
              </a:rPr>
              <a:t>는 해석에 유의</a:t>
            </a:r>
            <a:r>
              <a:rPr lang="en-US" altLang="ko-KR" spc="-50" dirty="0">
                <a:latin typeface="+mj-ea"/>
                <a:ea typeface="+mj-ea"/>
              </a:rPr>
              <a:t>)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7230094-075F-421C-E58A-F0A71FA890DF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100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점 평균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+0.9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점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4B769D-07AA-658F-7556-2EC6D6128434}"/>
              </a:ext>
            </a:extLst>
          </p:cNvPr>
          <p:cNvSpPr/>
          <p:nvPr/>
        </p:nvSpPr>
        <p:spPr>
          <a:xfrm>
            <a:off x="2676790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8D8274D-1CF5-1B16-B157-3C344D809EF6}"/>
              </a:ext>
            </a:extLst>
          </p:cNvPr>
          <p:cNvSpPr/>
          <p:nvPr/>
        </p:nvSpPr>
        <p:spPr>
          <a:xfrm>
            <a:off x="344495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9BD7BE7-30A5-2454-886D-04689B0D7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073026"/>
              </p:ext>
            </p:extLst>
          </p:nvPr>
        </p:nvGraphicFramePr>
        <p:xfrm>
          <a:off x="5000929" y="2888042"/>
          <a:ext cx="4560584" cy="3709605"/>
        </p:xfrm>
        <a:graphic>
          <a:graphicData uri="http://schemas.openxmlformats.org/drawingml/2006/table">
            <a:tbl>
              <a:tblPr/>
              <a:tblGrid>
                <a:gridCol w="5700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00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(549)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(713)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(6*)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(196)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(488)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(346)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(144)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(82)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세로챠트-일반">
            <a:extLst>
              <a:ext uri="{FF2B5EF4-FFF2-40B4-BE49-F238E27FC236}">
                <a16:creationId xmlns:a16="http://schemas.microsoft.com/office/drawing/2014/main" id="{EAB87062-68EC-74EF-A013-F139EA885F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9779734"/>
              </p:ext>
            </p:extLst>
          </p:nvPr>
        </p:nvGraphicFramePr>
        <p:xfrm>
          <a:off x="4953000" y="2384169"/>
          <a:ext cx="4674972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Text Box 168">
            <a:extLst>
              <a:ext uri="{FF2B5EF4-FFF2-40B4-BE49-F238E27FC236}">
                <a16:creationId xmlns:a16="http://schemas.microsoft.com/office/drawing/2014/main" id="{81C16C6D-5885-5835-A5D9-E45F1E15A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019" y="2437213"/>
            <a:ext cx="505020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점 </a:t>
            </a:r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환산 평균</a:t>
            </a:r>
            <a:endParaRPr lang="en-US" altLang="ko-KR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D4A54F9-50DD-11D5-6884-DF8DF01B2385}"/>
              </a:ext>
            </a:extLst>
          </p:cNvPr>
          <p:cNvGrpSpPr/>
          <p:nvPr/>
        </p:nvGrpSpPr>
        <p:grpSpPr>
          <a:xfrm>
            <a:off x="5000931" y="2875080"/>
            <a:ext cx="4560584" cy="193920"/>
            <a:chOff x="5000931" y="2875080"/>
            <a:chExt cx="4560584" cy="19392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56529D4E-7B16-68C6-44B8-9A82BC31138C}"/>
                </a:ext>
              </a:extLst>
            </p:cNvPr>
            <p:cNvSpPr/>
            <p:nvPr/>
          </p:nvSpPr>
          <p:spPr bwMode="auto">
            <a:xfrm>
              <a:off x="5118346" y="2875080"/>
              <a:ext cx="323850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411BFF0F-4024-2040-0527-675D9126A402}"/>
                </a:ext>
              </a:extLst>
            </p:cNvPr>
            <p:cNvSpPr/>
            <p:nvPr/>
          </p:nvSpPr>
          <p:spPr bwMode="auto">
            <a:xfrm>
              <a:off x="5692199" y="2875080"/>
              <a:ext cx="323850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71E6F0BB-09F3-5B41-1D46-C958ECA76EAF}"/>
                </a:ext>
              </a:extLst>
            </p:cNvPr>
            <p:cNvSpPr/>
            <p:nvPr/>
          </p:nvSpPr>
          <p:spPr bwMode="auto">
            <a:xfrm>
              <a:off x="6266052" y="2875080"/>
              <a:ext cx="323850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3EAAEC5A-5F43-264C-749B-0D90956B0970}"/>
                </a:ext>
              </a:extLst>
            </p:cNvPr>
            <p:cNvSpPr/>
            <p:nvPr/>
          </p:nvSpPr>
          <p:spPr bwMode="auto">
            <a:xfrm>
              <a:off x="6839905" y="2875080"/>
              <a:ext cx="323850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CE6F9BE8-4114-5F68-7DDB-639BE92ADDE7}"/>
                </a:ext>
              </a:extLst>
            </p:cNvPr>
            <p:cNvSpPr/>
            <p:nvPr/>
          </p:nvSpPr>
          <p:spPr bwMode="auto">
            <a:xfrm>
              <a:off x="7413758" y="2875080"/>
              <a:ext cx="323850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B97A58C8-3E75-343C-8C47-AE2F368C4E90}"/>
                </a:ext>
              </a:extLst>
            </p:cNvPr>
            <p:cNvSpPr/>
            <p:nvPr/>
          </p:nvSpPr>
          <p:spPr bwMode="auto">
            <a:xfrm>
              <a:off x="9135316" y="2875080"/>
              <a:ext cx="323850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AF11CB04-6827-557A-FC9A-6724FF6B4DEA}"/>
                </a:ext>
              </a:extLst>
            </p:cNvPr>
            <p:cNvSpPr/>
            <p:nvPr/>
          </p:nvSpPr>
          <p:spPr bwMode="auto">
            <a:xfrm>
              <a:off x="8561464" y="2875080"/>
              <a:ext cx="323850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5173E69D-23EB-0A74-4EA1-723AC3EA51BE}"/>
                </a:ext>
              </a:extLst>
            </p:cNvPr>
            <p:cNvSpPr/>
            <p:nvPr/>
          </p:nvSpPr>
          <p:spPr bwMode="auto">
            <a:xfrm>
              <a:off x="7987611" y="2875080"/>
              <a:ext cx="323850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33" name="Group 3">
              <a:extLst>
                <a:ext uri="{FF2B5EF4-FFF2-40B4-BE49-F238E27FC236}">
                  <a16:creationId xmlns:a16="http://schemas.microsoft.com/office/drawing/2014/main" id="{DF7656A6-9151-499E-F65D-A587057E537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91385821"/>
                </p:ext>
              </p:extLst>
            </p:nvPr>
          </p:nvGraphicFramePr>
          <p:xfrm>
            <a:off x="5000931" y="2888043"/>
            <a:ext cx="4560584" cy="180957"/>
          </p:xfrm>
          <a:graphic>
            <a:graphicData uri="http://schemas.openxmlformats.org/drawingml/2006/table">
              <a:tbl>
                <a:tblPr/>
                <a:tblGrid>
                  <a:gridCol w="57007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70073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570073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57007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70073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570073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570073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570073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83.5</a:t>
                        </a:r>
                      </a:p>
                    </a:txBody>
                    <a:tcPr marL="7620" marR="7620" marT="7620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85.8</a:t>
                        </a:r>
                      </a:p>
                    </a:txBody>
                    <a:tcPr marL="7620" marR="7620" marT="7620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97.2</a:t>
                        </a:r>
                      </a:p>
                    </a:txBody>
                    <a:tcPr marL="7620" marR="7620" marT="762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85.0</a:t>
                        </a:r>
                      </a:p>
                    </a:txBody>
                    <a:tcPr marL="7620" marR="7620" marT="762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85.9</a:t>
                        </a:r>
                      </a:p>
                    </a:txBody>
                    <a:tcPr marL="7620" marR="7620" marT="762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83.2</a:t>
                        </a:r>
                      </a:p>
                    </a:txBody>
                    <a:tcPr marL="7620" marR="7620" marT="762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83.3</a:t>
                        </a:r>
                      </a:p>
                    </a:txBody>
                    <a:tcPr marL="7620" marR="7620" marT="762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86.0</a:t>
                        </a:r>
                      </a:p>
                    </a:txBody>
                    <a:tcPr marL="7620" marR="7620" marT="762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61" name="그림 60">
            <a:extLst>
              <a:ext uri="{FF2B5EF4-FFF2-40B4-BE49-F238E27FC236}">
                <a16:creationId xmlns:a16="http://schemas.microsoft.com/office/drawing/2014/main" id="{BC76C98B-FB94-1301-3F2C-748DDCA20B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374571" y="2781711"/>
            <a:ext cx="383437" cy="393620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0AFE4D47-7E4B-B4E3-FD47-6319B05B32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62405" y="2781711"/>
            <a:ext cx="38343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87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F92D3-0949-B54D-A030-420B1B7E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3BEFB71B-62CC-C8C9-43AC-78D4DE0422E8}"/>
              </a:ext>
            </a:extLst>
          </p:cNvPr>
          <p:cNvGraphicFramePr>
            <a:graphicFrameLocks noGrp="1"/>
          </p:cNvGraphicFramePr>
          <p:nvPr/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47663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(5,801)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52A2721D-B6DE-AD81-6804-BE65D2260588}"/>
              </a:ext>
            </a:extLst>
          </p:cNvPr>
          <p:cNvGrpSpPr/>
          <p:nvPr/>
        </p:nvGrpSpPr>
        <p:grpSpPr>
          <a:xfrm>
            <a:off x="449242" y="3263865"/>
            <a:ext cx="2009716" cy="1995019"/>
            <a:chOff x="2735242" y="3263865"/>
            <a:chExt cx="2009716" cy="1995019"/>
          </a:xfrm>
        </p:grpSpPr>
        <p:sp>
          <p:nvSpPr>
            <p:cNvPr id="53" name="부분 원형 52">
              <a:extLst>
                <a:ext uri="{FF2B5EF4-FFF2-40B4-BE49-F238E27FC236}">
                  <a16:creationId xmlns:a16="http://schemas.microsoft.com/office/drawing/2014/main" id="{94184C2F-D8F1-38D5-0411-4346EBE93C1E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6227725"/>
                <a:gd name="adj2" fmla="val 5319685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5A8B038-0D59-ACAA-3FA4-970E5DF64629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6" name="차트 35">
            <a:extLst>
              <a:ext uri="{FF2B5EF4-FFF2-40B4-BE49-F238E27FC236}">
                <a16:creationId xmlns:a16="http://schemas.microsoft.com/office/drawing/2014/main" id="{1670D8F8-6B34-BB3F-014D-34788B559E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9748955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8AD323-AFEF-4D42-491E-F4DADD79CFB2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sp>
          <p:nvSpPr>
            <p:cNvPr id="39" name="부분 원형 38">
              <a:extLst>
                <a:ext uri="{FF2B5EF4-FFF2-40B4-BE49-F238E27FC236}">
                  <a16:creationId xmlns:a16="http://schemas.microsoft.com/office/drawing/2014/main" id="{24C84723-46F7-6EE7-4D18-FCDAD6858F7D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4653759"/>
                <a:gd name="adj2" fmla="val 6999256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DE0627C-97EA-E804-84AF-B0958592A679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A9499F82-DBA0-BDE9-627C-D79DAADFFE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32782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37E989-0574-519E-E7A9-5E646AF52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861780"/>
              </p:ext>
            </p:extLst>
          </p:nvPr>
        </p:nvGraphicFramePr>
        <p:xfrm>
          <a:off x="7800550" y="2887395"/>
          <a:ext cx="1789109" cy="3709605"/>
        </p:xfrm>
        <a:graphic>
          <a:graphicData uri="http://schemas.openxmlformats.org/drawingml/2006/table">
            <a:tbl>
              <a:tblPr/>
              <a:tblGrid>
                <a:gridCol w="1789109">
                  <a:extLst>
                    <a:ext uri="{9D8B030D-6E8A-4147-A177-3AD203B41FA5}">
                      <a16:colId xmlns:a16="http://schemas.microsoft.com/office/drawing/2014/main" val="4009110308"/>
                    </a:ext>
                  </a:extLst>
                </a:gridCol>
              </a:tblGrid>
              <a:tr h="349278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3258519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여행콕콕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예시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977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F49F4B3-2C9E-E4F9-1065-9CA3C5C0A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895364"/>
              </p:ext>
            </p:extLst>
          </p:nvPr>
        </p:nvGraphicFramePr>
        <p:xfrm>
          <a:off x="4967940" y="2888042"/>
          <a:ext cx="2804464" cy="3709605"/>
        </p:xfrm>
        <a:graphic>
          <a:graphicData uri="http://schemas.openxmlformats.org/drawingml/2006/table">
            <a:tbl>
              <a:tblPr/>
              <a:tblGrid>
                <a:gridCol w="3505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05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(1,119)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(1,608)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(12*)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(440)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(1,065)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(749)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(295)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(166)</a:t>
                      </a:r>
                    </a:p>
                  </a:txBody>
                  <a:tcPr marL="9525" marR="9525" marT="9525" marB="0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BD1761AE-729D-6D34-5600-597CDFA0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2324B7-9CD0-0C37-85CC-90AE8F796DB4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7) [</a:t>
            </a:r>
            <a:r>
              <a:rPr lang="ko-KR" altLang="en-US" dirty="0" err="1"/>
              <a:t>여행콕콕</a:t>
            </a:r>
            <a:r>
              <a:rPr lang="en-US" altLang="ko-KR" dirty="0"/>
              <a:t>]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콕콕</a:t>
            </a:r>
            <a:r>
              <a:rPr lang="en-US" altLang="ko-KR" dirty="0"/>
              <a:t>/AI</a:t>
            </a:r>
            <a:r>
              <a:rPr lang="ko-KR" altLang="en-US" dirty="0"/>
              <a:t>콕콕 </a:t>
            </a:r>
            <a:r>
              <a:rPr lang="ko-KR" altLang="en-US" dirty="0" err="1"/>
              <a:t>플래너</a:t>
            </a:r>
            <a:r>
              <a:rPr lang="ko-KR" altLang="en-US" dirty="0"/>
              <a:t> 인지여부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9AE9DC-D84D-C300-FA3E-DF76A9A4D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‘</a:t>
            </a:r>
            <a:r>
              <a:rPr lang="ko-KR" altLang="en-US" dirty="0" err="1"/>
              <a:t>여행콕콕</a:t>
            </a:r>
            <a:r>
              <a:rPr lang="en-US" altLang="ko-KR" dirty="0"/>
              <a:t>’ </a:t>
            </a:r>
            <a:r>
              <a:rPr lang="ko-KR" altLang="en-US" dirty="0"/>
              <a:t>서비스 인지율은 </a:t>
            </a:r>
            <a:r>
              <a:rPr lang="en-US" altLang="ko-KR" dirty="0"/>
              <a:t>71.5%</a:t>
            </a:r>
            <a:r>
              <a:rPr lang="ko-KR" altLang="en-US" dirty="0"/>
              <a:t>이며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(64.6%) </a:t>
            </a:r>
            <a:r>
              <a:rPr lang="ko-KR" altLang="en-US" dirty="0"/>
              <a:t>대비 </a:t>
            </a:r>
            <a:r>
              <a:rPr lang="en-US" altLang="ko-KR" dirty="0"/>
              <a:t>6.9%p </a:t>
            </a:r>
            <a:r>
              <a:rPr lang="ko-KR" altLang="en-US" dirty="0"/>
              <a:t>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남성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(74.4%),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연령별로는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대를 제외하고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(76.9%)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여행콕콕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서비스 인지율이 높게 나타남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5D18B67D-1E82-74C1-B804-8DD2F13E1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390473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</a:br>
            <a:r>
              <a:rPr lang="en-US" altLang="ko-KR" spc="-50" dirty="0">
                <a:latin typeface="+mj-ea"/>
                <a:ea typeface="+mj-ea"/>
              </a:rPr>
              <a:t>*(n</a:t>
            </a:r>
            <a:r>
              <a:rPr lang="ko-KR" altLang="en-US" spc="-50" dirty="0">
                <a:latin typeface="+mj-ea"/>
                <a:ea typeface="+mj-ea"/>
              </a:rPr>
              <a:t>≤</a:t>
            </a:r>
            <a:r>
              <a:rPr lang="en-US" altLang="ko-KR" spc="-50" dirty="0">
                <a:latin typeface="+mj-ea"/>
                <a:ea typeface="+mj-ea"/>
              </a:rPr>
              <a:t>30</a:t>
            </a:r>
            <a:r>
              <a:rPr lang="ko-KR" altLang="en-US" spc="-50" dirty="0">
                <a:latin typeface="+mj-ea"/>
                <a:ea typeface="+mj-ea"/>
              </a:rPr>
              <a:t>는 해석에 유의</a:t>
            </a:r>
            <a:r>
              <a:rPr lang="en-US" altLang="ko-KR" spc="-50" dirty="0"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6" name="세로챠트-일반">
            <a:extLst>
              <a:ext uri="{FF2B5EF4-FFF2-40B4-BE49-F238E27FC236}">
                <a16:creationId xmlns:a16="http://schemas.microsoft.com/office/drawing/2014/main" id="{0587D6C6-C42A-F9A8-7468-81954883A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2693746"/>
              </p:ext>
            </p:extLst>
          </p:nvPr>
        </p:nvGraphicFramePr>
        <p:xfrm>
          <a:off x="4953000" y="2384169"/>
          <a:ext cx="2849985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0FFAA4-20EC-C76F-4D23-76B17CF72E14}"/>
              </a:ext>
            </a:extLst>
          </p:cNvPr>
          <p:cNvSpPr/>
          <p:nvPr/>
        </p:nvSpPr>
        <p:spPr>
          <a:xfrm>
            <a:off x="344494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비인지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인지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4387FF-36BF-FFEE-4365-C4F8B93D78EC}"/>
              </a:ext>
            </a:extLst>
          </p:cNvPr>
          <p:cNvSpPr/>
          <p:nvPr/>
        </p:nvSpPr>
        <p:spPr>
          <a:xfrm>
            <a:off x="2673341" y="5368481"/>
            <a:ext cx="2264015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비인지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인지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DA9A58F-FC16-3060-AD93-416138199735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여행콕콕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인지율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+14.7%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0BB21B1A-849E-AD0D-C273-8D39686F4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9225" y="595683"/>
            <a:ext cx="45719" cy="238056"/>
          </a:xfrm>
          <a:prstGeom prst="flowChartAlternateProcess">
            <a:avLst/>
          </a:prstGeom>
          <a:noFill/>
          <a:ln>
            <a:noFill/>
          </a:ln>
          <a:effectLst>
            <a:outerShdw blurRad="50800" dist="50800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08CB94D-3054-C1A3-DF3B-1859898765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20598" y="4403380"/>
            <a:ext cx="383437" cy="39362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63229B3-C261-9719-F493-4F581203D3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53000" y="4437000"/>
            <a:ext cx="383437" cy="393620"/>
          </a:xfrm>
          <a:prstGeom prst="rect">
            <a:avLst/>
          </a:prstGeom>
        </p:spPr>
      </p:pic>
      <p:pic>
        <p:nvPicPr>
          <p:cNvPr id="19" name="Picture 5">
            <a:extLst>
              <a:ext uri="{FF2B5EF4-FFF2-40B4-BE49-F238E27FC236}">
                <a16:creationId xmlns:a16="http://schemas.microsoft.com/office/drawing/2014/main" id="{1F9B9E1D-130B-D027-DA67-88CDAC25C1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222"/>
          <a:stretch>
            <a:fillRect/>
          </a:stretch>
        </p:blipFill>
        <p:spPr>
          <a:xfrm>
            <a:off x="7861740" y="2547426"/>
            <a:ext cx="979445" cy="1632491"/>
          </a:xfrm>
          <a:prstGeom prst="flowChartAlternateProcess">
            <a:avLst/>
          </a:prstGeom>
          <a:noFill/>
          <a:effectLst>
            <a:outerShdw blurRad="50800" dist="50800" dir="2700000" algn="ctr" rotWithShape="0">
              <a:srgbClr val="000000"/>
            </a:outerShdw>
          </a:effec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0A2C77FD-D590-D4A2-8D0A-F350DFC133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049"/>
          <a:stretch>
            <a:fillRect/>
          </a:stretch>
        </p:blipFill>
        <p:spPr>
          <a:xfrm>
            <a:off x="7836423" y="4606938"/>
            <a:ext cx="986983" cy="1592921"/>
          </a:xfrm>
          <a:prstGeom prst="flowChartAlternateProcess">
            <a:avLst/>
          </a:prstGeom>
          <a:noFill/>
          <a:effectLst>
            <a:outerShdw blurRad="50800" dist="50800" dir="2700000" algn="ctr" rotWithShape="0">
              <a:srgbClr val="000000"/>
            </a:outerShdw>
          </a:effectLst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B03A1535-B889-E077-AC84-5311C075D6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4835" y="2689703"/>
            <a:ext cx="986983" cy="1632491"/>
          </a:xfrm>
          <a:prstGeom prst="flowChartAlternateProcess">
            <a:avLst/>
          </a:prstGeom>
          <a:noFill/>
          <a:effectLst>
            <a:outerShdw blurRad="50800" dist="50800" dir="2700000" algn="ctr" rotWithShape="0">
              <a:srgbClr val="000000"/>
            </a:outerShdw>
          </a:effectLst>
        </p:spPr>
      </p:pic>
      <p:pic>
        <p:nvPicPr>
          <p:cNvPr id="25" name="Picture 7">
            <a:extLst>
              <a:ext uri="{FF2B5EF4-FFF2-40B4-BE49-F238E27FC236}">
                <a16:creationId xmlns:a16="http://schemas.microsoft.com/office/drawing/2014/main" id="{5E406924-88EA-08DB-6278-AB3223BCBAC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912"/>
          <a:stretch>
            <a:fillRect/>
          </a:stretch>
        </p:blipFill>
        <p:spPr>
          <a:xfrm>
            <a:off x="8547357" y="4749215"/>
            <a:ext cx="959375" cy="1592921"/>
          </a:xfrm>
          <a:prstGeom prst="flowChartAlternateProcess">
            <a:avLst/>
          </a:prstGeom>
          <a:noFill/>
          <a:effectLst>
            <a:outerShdw blurRad="50800" dist="50800" dir="2700000" algn="ctr" rotWithShape="0">
              <a:srgbClr val="000000"/>
            </a:outerShdw>
          </a:effectLst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0F0DFB-7854-0031-DDF8-BB794A837AF2}"/>
              </a:ext>
            </a:extLst>
          </p:cNvPr>
          <p:cNvSpPr/>
          <p:nvPr/>
        </p:nvSpPr>
        <p:spPr bwMode="auto">
          <a:xfrm>
            <a:off x="7919481" y="2289563"/>
            <a:ext cx="1536644" cy="206061"/>
          </a:xfrm>
          <a:prstGeom prst="roundRect">
            <a:avLst>
              <a:gd name="adj" fmla="val 50000"/>
            </a:avLst>
          </a:prstGeom>
          <a:solidFill>
            <a:srgbClr val="0B58A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AI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콕콕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25E1284-864C-3EB0-8F83-A8733E5B7345}"/>
              </a:ext>
            </a:extLst>
          </p:cNvPr>
          <p:cNvSpPr/>
          <p:nvPr/>
        </p:nvSpPr>
        <p:spPr bwMode="auto">
          <a:xfrm>
            <a:off x="7919481" y="4376776"/>
            <a:ext cx="1536644" cy="206061"/>
          </a:xfrm>
          <a:prstGeom prst="roundRect">
            <a:avLst>
              <a:gd name="adj" fmla="val 50000"/>
            </a:avLst>
          </a:prstGeom>
          <a:solidFill>
            <a:srgbClr val="0B58A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AI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콕콕 </a:t>
            </a:r>
            <a:r>
              <a:rPr lang="ko-KR" altLang="en-US" sz="10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플래너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46041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F66A-3A7C-C014-C138-A2F4FEC6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D4939-28EA-106C-EE98-DD99E1AD3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514F9DA3-2FC9-A7F8-D175-531EFFB207F9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8) [</a:t>
            </a:r>
            <a:r>
              <a:rPr lang="ko-KR" altLang="en-US" dirty="0" err="1"/>
              <a:t>여행콕콕</a:t>
            </a:r>
            <a:r>
              <a:rPr lang="en-US" altLang="ko-KR" dirty="0"/>
              <a:t>]</a:t>
            </a:r>
            <a:r>
              <a:rPr lang="ko-KR" altLang="en-US" dirty="0"/>
              <a:t> 서비스별 이용 경험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0120FBB-BD91-A2D8-6D8E-7A2A1FADE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‘</a:t>
            </a:r>
            <a:r>
              <a:rPr lang="ko-KR" altLang="en-US" dirty="0" err="1"/>
              <a:t>여행콕콕</a:t>
            </a:r>
            <a:r>
              <a:rPr lang="en-US" altLang="ko-KR" dirty="0"/>
              <a:t>’ </a:t>
            </a:r>
            <a:r>
              <a:rPr lang="ko-KR" altLang="en-US" dirty="0"/>
              <a:t>인지자 중 </a:t>
            </a:r>
            <a:r>
              <a:rPr lang="en-US" altLang="ko-KR" dirty="0"/>
              <a:t>‘AI</a:t>
            </a:r>
            <a:r>
              <a:rPr lang="ko-KR" altLang="en-US" dirty="0"/>
              <a:t>콕콕</a:t>
            </a:r>
            <a:r>
              <a:rPr lang="en-US" altLang="ko-KR" dirty="0"/>
              <a:t>’ </a:t>
            </a:r>
            <a:r>
              <a:rPr lang="ko-KR" altLang="en-US" dirty="0" err="1"/>
              <a:t>경험률이</a:t>
            </a:r>
            <a:r>
              <a:rPr lang="ko-KR" altLang="en-US" dirty="0"/>
              <a:t> </a:t>
            </a:r>
            <a:r>
              <a:rPr lang="en-US" altLang="ko-KR" dirty="0"/>
              <a:t>57.6%</a:t>
            </a:r>
            <a:r>
              <a:rPr lang="ko-KR" altLang="en-US" dirty="0"/>
              <a:t>로 가장 높고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(49.5%)</a:t>
            </a:r>
            <a:r>
              <a:rPr lang="ko-KR" altLang="en-US" dirty="0"/>
              <a:t> 대비</a:t>
            </a:r>
            <a:r>
              <a:rPr lang="en-US" altLang="ko-KR" dirty="0"/>
              <a:t> 8.2% </a:t>
            </a:r>
            <a:r>
              <a:rPr lang="ko-KR" altLang="en-US" dirty="0"/>
              <a:t>상승함</a:t>
            </a:r>
            <a:endParaRPr lang="en-US" altLang="ko-KR" dirty="0"/>
          </a:p>
          <a:p>
            <a:r>
              <a:rPr lang="en-US" altLang="ko-KR" dirty="0"/>
              <a:t>‘AI </a:t>
            </a:r>
            <a:r>
              <a:rPr lang="ko-KR" altLang="en-US" dirty="0"/>
              <a:t>콕콕 </a:t>
            </a:r>
            <a:r>
              <a:rPr lang="ko-KR" altLang="en-US" dirty="0" err="1"/>
              <a:t>플래너는</a:t>
            </a:r>
            <a:r>
              <a:rPr lang="ko-KR" altLang="en-US" dirty="0"/>
              <a:t> </a:t>
            </a:r>
            <a:r>
              <a:rPr lang="ko-KR" altLang="en-US" dirty="0" err="1"/>
              <a:t>경험률은</a:t>
            </a:r>
            <a:r>
              <a:rPr lang="ko-KR" altLang="en-US" dirty="0"/>
              <a:t> </a:t>
            </a:r>
            <a:r>
              <a:rPr lang="en-US" altLang="ko-KR" dirty="0"/>
              <a:t>56.5%</a:t>
            </a:r>
            <a:r>
              <a:rPr lang="ko-KR" altLang="en-US" dirty="0"/>
              <a:t>로 </a:t>
            </a:r>
            <a:r>
              <a:rPr lang="en-US" altLang="ko-KR" dirty="0"/>
              <a:t>23</a:t>
            </a:r>
            <a:r>
              <a:rPr lang="ko-KR" altLang="en-US" dirty="0"/>
              <a:t>년</a:t>
            </a:r>
            <a:r>
              <a:rPr lang="en-US" altLang="ko-KR" dirty="0"/>
              <a:t>(33.9%)</a:t>
            </a:r>
            <a:r>
              <a:rPr lang="ko-KR" altLang="en-US" dirty="0"/>
              <a:t> 대비 </a:t>
            </a:r>
            <a:r>
              <a:rPr lang="en-US" altLang="ko-KR" dirty="0"/>
              <a:t>22.6%p </a:t>
            </a:r>
            <a:r>
              <a:rPr lang="ko-KR" altLang="en-US" dirty="0"/>
              <a:t>대폭 상승함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- 30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‘AI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콕콕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‘(60.1%)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60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세 이상은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‘AI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콕콕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플래너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’(62.1%)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이용 경험이 상대적으로 많은 것으로 나타남</a:t>
            </a:r>
          </a:p>
        </p:txBody>
      </p:sp>
      <p:graphicFrame>
        <p:nvGraphicFramePr>
          <p:cNvPr id="7" name="내용 개체 틀 7">
            <a:extLst>
              <a:ext uri="{FF2B5EF4-FFF2-40B4-BE49-F238E27FC236}">
                <a16:creationId xmlns:a16="http://schemas.microsoft.com/office/drawing/2014/main" id="{82BF1347-5724-09AB-5738-C3637F799F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4404549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2DACA29-E157-9FFF-18EA-57A225D69B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770517" y="2206176"/>
            <a:ext cx="535217" cy="393620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2A6F9C9-52B0-2BC2-241A-A98440275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196050"/>
              </p:ext>
            </p:extLst>
          </p:nvPr>
        </p:nvGraphicFramePr>
        <p:xfrm>
          <a:off x="336061" y="3805200"/>
          <a:ext cx="9225460" cy="278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2306467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2306467">
                  <a:extLst>
                    <a:ext uri="{9D8B030D-6E8A-4147-A177-3AD203B41FA5}">
                      <a16:colId xmlns:a16="http://schemas.microsoft.com/office/drawing/2014/main" val="4277896288"/>
                    </a:ext>
                  </a:extLst>
                </a:gridCol>
                <a:gridCol w="2306467">
                  <a:extLst>
                    <a:ext uri="{9D8B030D-6E8A-4147-A177-3AD203B41FA5}">
                      <a16:colId xmlns:a16="http://schemas.microsoft.com/office/drawing/2014/main" val="2438521884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AI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콕콕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AI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콕콕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플래너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없음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(3,745)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49.5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(1,949)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57.6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56.5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9.0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(833)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58.8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60.5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(1,116)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56.7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53.5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(10*)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(293)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54.9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50.9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60.1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57.1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(576)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56.3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58.2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(223)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59.6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53.8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(103)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51.5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62.1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12.6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816C35-A266-E035-A82E-743A2A345DF2}"/>
              </a:ext>
            </a:extLst>
          </p:cNvPr>
          <p:cNvSpPr txBox="1"/>
          <p:nvPr/>
        </p:nvSpPr>
        <p:spPr>
          <a:xfrm>
            <a:off x="273000" y="2534239"/>
            <a:ext cx="1800275" cy="92333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&amp;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여행콕콕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 인지자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(n=1,945),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949661D-4C18-5B6E-7F9C-5263DED3005D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여행콕콕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서비스별 이용 경험</a:t>
            </a:r>
          </a:p>
        </p:txBody>
      </p:sp>
    </p:spTree>
    <p:extLst>
      <p:ext uri="{BB962C8B-B14F-4D97-AF65-F5344CB8AC3E}">
        <p14:creationId xmlns:p14="http://schemas.microsoft.com/office/powerpoint/2010/main" val="20400707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DA78-9675-7658-A91A-F3997FC0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0B16B-82AA-3B73-9520-8C5E2EBC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DE2984F2-52D5-224F-6F18-B3A820135A7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9) [</a:t>
            </a:r>
            <a:r>
              <a:rPr lang="ko-KR" altLang="en-US" dirty="0" err="1"/>
              <a:t>여행콕콕</a:t>
            </a:r>
            <a:r>
              <a:rPr lang="en-US" altLang="ko-KR" dirty="0"/>
              <a:t>]</a:t>
            </a:r>
            <a:r>
              <a:rPr lang="ko-KR" altLang="en-US" dirty="0"/>
              <a:t> 개인 맞춤형 적합 서비스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6B0C663-DDFC-B7DF-89F9-D774A239A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‘</a:t>
            </a:r>
            <a:r>
              <a:rPr lang="ko-KR" altLang="en-US" dirty="0" err="1"/>
              <a:t>여행콕콕</a:t>
            </a:r>
            <a:r>
              <a:rPr lang="en-US" altLang="ko-KR" dirty="0"/>
              <a:t>’ </a:t>
            </a:r>
            <a:r>
              <a:rPr lang="ko-KR" altLang="en-US" dirty="0"/>
              <a:t>서비스 중 </a:t>
            </a:r>
            <a:r>
              <a:rPr lang="en-US" altLang="ko-KR" dirty="0"/>
              <a:t>‘AI </a:t>
            </a:r>
            <a:r>
              <a:rPr lang="ko-KR" altLang="en-US" dirty="0"/>
              <a:t>콕콕 </a:t>
            </a:r>
            <a:r>
              <a:rPr lang="ko-KR" altLang="en-US" dirty="0" err="1"/>
              <a:t>플래너</a:t>
            </a:r>
            <a:r>
              <a:rPr lang="en-US" altLang="ko-KR" dirty="0"/>
              <a:t>’</a:t>
            </a:r>
            <a:r>
              <a:rPr lang="ko-KR" altLang="en-US" dirty="0"/>
              <a:t>가 개인 맞춤형 서비스에 가장 적합한 것으로 나타났으며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(80.6%) </a:t>
            </a:r>
            <a:r>
              <a:rPr lang="ko-KR" altLang="en-US" dirty="0"/>
              <a:t>대비 </a:t>
            </a:r>
            <a:r>
              <a:rPr lang="en-US" altLang="ko-KR" dirty="0"/>
              <a:t>5.0%p </a:t>
            </a:r>
            <a:r>
              <a:rPr lang="ko-KR" altLang="en-US" dirty="0"/>
              <a:t>상승함</a:t>
            </a:r>
            <a:endParaRPr lang="en-US" altLang="ko-KR" dirty="0"/>
          </a:p>
          <a:p>
            <a:r>
              <a:rPr lang="ko-KR" altLang="en-US" dirty="0"/>
              <a:t>반면</a:t>
            </a:r>
            <a:r>
              <a:rPr lang="en-US" altLang="ko-KR" dirty="0"/>
              <a:t>, ‘AI </a:t>
            </a:r>
            <a:r>
              <a:rPr lang="ko-KR" altLang="en-US" dirty="0"/>
              <a:t>콕콕</a:t>
            </a:r>
            <a:r>
              <a:rPr lang="en-US" altLang="ko-KR" dirty="0"/>
              <a:t>’</a:t>
            </a:r>
            <a:r>
              <a:rPr lang="ko-KR" altLang="en-US" dirty="0"/>
              <a:t>은 </a:t>
            </a:r>
            <a:r>
              <a:rPr lang="en-US" altLang="ko-KR" dirty="0"/>
              <a:t>82.7%</a:t>
            </a:r>
            <a:r>
              <a:rPr lang="ko-KR" altLang="en-US" dirty="0"/>
              <a:t>로 </a:t>
            </a:r>
            <a:r>
              <a:rPr lang="en-US" altLang="ko-KR" dirty="0"/>
              <a:t>23</a:t>
            </a:r>
            <a:r>
              <a:rPr lang="ko-KR" altLang="en-US" dirty="0"/>
              <a:t>년 </a:t>
            </a:r>
            <a:r>
              <a:rPr lang="en-US" altLang="ko-KR" dirty="0"/>
              <a:t>(84.1%) </a:t>
            </a:r>
            <a:r>
              <a:rPr lang="ko-KR" altLang="en-US" dirty="0"/>
              <a:t>대비 </a:t>
            </a:r>
            <a:r>
              <a:rPr lang="en-US" altLang="ko-KR" dirty="0"/>
              <a:t>1.4%</a:t>
            </a:r>
            <a:r>
              <a:rPr lang="ko-KR" altLang="en-US" dirty="0"/>
              <a:t> 하락함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- 20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(84.5%)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‘AI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콕콕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50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(89.2)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‘AI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콕콕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플래너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가 상대적으로 더 개인 맞춤형 서비스에 적합하다고 생각함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40BCF34-07B4-D2FE-D408-CBC2E4BE0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105820"/>
              </p:ext>
            </p:extLst>
          </p:nvPr>
        </p:nvGraphicFramePr>
        <p:xfrm>
          <a:off x="336061" y="3805200"/>
          <a:ext cx="5408939" cy="278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87153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2808000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AI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콕콕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(1,852)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(1,123)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82.7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(490)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(633)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(5*)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(161)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(447)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(324)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(133)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(53)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79.2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36B7A72-2441-9BD3-7C66-65E5FC781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054599"/>
              </p:ext>
            </p:extLst>
          </p:nvPr>
        </p:nvGraphicFramePr>
        <p:xfrm>
          <a:off x="5817000" y="3805200"/>
          <a:ext cx="3752939" cy="278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463228389"/>
                    </a:ext>
                  </a:extLst>
                </a:gridCol>
                <a:gridCol w="2960939">
                  <a:extLst>
                    <a:ext uri="{9D8B030D-6E8A-4147-A177-3AD203B41FA5}">
                      <a16:colId xmlns:a16="http://schemas.microsoft.com/office/drawing/2014/main" val="83693489"/>
                    </a:ext>
                  </a:extLst>
                </a:gridCol>
              </a:tblGrid>
              <a:tr h="3031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AI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콕콕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플래너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41799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(1,271)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04516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(1,101)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85.6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08786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GAP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489639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(504)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432339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(597)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515328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(8*)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274703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(149)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866477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(425)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901716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(335)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350449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(120)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067085"/>
                  </a:ext>
                </a:extLst>
              </a:tr>
              <a:tr h="226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(64)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681327"/>
                  </a:ext>
                </a:extLst>
              </a:tr>
            </a:tbl>
          </a:graphicData>
        </a:graphic>
      </p:graphicFrame>
      <p:graphicFrame>
        <p:nvGraphicFramePr>
          <p:cNvPr id="14" name="내용 개체 틀 7">
            <a:extLst>
              <a:ext uri="{FF2B5EF4-FFF2-40B4-BE49-F238E27FC236}">
                <a16:creationId xmlns:a16="http://schemas.microsoft.com/office/drawing/2014/main" id="{2BC7A5AF-D7F9-2A47-6E39-381653DA2D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5600589"/>
              </p:ext>
            </p:extLst>
          </p:nvPr>
        </p:nvGraphicFramePr>
        <p:xfrm>
          <a:off x="3297001" y="2061000"/>
          <a:ext cx="2088000" cy="182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내용 개체 틀 7">
            <a:extLst>
              <a:ext uri="{FF2B5EF4-FFF2-40B4-BE49-F238E27FC236}">
                <a16:creationId xmlns:a16="http://schemas.microsoft.com/office/drawing/2014/main" id="{41DC25C1-B864-9C2A-68CE-DF44A0B158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7253032"/>
              </p:ext>
            </p:extLst>
          </p:nvPr>
        </p:nvGraphicFramePr>
        <p:xfrm>
          <a:off x="7041000" y="2061000"/>
          <a:ext cx="2088000" cy="182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2B18116-6504-6339-AB3E-C3DD0BE1C4A5}"/>
              </a:ext>
            </a:extLst>
          </p:cNvPr>
          <p:cNvCxnSpPr/>
          <p:nvPr/>
        </p:nvCxnSpPr>
        <p:spPr>
          <a:xfrm>
            <a:off x="5776360" y="2276475"/>
            <a:ext cx="0" cy="4321175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4A7AA5F-6043-192E-EDE7-70A6174C47F1}"/>
              </a:ext>
            </a:extLst>
          </p:cNvPr>
          <p:cNvSpPr txBox="1"/>
          <p:nvPr/>
        </p:nvSpPr>
        <p:spPr>
          <a:xfrm>
            <a:off x="273000" y="2534239"/>
            <a:ext cx="1800275" cy="92333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&amp;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여행콕콕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 서비스별 이용 경험자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*(n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≤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30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는 해석에 유의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4E6603-9CB0-CA63-6A52-0FEAB01A917E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여행콕콕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서비스별 이용 경험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B0E6A9-F33C-A5C5-EE4E-D8AB2F4C2E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072353" y="2362040"/>
            <a:ext cx="53521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68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2E44-E440-E5FD-C4E0-D41C4258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F653CD93-09FC-8C3E-D80D-26AA25A50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644543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34830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34830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(1,852)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(1,1,23)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DB568C11-A932-97AE-7A37-23E8CD221A56}"/>
              </a:ext>
            </a:extLst>
          </p:cNvPr>
          <p:cNvGrpSpPr/>
          <p:nvPr/>
        </p:nvGrpSpPr>
        <p:grpSpPr>
          <a:xfrm>
            <a:off x="439212" y="3259797"/>
            <a:ext cx="2019747" cy="1999086"/>
            <a:chOff x="2725212" y="3259797"/>
            <a:chExt cx="2019747" cy="1999086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649C0B5-3A11-F0AD-3935-06F8B5A610A5}"/>
                </a:ext>
              </a:extLst>
            </p:cNvPr>
            <p:cNvGrpSpPr/>
            <p:nvPr/>
          </p:nvGrpSpPr>
          <p:grpSpPr>
            <a:xfrm>
              <a:off x="2725212" y="3259797"/>
              <a:ext cx="2019747" cy="1999086"/>
              <a:chOff x="3410487" y="1959519"/>
              <a:chExt cx="1940260" cy="1934560"/>
            </a:xfrm>
          </p:grpSpPr>
          <p:sp>
            <p:nvSpPr>
              <p:cNvPr id="22" name="부분 원형 21">
                <a:extLst>
                  <a:ext uri="{FF2B5EF4-FFF2-40B4-BE49-F238E27FC236}">
                    <a16:creationId xmlns:a16="http://schemas.microsoft.com/office/drawing/2014/main" id="{F616C5B9-B7DB-8E25-ED13-27F59BCA7FC0}"/>
                  </a:ext>
                </a:extLst>
              </p:cNvPr>
              <p:cNvSpPr/>
              <p:nvPr/>
            </p:nvSpPr>
            <p:spPr bwMode="auto">
              <a:xfrm>
                <a:off x="3410487" y="1959519"/>
                <a:ext cx="1930624" cy="1930624"/>
              </a:xfrm>
              <a:prstGeom prst="pie">
                <a:avLst>
                  <a:gd name="adj1" fmla="val 13060190"/>
                  <a:gd name="adj2" fmla="val 11103031"/>
                </a:avLst>
              </a:prstGeom>
              <a:solidFill>
                <a:schemeClr val="tx1">
                  <a:lumMod val="95000"/>
                  <a:lumOff val="5000"/>
                  <a:alpha val="20000"/>
                </a:schemeClr>
              </a:solidFill>
              <a:ln w="3175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3" name="부분 원형 22">
                <a:extLst>
                  <a:ext uri="{FF2B5EF4-FFF2-40B4-BE49-F238E27FC236}">
                    <a16:creationId xmlns:a16="http://schemas.microsoft.com/office/drawing/2014/main" id="{CB948C99-9A81-F353-C3E2-A5513550000F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927527"/>
                  <a:gd name="adj2" fmla="val 13049581"/>
                </a:avLst>
              </a:prstGeom>
              <a:solidFill>
                <a:schemeClr val="bg1">
                  <a:lumMod val="50000"/>
                  <a:alpha val="14000"/>
                </a:schemeClr>
              </a:solidFill>
              <a:ln w="3175" cap="flat" cmpd="sng" algn="ctr">
                <a:solidFill>
                  <a:schemeClr val="bg1">
                    <a:lumMod val="50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89EED69-2572-A879-EC4F-451BEAE6F51A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24" name="차트 23">
            <a:extLst>
              <a:ext uri="{FF2B5EF4-FFF2-40B4-BE49-F238E27FC236}">
                <a16:creationId xmlns:a16="http://schemas.microsoft.com/office/drawing/2014/main" id="{08DF44A2-97BB-0B2B-E440-936BE247E8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815922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2EFC1078-7E47-B0D3-03A8-B564F396094D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33FA521-4E2C-E111-6BB9-37BC7C9EFC85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15" name="부분 원형 14">
                <a:extLst>
                  <a:ext uri="{FF2B5EF4-FFF2-40B4-BE49-F238E27FC236}">
                    <a16:creationId xmlns:a16="http://schemas.microsoft.com/office/drawing/2014/main" id="{64445DD1-275B-71D5-E0A6-EE14E9D968B3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36903"/>
                  <a:gd name="adj2" fmla="val 10895352"/>
                </a:avLst>
              </a:prstGeom>
              <a:solidFill>
                <a:srgbClr val="DFF1FB"/>
              </a:solidFill>
              <a:ln w="3175" cap="flat" cmpd="sng" algn="ctr">
                <a:solidFill>
                  <a:srgbClr val="2E8ED5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6" name="부분 원형 15">
                <a:extLst>
                  <a:ext uri="{FF2B5EF4-FFF2-40B4-BE49-F238E27FC236}">
                    <a16:creationId xmlns:a16="http://schemas.microsoft.com/office/drawing/2014/main" id="{26F9037B-34C9-B294-2050-6EE8F59A5DED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642686"/>
                  <a:gd name="adj2" fmla="val 13031211"/>
                </a:avLst>
              </a:prstGeom>
              <a:solidFill>
                <a:srgbClr val="F8EFF2"/>
              </a:solidFill>
              <a:ln w="3175" cap="flat" cmpd="sng" algn="ctr">
                <a:solidFill>
                  <a:srgbClr val="A55477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7682FC9-4225-7262-D562-E223BE81ED23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33E2F23C-68C9-BA2C-8200-C08F94C52F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077105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1E165162-CB7A-45A2-AF61-281AB3D4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7A4154-B86D-CED1-9B3E-4D6777603734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10) [AI</a:t>
            </a:r>
            <a:r>
              <a:rPr lang="ko-KR" altLang="en-US" dirty="0"/>
              <a:t>콕콕</a:t>
            </a:r>
            <a:r>
              <a:rPr lang="en-US" altLang="ko-KR" dirty="0"/>
              <a:t>]</a:t>
            </a:r>
            <a:r>
              <a:rPr lang="ko-KR" altLang="en-US" dirty="0"/>
              <a:t> 전반적 만족도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038936-1259-7BF8-14D7-7BB95413A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‘</a:t>
            </a:r>
            <a:r>
              <a:rPr lang="ko-KR" altLang="en-US" dirty="0" err="1"/>
              <a:t>여행콕콕</a:t>
            </a:r>
            <a:r>
              <a:rPr lang="en-US" altLang="ko-KR" dirty="0"/>
              <a:t>’ </a:t>
            </a:r>
            <a:r>
              <a:rPr lang="ko-KR" altLang="en-US" dirty="0"/>
              <a:t>중 </a:t>
            </a:r>
            <a:r>
              <a:rPr lang="en-US" altLang="ko-KR" dirty="0"/>
              <a:t>‘AI</a:t>
            </a:r>
            <a:r>
              <a:rPr lang="ko-KR" altLang="en-US" dirty="0"/>
              <a:t>콕콕</a:t>
            </a:r>
            <a:r>
              <a:rPr lang="en-US" altLang="ko-KR" dirty="0"/>
              <a:t>’</a:t>
            </a:r>
            <a:r>
              <a:rPr lang="ko-KR" altLang="en-US" dirty="0"/>
              <a:t> 서비스의</a:t>
            </a:r>
            <a:r>
              <a:rPr lang="en-US" altLang="ko-KR" dirty="0"/>
              <a:t> </a:t>
            </a:r>
            <a:r>
              <a:rPr lang="ko-KR" altLang="en-US" dirty="0"/>
              <a:t>전반적 만족도는 </a:t>
            </a:r>
            <a:r>
              <a:rPr lang="en-US" altLang="ko-KR" dirty="0"/>
              <a:t>85.4</a:t>
            </a:r>
            <a:r>
              <a:rPr lang="ko-KR" altLang="en-US" dirty="0"/>
              <a:t>점으로 높은 수준이며</a:t>
            </a:r>
            <a:r>
              <a:rPr lang="en-US" altLang="ko-KR" dirty="0"/>
              <a:t>, 23</a:t>
            </a:r>
            <a:r>
              <a:rPr lang="ko-KR" altLang="en-US" dirty="0"/>
              <a:t>년</a:t>
            </a:r>
            <a:r>
              <a:rPr lang="en-US" altLang="ko-KR" dirty="0"/>
              <a:t>(84.9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r>
              <a:rPr lang="ko-KR" altLang="en-US" dirty="0"/>
              <a:t> 대비 </a:t>
            </a:r>
            <a:r>
              <a:rPr lang="en-US" altLang="ko-KR" dirty="0"/>
              <a:t>0.5</a:t>
            </a:r>
            <a:r>
              <a:rPr lang="ko-KR" altLang="en-US" dirty="0"/>
              <a:t>점 상승함</a:t>
            </a:r>
            <a:endParaRPr lang="en-US" altLang="ko-KR" dirty="0"/>
          </a:p>
          <a:p>
            <a:r>
              <a:rPr lang="en-US" altLang="ko-KR" dirty="0"/>
              <a:t>‘AI</a:t>
            </a:r>
            <a:r>
              <a:rPr lang="ko-KR" altLang="en-US" dirty="0"/>
              <a:t>콕콕</a:t>
            </a:r>
            <a:r>
              <a:rPr lang="en-US" altLang="ko-KR" dirty="0"/>
              <a:t>’</a:t>
            </a:r>
            <a:r>
              <a:rPr lang="ko-KR" altLang="en-US" dirty="0"/>
              <a:t> 만족 이유는 </a:t>
            </a:r>
            <a:r>
              <a:rPr lang="en-US" altLang="ko-KR" dirty="0"/>
              <a:t>‘</a:t>
            </a:r>
            <a:r>
              <a:rPr lang="ko-KR" altLang="en-US" dirty="0"/>
              <a:t>추천해주는 여행정보가 유용해서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40.4%</a:t>
            </a:r>
            <a:r>
              <a:rPr lang="ko-KR" altLang="en-US" dirty="0"/>
              <a:t>로 가장 높게 나타남</a:t>
            </a:r>
            <a:endParaRPr lang="en-US" altLang="ko-KR" dirty="0"/>
          </a:p>
          <a:p>
            <a:r>
              <a:rPr lang="en-US" altLang="ko-KR" dirty="0"/>
              <a:t>‘AI</a:t>
            </a:r>
            <a:r>
              <a:rPr lang="ko-KR" altLang="en-US" dirty="0"/>
              <a:t>콕콕</a:t>
            </a:r>
            <a:r>
              <a:rPr lang="en-US" altLang="ko-KR" dirty="0"/>
              <a:t>’</a:t>
            </a:r>
            <a:r>
              <a:rPr lang="ko-KR" altLang="en-US" dirty="0"/>
              <a:t> 불만족 이유는 </a:t>
            </a:r>
            <a:r>
              <a:rPr lang="en-US" altLang="ko-KR" dirty="0"/>
              <a:t>‘</a:t>
            </a:r>
            <a:r>
              <a:rPr lang="ko-KR" altLang="en-US" dirty="0"/>
              <a:t>추천해주는 여행정보가 유용하지 않아서</a:t>
            </a:r>
            <a:r>
              <a:rPr lang="en-US" altLang="ko-KR" dirty="0"/>
              <a:t>’</a:t>
            </a:r>
            <a:r>
              <a:rPr lang="ko-KR" altLang="en-US" dirty="0"/>
              <a:t>가</a:t>
            </a:r>
            <a:r>
              <a:rPr lang="en-US" altLang="ko-KR" dirty="0"/>
              <a:t> 42.1%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가장 높게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*’AI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콕콕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불만족 선택 응답자는 </a:t>
            </a:r>
            <a:r>
              <a:rPr lang="en-US" altLang="ko-KR" sz="12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n</a:t>
            </a:r>
            <a:r>
              <a:rPr lang="ko-KR" altLang="en-US" sz="12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≤</a:t>
            </a:r>
            <a:r>
              <a:rPr lang="en-US" altLang="ko-KR" sz="12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30</a:t>
            </a:r>
            <a:r>
              <a:rPr lang="ko-KR" altLang="en-US" sz="12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으로 해석에 유의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37FBEDBE-3B5E-C48F-C9C8-9463F585F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89447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&amp;AI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콕콕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(n=1,123),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]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3DBC7BA-D780-B384-43AA-7334457A3058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100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점 평균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+0.5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점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9F4956F-B59A-47C8-EAA7-51A0FE7E5CC2}"/>
              </a:ext>
            </a:extLst>
          </p:cNvPr>
          <p:cNvSpPr/>
          <p:nvPr/>
        </p:nvSpPr>
        <p:spPr>
          <a:xfrm>
            <a:off x="2676790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91F17E-4846-71C9-76B5-676D8C0BF87D}"/>
              </a:ext>
            </a:extLst>
          </p:cNvPr>
          <p:cNvSpPr/>
          <p:nvPr/>
        </p:nvSpPr>
        <p:spPr>
          <a:xfrm>
            <a:off x="344495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7DBABC-284A-075D-B792-40D2521F1025}"/>
              </a:ext>
            </a:extLst>
          </p:cNvPr>
          <p:cNvSpPr/>
          <p:nvPr/>
        </p:nvSpPr>
        <p:spPr bwMode="auto">
          <a:xfrm>
            <a:off x="5037723" y="2396094"/>
            <a:ext cx="1715277" cy="30190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AI</a:t>
            </a:r>
            <a:r>
              <a:rPr lang="ko-KR" altLang="en-US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콕콕 만족 이유</a:t>
            </a:r>
            <a:endParaRPr lang="en-US" altLang="ko-KR" sz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6598FDD-FC39-3B2C-FEE5-AC8457C327CF}"/>
              </a:ext>
            </a:extLst>
          </p:cNvPr>
          <p:cNvSpPr/>
          <p:nvPr/>
        </p:nvSpPr>
        <p:spPr bwMode="auto">
          <a:xfrm>
            <a:off x="5037723" y="4507318"/>
            <a:ext cx="1715277" cy="301907"/>
          </a:xfrm>
          <a:prstGeom prst="roundRect">
            <a:avLst>
              <a:gd name="adj" fmla="val 50000"/>
            </a:avLst>
          </a:prstGeom>
          <a:solidFill>
            <a:srgbClr val="DA86AA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AI</a:t>
            </a:r>
            <a:r>
              <a:rPr lang="ko-KR" altLang="en-US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콕콕 불만족 이유</a:t>
            </a:r>
            <a:endParaRPr lang="en-US" altLang="ko-KR" sz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10" name="내용 개체 틀 7">
            <a:extLst>
              <a:ext uri="{FF2B5EF4-FFF2-40B4-BE49-F238E27FC236}">
                <a16:creationId xmlns:a16="http://schemas.microsoft.com/office/drawing/2014/main" id="{B273DAAD-6973-156F-20B1-1FE4D363F0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0501713"/>
              </p:ext>
            </p:extLst>
          </p:nvPr>
        </p:nvGraphicFramePr>
        <p:xfrm>
          <a:off x="5078823" y="2740263"/>
          <a:ext cx="4377934" cy="1314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FF2EB2A-D797-20E6-4F8D-C8A7E4521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429432"/>
              </p:ext>
            </p:extLst>
          </p:nvPr>
        </p:nvGraphicFramePr>
        <p:xfrm>
          <a:off x="5037723" y="4018291"/>
          <a:ext cx="4482690" cy="312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30">
                  <a:extLst>
                    <a:ext uri="{9D8B030D-6E8A-4147-A177-3AD203B41FA5}">
                      <a16:colId xmlns:a16="http://schemas.microsoft.com/office/drawing/2014/main" val="3312488782"/>
                    </a:ext>
                  </a:extLst>
                </a:gridCol>
                <a:gridCol w="1494230">
                  <a:extLst>
                    <a:ext uri="{9D8B030D-6E8A-4147-A177-3AD203B41FA5}">
                      <a16:colId xmlns:a16="http://schemas.microsoft.com/office/drawing/2014/main" val="1385927754"/>
                    </a:ext>
                  </a:extLst>
                </a:gridCol>
                <a:gridCol w="1494230">
                  <a:extLst>
                    <a:ext uri="{9D8B030D-6E8A-4147-A177-3AD203B41FA5}">
                      <a16:colId xmlns:a16="http://schemas.microsoft.com/office/drawing/2014/main" val="1958138150"/>
                    </a:ext>
                  </a:extLst>
                </a:gridCol>
              </a:tblGrid>
              <a:tr h="30190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추천해주는 여행정보가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유용해서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나의 성향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관심사에 맞는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여행지를 추천해줘서</a:t>
                      </a:r>
                    </a:p>
                  </a:txBody>
                  <a:tcPr marL="7620" marR="7620" marT="7620" marB="0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추천을 통해 새로운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여행지를 알게 되어서</a:t>
                      </a:r>
                    </a:p>
                  </a:txBody>
                  <a:tcPr marL="7620" marR="7620" marT="7620" marB="0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377482"/>
                  </a:ext>
                </a:extLst>
              </a:tr>
            </a:tbl>
          </a:graphicData>
        </a:graphic>
      </p:graphicFrame>
      <p:sp>
        <p:nvSpPr>
          <p:cNvPr id="12" name="Text Box 168">
            <a:extLst>
              <a:ext uri="{FF2B5EF4-FFF2-40B4-BE49-F238E27FC236}">
                <a16:creationId xmlns:a16="http://schemas.microsoft.com/office/drawing/2014/main" id="{60F1DB3F-1097-DBD4-3BE4-B09531616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530" y="2396094"/>
            <a:ext cx="215472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AI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콕콕 만족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선택자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(n=1,014),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sp>
        <p:nvSpPr>
          <p:cNvPr id="31" name="Text Box 168">
            <a:extLst>
              <a:ext uri="{FF2B5EF4-FFF2-40B4-BE49-F238E27FC236}">
                <a16:creationId xmlns:a16="http://schemas.microsoft.com/office/drawing/2014/main" id="{70635623-032B-DDD0-7537-92A6A1E29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530" y="4508162"/>
            <a:ext cx="2154723" cy="41549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AI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콕콕 불만족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선택자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(n=19),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  <a:p>
            <a:r>
              <a:rPr lang="en-US" altLang="ko-KR" spc="-50" dirty="0">
                <a:latin typeface="+mj-ea"/>
                <a:ea typeface="+mj-ea"/>
              </a:rPr>
              <a:t>*(n</a:t>
            </a:r>
            <a:r>
              <a:rPr lang="ko-KR" altLang="en-US" spc="-50" dirty="0">
                <a:latin typeface="+mj-ea"/>
                <a:ea typeface="+mj-ea"/>
              </a:rPr>
              <a:t>≤</a:t>
            </a:r>
            <a:r>
              <a:rPr lang="en-US" altLang="ko-KR" spc="-50" dirty="0">
                <a:latin typeface="+mj-ea"/>
                <a:ea typeface="+mj-ea"/>
              </a:rPr>
              <a:t>30</a:t>
            </a:r>
            <a:r>
              <a:rPr lang="ko-KR" altLang="en-US" spc="-50" dirty="0">
                <a:latin typeface="+mj-ea"/>
                <a:ea typeface="+mj-ea"/>
              </a:rPr>
              <a:t>는 해석에 유의</a:t>
            </a:r>
            <a:r>
              <a:rPr lang="en-US" altLang="ko-KR" spc="-50" dirty="0">
                <a:latin typeface="+mj-ea"/>
                <a:ea typeface="+mj-ea"/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36" name="내용 개체 틀 7">
            <a:extLst>
              <a:ext uri="{FF2B5EF4-FFF2-40B4-BE49-F238E27FC236}">
                <a16:creationId xmlns:a16="http://schemas.microsoft.com/office/drawing/2014/main" id="{409DE276-B486-4761-F722-57978E4DB5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5776044"/>
              </p:ext>
            </p:extLst>
          </p:nvPr>
        </p:nvGraphicFramePr>
        <p:xfrm>
          <a:off x="5078823" y="5007200"/>
          <a:ext cx="4377934" cy="1314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53A28011-2A13-E649-EB19-6CC2706D4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295472"/>
              </p:ext>
            </p:extLst>
          </p:nvPr>
        </p:nvGraphicFramePr>
        <p:xfrm>
          <a:off x="5037723" y="6285228"/>
          <a:ext cx="4482690" cy="312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30">
                  <a:extLst>
                    <a:ext uri="{9D8B030D-6E8A-4147-A177-3AD203B41FA5}">
                      <a16:colId xmlns:a16="http://schemas.microsoft.com/office/drawing/2014/main" val="3312488782"/>
                    </a:ext>
                  </a:extLst>
                </a:gridCol>
                <a:gridCol w="1494230">
                  <a:extLst>
                    <a:ext uri="{9D8B030D-6E8A-4147-A177-3AD203B41FA5}">
                      <a16:colId xmlns:a16="http://schemas.microsoft.com/office/drawing/2014/main" val="1385927754"/>
                    </a:ext>
                  </a:extLst>
                </a:gridCol>
                <a:gridCol w="1494230">
                  <a:extLst>
                    <a:ext uri="{9D8B030D-6E8A-4147-A177-3AD203B41FA5}">
                      <a16:colId xmlns:a16="http://schemas.microsoft.com/office/drawing/2014/main" val="1958138150"/>
                    </a:ext>
                  </a:extLst>
                </a:gridCol>
              </a:tblGrid>
              <a:tr h="30190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추천해주는 여행정보가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유용하지 않아서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나의 성향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관심사에 맞지 않는 여행지를 추천해줘서</a:t>
                      </a:r>
                    </a:p>
                  </a:txBody>
                  <a:tcPr marL="7620" marR="7620" marT="7620" marB="0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이미 알고 있는 정보라서</a:t>
                      </a:r>
                    </a:p>
                  </a:txBody>
                  <a:tcPr marL="7620" marR="7620" marT="7620" marB="0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377482"/>
                  </a:ext>
                </a:extLst>
              </a:tr>
            </a:tbl>
          </a:graphicData>
        </a:graphic>
      </p:graphicFrame>
      <p:pic>
        <p:nvPicPr>
          <p:cNvPr id="40" name="그림 39">
            <a:extLst>
              <a:ext uri="{FF2B5EF4-FFF2-40B4-BE49-F238E27FC236}">
                <a16:creationId xmlns:a16="http://schemas.microsoft.com/office/drawing/2014/main" id="{BB0D1220-ADC5-5E25-0073-940D5FBE46C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68837" y="3074856"/>
            <a:ext cx="535217" cy="39362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EBEF24F1-ABE9-A6BF-8DB1-1673A8D94F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68837" y="5324318"/>
            <a:ext cx="53521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992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5486-711D-85CB-F0AC-E030B7F0E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90A1B153-A380-B0D5-116D-5A2E1C868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541918"/>
              </p:ext>
            </p:extLst>
          </p:nvPr>
        </p:nvGraphicFramePr>
        <p:xfrm>
          <a:off x="331686" y="2833982"/>
          <a:ext cx="4639610" cy="3763666"/>
        </p:xfrm>
        <a:graphic>
          <a:graphicData uri="http://schemas.openxmlformats.org/drawingml/2006/table">
            <a:tbl>
              <a:tblPr/>
              <a:tblGrid>
                <a:gridCol w="2319805">
                  <a:extLst>
                    <a:ext uri="{9D8B030D-6E8A-4147-A177-3AD203B41FA5}">
                      <a16:colId xmlns:a16="http://schemas.microsoft.com/office/drawing/2014/main" val="2365738350"/>
                    </a:ext>
                  </a:extLst>
                </a:gridCol>
                <a:gridCol w="2319805">
                  <a:extLst>
                    <a:ext uri="{9D8B030D-6E8A-4147-A177-3AD203B41FA5}">
                      <a16:colId xmlns:a16="http://schemas.microsoft.com/office/drawing/2014/main" val="1580229828"/>
                    </a:ext>
                  </a:extLst>
                </a:gridCol>
              </a:tblGrid>
              <a:tr h="284706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22389"/>
                  </a:ext>
                </a:extLst>
              </a:tr>
              <a:tr h="34830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5643654"/>
                  </a:ext>
                </a:extLst>
              </a:tr>
              <a:tr h="34830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(1,271)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(1,1,01)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607743"/>
                  </a:ext>
                </a:extLst>
              </a:tr>
              <a:tr h="219984"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41385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30D3DA4D-C941-6B0A-D0E2-EB0B593D2610}"/>
              </a:ext>
            </a:extLst>
          </p:cNvPr>
          <p:cNvGrpSpPr/>
          <p:nvPr/>
        </p:nvGrpSpPr>
        <p:grpSpPr>
          <a:xfrm>
            <a:off x="2785045" y="3263865"/>
            <a:ext cx="2009716" cy="1995019"/>
            <a:chOff x="2735242" y="3263865"/>
            <a:chExt cx="2009716" cy="1995019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565D0424-0F7E-99C1-22B9-31A5D230A31C}"/>
                </a:ext>
              </a:extLst>
            </p:cNvPr>
            <p:cNvGrpSpPr/>
            <p:nvPr/>
          </p:nvGrpSpPr>
          <p:grpSpPr>
            <a:xfrm>
              <a:off x="2735242" y="3263865"/>
              <a:ext cx="2009716" cy="1995019"/>
              <a:chOff x="3420123" y="1963455"/>
              <a:chExt cx="1930624" cy="1930624"/>
            </a:xfrm>
          </p:grpSpPr>
          <p:sp>
            <p:nvSpPr>
              <p:cNvPr id="15" name="부분 원형 14">
                <a:extLst>
                  <a:ext uri="{FF2B5EF4-FFF2-40B4-BE49-F238E27FC236}">
                    <a16:creationId xmlns:a16="http://schemas.microsoft.com/office/drawing/2014/main" id="{0CB77517-1FC2-13C7-8350-A7DFBD768FAB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3036903"/>
                  <a:gd name="adj2" fmla="val 11189473"/>
                </a:avLst>
              </a:prstGeom>
              <a:solidFill>
                <a:srgbClr val="DFF1FB"/>
              </a:solidFill>
              <a:ln w="3175" cap="flat" cmpd="sng" algn="ctr">
                <a:solidFill>
                  <a:srgbClr val="2E8ED5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6" name="부분 원형 15">
                <a:extLst>
                  <a:ext uri="{FF2B5EF4-FFF2-40B4-BE49-F238E27FC236}">
                    <a16:creationId xmlns:a16="http://schemas.microsoft.com/office/drawing/2014/main" id="{2A9A260A-026D-6C65-6434-71201F22E86B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642686"/>
                  <a:gd name="adj2" fmla="val 13031211"/>
                </a:avLst>
              </a:prstGeom>
              <a:solidFill>
                <a:srgbClr val="F8EFF2"/>
              </a:solidFill>
              <a:ln w="3175" cap="flat" cmpd="sng" algn="ctr">
                <a:solidFill>
                  <a:srgbClr val="A55477"/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B6CA27D-7489-F70B-AC7D-D911276C1A32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D72C645A-6A78-7998-60D4-ADF18EC899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87073"/>
              </p:ext>
            </p:extLst>
          </p:nvPr>
        </p:nvGraphicFramePr>
        <p:xfrm>
          <a:off x="2727826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BA7D5728-A0CE-AF44-299F-804DD30401D8}"/>
              </a:ext>
            </a:extLst>
          </p:cNvPr>
          <p:cNvGrpSpPr/>
          <p:nvPr/>
        </p:nvGrpSpPr>
        <p:grpSpPr>
          <a:xfrm>
            <a:off x="439212" y="3259797"/>
            <a:ext cx="2019747" cy="1999086"/>
            <a:chOff x="2725212" y="3259797"/>
            <a:chExt cx="2019747" cy="1999086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F43ABFD-2BAD-8817-AB7F-9ED4FB9327D7}"/>
                </a:ext>
              </a:extLst>
            </p:cNvPr>
            <p:cNvGrpSpPr/>
            <p:nvPr/>
          </p:nvGrpSpPr>
          <p:grpSpPr>
            <a:xfrm>
              <a:off x="2725212" y="3259797"/>
              <a:ext cx="2019747" cy="1999086"/>
              <a:chOff x="3410487" y="1959519"/>
              <a:chExt cx="1940260" cy="1934560"/>
            </a:xfrm>
          </p:grpSpPr>
          <p:sp>
            <p:nvSpPr>
              <p:cNvPr id="22" name="부분 원형 21">
                <a:extLst>
                  <a:ext uri="{FF2B5EF4-FFF2-40B4-BE49-F238E27FC236}">
                    <a16:creationId xmlns:a16="http://schemas.microsoft.com/office/drawing/2014/main" id="{99761724-837F-F04D-095A-CC1AD4E4CEA5}"/>
                  </a:ext>
                </a:extLst>
              </p:cNvPr>
              <p:cNvSpPr/>
              <p:nvPr/>
            </p:nvSpPr>
            <p:spPr bwMode="auto">
              <a:xfrm>
                <a:off x="3410487" y="1959519"/>
                <a:ext cx="1930624" cy="1930624"/>
              </a:xfrm>
              <a:prstGeom prst="pie">
                <a:avLst>
                  <a:gd name="adj1" fmla="val 13060190"/>
                  <a:gd name="adj2" fmla="val 11017638"/>
                </a:avLst>
              </a:prstGeom>
              <a:solidFill>
                <a:schemeClr val="tx1">
                  <a:lumMod val="95000"/>
                  <a:lumOff val="5000"/>
                  <a:alpha val="20000"/>
                </a:schemeClr>
              </a:solidFill>
              <a:ln w="3175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3" name="부분 원형 22">
                <a:extLst>
                  <a:ext uri="{FF2B5EF4-FFF2-40B4-BE49-F238E27FC236}">
                    <a16:creationId xmlns:a16="http://schemas.microsoft.com/office/drawing/2014/main" id="{01108DFF-9954-CAB7-E3E8-B88C99947223}"/>
                  </a:ext>
                </a:extLst>
              </p:cNvPr>
              <p:cNvSpPr/>
              <p:nvPr/>
            </p:nvSpPr>
            <p:spPr bwMode="auto">
              <a:xfrm>
                <a:off x="3420123" y="1963455"/>
                <a:ext cx="1930624" cy="1930624"/>
              </a:xfrm>
              <a:prstGeom prst="pie">
                <a:avLst>
                  <a:gd name="adj1" fmla="val 12885789"/>
                  <a:gd name="adj2" fmla="val 13049581"/>
                </a:avLst>
              </a:prstGeom>
              <a:solidFill>
                <a:schemeClr val="bg1">
                  <a:lumMod val="50000"/>
                  <a:alpha val="14000"/>
                </a:schemeClr>
              </a:solidFill>
              <a:ln w="3175" cap="flat" cmpd="sng" algn="ctr">
                <a:solidFill>
                  <a:schemeClr val="bg1">
                    <a:lumMod val="50000"/>
                  </a:schemeClr>
                </a:solidFill>
                <a:prstDash val="dash"/>
                <a:miter lim="800000"/>
                <a:headEnd type="none" w="med" len="med"/>
                <a:tailEnd type="none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00964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1929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2893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3858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04822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5786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06751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07715" algn="l" defTabSz="801929" rtl="0" eaLnBrk="1" latinLnBrk="1" hangingPunct="1">
                  <a:defRPr sz="15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D80E7A2-788F-AA5B-AFFE-B5C234AD4888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24" name="차트 23">
            <a:extLst>
              <a:ext uri="{FF2B5EF4-FFF2-40B4-BE49-F238E27FC236}">
                <a16:creationId xmlns:a16="http://schemas.microsoft.com/office/drawing/2014/main" id="{4FEFC10F-F147-A0D0-3BDB-B4DF7A1E22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1175934"/>
              </p:ext>
            </p:extLst>
          </p:nvPr>
        </p:nvGraphicFramePr>
        <p:xfrm>
          <a:off x="403262" y="3285000"/>
          <a:ext cx="2124154" cy="1973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D436EE4F-576E-DB2E-109A-BAB61A17D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6123792" cy="461665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홈페이지</a:t>
            </a:r>
            <a:r>
              <a:rPr lang="en-US" altLang="ko-KR" dirty="0"/>
              <a:t>/</a:t>
            </a:r>
            <a:r>
              <a:rPr lang="ko-KR" altLang="en-US" dirty="0"/>
              <a:t>앱 콘텐츠 만족도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8CAE3C-77CD-11FC-7E90-C12EBFF63AB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11) [AI</a:t>
            </a:r>
            <a:r>
              <a:rPr lang="ko-KR" altLang="en-US" dirty="0"/>
              <a:t>콕콕 </a:t>
            </a:r>
            <a:r>
              <a:rPr lang="ko-KR" altLang="en-US" dirty="0" err="1"/>
              <a:t>플래너</a:t>
            </a:r>
            <a:r>
              <a:rPr lang="en-US" altLang="ko-KR" dirty="0"/>
              <a:t>]</a:t>
            </a:r>
            <a:r>
              <a:rPr lang="ko-KR" altLang="en-US" dirty="0"/>
              <a:t> 전반적 만족도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977F12-6B1A-2B55-2D68-5B8691253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pc="-20" dirty="0"/>
              <a:t>대한민국 구석구석 </a:t>
            </a:r>
            <a:r>
              <a:rPr lang="en-US" altLang="ko-KR" spc="-20" dirty="0"/>
              <a:t>‘</a:t>
            </a:r>
            <a:r>
              <a:rPr lang="ko-KR" altLang="en-US" spc="-20" dirty="0" err="1"/>
              <a:t>여행콕콕</a:t>
            </a:r>
            <a:r>
              <a:rPr lang="en-US" altLang="ko-KR" spc="-20" dirty="0"/>
              <a:t>’ </a:t>
            </a:r>
            <a:r>
              <a:rPr lang="ko-KR" altLang="en-US" spc="-20" dirty="0"/>
              <a:t>중 </a:t>
            </a:r>
            <a:r>
              <a:rPr lang="en-US" altLang="ko-KR" spc="-20" dirty="0"/>
              <a:t>‘AI</a:t>
            </a:r>
            <a:r>
              <a:rPr lang="ko-KR" altLang="en-US" spc="-20" dirty="0"/>
              <a:t>콕콕 </a:t>
            </a:r>
            <a:r>
              <a:rPr lang="ko-KR" altLang="en-US" spc="-20" dirty="0" err="1"/>
              <a:t>플래너</a:t>
            </a:r>
            <a:r>
              <a:rPr lang="en-US" altLang="ko-KR" spc="-20" dirty="0"/>
              <a:t>’</a:t>
            </a:r>
            <a:r>
              <a:rPr lang="ko-KR" altLang="en-US" spc="-20" dirty="0"/>
              <a:t> 서비스의</a:t>
            </a:r>
            <a:r>
              <a:rPr lang="en-US" altLang="ko-KR" spc="-20" dirty="0"/>
              <a:t> </a:t>
            </a:r>
            <a:r>
              <a:rPr lang="ko-KR" altLang="en-US" spc="-20" dirty="0"/>
              <a:t>전반적 만족도는 </a:t>
            </a:r>
            <a:r>
              <a:rPr lang="en-US" altLang="ko-KR" spc="-20" dirty="0"/>
              <a:t>85.4</a:t>
            </a:r>
            <a:r>
              <a:rPr lang="ko-KR" altLang="en-US" spc="-20" dirty="0"/>
              <a:t>점으로 높은 수준이며</a:t>
            </a:r>
            <a:r>
              <a:rPr lang="en-US" altLang="ko-KR" spc="-20" dirty="0"/>
              <a:t>, 23</a:t>
            </a:r>
            <a:r>
              <a:rPr lang="ko-KR" altLang="en-US" spc="-20" dirty="0"/>
              <a:t>년</a:t>
            </a:r>
            <a:r>
              <a:rPr lang="en-US" altLang="ko-KR" spc="-20" dirty="0"/>
              <a:t>(85.1</a:t>
            </a:r>
            <a:r>
              <a:rPr lang="ko-KR" altLang="en-US" spc="-20" dirty="0"/>
              <a:t>점</a:t>
            </a:r>
            <a:r>
              <a:rPr lang="en-US" altLang="ko-KR" spc="-20" dirty="0"/>
              <a:t>)</a:t>
            </a:r>
            <a:r>
              <a:rPr lang="ko-KR" altLang="en-US" spc="-20" dirty="0"/>
              <a:t> 대비 </a:t>
            </a:r>
            <a:r>
              <a:rPr lang="en-US" altLang="ko-KR" spc="-20" dirty="0"/>
              <a:t>0.3</a:t>
            </a:r>
            <a:r>
              <a:rPr lang="ko-KR" altLang="en-US" spc="-20" dirty="0"/>
              <a:t>점 상승함</a:t>
            </a:r>
            <a:endParaRPr lang="en-US" altLang="ko-KR" spc="-20" dirty="0"/>
          </a:p>
          <a:p>
            <a:r>
              <a:rPr lang="en-US" altLang="ko-KR" dirty="0"/>
              <a:t>‘AI</a:t>
            </a:r>
            <a:r>
              <a:rPr lang="ko-KR" altLang="en-US" dirty="0"/>
              <a:t>콕콕 </a:t>
            </a:r>
            <a:r>
              <a:rPr lang="ko-KR" altLang="en-US" dirty="0" err="1"/>
              <a:t>플래너</a:t>
            </a:r>
            <a:r>
              <a:rPr lang="en-US" altLang="ko-KR" dirty="0"/>
              <a:t>’</a:t>
            </a:r>
            <a:r>
              <a:rPr lang="ko-KR" altLang="en-US" dirty="0"/>
              <a:t> 만족 이유는 </a:t>
            </a:r>
            <a:r>
              <a:rPr lang="en-US" altLang="ko-KR" dirty="0"/>
              <a:t>‘</a:t>
            </a:r>
            <a:r>
              <a:rPr lang="ko-KR" altLang="en-US" dirty="0"/>
              <a:t>코스 추천 기능 등을 활용하여 여행 코스 계획에 참고할 수 있어서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49.4%</a:t>
            </a:r>
            <a:r>
              <a:rPr lang="ko-KR" altLang="en-US" dirty="0"/>
              <a:t>로 가장 높게 나타남</a:t>
            </a:r>
            <a:endParaRPr lang="en-US" altLang="ko-KR" dirty="0"/>
          </a:p>
          <a:p>
            <a:r>
              <a:rPr lang="en-US" altLang="ko-KR" dirty="0"/>
              <a:t>‘AI</a:t>
            </a:r>
            <a:r>
              <a:rPr lang="ko-KR" altLang="en-US" dirty="0"/>
              <a:t>콕콕 </a:t>
            </a:r>
            <a:r>
              <a:rPr lang="ko-KR" altLang="en-US" dirty="0" err="1"/>
              <a:t>플래너</a:t>
            </a:r>
            <a:r>
              <a:rPr lang="en-US" altLang="ko-KR" dirty="0"/>
              <a:t>’</a:t>
            </a:r>
            <a:r>
              <a:rPr lang="ko-KR" altLang="en-US" dirty="0"/>
              <a:t> 불만족 이유는 </a:t>
            </a:r>
            <a:r>
              <a:rPr lang="en-US" altLang="ko-KR" dirty="0"/>
              <a:t>‘</a:t>
            </a:r>
            <a:r>
              <a:rPr lang="ko-KR" altLang="en-US" dirty="0"/>
              <a:t>코스 추천 기능 등을 활용하는 것이 여행 코스 계획에 도움이 되지 않아서</a:t>
            </a:r>
            <a:r>
              <a:rPr lang="en-US" altLang="ko-KR" dirty="0"/>
              <a:t>’</a:t>
            </a:r>
            <a:r>
              <a:rPr lang="ko-KR" altLang="en-US" dirty="0"/>
              <a:t>가</a:t>
            </a:r>
            <a:r>
              <a:rPr lang="en-US" altLang="ko-KR" dirty="0"/>
              <a:t> 42.1%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가장 높게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*’AI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콕콕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플래너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불만족 선택 응답자는 </a:t>
            </a:r>
            <a:r>
              <a:rPr lang="en-US" altLang="ko-KR" sz="12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n</a:t>
            </a:r>
            <a:r>
              <a:rPr lang="ko-KR" altLang="en-US" sz="12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≤</a:t>
            </a:r>
            <a:r>
              <a:rPr lang="en-US" altLang="ko-KR" sz="12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30</a:t>
            </a:r>
            <a:r>
              <a:rPr lang="ko-KR" altLang="en-US" sz="12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으로 해석에 유의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98A9B989-EB50-BD51-E01E-8CD5939DA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318247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&amp;AI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콕콕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플래너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(n=1,101),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pc="-50" dirty="0"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]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88A7793-7DF1-3FF3-7D7E-8E20FF0118F1}"/>
              </a:ext>
            </a:extLst>
          </p:cNvPr>
          <p:cNvSpPr/>
          <p:nvPr/>
        </p:nvSpPr>
        <p:spPr bwMode="auto">
          <a:xfrm>
            <a:off x="1660635" y="2724385"/>
            <a:ext cx="1963636" cy="345621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대비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24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년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100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점 평균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+0.3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+mj-lt"/>
                <a:ea typeface="+mj-ea"/>
              </a:rPr>
              <a:t>점 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상승</a:t>
            </a:r>
            <a:endParaRPr lang="en-US" altLang="ko-KR" sz="10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7A46C08-7747-5B39-12D5-FC3DDCF2F28A}"/>
              </a:ext>
            </a:extLst>
          </p:cNvPr>
          <p:cNvSpPr/>
          <p:nvPr/>
        </p:nvSpPr>
        <p:spPr>
          <a:xfrm>
            <a:off x="2676790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14FC5D-E0D3-431C-C145-7B32BEA65508}"/>
              </a:ext>
            </a:extLst>
          </p:cNvPr>
          <p:cNvSpPr/>
          <p:nvPr/>
        </p:nvSpPr>
        <p:spPr>
          <a:xfrm>
            <a:off x="344495" y="5368481"/>
            <a:ext cx="2226226" cy="21463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1039D1E-23F0-927C-6759-FA0B3EED7FDC}"/>
              </a:ext>
            </a:extLst>
          </p:cNvPr>
          <p:cNvSpPr/>
          <p:nvPr/>
        </p:nvSpPr>
        <p:spPr bwMode="auto">
          <a:xfrm>
            <a:off x="5037723" y="2396094"/>
            <a:ext cx="1715277" cy="30190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AI</a:t>
            </a:r>
            <a:r>
              <a:rPr lang="ko-KR" altLang="en-US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콕콕 </a:t>
            </a:r>
            <a:r>
              <a:rPr lang="ko-KR" altLang="en-US" sz="12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플래너</a:t>
            </a:r>
            <a:r>
              <a:rPr lang="ko-KR" altLang="en-US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만족 이유</a:t>
            </a:r>
            <a:endParaRPr lang="en-US" altLang="ko-KR" sz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623AF21-1C54-1A69-AD88-1B436A877412}"/>
              </a:ext>
            </a:extLst>
          </p:cNvPr>
          <p:cNvSpPr/>
          <p:nvPr/>
        </p:nvSpPr>
        <p:spPr bwMode="auto">
          <a:xfrm>
            <a:off x="5037723" y="4507318"/>
            <a:ext cx="1715277" cy="301907"/>
          </a:xfrm>
          <a:prstGeom prst="roundRect">
            <a:avLst>
              <a:gd name="adj" fmla="val 50000"/>
            </a:avLst>
          </a:prstGeom>
          <a:solidFill>
            <a:srgbClr val="DA86AA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AI</a:t>
            </a:r>
            <a:r>
              <a:rPr lang="ko-KR" altLang="en-US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콕콕 </a:t>
            </a:r>
            <a:r>
              <a:rPr lang="ko-KR" altLang="en-US" sz="12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플래너</a:t>
            </a:r>
            <a:r>
              <a:rPr lang="ko-KR" altLang="en-US" sz="12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불만족 이유</a:t>
            </a:r>
            <a:endParaRPr lang="en-US" altLang="ko-KR" sz="12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10" name="내용 개체 틀 7">
            <a:extLst>
              <a:ext uri="{FF2B5EF4-FFF2-40B4-BE49-F238E27FC236}">
                <a16:creationId xmlns:a16="http://schemas.microsoft.com/office/drawing/2014/main" id="{16720F09-8D7C-6D65-A2BE-8FEB4EF96F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1936134"/>
              </p:ext>
            </p:extLst>
          </p:nvPr>
        </p:nvGraphicFramePr>
        <p:xfrm>
          <a:off x="5078823" y="2740263"/>
          <a:ext cx="4377934" cy="1314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DA242CB-6807-F490-AFE1-8BC8E49D8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55714"/>
              </p:ext>
            </p:extLst>
          </p:nvPr>
        </p:nvGraphicFramePr>
        <p:xfrm>
          <a:off x="5037723" y="4018291"/>
          <a:ext cx="4482690" cy="301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30">
                  <a:extLst>
                    <a:ext uri="{9D8B030D-6E8A-4147-A177-3AD203B41FA5}">
                      <a16:colId xmlns:a16="http://schemas.microsoft.com/office/drawing/2014/main" val="3312488782"/>
                    </a:ext>
                  </a:extLst>
                </a:gridCol>
                <a:gridCol w="1494230">
                  <a:extLst>
                    <a:ext uri="{9D8B030D-6E8A-4147-A177-3AD203B41FA5}">
                      <a16:colId xmlns:a16="http://schemas.microsoft.com/office/drawing/2014/main" val="1385927754"/>
                    </a:ext>
                  </a:extLst>
                </a:gridCol>
                <a:gridCol w="1494230">
                  <a:extLst>
                    <a:ext uri="{9D8B030D-6E8A-4147-A177-3AD203B41FA5}">
                      <a16:colId xmlns:a16="http://schemas.microsoft.com/office/drawing/2014/main" val="1958138150"/>
                    </a:ext>
                  </a:extLst>
                </a:gridCol>
              </a:tblGrid>
              <a:tr h="30190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코스 추천 기능 등을 활용하여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 코스 계획에 참고할 수 있어서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나의 여행코스를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편집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·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저장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·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기록할 수 있어서</a:t>
                      </a:r>
                    </a:p>
                  </a:txBody>
                  <a:tcPr marL="7620" marR="7620" marT="7620" marB="0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여행코스에 등록된 관광지 정보를 쉽게 볼 수 있어서</a:t>
                      </a:r>
                    </a:p>
                  </a:txBody>
                  <a:tcPr marL="7620" marR="7620" marT="7620" marB="0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377482"/>
                  </a:ext>
                </a:extLst>
              </a:tr>
            </a:tbl>
          </a:graphicData>
        </a:graphic>
      </p:graphicFrame>
      <p:sp>
        <p:nvSpPr>
          <p:cNvPr id="12" name="Text Box 168">
            <a:extLst>
              <a:ext uri="{FF2B5EF4-FFF2-40B4-BE49-F238E27FC236}">
                <a16:creationId xmlns:a16="http://schemas.microsoft.com/office/drawing/2014/main" id="{C57F059C-A9A2-16DD-B6D3-AE06887F7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000" y="2396094"/>
            <a:ext cx="242025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AI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콕콕 </a:t>
            </a:r>
            <a:r>
              <a:rPr lang="ko-KR" altLang="en-US" spc="-50" dirty="0" err="1">
                <a:latin typeface="+mj-ea"/>
                <a:ea typeface="+mj-ea"/>
              </a:rPr>
              <a:t>플래너</a:t>
            </a:r>
            <a:r>
              <a:rPr lang="ko-KR" altLang="en-US" spc="-50" dirty="0">
                <a:latin typeface="+mj-ea"/>
                <a:ea typeface="+mj-ea"/>
              </a:rPr>
              <a:t>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만족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선택자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(n=1,008),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sp>
        <p:nvSpPr>
          <p:cNvPr id="31" name="Text Box 168">
            <a:extLst>
              <a:ext uri="{FF2B5EF4-FFF2-40B4-BE49-F238E27FC236}">
                <a16:creationId xmlns:a16="http://schemas.microsoft.com/office/drawing/2014/main" id="{87CF580B-49CA-7A6B-AA40-27666037D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00" y="4508162"/>
            <a:ext cx="232605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AI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콕콕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플래너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 불만족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선택자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(n=19),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graphicFrame>
        <p:nvGraphicFramePr>
          <p:cNvPr id="36" name="내용 개체 틀 7">
            <a:extLst>
              <a:ext uri="{FF2B5EF4-FFF2-40B4-BE49-F238E27FC236}">
                <a16:creationId xmlns:a16="http://schemas.microsoft.com/office/drawing/2014/main" id="{B6A2A196-40CC-FE09-8D67-CFCCDD8B65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914301"/>
              </p:ext>
            </p:extLst>
          </p:nvPr>
        </p:nvGraphicFramePr>
        <p:xfrm>
          <a:off x="5078823" y="5007200"/>
          <a:ext cx="4377934" cy="1314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92A4AA85-E59B-8B0B-D718-8CBA037E2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731313"/>
              </p:ext>
            </p:extLst>
          </p:nvPr>
        </p:nvGraphicFramePr>
        <p:xfrm>
          <a:off x="5037723" y="6285228"/>
          <a:ext cx="4482690" cy="301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30">
                  <a:extLst>
                    <a:ext uri="{9D8B030D-6E8A-4147-A177-3AD203B41FA5}">
                      <a16:colId xmlns:a16="http://schemas.microsoft.com/office/drawing/2014/main" val="3312488782"/>
                    </a:ext>
                  </a:extLst>
                </a:gridCol>
                <a:gridCol w="1494230">
                  <a:extLst>
                    <a:ext uri="{9D8B030D-6E8A-4147-A177-3AD203B41FA5}">
                      <a16:colId xmlns:a16="http://schemas.microsoft.com/office/drawing/2014/main" val="1385927754"/>
                    </a:ext>
                  </a:extLst>
                </a:gridCol>
                <a:gridCol w="1494230">
                  <a:extLst>
                    <a:ext uri="{9D8B030D-6E8A-4147-A177-3AD203B41FA5}">
                      <a16:colId xmlns:a16="http://schemas.microsoft.com/office/drawing/2014/main" val="1958138150"/>
                    </a:ext>
                  </a:extLst>
                </a:gridCol>
              </a:tblGrid>
              <a:tr h="30190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코스 추천 기능 등을 활용하는 것이 여행 코스 계획에 도움이 되지 않아서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여행코스에 등록할 관광지 정보가 많이 없거나 유용하지 않아서</a:t>
                      </a:r>
                    </a:p>
                  </a:txBody>
                  <a:tcPr marL="7620" marR="7620" marT="7620" marB="0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나의 여행코스를 짜기 귀찮아서</a:t>
                      </a:r>
                    </a:p>
                  </a:txBody>
                  <a:tcPr marL="7620" marR="7620" marT="7620" marB="0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377482"/>
                  </a:ext>
                </a:extLst>
              </a:tr>
            </a:tbl>
          </a:graphicData>
        </a:graphic>
      </p:graphicFrame>
      <p:pic>
        <p:nvPicPr>
          <p:cNvPr id="40" name="그림 39">
            <a:extLst>
              <a:ext uri="{FF2B5EF4-FFF2-40B4-BE49-F238E27FC236}">
                <a16:creationId xmlns:a16="http://schemas.microsoft.com/office/drawing/2014/main" id="{233D76DB-F2A4-F8EF-0FD2-CFE1909699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68837" y="2946849"/>
            <a:ext cx="535217" cy="39362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D3FBEDF-9418-7572-FEA5-33B2797A13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68837" y="5324318"/>
            <a:ext cx="535217" cy="3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589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AAE66-3A3D-A2C1-748A-C93F6F57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96095D3-A4E3-D280-43BA-CC4CBA28E913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</p:spPr>
        <p:txBody>
          <a:bodyPr/>
          <a:lstStyle/>
          <a:p>
            <a:r>
              <a:rPr lang="en-US" altLang="ko-KR" dirty="0"/>
              <a:t>Part</a:t>
            </a:r>
          </a:p>
          <a:p>
            <a:r>
              <a:rPr lang="en-US" altLang="ko-KR" dirty="0"/>
              <a:t>Ⅱ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E789505-686B-6BF3-9592-19BC0C51F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</p:spPr>
        <p:txBody>
          <a:bodyPr/>
          <a:lstStyle/>
          <a:p>
            <a:r>
              <a:rPr lang="ko-KR" altLang="en-US" dirty="0"/>
              <a:t>주요 조사 내용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C26258-9281-447E-899F-BBE597914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10" y="2797382"/>
            <a:ext cx="4896157" cy="2431618"/>
          </a:xfrm>
        </p:spPr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국내 여행 정보 수집 과정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서비스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이용 현황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2.2. SNS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이용 현황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Tx/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서비스만족도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Tx/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대한민국 구석구석 홈페이지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앱 콘텐츠 만족도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Tx/>
            </a:pPr>
            <a:r>
              <a:rPr lang="ko-KR" altLang="en-US" dirty="0"/>
              <a:t>대한민국 구석구석 메인 화면 선호 의견</a:t>
            </a:r>
          </a:p>
        </p:txBody>
      </p:sp>
    </p:spTree>
    <p:extLst>
      <p:ext uri="{BB962C8B-B14F-4D97-AF65-F5344CB8AC3E}">
        <p14:creationId xmlns:p14="http://schemas.microsoft.com/office/powerpoint/2010/main" val="15071646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FF8A5-F8FD-AD4F-5C36-4027C459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4CD2FDE0-574E-B614-99ED-713D894BC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497832"/>
              </p:ext>
            </p:extLst>
          </p:nvPr>
        </p:nvGraphicFramePr>
        <p:xfrm>
          <a:off x="351730" y="2993861"/>
          <a:ext cx="4600190" cy="2721705"/>
        </p:xfrm>
        <a:graphic>
          <a:graphicData uri="http://schemas.openxmlformats.org/drawingml/2006/table">
            <a:tbl>
              <a:tblPr/>
              <a:tblGrid>
                <a:gridCol w="2300095">
                  <a:extLst>
                    <a:ext uri="{9D8B030D-6E8A-4147-A177-3AD203B41FA5}">
                      <a16:colId xmlns:a16="http://schemas.microsoft.com/office/drawing/2014/main" val="425435984"/>
                    </a:ext>
                  </a:extLst>
                </a:gridCol>
                <a:gridCol w="2300095">
                  <a:extLst>
                    <a:ext uri="{9D8B030D-6E8A-4147-A177-3AD203B41FA5}">
                      <a16:colId xmlns:a16="http://schemas.microsoft.com/office/drawing/2014/main" val="46952304"/>
                    </a:ext>
                  </a:extLst>
                </a:gridCol>
              </a:tblGrid>
              <a:tr h="272170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05606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401EFF5A-D564-BECE-3F03-A8A6EC47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5272597" cy="461665"/>
          </a:xfrm>
        </p:spPr>
        <p:txBody>
          <a:bodyPr/>
          <a:lstStyle/>
          <a:p>
            <a:pPr>
              <a:buClrTx/>
            </a:pPr>
            <a:r>
              <a:rPr lang="en-US" altLang="ko-KR" dirty="0"/>
              <a:t>5. </a:t>
            </a:r>
            <a:r>
              <a:rPr lang="ko-KR" altLang="en-US" dirty="0"/>
              <a:t>대한민국 구석구석 메인 화면 선호 의견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6A2987-A66D-A22E-8459-05D2216C1D2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 err="1"/>
              <a:t>메인화면</a:t>
            </a:r>
            <a:r>
              <a:rPr lang="ko-KR" altLang="en-US" dirty="0"/>
              <a:t> 구성 선호 여부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1ADB15-5D72-9264-3E11-9D1E32499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대한민국 구석구석 메인 화면으로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안</a:t>
            </a:r>
            <a:r>
              <a:rPr lang="en-US" altLang="ko-KR" dirty="0"/>
              <a:t>, B</a:t>
            </a:r>
            <a:r>
              <a:rPr lang="ko-KR" altLang="en-US" dirty="0"/>
              <a:t>안 제시 후 선호 여부를 조사한 결과</a:t>
            </a:r>
            <a:r>
              <a:rPr lang="en-US" altLang="ko-KR" dirty="0"/>
              <a:t>, ‘A’</a:t>
            </a:r>
            <a:r>
              <a:rPr lang="ko-KR" altLang="en-US" dirty="0"/>
              <a:t>안</a:t>
            </a:r>
            <a:r>
              <a:rPr lang="en-US" altLang="ko-KR" dirty="0"/>
              <a:t>(51.3%)</a:t>
            </a:r>
            <a:r>
              <a:rPr lang="ko-KR" altLang="en-US" dirty="0"/>
              <a:t>이 </a:t>
            </a:r>
            <a:r>
              <a:rPr lang="en-US" altLang="ko-KR" dirty="0"/>
              <a:t>‘B</a:t>
            </a:r>
            <a:r>
              <a:rPr lang="ko-KR" altLang="en-US" dirty="0"/>
              <a:t>안</a:t>
            </a:r>
            <a:r>
              <a:rPr lang="en-US" altLang="ko-KR" dirty="0"/>
              <a:t>’(48.7%) </a:t>
            </a:r>
            <a:r>
              <a:rPr lang="ko-KR" altLang="en-US" dirty="0"/>
              <a:t>대비 </a:t>
            </a:r>
            <a:r>
              <a:rPr lang="en-US" altLang="ko-KR" dirty="0"/>
              <a:t>2.6% </a:t>
            </a:r>
            <a:r>
              <a:rPr lang="ko-KR" altLang="en-US" dirty="0"/>
              <a:t>높게 나타남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성별별로는 남성은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‘A’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안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(56.0%),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여성은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‘B’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안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(51.4%)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더 선호하는 것으로 조사됨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연령대가 높아질수록 여행정보 위주로 구성된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‘B 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안을 선호하는 경향이 높게 나타남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Text Box 168">
            <a:extLst>
              <a:ext uri="{FF2B5EF4-FFF2-40B4-BE49-F238E27FC236}">
                <a16:creationId xmlns:a16="http://schemas.microsoft.com/office/drawing/2014/main" id="{77DC9AF2-2292-30A9-85BC-52B4258C9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7" y="2396094"/>
            <a:ext cx="239047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41E4689-8698-D03B-E3EC-D6F94F38C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9225" y="595683"/>
            <a:ext cx="45719" cy="238056"/>
          </a:xfrm>
          <a:prstGeom prst="flowChartAlternateProcess">
            <a:avLst/>
          </a:prstGeom>
          <a:noFill/>
          <a:ln>
            <a:noFill/>
          </a:ln>
          <a:effectLst>
            <a:outerShdw blurRad="50800" dist="50800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4ECE571-BD5F-C2A5-D56C-35EB77489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772113"/>
              </p:ext>
            </p:extLst>
          </p:nvPr>
        </p:nvGraphicFramePr>
        <p:xfrm>
          <a:off x="5000929" y="2888042"/>
          <a:ext cx="4553341" cy="3709605"/>
        </p:xfrm>
        <a:graphic>
          <a:graphicData uri="http://schemas.openxmlformats.org/drawingml/2006/table">
            <a:tbl>
              <a:tblPr/>
              <a:tblGrid>
                <a:gridCol w="350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02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홈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페이지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페이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스북</a:t>
                      </a: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카카오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스토리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세 </a:t>
                      </a:r>
                      <a:endParaRPr lang="en-US" altLang="ko-KR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24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(2,727)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(2,028)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(6,136)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(337)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(746)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(4,344)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(7,630)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(1,505)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(4,173)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(3,803)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(1,561)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(886)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824">
                <a:tc gridSpan="5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접속 경로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세로챠트-일반">
            <a:extLst>
              <a:ext uri="{FF2B5EF4-FFF2-40B4-BE49-F238E27FC236}">
                <a16:creationId xmlns:a16="http://schemas.microsoft.com/office/drawing/2014/main" id="{2DF9DC0E-266A-0871-676E-7EE300C227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351276"/>
              </p:ext>
            </p:extLst>
          </p:nvPr>
        </p:nvGraphicFramePr>
        <p:xfrm>
          <a:off x="4953000" y="2384169"/>
          <a:ext cx="4674972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19D194B1-702F-FDE2-D35A-CD5F9890B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18" y="3105280"/>
            <a:ext cx="1838764" cy="2610285"/>
          </a:xfrm>
          <a:prstGeom prst="flowChartAlternateProcess">
            <a:avLst/>
          </a:prstGeom>
          <a:noFill/>
          <a:effectLst>
            <a:outerShdw blurRad="50800" dist="50800" dir="2700000" algn="ctr" rotWithShape="0">
              <a:srgbClr val="000000"/>
            </a:outerShdw>
          </a:effectLst>
        </p:spPr>
      </p:pic>
      <p:pic>
        <p:nvPicPr>
          <p:cNvPr id="29" name="Picture 3">
            <a:extLst>
              <a:ext uri="{FF2B5EF4-FFF2-40B4-BE49-F238E27FC236}">
                <a16:creationId xmlns:a16="http://schemas.microsoft.com/office/drawing/2014/main" id="{AAD0297D-239A-B095-707B-1B0B21D77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003" y="3129810"/>
            <a:ext cx="1823964" cy="2585755"/>
          </a:xfrm>
          <a:prstGeom prst="flowChartAlternateProcess">
            <a:avLst/>
          </a:prstGeom>
          <a:noFill/>
          <a:effectLst>
            <a:outerShdw blurRad="50800" dist="50800" dir="2700000" algn="ctr" rotWithShape="0">
              <a:srgbClr val="000000"/>
            </a:outerShdw>
          </a:effectLst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0EBAFFCA-A8BE-315D-308A-87842576E4FB}"/>
              </a:ext>
            </a:extLst>
          </p:cNvPr>
          <p:cNvGrpSpPr/>
          <p:nvPr/>
        </p:nvGrpSpPr>
        <p:grpSpPr>
          <a:xfrm>
            <a:off x="1573733" y="3403853"/>
            <a:ext cx="2228634" cy="1971446"/>
            <a:chOff x="1595291" y="3297060"/>
            <a:chExt cx="1734430" cy="1684382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72D89F7-39ED-A669-B6FB-7A525702DB3F}"/>
                </a:ext>
              </a:extLst>
            </p:cNvPr>
            <p:cNvSpPr/>
            <p:nvPr/>
          </p:nvSpPr>
          <p:spPr>
            <a:xfrm>
              <a:off x="2137504" y="3797242"/>
              <a:ext cx="660666" cy="7196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35" name="차트 34">
              <a:extLst>
                <a:ext uri="{FF2B5EF4-FFF2-40B4-BE49-F238E27FC236}">
                  <a16:creationId xmlns:a16="http://schemas.microsoft.com/office/drawing/2014/main" id="{19A86946-F20B-DC71-984C-A085325A2A2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28131430"/>
                </p:ext>
              </p:extLst>
            </p:nvPr>
          </p:nvGraphicFramePr>
          <p:xfrm>
            <a:off x="1595291" y="3297060"/>
            <a:ext cx="1734430" cy="16843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1A073EB0-315B-AF4D-AEFD-CD2927966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126174"/>
              </p:ext>
            </p:extLst>
          </p:nvPr>
        </p:nvGraphicFramePr>
        <p:xfrm>
          <a:off x="358299" y="5734815"/>
          <a:ext cx="4593622" cy="848865"/>
        </p:xfrm>
        <a:graphic>
          <a:graphicData uri="http://schemas.openxmlformats.org/drawingml/2006/table">
            <a:tbl>
              <a:tblPr/>
              <a:tblGrid>
                <a:gridCol w="2296811">
                  <a:extLst>
                    <a:ext uri="{9D8B030D-6E8A-4147-A177-3AD203B41FA5}">
                      <a16:colId xmlns:a16="http://schemas.microsoft.com/office/drawing/2014/main" val="2121140581"/>
                    </a:ext>
                  </a:extLst>
                </a:gridCol>
                <a:gridCol w="2296811">
                  <a:extLst>
                    <a:ext uri="{9D8B030D-6E8A-4147-A177-3AD203B41FA5}">
                      <a16:colId xmlns:a16="http://schemas.microsoft.com/office/drawing/2014/main" val="3931151676"/>
                    </a:ext>
                  </a:extLst>
                </a:gridCol>
              </a:tblGrid>
              <a:tr h="65988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관심있는 정보 및 비슷한 성별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연령 및 성향의 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다른 사용자의 정보를 분석해서 맞춤형 여행지 추천 서비스 중심으로 구성된 메인 화면</a:t>
                      </a:r>
                    </a:p>
                  </a:txBody>
                  <a:tcPr marL="0" marR="0" marT="0" marB="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시의성 있고 최신 등록된 여행정보 위주로 </a:t>
                      </a:r>
                      <a: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구성된 메인 화면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A6A6A6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866617"/>
                  </a:ext>
                </a:extLst>
              </a:tr>
              <a:tr h="188976">
                <a:tc grid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메인 화면 구성</a:t>
                      </a:r>
                    </a:p>
                  </a:txBody>
                  <a:tcPr marL="0" marR="0" marT="0" marB="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endParaRPr lang="ko-KR" altLang="en-US" sz="9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794478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E24D3D7E-96DA-D6CD-DAE8-7CA18EEDB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626471"/>
              </p:ext>
            </p:extLst>
          </p:nvPr>
        </p:nvGraphicFramePr>
        <p:xfrm>
          <a:off x="358161" y="2790915"/>
          <a:ext cx="4600190" cy="188976"/>
        </p:xfrm>
        <a:graphic>
          <a:graphicData uri="http://schemas.openxmlformats.org/drawingml/2006/table">
            <a:tbl>
              <a:tblPr/>
              <a:tblGrid>
                <a:gridCol w="2300095">
                  <a:extLst>
                    <a:ext uri="{9D8B030D-6E8A-4147-A177-3AD203B41FA5}">
                      <a16:colId xmlns:a16="http://schemas.microsoft.com/office/drawing/2014/main" val="957829291"/>
                    </a:ext>
                  </a:extLst>
                </a:gridCol>
                <a:gridCol w="2300095">
                  <a:extLst>
                    <a:ext uri="{9D8B030D-6E8A-4147-A177-3AD203B41FA5}">
                      <a16:colId xmlns:a16="http://schemas.microsoft.com/office/drawing/2014/main" val="1792231007"/>
                    </a:ext>
                  </a:extLst>
                </a:gridCol>
              </a:tblGrid>
              <a:tr h="18897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A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안</a:t>
                      </a:r>
                    </a:p>
                  </a:txBody>
                  <a:tcPr marL="0" marR="0" marT="0" marB="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B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971051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D8FF2002-73FC-3916-38F5-6CD91C5AB2C1}"/>
              </a:ext>
            </a:extLst>
          </p:cNvPr>
          <p:cNvSpPr txBox="1"/>
          <p:nvPr/>
        </p:nvSpPr>
        <p:spPr>
          <a:xfrm>
            <a:off x="2300946" y="4210365"/>
            <a:ext cx="792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0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메인화면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선호 의견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4A8993-71B4-DC64-B5D9-C148FFCC09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83307" y="3406416"/>
            <a:ext cx="344904" cy="3540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3454F4-F32D-683A-001D-3845DEFF5F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12057" y="4581166"/>
            <a:ext cx="344904" cy="3540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B8106E0-65E5-62BF-7C84-C9A2B00C4C7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54957" y="3425466"/>
            <a:ext cx="344904" cy="35406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E7E7EF9-118C-8C22-64D7-8B7DD85FD3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97857" y="4746266"/>
            <a:ext cx="344904" cy="3540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B138D3F-5EE5-3206-2B1E-49F56279C4D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66157" y="3539766"/>
            <a:ext cx="344904" cy="3540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80FE1C-FD40-03B3-E34D-8F93135548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233997" y="4736106"/>
            <a:ext cx="344904" cy="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700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E870-AF14-2890-A0AC-E70CCB72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4664158E-8410-A483-2AB3-22BFBBB6EE73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</p:spPr>
        <p:txBody>
          <a:bodyPr/>
          <a:lstStyle/>
          <a:p>
            <a:r>
              <a:rPr lang="en-US" altLang="ko-KR" dirty="0"/>
              <a:t>Part</a:t>
            </a:r>
          </a:p>
          <a:p>
            <a:r>
              <a:rPr lang="en-US" altLang="ko-KR" dirty="0"/>
              <a:t>Ⅲ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B4E7441-52C3-33CC-D823-2592026AD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</p:spPr>
        <p:txBody>
          <a:bodyPr/>
          <a:lstStyle/>
          <a:p>
            <a:r>
              <a:rPr lang="ko-KR" altLang="en-US" dirty="0"/>
              <a:t>조사 결과 요약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895250-325A-D7BE-CD21-CA4375FA8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대한민국 구석구석 </a:t>
            </a:r>
            <a:r>
              <a:rPr lang="en-US" altLang="ko-KR" dirty="0"/>
              <a:t>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이용 행태</a:t>
            </a:r>
            <a:endParaRPr lang="en-US" altLang="ko-KR" dirty="0"/>
          </a:p>
          <a:p>
            <a:r>
              <a:rPr lang="ko-KR" altLang="en-US" dirty="0"/>
              <a:t>대한민국 구석구석 </a:t>
            </a:r>
            <a:r>
              <a:rPr lang="en-US" altLang="ko-KR" dirty="0"/>
              <a:t>[SNS] </a:t>
            </a:r>
            <a:r>
              <a:rPr lang="ko-KR" altLang="en-US" dirty="0"/>
              <a:t>이용 행태</a:t>
            </a:r>
            <a:endParaRPr lang="en-US" altLang="ko-KR" dirty="0"/>
          </a:p>
          <a:p>
            <a:r>
              <a:rPr lang="ko-KR" altLang="en-US" dirty="0"/>
              <a:t>대한민국 구석구석 이용 만족도</a:t>
            </a:r>
            <a:endParaRPr lang="en-US" altLang="ko-KR" dirty="0"/>
          </a:p>
          <a:p>
            <a:r>
              <a:rPr lang="ko-KR" altLang="en-US" dirty="0"/>
              <a:t>대한민국 구석구석 </a:t>
            </a:r>
            <a:r>
              <a:rPr lang="en-US" altLang="ko-KR" dirty="0"/>
              <a:t>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사용편의성 평가</a:t>
            </a:r>
            <a:endParaRPr lang="en-US" altLang="ko-KR" dirty="0"/>
          </a:p>
          <a:p>
            <a:r>
              <a:rPr lang="ko-KR" altLang="en-US" dirty="0"/>
              <a:t>대한민국 구석구석 </a:t>
            </a:r>
            <a:r>
              <a:rPr lang="en-US" altLang="ko-KR" dirty="0"/>
              <a:t>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콘텐츠 평가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17456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DDEE7-A380-1B37-AF7E-81CAE43D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7">
            <a:extLst>
              <a:ext uri="{FF2B5EF4-FFF2-40B4-BE49-F238E27FC236}">
                <a16:creationId xmlns:a16="http://schemas.microsoft.com/office/drawing/2014/main" id="{3836D565-716F-2CAE-1B36-A3C6DE74FB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8837714"/>
              </p:ext>
            </p:extLst>
          </p:nvPr>
        </p:nvGraphicFramePr>
        <p:xfrm>
          <a:off x="5212950" y="4538389"/>
          <a:ext cx="4343491" cy="1512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내용 개체 틀 7">
            <a:extLst>
              <a:ext uri="{FF2B5EF4-FFF2-40B4-BE49-F238E27FC236}">
                <a16:creationId xmlns:a16="http://schemas.microsoft.com/office/drawing/2014/main" id="{7E9F92BA-F740-7393-E9B7-12774F7E07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9699995"/>
              </p:ext>
            </p:extLst>
          </p:nvPr>
        </p:nvGraphicFramePr>
        <p:xfrm>
          <a:off x="5211687" y="4484437"/>
          <a:ext cx="4343491" cy="1391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7" name="내용 개체 틀 7">
            <a:extLst>
              <a:ext uri="{FF2B5EF4-FFF2-40B4-BE49-F238E27FC236}">
                <a16:creationId xmlns:a16="http://schemas.microsoft.com/office/drawing/2014/main" id="{AF466C12-9C66-D488-2D73-2448248528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642166"/>
              </p:ext>
            </p:extLst>
          </p:nvPr>
        </p:nvGraphicFramePr>
        <p:xfrm>
          <a:off x="669601" y="4558198"/>
          <a:ext cx="4193707" cy="1318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내용 개체 틀 7">
            <a:extLst>
              <a:ext uri="{FF2B5EF4-FFF2-40B4-BE49-F238E27FC236}">
                <a16:creationId xmlns:a16="http://schemas.microsoft.com/office/drawing/2014/main" id="{20008AE0-60F2-8A7E-C292-2769DB7BDA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0972768"/>
              </p:ext>
            </p:extLst>
          </p:nvPr>
        </p:nvGraphicFramePr>
        <p:xfrm>
          <a:off x="666751" y="4641731"/>
          <a:ext cx="4193707" cy="1234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2E3EF4C-BC94-AC88-A24C-7EF8A73F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대한민국 구석구석 </a:t>
            </a:r>
            <a:r>
              <a:rPr lang="en-US" altLang="ko-KR" dirty="0"/>
              <a:t>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이용 행태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9356A14-CDCB-8B3A-2065-F3BEB714F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spc="-70" dirty="0"/>
              <a:t>대한민국 구석구석 홈페이지</a:t>
            </a:r>
            <a:r>
              <a:rPr lang="en-US" altLang="ko-KR" sz="1300" spc="-70" dirty="0"/>
              <a:t>/</a:t>
            </a:r>
            <a:r>
              <a:rPr lang="ko-KR" altLang="en-US" sz="1300" spc="-70" dirty="0"/>
              <a:t>앱은 </a:t>
            </a:r>
            <a:r>
              <a:rPr lang="en-US" altLang="ko-KR" sz="1300" spc="-70" dirty="0"/>
              <a:t>‘</a:t>
            </a:r>
            <a:r>
              <a:rPr lang="ko-KR" altLang="en-US" sz="1300" spc="-70" dirty="0"/>
              <a:t>대한민국 구석구석 </a:t>
            </a:r>
            <a:r>
              <a:rPr lang="en-US" altLang="ko-KR" sz="1300" spc="-70" dirty="0"/>
              <a:t>SNS’(41.5%)</a:t>
            </a:r>
            <a:r>
              <a:rPr lang="ko-KR" altLang="en-US" sz="1300" spc="-70" dirty="0"/>
              <a:t>를 통해 방문하며</a:t>
            </a:r>
            <a:r>
              <a:rPr lang="en-US" altLang="ko-KR" sz="1300" spc="-70" dirty="0"/>
              <a:t>, ‘</a:t>
            </a:r>
            <a:r>
              <a:rPr lang="ko-KR" altLang="en-US" sz="1300" spc="-70" dirty="0"/>
              <a:t>월 </a:t>
            </a:r>
            <a:r>
              <a:rPr lang="en-US" altLang="ko-KR" sz="1300" spc="-70" dirty="0"/>
              <a:t>2~3</a:t>
            </a:r>
            <a:r>
              <a:rPr lang="ko-KR" altLang="en-US" sz="1300" spc="-70" dirty="0"/>
              <a:t>회</a:t>
            </a:r>
            <a:r>
              <a:rPr lang="en-US" altLang="ko-KR" sz="1300" spc="-70" dirty="0"/>
              <a:t>’(30.3%) </a:t>
            </a:r>
            <a:r>
              <a:rPr lang="ko-KR" altLang="en-US" sz="1300" spc="-70" dirty="0"/>
              <a:t>이용하는 것으로 나타남</a:t>
            </a:r>
            <a:endParaRPr lang="en-US" altLang="ko-KR" sz="1300" spc="-70" dirty="0"/>
          </a:p>
          <a:p>
            <a:r>
              <a:rPr lang="ko-KR" altLang="en-US" sz="1300" spc="-70" dirty="0"/>
              <a:t>이용 이유는</a:t>
            </a:r>
            <a:r>
              <a:rPr lang="en-US" altLang="ko-KR" sz="1300" spc="-70" dirty="0"/>
              <a:t>‘</a:t>
            </a:r>
            <a:r>
              <a:rPr lang="ko-KR" altLang="en-US" sz="1300" spc="-70" dirty="0"/>
              <a:t>시기</a:t>
            </a:r>
            <a:r>
              <a:rPr lang="en-US" altLang="ko-KR" sz="1300" spc="-70" dirty="0"/>
              <a:t>/</a:t>
            </a:r>
            <a:r>
              <a:rPr lang="ko-KR" altLang="en-US" sz="1300" spc="-70" dirty="0"/>
              <a:t>목적에 맞는 맞춤 추천 정보보유</a:t>
            </a:r>
            <a:r>
              <a:rPr lang="en-US" altLang="ko-KR" sz="1300" spc="-70" dirty="0"/>
              <a:t>’(1</a:t>
            </a:r>
            <a:r>
              <a:rPr lang="ko-KR" altLang="en-US" sz="1300" spc="-70" dirty="0"/>
              <a:t>순위 기준</a:t>
            </a:r>
            <a:r>
              <a:rPr lang="en-US" altLang="ko-KR" sz="1300" spc="-70" dirty="0"/>
              <a:t>_21.0%)</a:t>
            </a:r>
            <a:r>
              <a:rPr lang="ko-KR" altLang="en-US" sz="1300" spc="-70" dirty="0"/>
              <a:t>이며</a:t>
            </a:r>
            <a:r>
              <a:rPr lang="en-US" altLang="ko-KR" sz="1300" spc="-70" dirty="0"/>
              <a:t>, ‘</a:t>
            </a:r>
            <a:r>
              <a:rPr lang="ko-KR" altLang="en-US" sz="1300" spc="-70" dirty="0"/>
              <a:t>여행지 검색</a:t>
            </a:r>
            <a:r>
              <a:rPr lang="en-US" altLang="ko-KR" sz="1300" spc="-70" dirty="0"/>
              <a:t>’(1</a:t>
            </a:r>
            <a:r>
              <a:rPr lang="ko-KR" altLang="en-US" sz="1300" spc="-70" dirty="0"/>
              <a:t>순위 기준</a:t>
            </a:r>
            <a:r>
              <a:rPr lang="en-US" altLang="ko-KR" sz="1300" spc="-70" dirty="0"/>
              <a:t>_16.6%)</a:t>
            </a:r>
            <a:r>
              <a:rPr lang="ko-KR" altLang="en-US" sz="1300" spc="-70" dirty="0"/>
              <a:t>서비스를 주로 활용함</a:t>
            </a:r>
            <a:r>
              <a:rPr lang="en-US" altLang="ko-KR" sz="1300" spc="-70" dirty="0"/>
              <a:t/>
            </a:r>
            <a:br>
              <a:rPr lang="en-US" altLang="ko-KR" sz="1300" spc="-70" dirty="0"/>
            </a:b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23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년 대비 상승폭이 가장 큰 항목은 방문 경로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_‘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지인 추천 및 일반 개인 블로그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/SNS’(4.5%p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↑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이용 빈도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_‘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거의 매일방문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’(4.4%p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↑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b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이용 이유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_‘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디지털관광주민증 혜택 활용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’(4.4%p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↑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임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1E1717-930C-1A71-FADF-1D50D07F7F1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19497" y="2441092"/>
            <a:ext cx="300145" cy="315271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E967EB9-7D08-6F26-2B62-654323057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867919"/>
              </p:ext>
            </p:extLst>
          </p:nvPr>
        </p:nvGraphicFramePr>
        <p:xfrm>
          <a:off x="5010243" y="3472399"/>
          <a:ext cx="4544935" cy="748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22328399"/>
                    </a:ext>
                  </a:extLst>
                </a:gridCol>
              </a:tblGrid>
              <a:tr h="47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거의 매일 방문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주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2~3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월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4~5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월 </a:t>
                      </a:r>
                      <a:r>
                        <a:rPr lang="en-US" altLang="ko-KR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2~3</a:t>
                      </a: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분기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거의 이용하지 않음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-23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graphicFrame>
        <p:nvGraphicFramePr>
          <p:cNvPr id="12" name="내용 개체 틀 7">
            <a:extLst>
              <a:ext uri="{FF2B5EF4-FFF2-40B4-BE49-F238E27FC236}">
                <a16:creationId xmlns:a16="http://schemas.microsoft.com/office/drawing/2014/main" id="{D1288766-5557-F26E-9C11-582B117C5A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2262004"/>
              </p:ext>
            </p:extLst>
          </p:nvPr>
        </p:nvGraphicFramePr>
        <p:xfrm>
          <a:off x="5352363" y="2341380"/>
          <a:ext cx="4163060" cy="115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8E6C0E1F-A075-864A-8E2C-88DAA8AD12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761000" y="2650498"/>
            <a:ext cx="300145" cy="315271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1EAC3CB-AFA7-1E24-B374-C37BFE881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64300"/>
              </p:ext>
            </p:extLst>
          </p:nvPr>
        </p:nvGraphicFramePr>
        <p:xfrm>
          <a:off x="336061" y="5849047"/>
          <a:ext cx="4544936" cy="748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222328399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2409676165"/>
                    </a:ext>
                  </a:extLst>
                </a:gridCol>
              </a:tblGrid>
              <a:tr h="47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시기</a:t>
                      </a:r>
                      <a: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목적에 맞는 맞춤</a:t>
                      </a:r>
                      <a: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추천 정보 보유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다량의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관광정보 보유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광고無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신뢰도 높은 정보 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 참여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사용자 맞춤형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 정보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최신 관광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트렌드 파악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디지털관광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주민증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혜택 활용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-23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F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B70261-9691-EF7D-4A3D-1B1E2A7D6B90}"/>
              </a:ext>
            </a:extLst>
          </p:cNvPr>
          <p:cNvSpPr/>
          <p:nvPr/>
        </p:nvSpPr>
        <p:spPr bwMode="auto">
          <a:xfrm>
            <a:off x="345000" y="2130185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방문 경로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F656067-457E-ABA1-16C2-89320BD8254B}"/>
              </a:ext>
            </a:extLst>
          </p:cNvPr>
          <p:cNvSpPr/>
          <p:nvPr/>
        </p:nvSpPr>
        <p:spPr bwMode="auto">
          <a:xfrm>
            <a:off x="345000" y="4426173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이용 이유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039255-490B-3A4E-AA61-CEE23969C139}"/>
              </a:ext>
            </a:extLst>
          </p:cNvPr>
          <p:cNvSpPr/>
          <p:nvPr/>
        </p:nvSpPr>
        <p:spPr bwMode="auto">
          <a:xfrm>
            <a:off x="5031758" y="2130185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이용빈도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A0B0E4B-B33E-DE13-4826-06D65D8FEC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57300" y="5372848"/>
            <a:ext cx="324394" cy="26904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07A26A4-B034-62A5-C336-C20CB5EFAAA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57300" y="4907690"/>
            <a:ext cx="324394" cy="269041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F57BD8-927E-C2A0-C602-D386631F36E5}"/>
              </a:ext>
            </a:extLst>
          </p:cNvPr>
          <p:cNvSpPr/>
          <p:nvPr/>
        </p:nvSpPr>
        <p:spPr>
          <a:xfrm>
            <a:off x="3585000" y="4775114"/>
            <a:ext cx="57600" cy="57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353FE3C-EFC6-6BF3-2696-3FF831ED588C}"/>
              </a:ext>
            </a:extLst>
          </p:cNvPr>
          <p:cNvSpPr/>
          <p:nvPr/>
        </p:nvSpPr>
        <p:spPr>
          <a:xfrm>
            <a:off x="2438190" y="4775114"/>
            <a:ext cx="57600" cy="5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9FABEA4B-31E4-8EC9-016E-F1068CA12094}"/>
              </a:ext>
            </a:extLst>
          </p:cNvPr>
          <p:cNvSpPr/>
          <p:nvPr/>
        </p:nvSpPr>
        <p:spPr bwMode="auto">
          <a:xfrm>
            <a:off x="5026211" y="4426173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주 활용 서비스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BA3BF1E-304F-4D11-4E8F-63610C4D6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8809"/>
              </p:ext>
            </p:extLst>
          </p:nvPr>
        </p:nvGraphicFramePr>
        <p:xfrm>
          <a:off x="5010242" y="5844516"/>
          <a:ext cx="4544938" cy="7556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758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2195841374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222328399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2409676165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2323665645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4156731500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2574321135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1891398015"/>
                    </a:ext>
                  </a:extLst>
                </a:gridCol>
                <a:gridCol w="331860">
                  <a:extLst>
                    <a:ext uri="{9D8B030D-6E8A-4147-A177-3AD203B41FA5}">
                      <a16:colId xmlns:a16="http://schemas.microsoft.com/office/drawing/2014/main" val="3583390259"/>
                    </a:ext>
                  </a:extLst>
                </a:gridCol>
              </a:tblGrid>
              <a:tr h="4742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여행지 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검색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축제정보</a:t>
                      </a:r>
                      <a:endParaRPr lang="en-US" altLang="ko-KR" sz="8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검색</a:t>
                      </a:r>
                      <a:endParaRPr lang="ko-KR" altLang="en-US" sz="8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지역별 </a:t>
                      </a:r>
                      <a:endParaRPr lang="en-US" altLang="ko-KR" sz="8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인기정보</a:t>
                      </a:r>
                      <a:endParaRPr lang="ko-KR" altLang="en-US" sz="8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여행상품 </a:t>
                      </a:r>
                      <a:endParaRPr lang="en-US" altLang="ko-KR" sz="8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검색</a:t>
                      </a:r>
                      <a:endParaRPr lang="ko-KR" altLang="en-US" sz="8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공연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행사</a:t>
                      </a:r>
                      <a:endParaRPr lang="en-US" altLang="ko-KR" sz="8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검색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테마별 정보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여행기사 </a:t>
                      </a:r>
                      <a:endParaRPr lang="en-US" altLang="ko-KR" sz="8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검색</a:t>
                      </a:r>
                      <a:endParaRPr lang="ko-KR" altLang="en-US" sz="8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AI</a:t>
                      </a: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콕콕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추천코스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, AI</a:t>
                      </a: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콕콕 </a:t>
                      </a:r>
                      <a:r>
                        <a:rPr lang="ko-KR" altLang="en-US" sz="8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플래너</a:t>
                      </a:r>
                      <a:endParaRPr lang="ko-KR" altLang="en-US" sz="8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가볼래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터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디지털</a:t>
                      </a:r>
                      <a:endParaRPr lang="en-US" altLang="ko-KR" sz="8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관광</a:t>
                      </a:r>
                      <a:endParaRPr lang="en-US" altLang="ko-KR" sz="8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주민증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배지콕콕</a:t>
                      </a:r>
                      <a:endParaRPr lang="ko-KR" altLang="en-US" sz="8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1845E53F-86AB-509D-4222-5AB6FCFC1DC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41000" y="4859499"/>
            <a:ext cx="324394" cy="269041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E7007742-0EF3-0463-4FA2-F2D1F4BDCBE4}"/>
              </a:ext>
            </a:extLst>
          </p:cNvPr>
          <p:cNvSpPr/>
          <p:nvPr/>
        </p:nvSpPr>
        <p:spPr>
          <a:xfrm>
            <a:off x="8328451" y="4777495"/>
            <a:ext cx="57600" cy="57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E11FC28E-5328-DE87-758B-9F9D05EEC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333841"/>
              </p:ext>
            </p:extLst>
          </p:nvPr>
        </p:nvGraphicFramePr>
        <p:xfrm>
          <a:off x="336061" y="3472399"/>
          <a:ext cx="4544933" cy="748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</a:tblGrid>
              <a:tr h="47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대한민국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SNS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지인 추천 및 일반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개인 블로그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/SNS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포털사이트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대한민국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검색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온라인 광고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홍보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포털사이트 노출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콘텐츠 클릭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-23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739CE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graphicFrame>
        <p:nvGraphicFramePr>
          <p:cNvPr id="28" name="내용 개체 틀 7">
            <a:extLst>
              <a:ext uri="{FF2B5EF4-FFF2-40B4-BE49-F238E27FC236}">
                <a16:creationId xmlns:a16="http://schemas.microsoft.com/office/drawing/2014/main" id="{96D53237-F4A8-BE1F-D388-573BFDDDE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94508"/>
              </p:ext>
            </p:extLst>
          </p:nvPr>
        </p:nvGraphicFramePr>
        <p:xfrm>
          <a:off x="678181" y="2341380"/>
          <a:ext cx="4163060" cy="115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5EF53F2-547A-919B-8D49-A81AA155091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41000" y="5327390"/>
            <a:ext cx="324394" cy="2690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EC12CC-E1AA-E650-2F5D-B0037A319850}"/>
              </a:ext>
            </a:extLst>
          </p:cNvPr>
          <p:cNvSpPr txBox="1"/>
          <p:nvPr/>
        </p:nvSpPr>
        <p:spPr>
          <a:xfrm>
            <a:off x="273000" y="6585655"/>
            <a:ext cx="38291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9" fontAlgn="base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[Base: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대한민국 구석구석 홈페이지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/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앱 이용자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(n=2,727),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단위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%]</a:t>
            </a:r>
          </a:p>
        </p:txBody>
      </p:sp>
    </p:spTree>
    <p:extLst>
      <p:ext uri="{BB962C8B-B14F-4D97-AF65-F5344CB8AC3E}">
        <p14:creationId xmlns:p14="http://schemas.microsoft.com/office/powerpoint/2010/main" val="4248103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A3892-27F8-E0F2-B9C5-C2E5AD25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내용 개체 틀 7">
            <a:extLst>
              <a:ext uri="{FF2B5EF4-FFF2-40B4-BE49-F238E27FC236}">
                <a16:creationId xmlns:a16="http://schemas.microsoft.com/office/drawing/2014/main" id="{0E099176-BBB1-223C-8AF2-7DAE3669AB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6351752"/>
              </p:ext>
            </p:extLst>
          </p:nvPr>
        </p:nvGraphicFramePr>
        <p:xfrm>
          <a:off x="669601" y="4558198"/>
          <a:ext cx="4193707" cy="1318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내용 개체 틀 7">
            <a:extLst>
              <a:ext uri="{FF2B5EF4-FFF2-40B4-BE49-F238E27FC236}">
                <a16:creationId xmlns:a16="http://schemas.microsoft.com/office/drawing/2014/main" id="{C7BB50A9-8E9C-3CC3-2BB5-AED2A7B91D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653009"/>
              </p:ext>
            </p:extLst>
          </p:nvPr>
        </p:nvGraphicFramePr>
        <p:xfrm>
          <a:off x="669601" y="4627048"/>
          <a:ext cx="4193707" cy="1234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601EE40C-FF82-6CEC-6CB9-CCD861EE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대한민국 구석구석 </a:t>
            </a:r>
            <a:r>
              <a:rPr lang="en-US" altLang="ko-KR" dirty="0"/>
              <a:t>[SNS] </a:t>
            </a:r>
            <a:r>
              <a:rPr lang="ko-KR" altLang="en-US" dirty="0"/>
              <a:t>이용 행태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FE44805A-782B-C95C-22C5-6033E5096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spc="-70" dirty="0"/>
              <a:t>대한민국 구석구석 </a:t>
            </a:r>
            <a:r>
              <a:rPr lang="en-US" altLang="ko-KR" sz="1300" spc="-70" dirty="0"/>
              <a:t>SNS</a:t>
            </a:r>
            <a:r>
              <a:rPr lang="ko-KR" altLang="en-US" sz="1300" spc="-70" dirty="0"/>
              <a:t>는 </a:t>
            </a:r>
            <a:r>
              <a:rPr lang="en-US" altLang="ko-KR" sz="1300" spc="-70" dirty="0"/>
              <a:t>‘</a:t>
            </a:r>
            <a:r>
              <a:rPr lang="ko-KR" altLang="en-US" sz="1300" spc="-70" dirty="0"/>
              <a:t>지인 추천 및 일반 개인 블로그</a:t>
            </a:r>
            <a:r>
              <a:rPr lang="en-US" altLang="ko-KR" sz="1300" spc="-70" dirty="0"/>
              <a:t>/SNS’(30.5%)</a:t>
            </a:r>
            <a:r>
              <a:rPr lang="ko-KR" altLang="en-US" sz="1300" spc="-70" dirty="0"/>
              <a:t>를 통해 방문하며</a:t>
            </a:r>
            <a:r>
              <a:rPr lang="en-US" altLang="ko-KR" sz="1300" spc="-70" dirty="0"/>
              <a:t>, ‘</a:t>
            </a:r>
            <a:r>
              <a:rPr lang="ko-KR" altLang="en-US" sz="1300" spc="-70" dirty="0"/>
              <a:t>주 </a:t>
            </a:r>
            <a:r>
              <a:rPr lang="en-US" altLang="ko-KR" sz="1300" spc="-70" dirty="0"/>
              <a:t>2~3</a:t>
            </a:r>
            <a:r>
              <a:rPr lang="ko-KR" altLang="en-US" sz="1300" spc="-70" dirty="0"/>
              <a:t>회</a:t>
            </a:r>
            <a:r>
              <a:rPr lang="en-US" altLang="ko-KR" sz="1300" spc="-70" dirty="0"/>
              <a:t>’(28.0%) </a:t>
            </a:r>
            <a:r>
              <a:rPr lang="ko-KR" altLang="en-US" sz="1300" spc="-70" dirty="0"/>
              <a:t>이용하는 것으로 나타남</a:t>
            </a:r>
            <a:endParaRPr lang="en-US" altLang="ko-KR" sz="1300" spc="-70" dirty="0"/>
          </a:p>
          <a:p>
            <a:r>
              <a:rPr lang="ko-KR" altLang="en-US" sz="1300" spc="-70" dirty="0"/>
              <a:t>이용 이유는</a:t>
            </a:r>
            <a:r>
              <a:rPr lang="en-US" altLang="ko-KR" sz="1300" spc="-70" dirty="0"/>
              <a:t>‘</a:t>
            </a:r>
            <a:r>
              <a:rPr lang="ko-KR" altLang="en-US" sz="1300" spc="-70" dirty="0"/>
              <a:t>시기</a:t>
            </a:r>
            <a:r>
              <a:rPr lang="en-US" altLang="ko-KR" sz="1300" spc="-70" dirty="0"/>
              <a:t>/</a:t>
            </a:r>
            <a:r>
              <a:rPr lang="ko-KR" altLang="en-US" sz="1300" spc="-70" dirty="0"/>
              <a:t>목적에 맞는 맞춤 추천 정보보유</a:t>
            </a:r>
            <a:r>
              <a:rPr lang="en-US" altLang="ko-KR" sz="1300" spc="-70" dirty="0"/>
              <a:t>’(1</a:t>
            </a:r>
            <a:r>
              <a:rPr lang="ko-KR" altLang="en-US" sz="1300" spc="-70" dirty="0"/>
              <a:t>순위 기준</a:t>
            </a:r>
            <a:r>
              <a:rPr lang="en-US" altLang="ko-KR" sz="1300" spc="-70" dirty="0"/>
              <a:t>_25.5%)</a:t>
            </a:r>
            <a:r>
              <a:rPr lang="ko-KR" altLang="en-US" sz="1300" spc="-70" dirty="0"/>
              <a:t>이며</a:t>
            </a:r>
            <a:r>
              <a:rPr lang="en-US" altLang="ko-KR" sz="1300" spc="-70" dirty="0"/>
              <a:t>, </a:t>
            </a:r>
            <a:r>
              <a:rPr lang="ko-KR" altLang="en-US" sz="1300" spc="-70" dirty="0"/>
              <a:t>경쟁력 강화를 위해 </a:t>
            </a:r>
            <a:r>
              <a:rPr lang="en-US" altLang="ko-KR" sz="1300" spc="-70" dirty="0"/>
              <a:t>‘</a:t>
            </a:r>
            <a:r>
              <a:rPr lang="ko-KR" altLang="en-US" sz="1300" spc="-70" dirty="0" err="1"/>
              <a:t>테마콘텐츠</a:t>
            </a:r>
            <a:r>
              <a:rPr lang="ko-KR" altLang="en-US" sz="1300" spc="-70" dirty="0"/>
              <a:t> 제공</a:t>
            </a:r>
            <a:r>
              <a:rPr lang="en-US" altLang="ko-KR" sz="1300" spc="-70" dirty="0"/>
              <a:t>‘(21.3%)</a:t>
            </a:r>
            <a:r>
              <a:rPr lang="ko-KR" altLang="en-US" sz="1300" spc="-70" dirty="0"/>
              <a:t>이 필요한 것으로 나타남</a:t>
            </a:r>
            <a:r>
              <a:rPr lang="en-US" altLang="ko-KR" sz="1300" spc="-70" dirty="0"/>
              <a:t/>
            </a:r>
            <a:br>
              <a:rPr lang="en-US" altLang="ko-KR" sz="1300" spc="-70" dirty="0"/>
            </a:b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23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년 대비 상승폭이 가장 큰 항목은 방문 경로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_‘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지인 추천 및 일반 개인 블로그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/SNS’(3.4%p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↑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이용 빈도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_‘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주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2~3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회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’(9.5%p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↑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b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이용 이유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_‘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시기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목적에 맞는 맞춤 추천 정보 보유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’(8.3%p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↑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경쟁력 강화요소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_‘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가보고 싶은 느낌이 드는 고품질 이미지 강화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’(5.4%p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↑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임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22AD92B-949B-B60A-039B-CE632E1B7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266920"/>
              </p:ext>
            </p:extLst>
          </p:nvPr>
        </p:nvGraphicFramePr>
        <p:xfrm>
          <a:off x="336061" y="3472399"/>
          <a:ext cx="4544935" cy="748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22328399"/>
                    </a:ext>
                  </a:extLst>
                </a:gridCol>
              </a:tblGrid>
              <a:tr h="47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지인 추천 및 </a:t>
                      </a:r>
                      <a:endParaRPr lang="en-US" altLang="ko-KR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일반 개인 </a:t>
                      </a:r>
                      <a:endParaRPr lang="en-US" altLang="ko-KR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블로그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/SNS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대한민국 </a:t>
                      </a:r>
                      <a:endParaRPr lang="en-US" altLang="ko-KR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다른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SNS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대한민국 </a:t>
                      </a:r>
                      <a:endParaRPr lang="en-US" altLang="ko-KR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</a:t>
                      </a:r>
                      <a:endParaRPr lang="en-US" altLang="ko-KR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홈페이지를 통해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온라인 광고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홍보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포털사이트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노출 콘텐츠 </a:t>
                      </a:r>
                      <a:endParaRPr lang="en-US" altLang="ko-KR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클릭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포털사이트 대한민국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구석구석 검색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-23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▼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▼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▼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▼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3CC"/>
                          </a:solidFill>
                          <a:latin typeface="+mj-ea"/>
                          <a:ea typeface="+mj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graphicFrame>
        <p:nvGraphicFramePr>
          <p:cNvPr id="17" name="내용 개체 틀 7">
            <a:extLst>
              <a:ext uri="{FF2B5EF4-FFF2-40B4-BE49-F238E27FC236}">
                <a16:creationId xmlns:a16="http://schemas.microsoft.com/office/drawing/2014/main" id="{628145EA-906F-999F-B828-54B77D85C4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2460131"/>
              </p:ext>
            </p:extLst>
          </p:nvPr>
        </p:nvGraphicFramePr>
        <p:xfrm>
          <a:off x="678181" y="2341380"/>
          <a:ext cx="4163060" cy="115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2A5693DD-4DD3-016C-06B6-FBC378DD94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4614" y="2635313"/>
            <a:ext cx="300145" cy="315271"/>
          </a:xfrm>
          <a:prstGeom prst="rect">
            <a:avLst/>
          </a:prstGeom>
        </p:spPr>
      </p:pic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44691964-6120-7B48-BEDE-DAE3BB793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294419"/>
              </p:ext>
            </p:extLst>
          </p:nvPr>
        </p:nvGraphicFramePr>
        <p:xfrm>
          <a:off x="5010243" y="3472399"/>
          <a:ext cx="4544935" cy="748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22328399"/>
                    </a:ext>
                  </a:extLst>
                </a:gridCol>
              </a:tblGrid>
              <a:tr h="47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거의 매일 방문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주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2~3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월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4~5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월 </a:t>
                      </a:r>
                      <a:r>
                        <a:rPr lang="en-US" altLang="ko-KR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2~3</a:t>
                      </a:r>
                      <a:r>
                        <a:rPr lang="ko-KR" altLang="en-US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분기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회 정도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거의 이용하지 않음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-23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5.3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9.5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FCB"/>
                          </a:solidFill>
                          <a:effectLst/>
                          <a:uLnTx/>
                          <a:uFillTx/>
                          <a:latin typeface="KoPub돋움체 Bold"/>
                          <a:ea typeface="KoPub돋움체 Bold"/>
                          <a:cs typeface="+mn-cs"/>
                        </a:rPr>
                        <a:t>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7.7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▲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+mj-ea"/>
                          <a:ea typeface="+mj-ea"/>
                          <a:cs typeface="+mn-cs"/>
                        </a:rPr>
                        <a:t>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graphicFrame>
        <p:nvGraphicFramePr>
          <p:cNvPr id="26" name="내용 개체 틀 7">
            <a:extLst>
              <a:ext uri="{FF2B5EF4-FFF2-40B4-BE49-F238E27FC236}">
                <a16:creationId xmlns:a16="http://schemas.microsoft.com/office/drawing/2014/main" id="{42D16D17-F56D-C0A6-F700-31E59276BC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7584296"/>
              </p:ext>
            </p:extLst>
          </p:nvPr>
        </p:nvGraphicFramePr>
        <p:xfrm>
          <a:off x="5352363" y="2341380"/>
          <a:ext cx="4163060" cy="115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7" name="그림 26">
            <a:extLst>
              <a:ext uri="{FF2B5EF4-FFF2-40B4-BE49-F238E27FC236}">
                <a16:creationId xmlns:a16="http://schemas.microsoft.com/office/drawing/2014/main" id="{36398D3B-0F41-C539-494A-C3A2A159AA0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761000" y="2618194"/>
            <a:ext cx="300145" cy="315271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FE4FF14-6773-450E-C5D0-F6FA387A6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834321"/>
              </p:ext>
            </p:extLst>
          </p:nvPr>
        </p:nvGraphicFramePr>
        <p:xfrm>
          <a:off x="336061" y="5849047"/>
          <a:ext cx="4544935" cy="748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22328399"/>
                    </a:ext>
                  </a:extLst>
                </a:gridCol>
              </a:tblGrid>
              <a:tr h="47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시기</a:t>
                      </a:r>
                      <a: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목적에 맞는 맞춤 추천 정보 </a:t>
                      </a:r>
                      <a: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보유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다량의 관광</a:t>
                      </a:r>
                      <a: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보유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광고無</a:t>
                      </a:r>
                      <a: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신뢰도 </a:t>
                      </a:r>
                      <a: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높은 정보 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최신 관광 </a:t>
                      </a:r>
                      <a: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트렌드 파악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사용자 맞춤형 </a:t>
                      </a:r>
                      <a: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 정보 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8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 참여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-23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1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0.7</a:t>
                      </a:r>
                      <a:endParaRPr kumimoji="0" lang="en-US" altLang="ko-KR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31CC"/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5A8F2EF-F215-8556-AADC-CBC9FDCC8BEC}"/>
              </a:ext>
            </a:extLst>
          </p:cNvPr>
          <p:cNvSpPr/>
          <p:nvPr/>
        </p:nvSpPr>
        <p:spPr bwMode="auto">
          <a:xfrm>
            <a:off x="345000" y="2130185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방문 경로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39DDC4F-713C-62CE-14C2-5A9598F92014}"/>
              </a:ext>
            </a:extLst>
          </p:cNvPr>
          <p:cNvSpPr/>
          <p:nvPr/>
        </p:nvSpPr>
        <p:spPr bwMode="auto">
          <a:xfrm>
            <a:off x="345000" y="4426173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이용 이유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0B4768E-EF52-C1C1-47B9-9ECE6C6F97BE}"/>
              </a:ext>
            </a:extLst>
          </p:cNvPr>
          <p:cNvSpPr/>
          <p:nvPr/>
        </p:nvSpPr>
        <p:spPr bwMode="auto">
          <a:xfrm>
            <a:off x="5031758" y="2130185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이용빈도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DC2673D-9CF9-8A81-D469-869CED1ED058}"/>
              </a:ext>
            </a:extLst>
          </p:cNvPr>
          <p:cNvSpPr/>
          <p:nvPr/>
        </p:nvSpPr>
        <p:spPr>
          <a:xfrm>
            <a:off x="3585000" y="4775114"/>
            <a:ext cx="57600" cy="57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762FC42-2802-3137-0781-347C00CCED2D}"/>
              </a:ext>
            </a:extLst>
          </p:cNvPr>
          <p:cNvSpPr/>
          <p:nvPr/>
        </p:nvSpPr>
        <p:spPr>
          <a:xfrm>
            <a:off x="2438190" y="4775114"/>
            <a:ext cx="57600" cy="5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77FF89-D6CB-6846-8F26-1A49856F41F9}"/>
              </a:ext>
            </a:extLst>
          </p:cNvPr>
          <p:cNvSpPr/>
          <p:nvPr/>
        </p:nvSpPr>
        <p:spPr bwMode="auto">
          <a:xfrm>
            <a:off x="5031758" y="4426173"/>
            <a:ext cx="1886806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경쟁력 강화를 위한 필요 요소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7B8B7A7-8B29-ED37-0894-B930DD382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357242"/>
              </p:ext>
            </p:extLst>
          </p:nvPr>
        </p:nvGraphicFramePr>
        <p:xfrm>
          <a:off x="5010243" y="5854784"/>
          <a:ext cx="4544935" cy="748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  <a:gridCol w="699217">
                  <a:extLst>
                    <a:ext uri="{9D8B030D-6E8A-4147-A177-3AD203B41FA5}">
                      <a16:colId xmlns:a16="http://schemas.microsoft.com/office/drawing/2014/main" val="222328399"/>
                    </a:ext>
                  </a:extLst>
                </a:gridCol>
              </a:tblGrid>
              <a:tr h="47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테마콘텐츠</a:t>
                      </a: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제공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가보고 싶은 느낌이 드는 고품질 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이미지 강화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흥미도 높은 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동영상 콘텐츠 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제공 증대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이벤트 횟수 증가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일반 이용자 제보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콘텐츠의 활용 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범위 확대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콘텐츠별 </a:t>
                      </a:r>
                      <a: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8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정보성</a:t>
                      </a:r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강화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-23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E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E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E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E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9BA1ED26-0FED-F987-08EA-FC3FF642CF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0797530"/>
              </p:ext>
            </p:extLst>
          </p:nvPr>
        </p:nvGraphicFramePr>
        <p:xfrm>
          <a:off x="5352363" y="4723765"/>
          <a:ext cx="4163060" cy="115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4C9DE6B3-0570-BDFF-C01B-2521DB4F4B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04394" y="5178385"/>
            <a:ext cx="300145" cy="3152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78B703A-099E-E372-A719-E73680D866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93000" y="5178385"/>
            <a:ext cx="300145" cy="31527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7053AA7-14DA-A898-D5DC-D5B14DE4C8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4614" y="4763379"/>
            <a:ext cx="300145" cy="31527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255F111-A07C-F5F3-9A84-50F11D918E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4614" y="5256955"/>
            <a:ext cx="300145" cy="315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55A041-D685-9272-FD98-E0C891FCA186}"/>
              </a:ext>
            </a:extLst>
          </p:cNvPr>
          <p:cNvSpPr txBox="1"/>
          <p:nvPr/>
        </p:nvSpPr>
        <p:spPr>
          <a:xfrm>
            <a:off x="273000" y="6585655"/>
            <a:ext cx="38291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SNS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이용자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(n=9,247),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</p:txBody>
      </p:sp>
    </p:spTree>
    <p:extLst>
      <p:ext uri="{BB962C8B-B14F-4D97-AF65-F5344CB8AC3E}">
        <p14:creationId xmlns:p14="http://schemas.microsoft.com/office/powerpoint/2010/main" val="13185588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E238C-1648-8AA7-2CAE-9B6B67B33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FED48-F9E0-EEA7-C00F-788C3FA1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대한민국 구석구석 이용 만족도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4AC76C5-307B-35BB-A625-2C03403B7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400" dirty="0"/>
              <a:t>대한민국 구석구석 이용 만족도 평가 결과</a:t>
            </a:r>
            <a:r>
              <a:rPr lang="en-US" altLang="ko-KR" sz="1400" dirty="0"/>
              <a:t>, </a:t>
            </a:r>
            <a:r>
              <a:rPr lang="ko-KR" altLang="en-US" sz="1400" dirty="0"/>
              <a:t>전반평가</a:t>
            </a:r>
            <a:r>
              <a:rPr lang="en-US" altLang="ko-KR" sz="1400" dirty="0"/>
              <a:t>, </a:t>
            </a:r>
            <a:r>
              <a:rPr lang="ko-KR" altLang="en-US" sz="1400" dirty="0"/>
              <a:t>세부 속성평가 모두 </a:t>
            </a:r>
            <a:r>
              <a:rPr lang="en-US" altLang="ko-KR" sz="1400" dirty="0"/>
              <a:t>80</a:t>
            </a:r>
            <a:r>
              <a:rPr lang="ko-KR" altLang="en-US" sz="1400" dirty="0"/>
              <a:t>점 이상으로 높게 평가됨</a:t>
            </a:r>
            <a:endParaRPr lang="en-US" altLang="ko-KR" sz="1400" dirty="0"/>
          </a:p>
          <a:p>
            <a:r>
              <a:rPr lang="en-US" altLang="ko-KR" sz="1400" dirty="0"/>
              <a:t>‘</a:t>
            </a:r>
            <a:r>
              <a:rPr lang="ko-KR" altLang="en-US" sz="1400" dirty="0"/>
              <a:t>정보 유용성</a:t>
            </a:r>
            <a:r>
              <a:rPr lang="en-US" altLang="ko-KR" sz="1400" dirty="0"/>
              <a:t>’</a:t>
            </a:r>
            <a:r>
              <a:rPr lang="ko-KR" altLang="en-US" sz="1400" dirty="0"/>
              <a:t>을 제외한 모든 항목에서 </a:t>
            </a:r>
            <a:r>
              <a:rPr lang="en-US" altLang="ko-KR" sz="1400" dirty="0"/>
              <a:t>23</a:t>
            </a:r>
            <a:r>
              <a:rPr lang="ko-KR" altLang="en-US" sz="1400" dirty="0"/>
              <a:t>년 대비 점수가 소폭 상승한 것으로 나타남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인스타그램은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정보신속성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’(90.1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속성에서 타 접속 경로 대비 점수가 높음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3ACECF9E-E04A-FE19-1D78-ABA693BC1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761970"/>
              </p:ext>
            </p:extLst>
          </p:nvPr>
        </p:nvGraphicFramePr>
        <p:xfrm>
          <a:off x="336061" y="3805201"/>
          <a:ext cx="4581226" cy="27973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119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602820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437691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799649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799649">
                  <a:extLst>
                    <a:ext uri="{9D8B030D-6E8A-4147-A177-3AD203B41FA5}">
                      <a16:colId xmlns:a16="http://schemas.microsoft.com/office/drawing/2014/main" val="1939511377"/>
                    </a:ext>
                  </a:extLst>
                </a:gridCol>
                <a:gridCol w="799649">
                  <a:extLst>
                    <a:ext uri="{9D8B030D-6E8A-4147-A177-3AD203B41FA5}">
                      <a16:colId xmlns:a16="http://schemas.microsoft.com/office/drawing/2014/main" val="873204736"/>
                    </a:ext>
                  </a:extLst>
                </a:gridCol>
                <a:gridCol w="799649">
                  <a:extLst>
                    <a:ext uri="{9D8B030D-6E8A-4147-A177-3AD203B41FA5}">
                      <a16:colId xmlns:a16="http://schemas.microsoft.com/office/drawing/2014/main" val="3316930616"/>
                    </a:ext>
                  </a:extLst>
                </a:gridCol>
              </a:tblGrid>
              <a:tr h="302389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전반 평가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30316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전반적 만족도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추천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서비스 이용 후 국내 여행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서비스 내 접촉 여행지 방문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524445"/>
                  </a:ext>
                </a:extLst>
              </a:tr>
              <a:tr h="263429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(15,754)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63429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(11,974)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85.3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84.1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490334"/>
                  </a:ext>
                </a:extLst>
              </a:tr>
              <a:tr h="263429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903042"/>
                  </a:ext>
                </a:extLst>
              </a:tr>
              <a:tr h="263429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접속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경로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홈페이지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640874"/>
                  </a:ext>
                </a:extLst>
              </a:tr>
              <a:tr h="263429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303162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263429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303162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</a:tbl>
          </a:graphicData>
        </a:graphic>
      </p:graphicFrame>
      <p:graphicFrame>
        <p:nvGraphicFramePr>
          <p:cNvPr id="65" name="내용 개체 틀 7">
            <a:extLst>
              <a:ext uri="{FF2B5EF4-FFF2-40B4-BE49-F238E27FC236}">
                <a16:creationId xmlns:a16="http://schemas.microsoft.com/office/drawing/2014/main" id="{BBB07AA1-FFEE-234B-CBBB-DE98231717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8825779"/>
              </p:ext>
            </p:extLst>
          </p:nvPr>
        </p:nvGraphicFramePr>
        <p:xfrm>
          <a:off x="1751556" y="2012746"/>
          <a:ext cx="6345900" cy="182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101B63F3-C3FA-D240-AF4D-26E98B257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502016"/>
              </p:ext>
            </p:extLst>
          </p:nvPr>
        </p:nvGraphicFramePr>
        <p:xfrm>
          <a:off x="8205788" y="3805201"/>
          <a:ext cx="1364151" cy="27924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9316">
                  <a:extLst>
                    <a:ext uri="{9D8B030D-6E8A-4147-A177-3AD203B41FA5}">
                      <a16:colId xmlns:a16="http://schemas.microsoft.com/office/drawing/2014/main" val="460500694"/>
                    </a:ext>
                  </a:extLst>
                </a:gridCol>
                <a:gridCol w="864835">
                  <a:extLst>
                    <a:ext uri="{9D8B030D-6E8A-4147-A177-3AD203B41FA5}">
                      <a16:colId xmlns:a16="http://schemas.microsoft.com/office/drawing/2014/main" val="2848283024"/>
                    </a:ext>
                  </a:extLst>
                </a:gridCol>
              </a:tblGrid>
              <a:tr h="343893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세부 속성평가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6500"/>
                  </a:ext>
                </a:extLst>
              </a:tr>
              <a:tr h="2741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접근성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261480"/>
                  </a:ext>
                </a:extLst>
              </a:tr>
              <a:tr h="2717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(1,1540)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726456"/>
                  </a:ext>
                </a:extLst>
              </a:tr>
              <a:tr h="2717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(8,863)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81.7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726669"/>
                  </a:ext>
                </a:extLst>
              </a:tr>
              <a:tr h="2717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552906"/>
                  </a:ext>
                </a:extLst>
              </a:tr>
              <a:tr h="2717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(2,727)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739768"/>
                  </a:ext>
                </a:extLst>
              </a:tr>
              <a:tr h="2717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098627"/>
                  </a:ext>
                </a:extLst>
              </a:tr>
              <a:tr h="2717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162233"/>
                  </a:ext>
                </a:extLst>
              </a:tr>
              <a:tr h="2717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88503"/>
                  </a:ext>
                </a:extLst>
              </a:tr>
              <a:tr h="2717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494601"/>
                  </a:ext>
                </a:extLst>
              </a:tr>
            </a:tbl>
          </a:graphicData>
        </a:graphic>
      </p:graphicFrame>
      <p:graphicFrame>
        <p:nvGraphicFramePr>
          <p:cNvPr id="69" name="내용 개체 틀 7">
            <a:extLst>
              <a:ext uri="{FF2B5EF4-FFF2-40B4-BE49-F238E27FC236}">
                <a16:creationId xmlns:a16="http://schemas.microsoft.com/office/drawing/2014/main" id="{09AA8BFB-BEBD-649F-9841-F1BE31F20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252802"/>
              </p:ext>
            </p:extLst>
          </p:nvPr>
        </p:nvGraphicFramePr>
        <p:xfrm>
          <a:off x="8609989" y="2061000"/>
          <a:ext cx="1016939" cy="182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1" name="그림 70">
            <a:extLst>
              <a:ext uri="{FF2B5EF4-FFF2-40B4-BE49-F238E27FC236}">
                <a16:creationId xmlns:a16="http://schemas.microsoft.com/office/drawing/2014/main" id="{005D98F2-2B08-0F96-CB26-3ECB183782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729000" y="2524750"/>
            <a:ext cx="399728" cy="293976"/>
          </a:xfrm>
          <a:prstGeom prst="rect">
            <a:avLst/>
          </a:prstGeom>
        </p:spPr>
      </p:pic>
      <p:graphicFrame>
        <p:nvGraphicFramePr>
          <p:cNvPr id="72" name="내용 개체 틀 7">
            <a:extLst>
              <a:ext uri="{FF2B5EF4-FFF2-40B4-BE49-F238E27FC236}">
                <a16:creationId xmlns:a16="http://schemas.microsoft.com/office/drawing/2014/main" id="{4A926D20-AF23-F1CF-A1CB-19DFA58E0E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0386785"/>
              </p:ext>
            </p:extLst>
          </p:nvPr>
        </p:nvGraphicFramePr>
        <p:xfrm>
          <a:off x="8516446" y="1894962"/>
          <a:ext cx="1116554" cy="556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2710F758-9068-4F11-BE90-B2A45B58E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140473"/>
              </p:ext>
            </p:extLst>
          </p:nvPr>
        </p:nvGraphicFramePr>
        <p:xfrm>
          <a:off x="4968210" y="3805200"/>
          <a:ext cx="3166140" cy="2792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1535">
                  <a:extLst>
                    <a:ext uri="{9D8B030D-6E8A-4147-A177-3AD203B41FA5}">
                      <a16:colId xmlns:a16="http://schemas.microsoft.com/office/drawing/2014/main" val="1387235157"/>
                    </a:ext>
                  </a:extLst>
                </a:gridCol>
                <a:gridCol w="791535">
                  <a:extLst>
                    <a:ext uri="{9D8B030D-6E8A-4147-A177-3AD203B41FA5}">
                      <a16:colId xmlns:a16="http://schemas.microsoft.com/office/drawing/2014/main" val="766013162"/>
                    </a:ext>
                  </a:extLst>
                </a:gridCol>
                <a:gridCol w="791535">
                  <a:extLst>
                    <a:ext uri="{9D8B030D-6E8A-4147-A177-3AD203B41FA5}">
                      <a16:colId xmlns:a16="http://schemas.microsoft.com/office/drawing/2014/main" val="656426374"/>
                    </a:ext>
                  </a:extLst>
                </a:gridCol>
                <a:gridCol w="791535">
                  <a:extLst>
                    <a:ext uri="{9D8B030D-6E8A-4147-A177-3AD203B41FA5}">
                      <a16:colId xmlns:a16="http://schemas.microsoft.com/office/drawing/2014/main" val="3644637939"/>
                    </a:ext>
                  </a:extLst>
                </a:gridCol>
              </a:tblGrid>
              <a:tr h="302370">
                <a:tc grid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세부 속성평가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035547"/>
                  </a:ext>
                </a:extLst>
              </a:tr>
              <a:tr h="30709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신뢰성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유용성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다양성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최신화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9596"/>
                  </a:ext>
                </a:extLst>
              </a:tr>
              <a:tr h="2660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86.7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81.9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702918"/>
                  </a:ext>
                </a:extLst>
              </a:tr>
              <a:tr h="2660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87.2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85.5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84.0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82.3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423998"/>
                  </a:ext>
                </a:extLst>
              </a:tr>
              <a:tr h="2660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C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82332"/>
                  </a:ext>
                </a:extLst>
              </a:tr>
              <a:tr h="2660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87.7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209040"/>
                  </a:ext>
                </a:extLst>
              </a:tr>
              <a:tr h="2660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90.1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400259"/>
                  </a:ext>
                </a:extLst>
              </a:tr>
              <a:tr h="2660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85.8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83.5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38790"/>
                  </a:ext>
                </a:extLst>
              </a:tr>
              <a:tr h="2660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87.8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84.5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82.6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387257"/>
                  </a:ext>
                </a:extLst>
              </a:tr>
              <a:tr h="3203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89.4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89.2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86.3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85.7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9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999781"/>
                  </a:ext>
                </a:extLst>
              </a:tr>
            </a:tbl>
          </a:graphicData>
        </a:graphic>
      </p:graphicFrame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4F8AB625-9E44-B786-0F95-A3FCDABFBEC4}"/>
              </a:ext>
            </a:extLst>
          </p:cNvPr>
          <p:cNvCxnSpPr/>
          <p:nvPr/>
        </p:nvCxnSpPr>
        <p:spPr>
          <a:xfrm>
            <a:off x="4936493" y="2276475"/>
            <a:ext cx="0" cy="4321175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B9EAAF88-AB80-5BA7-FDCF-E49530D9B572}"/>
              </a:ext>
            </a:extLst>
          </p:cNvPr>
          <p:cNvCxnSpPr/>
          <p:nvPr/>
        </p:nvCxnSpPr>
        <p:spPr>
          <a:xfrm>
            <a:off x="8168643" y="2276475"/>
            <a:ext cx="0" cy="4321175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그림 77">
            <a:extLst>
              <a:ext uri="{FF2B5EF4-FFF2-40B4-BE49-F238E27FC236}">
                <a16:creationId xmlns:a16="http://schemas.microsoft.com/office/drawing/2014/main" id="{31A292B4-0F31-E80C-9EC2-38105E6116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15957" y="2524750"/>
            <a:ext cx="399728" cy="293976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321653DB-30C8-5CB4-9B54-932413BB2D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98202" y="2448550"/>
            <a:ext cx="399728" cy="29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39D653-2041-E4F8-C8B2-CB12307F9FA0}"/>
              </a:ext>
            </a:extLst>
          </p:cNvPr>
          <p:cNvSpPr txBox="1"/>
          <p:nvPr/>
        </p:nvSpPr>
        <p:spPr>
          <a:xfrm>
            <a:off x="273000" y="2534239"/>
            <a:ext cx="158399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(n=11,974), </a:t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 환산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정보접근성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앱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네이버 블로그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(n=8,863), </a:t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점 환산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)]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EE7678B-2D2C-25D3-E53D-D617C1F2CF06}"/>
              </a:ext>
            </a:extLst>
          </p:cNvPr>
          <p:cNvSpPr/>
          <p:nvPr/>
        </p:nvSpPr>
        <p:spPr bwMode="auto">
          <a:xfrm>
            <a:off x="345000" y="2268724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이용 만족도 평가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30244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EDDA-17A1-A03E-6FA7-D1B3C9E2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4E62AFC4-96D0-C88C-5635-981D842AC543}"/>
              </a:ext>
            </a:extLst>
          </p:cNvPr>
          <p:cNvGrpSpPr/>
          <p:nvPr/>
        </p:nvGrpSpPr>
        <p:grpSpPr>
          <a:xfrm>
            <a:off x="5940418" y="4631397"/>
            <a:ext cx="2684582" cy="1707984"/>
            <a:chOff x="1439359" y="1882588"/>
            <a:chExt cx="4170449" cy="2610285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89BC0D8D-80DB-D5CA-914F-B90D6B18C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9359" y="1882588"/>
              <a:ext cx="1838764" cy="2610285"/>
            </a:xfrm>
            <a:prstGeom prst="flowChartAlternateProcess">
              <a:avLst/>
            </a:prstGeom>
            <a:noFill/>
            <a:effectLst>
              <a:outerShdw blurRad="50800" dist="50800" dir="2700000" algn="ctr" rotWithShape="0">
                <a:srgbClr val="000000"/>
              </a:outerShdw>
            </a:effectLst>
          </p:spPr>
        </p:pic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A4C5D6D4-512B-C22B-1FB4-4E719BAB8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85844" y="1907118"/>
              <a:ext cx="1823964" cy="2585755"/>
            </a:xfrm>
            <a:prstGeom prst="flowChartAlternateProcess">
              <a:avLst/>
            </a:prstGeom>
            <a:noFill/>
            <a:effectLst>
              <a:outerShdw blurRad="50800" dist="50800" dir="2700000" algn="ctr" rotWithShape="0">
                <a:srgbClr val="000000"/>
              </a:outerShdw>
            </a:effectLst>
          </p:spPr>
        </p:pic>
      </p:grp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53E0F7E8-43B9-CE0B-385F-1ABAB38B9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89108"/>
              </p:ext>
            </p:extLst>
          </p:nvPr>
        </p:nvGraphicFramePr>
        <p:xfrm>
          <a:off x="369246" y="3317056"/>
          <a:ext cx="4560584" cy="3275957"/>
        </p:xfrm>
        <a:graphic>
          <a:graphicData uri="http://schemas.openxmlformats.org/drawingml/2006/table">
            <a:tbl>
              <a:tblPr/>
              <a:tblGrid>
                <a:gridCol w="65151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5151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65151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651512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651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5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061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defRPr sz="1000" b="1" i="0" u="none" strike="noStrike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용어 이해도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defRPr sz="1000" b="1" i="0" u="none" strike="noStrike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화면 구성 가시성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defRPr sz="1000" b="1" i="0" u="none" strike="noStrike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이용 속도 적정성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defRPr sz="1000" b="1" i="0" u="none" strike="noStrike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디자인</a:t>
                      </a:r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색상 일관성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defRPr sz="1000" b="1" i="0" u="none" strike="noStrike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메뉴 항목 명확성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defRPr sz="1000" b="1" i="0" u="none" strike="noStrike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메뉴 경로 표시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defRPr sz="1000" b="1" i="0" u="none" strike="noStrike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오류 메시지 이해도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세로챠트-일반">
            <a:extLst>
              <a:ext uri="{FF2B5EF4-FFF2-40B4-BE49-F238E27FC236}">
                <a16:creationId xmlns:a16="http://schemas.microsoft.com/office/drawing/2014/main" id="{307D2277-7E80-629C-C09F-2CA3F1B427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4423960"/>
              </p:ext>
            </p:extLst>
          </p:nvPr>
        </p:nvGraphicFramePr>
        <p:xfrm>
          <a:off x="321317" y="2813183"/>
          <a:ext cx="4674972" cy="335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2AE5F098-83A8-9487-02F7-76F7ACB8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대한민국 구석구석 </a:t>
            </a:r>
            <a:r>
              <a:rPr lang="en-US" altLang="ko-KR" dirty="0"/>
              <a:t>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사용편의성 평가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37CC9FC-B7CF-9B7A-276C-E66BC3C50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dirty="0"/>
              <a:t>대한민국 구석구석 홈페이지</a:t>
            </a:r>
            <a:r>
              <a:rPr lang="en-US" altLang="ko-KR" sz="1300" dirty="0"/>
              <a:t>/</a:t>
            </a:r>
            <a:r>
              <a:rPr lang="ko-KR" altLang="en-US" sz="1300" dirty="0"/>
              <a:t>앱 사용 편의성 결과</a:t>
            </a:r>
            <a:r>
              <a:rPr lang="en-US" altLang="ko-KR" sz="1300" dirty="0"/>
              <a:t>,  </a:t>
            </a:r>
            <a:r>
              <a:rPr lang="ko-KR" altLang="en-US" sz="1300" dirty="0"/>
              <a:t>모든 항목에서 </a:t>
            </a:r>
            <a:r>
              <a:rPr lang="en-US" altLang="ko-KR" sz="1300" dirty="0"/>
              <a:t>80</a:t>
            </a:r>
            <a:r>
              <a:rPr lang="ko-KR" altLang="en-US" sz="1300" dirty="0"/>
              <a:t>점 이상으로 높게 평가되었으며</a:t>
            </a:r>
            <a:r>
              <a:rPr lang="en-US" altLang="ko-KR" sz="1300" dirty="0"/>
              <a:t>, 23</a:t>
            </a:r>
            <a:r>
              <a:rPr lang="ko-KR" altLang="en-US" sz="1300" dirty="0"/>
              <a:t>년 대비 소폭 상승함</a:t>
            </a:r>
            <a:endParaRPr lang="en-US" altLang="ko-KR" sz="1300" dirty="0"/>
          </a:p>
          <a:p>
            <a:r>
              <a:rPr lang="en-US" altLang="ko-KR" sz="1300" dirty="0"/>
              <a:t>24</a:t>
            </a:r>
            <a:r>
              <a:rPr lang="ko-KR" altLang="en-US" sz="1300" dirty="0"/>
              <a:t>년 홈페이지</a:t>
            </a:r>
            <a:r>
              <a:rPr lang="en-US" altLang="ko-KR" sz="1300" dirty="0"/>
              <a:t>/</a:t>
            </a:r>
            <a:r>
              <a:rPr lang="ko-KR" altLang="en-US" sz="1300" dirty="0"/>
              <a:t>앱 사용 편의성은 </a:t>
            </a:r>
            <a:r>
              <a:rPr lang="en-US" altLang="ko-KR" sz="1300" dirty="0"/>
              <a:t>‘</a:t>
            </a:r>
            <a:r>
              <a:rPr lang="ko-KR" altLang="en-US" sz="1300" dirty="0"/>
              <a:t>용어 이해도</a:t>
            </a:r>
            <a:r>
              <a:rPr lang="en-US" altLang="ko-KR" sz="1300" dirty="0"/>
              <a:t>’ </a:t>
            </a:r>
            <a:r>
              <a:rPr lang="ko-KR" altLang="en-US" sz="1300" dirty="0"/>
              <a:t>항목이 </a:t>
            </a:r>
            <a:r>
              <a:rPr lang="en-US" altLang="ko-KR" sz="1300" dirty="0"/>
              <a:t>84.1</a:t>
            </a:r>
            <a:r>
              <a:rPr lang="ko-KR" altLang="en-US" sz="1300" dirty="0"/>
              <a:t>점으로 </a:t>
            </a:r>
            <a:r>
              <a:rPr lang="en-US" altLang="ko-KR" sz="1300" dirty="0"/>
              <a:t>23</a:t>
            </a:r>
            <a:r>
              <a:rPr lang="ko-KR" altLang="en-US" sz="1300" dirty="0"/>
              <a:t>년에 이어 가장 높게 평가됨</a:t>
            </a:r>
            <a:endParaRPr lang="en-US" altLang="ko-KR" sz="1300" dirty="0"/>
          </a:p>
          <a:p>
            <a:r>
              <a:rPr lang="ko-KR" altLang="en-US" sz="1300" dirty="0"/>
              <a:t>개선사항은 </a:t>
            </a:r>
            <a:r>
              <a:rPr lang="en-US" altLang="ko-KR" sz="1300" dirty="0"/>
              <a:t>‘</a:t>
            </a:r>
            <a:r>
              <a:rPr lang="ko-KR" altLang="en-US" sz="1300" dirty="0"/>
              <a:t>최신 정보 다양화</a:t>
            </a:r>
            <a:r>
              <a:rPr lang="en-US" altLang="ko-KR" sz="1300" dirty="0"/>
              <a:t>’(1</a:t>
            </a:r>
            <a:r>
              <a:rPr lang="ko-KR" altLang="en-US" sz="1300" dirty="0"/>
              <a:t>순위 기준</a:t>
            </a:r>
            <a:r>
              <a:rPr lang="en-US" altLang="ko-KR" sz="1300" dirty="0"/>
              <a:t>_27.8%)</a:t>
            </a:r>
            <a:r>
              <a:rPr lang="ko-KR" altLang="en-US" sz="1300" dirty="0"/>
              <a:t>가 최우선 개선 요소로 나타남</a:t>
            </a:r>
            <a:endParaRPr lang="en-US" altLang="ko-KR" sz="1300" dirty="0"/>
          </a:p>
          <a:p>
            <a:r>
              <a:rPr lang="ko-KR" altLang="en-US" sz="1300" dirty="0"/>
              <a:t>메인 화면 구성 안</a:t>
            </a:r>
            <a:r>
              <a:rPr lang="en-US" altLang="ko-KR" sz="1300" dirty="0"/>
              <a:t>) </a:t>
            </a:r>
            <a:r>
              <a:rPr lang="ko-KR" altLang="en-US" sz="1300" dirty="0"/>
              <a:t>선택 중 </a:t>
            </a:r>
            <a:r>
              <a:rPr lang="en-US" altLang="ko-KR" sz="1300" dirty="0"/>
              <a:t>‘A’</a:t>
            </a:r>
            <a:r>
              <a:rPr lang="ko-KR" altLang="en-US" sz="1300" dirty="0"/>
              <a:t>안이 </a:t>
            </a:r>
            <a:r>
              <a:rPr lang="en-US" altLang="ko-KR" sz="1300" dirty="0"/>
              <a:t>51.3%</a:t>
            </a:r>
            <a:r>
              <a:rPr lang="ko-KR" altLang="en-US" sz="1300" dirty="0"/>
              <a:t>로 선호도가 더 높은 것으로 나타남</a:t>
            </a:r>
            <a:endParaRPr lang="en-US" altLang="ko-KR" sz="1300" dirty="0"/>
          </a:p>
        </p:txBody>
      </p:sp>
      <p:sp>
        <p:nvSpPr>
          <p:cNvPr id="62" name="Text Box 168">
            <a:extLst>
              <a:ext uri="{FF2B5EF4-FFF2-40B4-BE49-F238E27FC236}">
                <a16:creationId xmlns:a16="http://schemas.microsoft.com/office/drawing/2014/main" id="{C6653F54-F576-53D6-2BCC-436735405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03" y="2866227"/>
            <a:ext cx="505020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점 </a:t>
            </a:r>
            <a: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pc="-5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pc="-50" dirty="0">
                <a:solidFill>
                  <a:schemeClr val="tx1"/>
                </a:solidFill>
                <a:latin typeface="+mj-ea"/>
                <a:ea typeface="+mj-ea"/>
              </a:rPr>
              <a:t>환산 평균</a:t>
            </a:r>
            <a:endParaRPr lang="en-US" altLang="ko-KR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0B58A95E-F3D8-0009-9D0D-7B24364E88C9}"/>
              </a:ext>
            </a:extLst>
          </p:cNvPr>
          <p:cNvGrpSpPr/>
          <p:nvPr/>
        </p:nvGrpSpPr>
        <p:grpSpPr>
          <a:xfrm>
            <a:off x="362176" y="3304094"/>
            <a:ext cx="4560584" cy="206882"/>
            <a:chOff x="361027" y="2875080"/>
            <a:chExt cx="5301839" cy="206882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6D418A65-F844-D2A7-C089-6E5B4EA1A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099" y="2875080"/>
              <a:ext cx="391858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5B7CF663-0ECB-AF6F-C3E1-BE57B8F52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28" y="2875080"/>
              <a:ext cx="391858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0187402C-5A61-0E31-3EC3-CDE89FDA2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707" y="2875080"/>
              <a:ext cx="391858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EB880D57-DAAE-6C19-081B-28A631E8C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585" y="2875080"/>
              <a:ext cx="391858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DA5087B4-37F3-6AC6-210C-9845E9F72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464" y="2875080"/>
              <a:ext cx="391858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50DC6263-F7D5-56FD-1BA5-BAC99EFA9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343" y="2875080"/>
              <a:ext cx="391858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9EA40FEA-557A-FE3D-4826-61E459655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221" y="2875080"/>
              <a:ext cx="391858" cy="19392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72" name="Group 3">
              <a:extLst>
                <a:ext uri="{FF2B5EF4-FFF2-40B4-BE49-F238E27FC236}">
                  <a16:creationId xmlns:a16="http://schemas.microsoft.com/office/drawing/2014/main" id="{1898EBFF-22F5-C468-1166-0323992B16D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05998416"/>
                </p:ext>
              </p:extLst>
            </p:nvPr>
          </p:nvGraphicFramePr>
          <p:xfrm>
            <a:off x="361027" y="2901005"/>
            <a:ext cx="5301839" cy="180957"/>
          </p:xfrm>
          <a:graphic>
            <a:graphicData uri="http://schemas.openxmlformats.org/drawingml/2006/table">
              <a:tbl>
                <a:tblPr/>
                <a:tblGrid>
                  <a:gridCol w="651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51512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651512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651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51512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651512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651512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algn="ctr" fontAlgn="t"/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84.1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fontAlgn="t"/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82.0</a:t>
                        </a:r>
                      </a:p>
                    </a:txBody>
                    <a:tcPr marL="9525" marR="9525" marT="9525" marB="0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fontAlgn="t"/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82.0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fontAlgn="t"/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81.8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fontAlgn="t"/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81.7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fontAlgn="t"/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81.2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fontAlgn="t"/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81.2</a:t>
                        </a:r>
                      </a:p>
                    </a:txBody>
                    <a:tcPr marL="9525" marR="9525" marT="9525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4175AF9F-A4EC-06F6-82BC-2C44ADC26940}"/>
              </a:ext>
            </a:extLst>
          </p:cNvPr>
          <p:cNvSpPr/>
          <p:nvPr/>
        </p:nvSpPr>
        <p:spPr bwMode="auto">
          <a:xfrm>
            <a:off x="345000" y="2268724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사용 편의성 평가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108" name="내용 개체 틀 7">
            <a:extLst>
              <a:ext uri="{FF2B5EF4-FFF2-40B4-BE49-F238E27FC236}">
                <a16:creationId xmlns:a16="http://schemas.microsoft.com/office/drawing/2014/main" id="{EEAECF20-887C-7532-2AE2-91FE3E9A4E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9179856"/>
              </p:ext>
            </p:extLst>
          </p:nvPr>
        </p:nvGraphicFramePr>
        <p:xfrm>
          <a:off x="5292780" y="2383791"/>
          <a:ext cx="4292904" cy="1223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9" name="내용 개체 틀 7">
            <a:extLst>
              <a:ext uri="{FF2B5EF4-FFF2-40B4-BE49-F238E27FC236}">
                <a16:creationId xmlns:a16="http://schemas.microsoft.com/office/drawing/2014/main" id="{41566B5B-821E-8870-2572-6CFBD36F40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2729354"/>
              </p:ext>
            </p:extLst>
          </p:nvPr>
        </p:nvGraphicFramePr>
        <p:xfrm>
          <a:off x="5293459" y="2476168"/>
          <a:ext cx="4292904" cy="1047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854CF13-8232-1302-EFEC-F7890C1A6D02}"/>
              </a:ext>
            </a:extLst>
          </p:cNvPr>
          <p:cNvSpPr/>
          <p:nvPr/>
        </p:nvSpPr>
        <p:spPr bwMode="auto">
          <a:xfrm>
            <a:off x="5025000" y="2265278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개선사항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94B025BE-D7CA-1651-1F0C-88D6F0210999}"/>
              </a:ext>
            </a:extLst>
          </p:cNvPr>
          <p:cNvSpPr/>
          <p:nvPr/>
        </p:nvSpPr>
        <p:spPr>
          <a:xfrm>
            <a:off x="8586242" y="2531663"/>
            <a:ext cx="57600" cy="57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548C3A3-D222-C5DC-1615-1EF1A97F8EEE}"/>
              </a:ext>
            </a:extLst>
          </p:cNvPr>
          <p:cNvSpPr/>
          <p:nvPr/>
        </p:nvSpPr>
        <p:spPr>
          <a:xfrm>
            <a:off x="7677094" y="2532140"/>
            <a:ext cx="57600" cy="5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3" name="표 112">
            <a:extLst>
              <a:ext uri="{FF2B5EF4-FFF2-40B4-BE49-F238E27FC236}">
                <a16:creationId xmlns:a16="http://schemas.microsoft.com/office/drawing/2014/main" id="{AE1DA235-D254-DE96-A349-158A7136C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21414"/>
              </p:ext>
            </p:extLst>
          </p:nvPr>
        </p:nvGraphicFramePr>
        <p:xfrm>
          <a:off x="5010243" y="3512315"/>
          <a:ext cx="4544933" cy="54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1399066296"/>
                    </a:ext>
                  </a:extLst>
                </a:gridCol>
                <a:gridCol w="839060">
                  <a:extLst>
                    <a:ext uri="{9D8B030D-6E8A-4147-A177-3AD203B41FA5}">
                      <a16:colId xmlns:a16="http://schemas.microsoft.com/office/drawing/2014/main" val="2966739522"/>
                    </a:ext>
                  </a:extLst>
                </a:gridCol>
              </a:tblGrid>
              <a:tr h="244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최신 정보 다양화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검색 기능 개선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여행 취향을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반영한 맞춤형 추천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주제별 특화된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 제공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사이트 디자인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및 메뉴 구성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-23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10303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8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89CDED15-41F9-D03C-F0DB-420BC32C57A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4710" y="3244591"/>
            <a:ext cx="344904" cy="354062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D58161C-037B-E25A-2F22-D3D0D2B6263B}"/>
              </a:ext>
            </a:extLst>
          </p:cNvPr>
          <p:cNvSpPr/>
          <p:nvPr/>
        </p:nvSpPr>
        <p:spPr bwMode="auto">
          <a:xfrm>
            <a:off x="5025000" y="4323586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메인 화면 선호 의견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BA5C6AC-13B9-7C73-4520-F82106933628}"/>
              </a:ext>
            </a:extLst>
          </p:cNvPr>
          <p:cNvGrpSpPr/>
          <p:nvPr/>
        </p:nvGrpSpPr>
        <p:grpSpPr>
          <a:xfrm>
            <a:off x="6393000" y="4729427"/>
            <a:ext cx="1800137" cy="1469828"/>
            <a:chOff x="1665870" y="3170802"/>
            <a:chExt cx="1734430" cy="168438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F55A52D-F87C-4F40-512C-A70A7E6F616A}"/>
                </a:ext>
              </a:extLst>
            </p:cNvPr>
            <p:cNvSpPr/>
            <p:nvPr/>
          </p:nvSpPr>
          <p:spPr>
            <a:xfrm>
              <a:off x="2137504" y="3659006"/>
              <a:ext cx="775986" cy="8578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6" name="차트 5">
              <a:extLst>
                <a:ext uri="{FF2B5EF4-FFF2-40B4-BE49-F238E27FC236}">
                  <a16:creationId xmlns:a16="http://schemas.microsoft.com/office/drawing/2014/main" id="{B2B64628-2341-1BAF-99C2-95AEC75C5DF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88160956"/>
                </p:ext>
              </p:extLst>
            </p:nvPr>
          </p:nvGraphicFramePr>
          <p:xfrm>
            <a:off x="1665870" y="3170802"/>
            <a:ext cx="1734430" cy="16843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33E459B-B161-7BD1-F233-B9905241A435}"/>
              </a:ext>
            </a:extLst>
          </p:cNvPr>
          <p:cNvSpPr txBox="1"/>
          <p:nvPr/>
        </p:nvSpPr>
        <p:spPr>
          <a:xfrm>
            <a:off x="6959162" y="5293909"/>
            <a:ext cx="688815" cy="38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0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메인화면</a:t>
            </a: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/>
            </a:r>
            <a:br>
              <a:rPr lang="en-US" altLang="ko-KR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</a:br>
            <a:r>
              <a:rPr lang="ko-KR" altLang="en-US" sz="10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rPr>
              <a:t>선호 의견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3D34CCC-F11A-8093-8BBB-27DCBCD87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16402"/>
              </p:ext>
            </p:extLst>
          </p:nvPr>
        </p:nvGraphicFramePr>
        <p:xfrm>
          <a:off x="5792853" y="6408024"/>
          <a:ext cx="2979712" cy="188976"/>
        </p:xfrm>
        <a:graphic>
          <a:graphicData uri="http://schemas.openxmlformats.org/drawingml/2006/table">
            <a:tbl>
              <a:tblPr/>
              <a:tblGrid>
                <a:gridCol w="1489856">
                  <a:extLst>
                    <a:ext uri="{9D8B030D-6E8A-4147-A177-3AD203B41FA5}">
                      <a16:colId xmlns:a16="http://schemas.microsoft.com/office/drawing/2014/main" val="957829291"/>
                    </a:ext>
                  </a:extLst>
                </a:gridCol>
                <a:gridCol w="1489856">
                  <a:extLst>
                    <a:ext uri="{9D8B030D-6E8A-4147-A177-3AD203B41FA5}">
                      <a16:colId xmlns:a16="http://schemas.microsoft.com/office/drawing/2014/main" val="1792231007"/>
                    </a:ext>
                  </a:extLst>
                </a:gridCol>
              </a:tblGrid>
              <a:tr h="18897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A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안</a:t>
                      </a:r>
                    </a:p>
                  </a:txBody>
                  <a:tcPr marL="0" marR="0" marT="0" marB="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B</a:t>
                      </a:r>
                      <a:r>
                        <a:rPr lang="ko-KR" altLang="en-US" sz="10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97105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43D0874-D7FF-8877-473F-BA0E0A8A71CC}"/>
              </a:ext>
            </a:extLst>
          </p:cNvPr>
          <p:cNvSpPr txBox="1"/>
          <p:nvPr/>
        </p:nvSpPr>
        <p:spPr>
          <a:xfrm>
            <a:off x="273000" y="6585655"/>
            <a:ext cx="38291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9" fontAlgn="base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대한민국 구석구석 홈페이지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(n=2,727),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]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02B8F93-DA83-4EA8-D471-03D90DAB5C5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45000" y="2656110"/>
            <a:ext cx="300145" cy="31527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AC7AFA2-F36B-82A2-58CE-55C3D0D62FE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45000" y="2991390"/>
            <a:ext cx="300145" cy="315271"/>
          </a:xfrm>
          <a:prstGeom prst="rect">
            <a:avLst/>
          </a:prstGeom>
        </p:spPr>
      </p:pic>
      <p:sp>
        <p:nvSpPr>
          <p:cNvPr id="23" name="Text Box 168">
            <a:extLst>
              <a:ext uri="{FF2B5EF4-FFF2-40B4-BE49-F238E27FC236}">
                <a16:creationId xmlns:a16="http://schemas.microsoft.com/office/drawing/2014/main" id="{3CC85AAA-81DE-E65C-F4DA-02E360A3D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243" y="6635750"/>
            <a:ext cx="2390473" cy="123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전체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(n=11,974),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0CCC8A-B30A-044B-6344-678BF7BB3D0E}"/>
              </a:ext>
            </a:extLst>
          </p:cNvPr>
          <p:cNvSpPr txBox="1"/>
          <p:nvPr/>
        </p:nvSpPr>
        <p:spPr>
          <a:xfrm>
            <a:off x="4943438" y="4034380"/>
            <a:ext cx="38291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9" fontAlgn="base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[Base: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대한민국 구석구석 홈페이지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/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앱 이용자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(n=2,727), </a:t>
            </a:r>
            <a:r>
              <a:rPr lang="ko-KR" altLang="en-US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단위</a:t>
            </a:r>
            <a:r>
              <a:rPr lang="en-US" altLang="ko-KR" sz="8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%]</a:t>
            </a:r>
          </a:p>
        </p:txBody>
      </p:sp>
    </p:spTree>
    <p:extLst>
      <p:ext uri="{BB962C8B-B14F-4D97-AF65-F5344CB8AC3E}">
        <p14:creationId xmlns:p14="http://schemas.microsoft.com/office/powerpoint/2010/main" val="18461322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8771-006B-4438-C996-D87890BE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1F5D58-BBAD-1A36-11CD-73E9CD77842C}"/>
              </a:ext>
            </a:extLst>
          </p:cNvPr>
          <p:cNvGrpSpPr/>
          <p:nvPr/>
        </p:nvGrpSpPr>
        <p:grpSpPr>
          <a:xfrm>
            <a:off x="7498697" y="4856089"/>
            <a:ext cx="1483096" cy="1475534"/>
            <a:chOff x="2735242" y="3263865"/>
            <a:chExt cx="2009716" cy="1995019"/>
          </a:xfrm>
        </p:grpSpPr>
        <p:sp>
          <p:nvSpPr>
            <p:cNvPr id="21" name="부분 원형 20">
              <a:extLst>
                <a:ext uri="{FF2B5EF4-FFF2-40B4-BE49-F238E27FC236}">
                  <a16:creationId xmlns:a16="http://schemas.microsoft.com/office/drawing/2014/main" id="{EF547D5A-1519-A759-A6BD-223EBB6E484C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2361449"/>
                <a:gd name="adj2" fmla="val 10469711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078D06DB-3398-B5CB-55AB-3F22B55F1362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4BF2D0C-2ED8-71B3-6B60-70B4C95F7060}"/>
              </a:ext>
            </a:extLst>
          </p:cNvPr>
          <p:cNvGrpSpPr/>
          <p:nvPr/>
        </p:nvGrpSpPr>
        <p:grpSpPr>
          <a:xfrm>
            <a:off x="5475238" y="4856089"/>
            <a:ext cx="1483096" cy="1475534"/>
            <a:chOff x="2735242" y="3263865"/>
            <a:chExt cx="2009716" cy="1995019"/>
          </a:xfrm>
        </p:grpSpPr>
        <p:sp>
          <p:nvSpPr>
            <p:cNvPr id="16" name="부분 원형 15">
              <a:extLst>
                <a:ext uri="{FF2B5EF4-FFF2-40B4-BE49-F238E27FC236}">
                  <a16:creationId xmlns:a16="http://schemas.microsoft.com/office/drawing/2014/main" id="{F5CA538E-66A5-D460-49BF-190C05ED4190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3187280"/>
                <a:gd name="adj2" fmla="val 10729225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DEDC805-F303-33F4-6B0F-ABB8B20B9D17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8BA43C8D-ACD9-820B-F8F4-3C9B1EFC21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6345536"/>
              </p:ext>
            </p:extLst>
          </p:nvPr>
        </p:nvGraphicFramePr>
        <p:xfrm>
          <a:off x="5441307" y="4871721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1AC16C6-949A-850E-FEB3-7A258ACB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대한민국 구석구석 </a:t>
            </a:r>
            <a:r>
              <a:rPr lang="en-US" altLang="ko-KR" dirty="0"/>
              <a:t>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콘텐츠 평가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13E520E-1B35-F8EF-36FA-D2FD17718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sz="1300" dirty="0"/>
              <a:t>‘</a:t>
            </a:r>
            <a:r>
              <a:rPr lang="ko-KR" altLang="en-US" sz="1300" dirty="0" err="1"/>
              <a:t>가볼래</a:t>
            </a:r>
            <a:r>
              <a:rPr lang="en-US" altLang="ko-KR" sz="1300" dirty="0"/>
              <a:t>-</a:t>
            </a:r>
            <a:r>
              <a:rPr lang="ko-KR" altLang="en-US" sz="1300" dirty="0"/>
              <a:t>터</a:t>
            </a:r>
            <a:r>
              <a:rPr lang="en-US" altLang="ko-KR" sz="1300" dirty="0"/>
              <a:t>’ </a:t>
            </a:r>
            <a:r>
              <a:rPr lang="ko-KR" altLang="en-US" sz="1300" dirty="0"/>
              <a:t>구독률은 </a:t>
            </a:r>
            <a:r>
              <a:rPr lang="en-US" altLang="ko-KR" sz="1300" dirty="0"/>
              <a:t>64.5%</a:t>
            </a:r>
            <a:r>
              <a:rPr lang="ko-KR" altLang="en-US" sz="1300" dirty="0"/>
              <a:t>이며</a:t>
            </a:r>
            <a:r>
              <a:rPr lang="en-US" altLang="ko-KR" sz="1300" dirty="0"/>
              <a:t>, </a:t>
            </a:r>
            <a:r>
              <a:rPr lang="ko-KR" altLang="en-US" sz="1300" dirty="0"/>
              <a:t>구독자 대상 </a:t>
            </a:r>
            <a:r>
              <a:rPr lang="en-US" altLang="ko-KR" sz="1300" dirty="0"/>
              <a:t>‘</a:t>
            </a:r>
            <a:r>
              <a:rPr lang="ko-KR" altLang="en-US" sz="1300" dirty="0" err="1"/>
              <a:t>가볼래</a:t>
            </a:r>
            <a:r>
              <a:rPr lang="en-US" altLang="ko-KR" sz="1300" dirty="0"/>
              <a:t>-</a:t>
            </a:r>
            <a:r>
              <a:rPr lang="ko-KR" altLang="en-US" sz="1300" dirty="0"/>
              <a:t>터</a:t>
            </a:r>
            <a:r>
              <a:rPr lang="en-US" altLang="ko-KR" sz="1300" dirty="0"/>
              <a:t>’</a:t>
            </a:r>
            <a:r>
              <a:rPr lang="ko-KR" altLang="en-US" sz="1300" dirty="0"/>
              <a:t> 전반 평가 결과</a:t>
            </a:r>
            <a:r>
              <a:rPr lang="en-US" altLang="ko-KR" sz="1300" dirty="0"/>
              <a:t>, ‘</a:t>
            </a:r>
            <a:r>
              <a:rPr lang="ko-KR" altLang="en-US" sz="1300" dirty="0"/>
              <a:t>지속의향</a:t>
            </a:r>
            <a:r>
              <a:rPr lang="en-US" altLang="ko-KR" sz="1300" dirty="0"/>
              <a:t>’(87.6</a:t>
            </a:r>
            <a:r>
              <a:rPr lang="ko-KR" altLang="en-US" sz="1300" dirty="0"/>
              <a:t>점</a:t>
            </a:r>
            <a:r>
              <a:rPr lang="en-US" altLang="ko-KR" sz="1300" dirty="0"/>
              <a:t>) </a:t>
            </a:r>
            <a:r>
              <a:rPr lang="ko-KR" altLang="en-US" sz="1300" dirty="0"/>
              <a:t>항목을 가장 높게 평가함</a:t>
            </a:r>
            <a:endParaRPr lang="en-US" altLang="ko-KR" sz="1300" dirty="0"/>
          </a:p>
          <a:p>
            <a:r>
              <a:rPr lang="en-US" altLang="ko-KR" sz="1300" dirty="0"/>
              <a:t>‘</a:t>
            </a:r>
            <a:r>
              <a:rPr lang="ko-KR" altLang="en-US" sz="1300" dirty="0" err="1"/>
              <a:t>가볼래</a:t>
            </a:r>
            <a:r>
              <a:rPr lang="en-US" altLang="ko-KR" sz="1300" dirty="0"/>
              <a:t>-</a:t>
            </a:r>
            <a:r>
              <a:rPr lang="ko-KR" altLang="en-US" sz="1300" dirty="0"/>
              <a:t>터</a:t>
            </a:r>
            <a:r>
              <a:rPr lang="en-US" altLang="ko-KR" sz="1300" dirty="0"/>
              <a:t>’ </a:t>
            </a:r>
            <a:r>
              <a:rPr lang="ko-KR" altLang="en-US" sz="1300" dirty="0"/>
              <a:t>비구독자는 </a:t>
            </a:r>
            <a:r>
              <a:rPr lang="en-US" altLang="ko-KR" sz="1300" dirty="0"/>
              <a:t>‘</a:t>
            </a:r>
            <a:r>
              <a:rPr lang="ko-KR" altLang="en-US" sz="1300" dirty="0"/>
              <a:t>어떤 서비스인지 몰라서</a:t>
            </a:r>
            <a:r>
              <a:rPr lang="en-US" altLang="ko-KR" sz="1300" dirty="0"/>
              <a:t>’(36.8%) </a:t>
            </a:r>
            <a:r>
              <a:rPr lang="ko-KR" altLang="en-US" sz="1300" dirty="0"/>
              <a:t>서비스를 이용하지 않는 비율이 높음</a:t>
            </a:r>
            <a:endParaRPr lang="en-US" altLang="ko-KR" sz="1300" dirty="0"/>
          </a:p>
          <a:p>
            <a:r>
              <a:rPr lang="en-US" altLang="ko-KR" sz="1300" dirty="0"/>
              <a:t>‘</a:t>
            </a:r>
            <a:r>
              <a:rPr lang="ko-KR" altLang="en-US" sz="1300" dirty="0"/>
              <a:t>여행상품</a:t>
            </a:r>
            <a:r>
              <a:rPr lang="en-US" altLang="ko-KR" sz="1300" dirty="0"/>
              <a:t>’ </a:t>
            </a:r>
            <a:r>
              <a:rPr lang="ko-KR" altLang="en-US" sz="1300" dirty="0" err="1"/>
              <a:t>경험률은</a:t>
            </a:r>
            <a:r>
              <a:rPr lang="ko-KR" altLang="en-US" sz="1300" dirty="0"/>
              <a:t> </a:t>
            </a:r>
            <a:r>
              <a:rPr lang="en-US" altLang="ko-KR" sz="1300" dirty="0"/>
              <a:t>61.9%</a:t>
            </a:r>
            <a:r>
              <a:rPr lang="ko-KR" altLang="en-US" sz="1300" dirty="0"/>
              <a:t>이며</a:t>
            </a:r>
            <a:r>
              <a:rPr lang="en-US" altLang="ko-KR" sz="1300" dirty="0"/>
              <a:t>, </a:t>
            </a:r>
            <a:r>
              <a:rPr lang="ko-KR" altLang="en-US" sz="1300" dirty="0"/>
              <a:t>상품 경험자 대상 </a:t>
            </a:r>
            <a:r>
              <a:rPr lang="en-US" altLang="ko-KR" sz="1300" dirty="0"/>
              <a:t>‘</a:t>
            </a:r>
            <a:r>
              <a:rPr lang="ko-KR" altLang="en-US" sz="1300" dirty="0"/>
              <a:t>여행상품</a:t>
            </a:r>
            <a:r>
              <a:rPr lang="en-US" altLang="ko-KR" sz="1300" dirty="0"/>
              <a:t>’ </a:t>
            </a:r>
            <a:r>
              <a:rPr lang="ko-KR" altLang="en-US" sz="1300" dirty="0"/>
              <a:t>전반적 만족도 조사 결과</a:t>
            </a:r>
            <a:r>
              <a:rPr lang="en-US" altLang="ko-KR" sz="1300" dirty="0"/>
              <a:t>, 84.8</a:t>
            </a:r>
            <a:r>
              <a:rPr lang="ko-KR" altLang="en-US" sz="1300" dirty="0"/>
              <a:t>점으로 전년 대비 </a:t>
            </a:r>
            <a:r>
              <a:rPr lang="en-US" altLang="ko-KR" sz="1300" dirty="0"/>
              <a:t>0.9</a:t>
            </a:r>
            <a:r>
              <a:rPr lang="ko-KR" altLang="en-US" sz="1300" dirty="0"/>
              <a:t>점 높게 나타남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9F3C9A2-4E4B-1934-B8AC-DCAA1BAF43FC}"/>
              </a:ext>
            </a:extLst>
          </p:cNvPr>
          <p:cNvGrpSpPr/>
          <p:nvPr/>
        </p:nvGrpSpPr>
        <p:grpSpPr>
          <a:xfrm>
            <a:off x="866300" y="2517066"/>
            <a:ext cx="1483096" cy="1475534"/>
            <a:chOff x="2735242" y="3263865"/>
            <a:chExt cx="2009716" cy="1995019"/>
          </a:xfrm>
        </p:grpSpPr>
        <p:sp>
          <p:nvSpPr>
            <p:cNvPr id="31" name="부분 원형 30">
              <a:extLst>
                <a:ext uri="{FF2B5EF4-FFF2-40B4-BE49-F238E27FC236}">
                  <a16:creationId xmlns:a16="http://schemas.microsoft.com/office/drawing/2014/main" id="{9512D5CA-1237-7647-E964-F4CC45745BA3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6227725"/>
                <a:gd name="adj2" fmla="val 5319685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69CF055-E126-679B-739A-79929ADB1A92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3" name="차트 32">
            <a:extLst>
              <a:ext uri="{FF2B5EF4-FFF2-40B4-BE49-F238E27FC236}">
                <a16:creationId xmlns:a16="http://schemas.microsoft.com/office/drawing/2014/main" id="{3CDC7446-E673-3FB6-3A87-C41262967A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874148"/>
              </p:ext>
            </p:extLst>
          </p:nvPr>
        </p:nvGraphicFramePr>
        <p:xfrm>
          <a:off x="832369" y="2532698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B627C185-F020-ABB3-54ED-7CDF2B114AF7}"/>
              </a:ext>
            </a:extLst>
          </p:cNvPr>
          <p:cNvGrpSpPr/>
          <p:nvPr/>
        </p:nvGrpSpPr>
        <p:grpSpPr>
          <a:xfrm>
            <a:off x="2889759" y="2517066"/>
            <a:ext cx="1483096" cy="1475534"/>
            <a:chOff x="2735242" y="3263865"/>
            <a:chExt cx="2009716" cy="1995019"/>
          </a:xfrm>
        </p:grpSpPr>
        <p:sp>
          <p:nvSpPr>
            <p:cNvPr id="35" name="부분 원형 34">
              <a:extLst>
                <a:ext uri="{FF2B5EF4-FFF2-40B4-BE49-F238E27FC236}">
                  <a16:creationId xmlns:a16="http://schemas.microsoft.com/office/drawing/2014/main" id="{D3D75934-47F7-0D57-78AD-6C3A25D70110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4653759"/>
                <a:gd name="adj2" fmla="val 6999256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4324CCF0-1406-0861-75F4-A1488FB25645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39" name="차트 38">
            <a:extLst>
              <a:ext uri="{FF2B5EF4-FFF2-40B4-BE49-F238E27FC236}">
                <a16:creationId xmlns:a16="http://schemas.microsoft.com/office/drawing/2014/main" id="{9CEC64B0-6511-1E09-862A-6275F1F8F1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6128645"/>
              </p:ext>
            </p:extLst>
          </p:nvPr>
        </p:nvGraphicFramePr>
        <p:xfrm>
          <a:off x="2847534" y="2532698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2" name="Text Box 168">
            <a:extLst>
              <a:ext uri="{FF2B5EF4-FFF2-40B4-BE49-F238E27FC236}">
                <a16:creationId xmlns:a16="http://schemas.microsoft.com/office/drawing/2014/main" id="{77B52C67-BAB7-A9DC-E40A-F358D0737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66" y="2307902"/>
            <a:ext cx="2149988" cy="12810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BF94100-6561-118C-781E-D03A9BBA7CB8}"/>
              </a:ext>
            </a:extLst>
          </p:cNvPr>
          <p:cNvSpPr/>
          <p:nvPr/>
        </p:nvSpPr>
        <p:spPr>
          <a:xfrm>
            <a:off x="789000" y="4073659"/>
            <a:ext cx="1670759" cy="158746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9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Calibri Light" panose="020F0302020204030204" pitchFamily="34" charset="0"/>
              </a:rPr>
              <a:t>비구독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구독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C5B95C9-BB73-F0FE-C5ED-7174DACCE884}"/>
              </a:ext>
            </a:extLst>
          </p:cNvPr>
          <p:cNvSpPr/>
          <p:nvPr/>
        </p:nvSpPr>
        <p:spPr>
          <a:xfrm>
            <a:off x="2807326" y="4073659"/>
            <a:ext cx="1670759" cy="158746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비구독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구독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CFB854D-34F1-14F9-EA46-2AFC7A4B855E}"/>
              </a:ext>
            </a:extLst>
          </p:cNvPr>
          <p:cNvSpPr/>
          <p:nvPr/>
        </p:nvSpPr>
        <p:spPr bwMode="auto">
          <a:xfrm>
            <a:off x="1857000" y="1999280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가볼래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-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터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구독 여부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659431B-4B27-B287-98F0-1229A4B06433}"/>
              </a:ext>
            </a:extLst>
          </p:cNvPr>
          <p:cNvSpPr/>
          <p:nvPr/>
        </p:nvSpPr>
        <p:spPr>
          <a:xfrm>
            <a:off x="2358961" y="3002509"/>
            <a:ext cx="62228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구독</a:t>
            </a:r>
            <a:endParaRPr lang="en-US" altLang="ko-KR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rgbClr val="BF0000"/>
              </a:solidFill>
            </a:endParaRPr>
          </a:p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▲</a:t>
            </a:r>
            <a: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14.7%</a:t>
            </a:r>
            <a:endPara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B7D5DBCD-50F6-412D-8C63-F7AE3616AF90}"/>
              </a:ext>
            </a:extLst>
          </p:cNvPr>
          <p:cNvGrpSpPr/>
          <p:nvPr/>
        </p:nvGrpSpPr>
        <p:grpSpPr>
          <a:xfrm>
            <a:off x="5475238" y="2517066"/>
            <a:ext cx="1483096" cy="1475534"/>
            <a:chOff x="2735242" y="3263865"/>
            <a:chExt cx="2009716" cy="1995019"/>
          </a:xfrm>
        </p:grpSpPr>
        <p:sp>
          <p:nvSpPr>
            <p:cNvPr id="90" name="부분 원형 89">
              <a:extLst>
                <a:ext uri="{FF2B5EF4-FFF2-40B4-BE49-F238E27FC236}">
                  <a16:creationId xmlns:a16="http://schemas.microsoft.com/office/drawing/2014/main" id="{14175338-6234-4BFF-833B-3BCA20023961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5058431"/>
                <a:gd name="adj2" fmla="val 6494586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F1484792-7E8C-002B-661D-C6FD79955C38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56E729C-76D5-6F9F-8C3A-35F27488E456}"/>
              </a:ext>
            </a:extLst>
          </p:cNvPr>
          <p:cNvGrpSpPr/>
          <p:nvPr/>
        </p:nvGrpSpPr>
        <p:grpSpPr>
          <a:xfrm>
            <a:off x="7498697" y="2517066"/>
            <a:ext cx="1483096" cy="1475534"/>
            <a:chOff x="2735242" y="3263865"/>
            <a:chExt cx="2009716" cy="1995019"/>
          </a:xfrm>
        </p:grpSpPr>
        <p:sp>
          <p:nvSpPr>
            <p:cNvPr id="94" name="부분 원형 93">
              <a:extLst>
                <a:ext uri="{FF2B5EF4-FFF2-40B4-BE49-F238E27FC236}">
                  <a16:creationId xmlns:a16="http://schemas.microsoft.com/office/drawing/2014/main" id="{6568B779-C2A2-7F66-3F08-DF3EF0C6CF71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4653759"/>
                <a:gd name="adj2" fmla="val 6999256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860C167B-1B9E-74D4-738C-30C32E6680DE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aphicFrame>
        <p:nvGraphicFramePr>
          <p:cNvPr id="96" name="차트 95">
            <a:extLst>
              <a:ext uri="{FF2B5EF4-FFF2-40B4-BE49-F238E27FC236}">
                <a16:creationId xmlns:a16="http://schemas.microsoft.com/office/drawing/2014/main" id="{34F21064-70FC-D13E-3631-F1DA4700E0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328359"/>
              </p:ext>
            </p:extLst>
          </p:nvPr>
        </p:nvGraphicFramePr>
        <p:xfrm>
          <a:off x="7456472" y="2532698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7" name="Text Box 168">
            <a:extLst>
              <a:ext uri="{FF2B5EF4-FFF2-40B4-BE49-F238E27FC236}">
                <a16:creationId xmlns:a16="http://schemas.microsoft.com/office/drawing/2014/main" id="{EBB1862E-8285-9259-5566-C471EEE77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304" y="2307902"/>
            <a:ext cx="2995978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여행상품 인지자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(n=2,040),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742353A5-8E58-75D4-BB87-F1E0B3CF4911}"/>
              </a:ext>
            </a:extLst>
          </p:cNvPr>
          <p:cNvSpPr/>
          <p:nvPr/>
        </p:nvSpPr>
        <p:spPr bwMode="auto">
          <a:xfrm>
            <a:off x="6465938" y="1999280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여행상품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경험 여부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A434E8F-0C68-AF59-395B-99A9B630281D}"/>
              </a:ext>
            </a:extLst>
          </p:cNvPr>
          <p:cNvSpPr/>
          <p:nvPr/>
        </p:nvSpPr>
        <p:spPr>
          <a:xfrm>
            <a:off x="7000762" y="3002509"/>
            <a:ext cx="556564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9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경험률</a:t>
            </a: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 </a:t>
            </a:r>
            <a: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/>
            </a:r>
            <a:b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</a:b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▲</a:t>
            </a:r>
            <a: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0.9%</a:t>
            </a:r>
            <a:endPara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982C7EFA-AEA5-9ADE-9A94-1E0239253148}"/>
              </a:ext>
            </a:extLst>
          </p:cNvPr>
          <p:cNvSpPr/>
          <p:nvPr/>
        </p:nvSpPr>
        <p:spPr bwMode="auto">
          <a:xfrm>
            <a:off x="3059537" y="4326419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가볼래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-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터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전반 평가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2D65D847-1751-6336-27D4-7964C9DA35EA}"/>
              </a:ext>
            </a:extLst>
          </p:cNvPr>
          <p:cNvSpPr/>
          <p:nvPr/>
        </p:nvSpPr>
        <p:spPr bwMode="auto">
          <a:xfrm>
            <a:off x="715688" y="4326419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DA86AA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가볼래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-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터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비구독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이유</a:t>
            </a:r>
          </a:p>
        </p:txBody>
      </p: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2464638B-334B-E22F-1ACC-02926B14BA0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72307" y="3644997"/>
            <a:ext cx="787237" cy="681421"/>
          </a:xfrm>
          <a:prstGeom prst="curvedConnector3">
            <a:avLst>
              <a:gd name="adj1" fmla="val 50000"/>
            </a:avLst>
          </a:prstGeom>
          <a:ln w="15875">
            <a:solidFill>
              <a:srgbClr val="DA86AA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D881F377-A05B-A585-CC13-EB38E3E71A7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14047" y="3856935"/>
            <a:ext cx="533859" cy="359040"/>
          </a:xfrm>
          <a:prstGeom prst="curvedConnector3">
            <a:avLst>
              <a:gd name="adj1" fmla="val 54568"/>
            </a:avLst>
          </a:prstGeom>
          <a:ln w="15875">
            <a:solidFill>
              <a:srgbClr val="2E8ED5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 Box 168">
            <a:extLst>
              <a:ext uri="{FF2B5EF4-FFF2-40B4-BE49-F238E27FC236}">
                <a16:creationId xmlns:a16="http://schemas.microsoft.com/office/drawing/2014/main" id="{0DBE19F6-C3B6-6C52-5C0F-ED247F72E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323" y="6645560"/>
            <a:ext cx="2149988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가볼래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-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터 비구독자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(n=969),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graphicFrame>
        <p:nvGraphicFramePr>
          <p:cNvPr id="143" name="표 142">
            <a:extLst>
              <a:ext uri="{FF2B5EF4-FFF2-40B4-BE49-F238E27FC236}">
                <a16:creationId xmlns:a16="http://schemas.microsoft.com/office/drawing/2014/main" id="{93FDE46C-C844-5945-939D-6F576E09F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293112"/>
              </p:ext>
            </p:extLst>
          </p:nvPr>
        </p:nvGraphicFramePr>
        <p:xfrm>
          <a:off x="411283" y="4694418"/>
          <a:ext cx="2231461" cy="17585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9971">
                  <a:extLst>
                    <a:ext uri="{9D8B030D-6E8A-4147-A177-3AD203B41FA5}">
                      <a16:colId xmlns:a16="http://schemas.microsoft.com/office/drawing/2014/main" val="3884725159"/>
                    </a:ext>
                  </a:extLst>
                </a:gridCol>
                <a:gridCol w="341490">
                  <a:extLst>
                    <a:ext uri="{9D8B030D-6E8A-4147-A177-3AD203B41FA5}">
                      <a16:colId xmlns:a16="http://schemas.microsoft.com/office/drawing/2014/main" val="3155711219"/>
                    </a:ext>
                  </a:extLst>
                </a:gridCol>
              </a:tblGrid>
              <a:tr h="251226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• 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어떤 서비스인지 몰라서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36.8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00185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• </a:t>
                      </a:r>
                      <a:r>
                        <a:rPr lang="ko-KR" altLang="en-US" sz="9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가볼래터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서비스를 </a:t>
                      </a:r>
                      <a:r>
                        <a:rPr lang="ko-KR" altLang="en-US" sz="900" b="1" kern="1200" spc="-1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제공하고 있는지 몰라서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35.1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141792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• 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로그인하기 귀찮아서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17.2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900088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• 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유료 서비스라고 생각해서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15.2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398166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• 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본인 인증하기 귀찮아서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14.3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272081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• 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여행지 추천 서비스가 필요하지 않아서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9.7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948378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•  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경품이 매력적이지 않아서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5.5</a:t>
                      </a:r>
                    </a:p>
                  </a:txBody>
                  <a:tcPr marL="0" marR="0" marT="7200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455642"/>
                  </a:ext>
                </a:extLst>
              </a:tr>
            </a:tbl>
          </a:graphicData>
        </a:graphic>
      </p:graphicFrame>
      <p:graphicFrame>
        <p:nvGraphicFramePr>
          <p:cNvPr id="144" name="표 143">
            <a:extLst>
              <a:ext uri="{FF2B5EF4-FFF2-40B4-BE49-F238E27FC236}">
                <a16:creationId xmlns:a16="http://schemas.microsoft.com/office/drawing/2014/main" id="{CB33EAF2-B17E-989A-13FB-0AB7BC986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845659"/>
              </p:ext>
            </p:extLst>
          </p:nvPr>
        </p:nvGraphicFramePr>
        <p:xfrm>
          <a:off x="2716652" y="5849049"/>
          <a:ext cx="2147620" cy="748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3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3819512336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2483089179"/>
                    </a:ext>
                  </a:extLst>
                </a:gridCol>
              </a:tblGrid>
              <a:tr h="47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지속 이용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의향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콘텐츠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유용성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전반적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만족도</a:t>
                      </a:r>
                    </a:p>
                  </a:txBody>
                  <a:tcPr marL="9525" marR="9525" marT="9525" marB="0" anchor="ctr">
                    <a:lnR w="12700" cmpd="sng">
                      <a:noFill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679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-23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BD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</a:tbl>
          </a:graphicData>
        </a:graphic>
      </p:graphicFrame>
      <p:graphicFrame>
        <p:nvGraphicFramePr>
          <p:cNvPr id="145" name="내용 개체 틀 7">
            <a:extLst>
              <a:ext uri="{FF2B5EF4-FFF2-40B4-BE49-F238E27FC236}">
                <a16:creationId xmlns:a16="http://schemas.microsoft.com/office/drawing/2014/main" id="{95075319-4755-75A6-5C26-FB99127D2C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4235312"/>
              </p:ext>
            </p:extLst>
          </p:nvPr>
        </p:nvGraphicFramePr>
        <p:xfrm>
          <a:off x="3058772" y="4703315"/>
          <a:ext cx="1789570" cy="1169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6" name="Text Box 168">
            <a:extLst>
              <a:ext uri="{FF2B5EF4-FFF2-40B4-BE49-F238E27FC236}">
                <a16:creationId xmlns:a16="http://schemas.microsoft.com/office/drawing/2014/main" id="{B001DE0E-D5C3-0E89-4E06-B5E4F4869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957" y="6645560"/>
            <a:ext cx="2149988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홈페이지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앱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(n=2,727),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]</a:t>
            </a:r>
          </a:p>
        </p:txBody>
      </p:sp>
      <p:pic>
        <p:nvPicPr>
          <p:cNvPr id="156" name="그림 155">
            <a:extLst>
              <a:ext uri="{FF2B5EF4-FFF2-40B4-BE49-F238E27FC236}">
                <a16:creationId xmlns:a16="http://schemas.microsoft.com/office/drawing/2014/main" id="{7D2437EE-481F-A966-17C0-C94F5A061DD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49843" y="4678429"/>
            <a:ext cx="300145" cy="315271"/>
          </a:xfrm>
          <a:prstGeom prst="rect">
            <a:avLst/>
          </a:prstGeom>
        </p:spPr>
      </p:pic>
      <p:sp>
        <p:nvSpPr>
          <p:cNvPr id="24" name="Text Box 168">
            <a:extLst>
              <a:ext uri="{FF2B5EF4-FFF2-40B4-BE49-F238E27FC236}">
                <a16:creationId xmlns:a16="http://schemas.microsoft.com/office/drawing/2014/main" id="{21E210F5-1F59-3C35-B8DB-BA4D0C085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304" y="4646925"/>
            <a:ext cx="2875696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여행상품 경험자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(n=1,262),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]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A77D9DF-0BFA-9D0A-93C4-65A76A30E938}"/>
              </a:ext>
            </a:extLst>
          </p:cNvPr>
          <p:cNvSpPr/>
          <p:nvPr/>
        </p:nvSpPr>
        <p:spPr bwMode="auto">
          <a:xfrm>
            <a:off x="6465938" y="4338303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여행상품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전반적 만족도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D823A9-90A7-5734-295B-786D3A4CF833}"/>
              </a:ext>
            </a:extLst>
          </p:cNvPr>
          <p:cNvSpPr/>
          <p:nvPr/>
        </p:nvSpPr>
        <p:spPr>
          <a:xfrm>
            <a:off x="7000760" y="5341532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만족도</a:t>
            </a:r>
            <a: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/>
            </a:r>
            <a:b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</a:b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▲</a:t>
            </a:r>
            <a: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0.9</a:t>
            </a: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점</a:t>
            </a:r>
            <a:endPara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F4245D-44FF-13C8-FADB-98FEB6F9700F}"/>
              </a:ext>
            </a:extLst>
          </p:cNvPr>
          <p:cNvSpPr/>
          <p:nvPr/>
        </p:nvSpPr>
        <p:spPr>
          <a:xfrm>
            <a:off x="5423131" y="4073659"/>
            <a:ext cx="1670759" cy="158746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없음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0556BE8-C2CE-2CE3-1436-046D42A615B8}"/>
              </a:ext>
            </a:extLst>
          </p:cNvPr>
          <p:cNvSpPr/>
          <p:nvPr/>
        </p:nvSpPr>
        <p:spPr>
          <a:xfrm>
            <a:off x="7441457" y="4073659"/>
            <a:ext cx="1670759" cy="158746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4000"/>
              </a:lnSpc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없음</a:t>
            </a:r>
            <a:r>
              <a:rPr kumimoji="0" lang="en-US" altLang="ko-KR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경험 있음</a:t>
            </a:r>
            <a:endParaRPr kumimoji="1" lang="ko-KR" altLang="en-US" sz="9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677F7A7-636F-1AB9-7F97-A144E17E02F4}"/>
              </a:ext>
            </a:extLst>
          </p:cNvPr>
          <p:cNvSpPr/>
          <p:nvPr/>
        </p:nvSpPr>
        <p:spPr>
          <a:xfrm>
            <a:off x="5140164" y="6407280"/>
            <a:ext cx="2052160" cy="19498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8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C4938C6-C197-D73C-5C17-92799E8B5F11}"/>
              </a:ext>
            </a:extLst>
          </p:cNvPr>
          <p:cNvSpPr/>
          <p:nvPr/>
        </p:nvSpPr>
        <p:spPr>
          <a:xfrm>
            <a:off x="7205237" y="6422520"/>
            <a:ext cx="2052160" cy="158746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8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0691EA1E-2804-107D-B4AF-65EF469C6B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9098687"/>
              </p:ext>
            </p:extLst>
          </p:nvPr>
        </p:nvGraphicFramePr>
        <p:xfrm>
          <a:off x="7456472" y="4871721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92" name="차트 91">
            <a:extLst>
              <a:ext uri="{FF2B5EF4-FFF2-40B4-BE49-F238E27FC236}">
                <a16:creationId xmlns:a16="http://schemas.microsoft.com/office/drawing/2014/main" id="{822AED9B-3BDF-EB6F-088F-0D24F86E01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675319"/>
              </p:ext>
            </p:extLst>
          </p:nvPr>
        </p:nvGraphicFramePr>
        <p:xfrm>
          <a:off x="5441307" y="2532698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41434384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E817B-D8EC-1545-BFCE-D0DFB28B7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4FC09-09A5-43EB-899F-EAD94DA4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대한민국 구석구석 </a:t>
            </a:r>
            <a:r>
              <a:rPr lang="en-US" altLang="ko-KR" dirty="0"/>
              <a:t>[</a:t>
            </a:r>
            <a:r>
              <a:rPr lang="ko-KR" altLang="en-US" dirty="0"/>
              <a:t>홈페이지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] </a:t>
            </a:r>
            <a:r>
              <a:rPr lang="ko-KR" altLang="en-US" dirty="0"/>
              <a:t>콘텐츠 평가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B680E45-9D5E-9286-9E79-01FF14E8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sz="1300" dirty="0"/>
              <a:t>‘</a:t>
            </a:r>
            <a:r>
              <a:rPr lang="ko-KR" altLang="en-US" sz="1300" dirty="0" err="1"/>
              <a:t>여행콕콕</a:t>
            </a:r>
            <a:r>
              <a:rPr lang="en-US" altLang="ko-KR" sz="1300" dirty="0"/>
              <a:t>’ </a:t>
            </a:r>
            <a:r>
              <a:rPr lang="ko-KR" altLang="en-US" sz="1300" dirty="0"/>
              <a:t>서비스 중 </a:t>
            </a:r>
            <a:r>
              <a:rPr lang="en-US" altLang="ko-KR" sz="1300" dirty="0"/>
              <a:t>‘AI</a:t>
            </a:r>
            <a:r>
              <a:rPr lang="ko-KR" altLang="en-US" sz="1300" dirty="0"/>
              <a:t>콕콕</a:t>
            </a:r>
            <a:r>
              <a:rPr lang="en-US" altLang="ko-KR" sz="1300" dirty="0"/>
              <a:t>’ </a:t>
            </a:r>
            <a:r>
              <a:rPr lang="ko-KR" altLang="en-US" sz="1300" dirty="0"/>
              <a:t>이용자 대상 전반적 만족도 조사 결과</a:t>
            </a:r>
            <a:r>
              <a:rPr lang="en-US" altLang="ko-KR" sz="1300" dirty="0"/>
              <a:t>, 85.4</a:t>
            </a:r>
            <a:r>
              <a:rPr lang="ko-KR" altLang="en-US" sz="1300" dirty="0"/>
              <a:t>점으로 전년 대비 </a:t>
            </a:r>
            <a:r>
              <a:rPr lang="en-US" altLang="ko-KR" sz="1300" dirty="0"/>
              <a:t>0.5</a:t>
            </a:r>
            <a:r>
              <a:rPr lang="ko-KR" altLang="en-US" sz="1300" dirty="0"/>
              <a:t>점 높게 평가함</a:t>
            </a:r>
            <a:endParaRPr lang="en-US" altLang="ko-KR" sz="1300" dirty="0"/>
          </a:p>
          <a:p>
            <a:r>
              <a:rPr lang="en-US" altLang="ko-KR" sz="1300" dirty="0"/>
              <a:t>‘</a:t>
            </a:r>
            <a:r>
              <a:rPr lang="ko-KR" altLang="en-US" sz="1300" dirty="0" err="1"/>
              <a:t>여행콕콕</a:t>
            </a:r>
            <a:r>
              <a:rPr lang="en-US" altLang="ko-KR" sz="1300" dirty="0"/>
              <a:t>’ </a:t>
            </a:r>
            <a:r>
              <a:rPr lang="ko-KR" altLang="en-US" sz="1300" dirty="0"/>
              <a:t>서비스 중 </a:t>
            </a:r>
            <a:r>
              <a:rPr lang="en-US" altLang="ko-KR" sz="1300" dirty="0"/>
              <a:t>‘AI</a:t>
            </a:r>
            <a:r>
              <a:rPr lang="ko-KR" altLang="en-US" sz="1300" dirty="0"/>
              <a:t>콕콕 </a:t>
            </a:r>
            <a:r>
              <a:rPr lang="ko-KR" altLang="en-US" sz="1300" dirty="0" err="1"/>
              <a:t>플래너</a:t>
            </a:r>
            <a:r>
              <a:rPr lang="en-US" altLang="ko-KR" sz="1300" dirty="0"/>
              <a:t>’ </a:t>
            </a:r>
            <a:r>
              <a:rPr lang="ko-KR" altLang="en-US" sz="1300" dirty="0"/>
              <a:t>이용자 대상 전반적 만족도 조사 결과</a:t>
            </a:r>
            <a:r>
              <a:rPr lang="en-US" altLang="ko-KR" sz="1300" dirty="0"/>
              <a:t>, 85.4</a:t>
            </a:r>
            <a:r>
              <a:rPr lang="ko-KR" altLang="en-US" sz="1300" dirty="0"/>
              <a:t>점으로 전년 대비 </a:t>
            </a:r>
            <a:r>
              <a:rPr lang="en-US" altLang="ko-KR" sz="1300" dirty="0"/>
              <a:t>0.3</a:t>
            </a:r>
            <a:r>
              <a:rPr lang="ko-KR" altLang="en-US" sz="1300" dirty="0"/>
              <a:t>점 높게 평가함</a:t>
            </a:r>
            <a:endParaRPr lang="en-US" altLang="ko-KR" sz="13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821D46B-4900-B488-5968-9358DEC95C68}"/>
              </a:ext>
            </a:extLst>
          </p:cNvPr>
          <p:cNvSpPr/>
          <p:nvPr/>
        </p:nvSpPr>
        <p:spPr bwMode="auto">
          <a:xfrm>
            <a:off x="1857000" y="1999280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[AI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콕콕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전반적 만족도</a:t>
            </a:r>
          </a:p>
        </p:txBody>
      </p:sp>
      <p:sp>
        <p:nvSpPr>
          <p:cNvPr id="97" name="Text Box 168">
            <a:extLst>
              <a:ext uri="{FF2B5EF4-FFF2-40B4-BE49-F238E27FC236}">
                <a16:creationId xmlns:a16="http://schemas.microsoft.com/office/drawing/2014/main" id="{1C84385C-FBFD-BE28-2E1A-89774B6EA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304" y="2307902"/>
            <a:ext cx="3307696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AI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콕콕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플래너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(n=1,101),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]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A4E7773D-E94B-2ABE-EDF5-EEB77CCBD0E3}"/>
              </a:ext>
            </a:extLst>
          </p:cNvPr>
          <p:cNvSpPr/>
          <p:nvPr/>
        </p:nvSpPr>
        <p:spPr bwMode="auto">
          <a:xfrm>
            <a:off x="6249000" y="1967724"/>
            <a:ext cx="1944000" cy="258383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[AI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콕콕 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플래너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전반적 만족도</a:t>
            </a: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192F2F21-1073-0B5F-4B49-089405A5E380}"/>
              </a:ext>
            </a:extLst>
          </p:cNvPr>
          <p:cNvSpPr/>
          <p:nvPr/>
        </p:nvSpPr>
        <p:spPr bwMode="auto">
          <a:xfrm>
            <a:off x="1869866" y="5609768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DA86AA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[AI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콕콕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불만족 이유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201315AB-A802-48C9-FA34-3B6735AC429B}"/>
              </a:ext>
            </a:extLst>
          </p:cNvPr>
          <p:cNvSpPr/>
          <p:nvPr/>
        </p:nvSpPr>
        <p:spPr bwMode="auto">
          <a:xfrm>
            <a:off x="1869866" y="4430014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[AI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콕콕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만족 이유</a:t>
            </a:r>
          </a:p>
        </p:txBody>
      </p:sp>
      <p:graphicFrame>
        <p:nvGraphicFramePr>
          <p:cNvPr id="143" name="표 142">
            <a:extLst>
              <a:ext uri="{FF2B5EF4-FFF2-40B4-BE49-F238E27FC236}">
                <a16:creationId xmlns:a16="http://schemas.microsoft.com/office/drawing/2014/main" id="{4E6CEB81-A34E-C3E1-EE3C-A8F429FE8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134978"/>
              </p:ext>
            </p:extLst>
          </p:nvPr>
        </p:nvGraphicFramePr>
        <p:xfrm>
          <a:off x="431585" y="4716569"/>
          <a:ext cx="2194745" cy="7536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745">
                  <a:extLst>
                    <a:ext uri="{9D8B030D-6E8A-4147-A177-3AD203B41FA5}">
                      <a16:colId xmlns:a16="http://schemas.microsoft.com/office/drawing/2014/main" val="3884725159"/>
                    </a:ext>
                  </a:extLst>
                </a:gridCol>
              </a:tblGrid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추천해주는 여행정보가 유용해서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00185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나의 성향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관심사에 맞는 여행지를 추천해줘서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141792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추천을 통해 새로운 여행지를 알게 되어서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900088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79D03CB0-B8D6-CEEB-E3C6-E40A7C063B5C}"/>
              </a:ext>
            </a:extLst>
          </p:cNvPr>
          <p:cNvGrpSpPr/>
          <p:nvPr/>
        </p:nvGrpSpPr>
        <p:grpSpPr>
          <a:xfrm>
            <a:off x="7498697" y="2532698"/>
            <a:ext cx="1483096" cy="1475534"/>
            <a:chOff x="2735242" y="3263865"/>
            <a:chExt cx="2009716" cy="1995019"/>
          </a:xfrm>
        </p:grpSpPr>
        <p:sp>
          <p:nvSpPr>
            <p:cNvPr id="4" name="부분 원형 3">
              <a:extLst>
                <a:ext uri="{FF2B5EF4-FFF2-40B4-BE49-F238E27FC236}">
                  <a16:creationId xmlns:a16="http://schemas.microsoft.com/office/drawing/2014/main" id="{43805C44-7DE9-2FBB-D59E-216AB6A07F45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2361449"/>
                <a:gd name="adj2" fmla="val 10469711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1118D7C-3756-E664-E0A5-690FA7DCBC1E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F973C0A-4E7C-2AD9-1C86-E66013EDD4F0}"/>
              </a:ext>
            </a:extLst>
          </p:cNvPr>
          <p:cNvGrpSpPr/>
          <p:nvPr/>
        </p:nvGrpSpPr>
        <p:grpSpPr>
          <a:xfrm>
            <a:off x="5475238" y="2532698"/>
            <a:ext cx="1483096" cy="1475534"/>
            <a:chOff x="2735242" y="3263865"/>
            <a:chExt cx="2009716" cy="1995019"/>
          </a:xfrm>
        </p:grpSpPr>
        <p:sp>
          <p:nvSpPr>
            <p:cNvPr id="7" name="부분 원형 6">
              <a:extLst>
                <a:ext uri="{FF2B5EF4-FFF2-40B4-BE49-F238E27FC236}">
                  <a16:creationId xmlns:a16="http://schemas.microsoft.com/office/drawing/2014/main" id="{B3D9FC00-C1F7-2B63-5A2D-173B64EC05CD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3187280"/>
                <a:gd name="adj2" fmla="val 11184139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6036F9A-8DFE-8681-E7B1-F925E6727EB0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904352-4850-496F-E34D-DFD17560211C}"/>
              </a:ext>
            </a:extLst>
          </p:cNvPr>
          <p:cNvSpPr/>
          <p:nvPr/>
        </p:nvSpPr>
        <p:spPr>
          <a:xfrm>
            <a:off x="7000760" y="3018141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만족도</a:t>
            </a:r>
            <a: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/>
            </a:r>
            <a:b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</a:b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▲</a:t>
            </a:r>
            <a: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0.3</a:t>
            </a: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점</a:t>
            </a:r>
            <a:endPara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8D3874-0080-3769-C4D8-13BBBDACA95B}"/>
              </a:ext>
            </a:extLst>
          </p:cNvPr>
          <p:cNvSpPr/>
          <p:nvPr/>
        </p:nvSpPr>
        <p:spPr>
          <a:xfrm>
            <a:off x="5140164" y="4083889"/>
            <a:ext cx="2052160" cy="19498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8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34FC51-6961-5BDA-67E8-F6D0E42E6D30}"/>
              </a:ext>
            </a:extLst>
          </p:cNvPr>
          <p:cNvSpPr/>
          <p:nvPr/>
        </p:nvSpPr>
        <p:spPr>
          <a:xfrm>
            <a:off x="7205237" y="4099129"/>
            <a:ext cx="2052160" cy="158746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8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A8FC4D6C-B409-BC34-552D-F062F44357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681790"/>
              </p:ext>
            </p:extLst>
          </p:nvPr>
        </p:nvGraphicFramePr>
        <p:xfrm>
          <a:off x="7456472" y="2548330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Text Box 168">
            <a:extLst>
              <a:ext uri="{FF2B5EF4-FFF2-40B4-BE49-F238E27FC236}">
                <a16:creationId xmlns:a16="http://schemas.microsoft.com/office/drawing/2014/main" id="{07A1393C-A774-CEBC-98E9-E2251288F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84" y="2307902"/>
            <a:ext cx="3081415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AI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콕콕 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(n=1,123),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]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3E56D2A-B0C9-78D7-CA2E-5E76B13D7EAE}"/>
              </a:ext>
            </a:extLst>
          </p:cNvPr>
          <p:cNvGrpSpPr/>
          <p:nvPr/>
        </p:nvGrpSpPr>
        <p:grpSpPr>
          <a:xfrm>
            <a:off x="2900978" y="2532698"/>
            <a:ext cx="1483096" cy="1475534"/>
            <a:chOff x="2735242" y="3263865"/>
            <a:chExt cx="2009716" cy="1995019"/>
          </a:xfrm>
        </p:grpSpPr>
        <p:sp>
          <p:nvSpPr>
            <p:cNvPr id="53" name="부분 원형 52">
              <a:extLst>
                <a:ext uri="{FF2B5EF4-FFF2-40B4-BE49-F238E27FC236}">
                  <a16:creationId xmlns:a16="http://schemas.microsoft.com/office/drawing/2014/main" id="{0BB43C9B-044F-8B8F-B479-1753B294355F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1997229"/>
                <a:gd name="adj2" fmla="val 10469711"/>
              </a:avLst>
            </a:prstGeom>
            <a:solidFill>
              <a:srgbClr val="DFF1FB"/>
            </a:solidFill>
            <a:ln w="3175" cap="flat" cmpd="sng" algn="ctr">
              <a:solidFill>
                <a:srgbClr val="2E8ED5"/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1ABCCA81-6B87-44BE-353E-736F8150EAAF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4DA174A-8741-1CD6-5C9B-82EFA80EEC92}"/>
              </a:ext>
            </a:extLst>
          </p:cNvPr>
          <p:cNvGrpSpPr/>
          <p:nvPr/>
        </p:nvGrpSpPr>
        <p:grpSpPr>
          <a:xfrm>
            <a:off x="877519" y="2532698"/>
            <a:ext cx="1483096" cy="1475534"/>
            <a:chOff x="2735242" y="3263865"/>
            <a:chExt cx="2009716" cy="1995019"/>
          </a:xfrm>
        </p:grpSpPr>
        <p:sp>
          <p:nvSpPr>
            <p:cNvPr id="56" name="부분 원형 55">
              <a:extLst>
                <a:ext uri="{FF2B5EF4-FFF2-40B4-BE49-F238E27FC236}">
                  <a16:creationId xmlns:a16="http://schemas.microsoft.com/office/drawing/2014/main" id="{9837A425-E8E1-5997-F89C-9B7BE41062A2}"/>
                </a:ext>
              </a:extLst>
            </p:cNvPr>
            <p:cNvSpPr/>
            <p:nvPr/>
          </p:nvSpPr>
          <p:spPr bwMode="auto">
            <a:xfrm>
              <a:off x="2735242" y="3263865"/>
              <a:ext cx="2009716" cy="1995019"/>
            </a:xfrm>
            <a:prstGeom prst="pie">
              <a:avLst>
                <a:gd name="adj1" fmla="val 13187280"/>
                <a:gd name="adj2" fmla="val 11196843"/>
              </a:avLst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 w="3175" cap="flat" cmpd="sng" algn="ctr">
              <a:solidFill>
                <a:schemeClr val="tx1">
                  <a:lumMod val="95000"/>
                  <a:lumOff val="5000"/>
                </a:schemeClr>
              </a:solidFill>
              <a:prstDash val="dash"/>
              <a:miter lim="800000"/>
              <a:headEnd type="none" w="med" len="med"/>
              <a:tailEnd type="none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58415874-2629-C483-6680-1A8A2BA7B8E2}"/>
                </a:ext>
              </a:extLst>
            </p:cNvPr>
            <p:cNvSpPr/>
            <p:nvPr/>
          </p:nvSpPr>
          <p:spPr bwMode="auto">
            <a:xfrm>
              <a:off x="3099286" y="3620562"/>
              <a:ext cx="1281628" cy="1281624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964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1929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2893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3858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04822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05786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806751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207715" algn="l" defTabSz="801929" rtl="0" eaLnBrk="1" latinLnBrk="1" hangingPunct="1">
                <a:defRPr sz="15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C6871F4-09F5-9081-CC5C-F9C0CDE56C0B}"/>
              </a:ext>
            </a:extLst>
          </p:cNvPr>
          <p:cNvSpPr/>
          <p:nvPr/>
        </p:nvSpPr>
        <p:spPr>
          <a:xfrm>
            <a:off x="2403041" y="3018141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만족도</a:t>
            </a:r>
            <a: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/>
            </a:r>
            <a:b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</a:b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▲</a:t>
            </a:r>
            <a:r>
              <a:rPr lang="en-US" altLang="ko-KR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0.5</a:t>
            </a:r>
            <a:r>
              <a:rPr lang="ko-KR" altLang="en-US" sz="9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BF0000"/>
                </a:solidFill>
              </a:rPr>
              <a:t>점</a:t>
            </a:r>
            <a:endParaRPr lang="ko-KR" altLang="en-US" sz="9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5B1C1F3-4B00-BD87-1E2C-796EDFBA2CAB}"/>
              </a:ext>
            </a:extLst>
          </p:cNvPr>
          <p:cNvSpPr/>
          <p:nvPr/>
        </p:nvSpPr>
        <p:spPr>
          <a:xfrm>
            <a:off x="542445" y="4083889"/>
            <a:ext cx="2052160" cy="19498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2F2F2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8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1B0B14E-83BA-AB85-65EA-F52D79FFA063}"/>
              </a:ext>
            </a:extLst>
          </p:cNvPr>
          <p:cNvSpPr/>
          <p:nvPr/>
        </p:nvSpPr>
        <p:spPr>
          <a:xfrm>
            <a:off x="2607518" y="4099129"/>
            <a:ext cx="2052160" cy="158746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A86AA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DBEFFB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불만족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(BOT3)    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C1C7CD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보통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   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2E8ED5"/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■</a:t>
            </a:r>
            <a:r>
              <a:rPr kumimoji="1" lang="ko-KR" altLang="en-US" sz="8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EBEDF0"/>
                </a:solidFill>
                <a:latin typeface="+mj-ea"/>
                <a:ea typeface="+mj-ea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만족</a:t>
            </a:r>
            <a:r>
              <a:rPr kumimoji="0" lang="en-US" altLang="ko-KR" sz="800" i="0" u="none" strike="noStrike" kern="1200" cap="none" spc="0" normalizeH="0" baseline="0" noProof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Calibri Light" panose="020F0302020204030204" pitchFamily="34" charset="0"/>
              </a:rPr>
              <a:t>(TOP3)</a:t>
            </a:r>
            <a:endParaRPr kumimoji="1" lang="ko-KR" altLang="en-US" sz="800" i="0" u="none" strike="noStrike" kern="1200" cap="none" spc="0" normalizeH="0" baseline="0" noProof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2B10438C-B447-3E70-C831-7E676F8BC0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96581" y="4697998"/>
            <a:ext cx="300146" cy="315270"/>
          </a:xfrm>
          <a:prstGeom prst="rect">
            <a:avLst/>
          </a:prstGeom>
        </p:spPr>
      </p:pic>
      <p:graphicFrame>
        <p:nvGraphicFramePr>
          <p:cNvPr id="73" name="내용 개체 틀 7">
            <a:extLst>
              <a:ext uri="{FF2B5EF4-FFF2-40B4-BE49-F238E27FC236}">
                <a16:creationId xmlns:a16="http://schemas.microsoft.com/office/drawing/2014/main" id="{082A7466-B12F-6C49-E766-62C12C734F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1569436"/>
              </p:ext>
            </p:extLst>
          </p:nvPr>
        </p:nvGraphicFramePr>
        <p:xfrm>
          <a:off x="2649641" y="4700695"/>
          <a:ext cx="2052161" cy="744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284EC3A7-DAB9-0657-C2CF-E81272B2B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015076"/>
              </p:ext>
            </p:extLst>
          </p:nvPr>
        </p:nvGraphicFramePr>
        <p:xfrm>
          <a:off x="431586" y="5872269"/>
          <a:ext cx="2183056" cy="7536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3056">
                  <a:extLst>
                    <a:ext uri="{9D8B030D-6E8A-4147-A177-3AD203B41FA5}">
                      <a16:colId xmlns:a16="http://schemas.microsoft.com/office/drawing/2014/main" val="3884725159"/>
                    </a:ext>
                  </a:extLst>
                </a:gridCol>
              </a:tblGrid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추천해주는 여행정보가 유용하지 않아서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00185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나의 성향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관심사에 맞지 않는 여행지를 추천해줘서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141792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이미 알고 있는 정보라서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900088"/>
                  </a:ext>
                </a:extLst>
              </a:tr>
            </a:tbl>
          </a:graphicData>
        </a:graphic>
      </p:graphicFrame>
      <p:graphicFrame>
        <p:nvGraphicFramePr>
          <p:cNvPr id="75" name="내용 개체 틀 7">
            <a:extLst>
              <a:ext uri="{FF2B5EF4-FFF2-40B4-BE49-F238E27FC236}">
                <a16:creationId xmlns:a16="http://schemas.microsoft.com/office/drawing/2014/main" id="{0A1F3F88-0EB8-BAF5-BEE9-48ED9CB491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9131086"/>
              </p:ext>
            </p:extLst>
          </p:nvPr>
        </p:nvGraphicFramePr>
        <p:xfrm>
          <a:off x="2637952" y="5856395"/>
          <a:ext cx="2052161" cy="744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78" name="그림 77">
            <a:extLst>
              <a:ext uri="{FF2B5EF4-FFF2-40B4-BE49-F238E27FC236}">
                <a16:creationId xmlns:a16="http://schemas.microsoft.com/office/drawing/2014/main" id="{765AE976-7DAA-93FB-157B-B8BC249D3E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18569" y="5872269"/>
            <a:ext cx="300146" cy="315270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841F1BD3-B8BE-B943-B047-BF8ABDB2D1A6}"/>
              </a:ext>
            </a:extLst>
          </p:cNvPr>
          <p:cNvSpPr/>
          <p:nvPr/>
        </p:nvSpPr>
        <p:spPr bwMode="auto">
          <a:xfrm>
            <a:off x="6347957" y="5609768"/>
            <a:ext cx="1886806" cy="226827"/>
          </a:xfrm>
          <a:prstGeom prst="roundRect">
            <a:avLst>
              <a:gd name="adj" fmla="val 50000"/>
            </a:avLst>
          </a:prstGeom>
          <a:solidFill>
            <a:srgbClr val="DA86AA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[AI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콕콕 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플래너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불만족 이유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7C07A48C-2391-D673-4319-28EDA598A378}"/>
              </a:ext>
            </a:extLst>
          </p:cNvPr>
          <p:cNvSpPr/>
          <p:nvPr/>
        </p:nvSpPr>
        <p:spPr bwMode="auto">
          <a:xfrm>
            <a:off x="6347957" y="4430014"/>
            <a:ext cx="1886806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[AI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콕콕 </a:t>
            </a: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플래너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] 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만족 이유</a:t>
            </a: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0A3FB21F-51A1-F300-D5EA-F5FF65092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240724"/>
              </p:ext>
            </p:extLst>
          </p:nvPr>
        </p:nvGraphicFramePr>
        <p:xfrm>
          <a:off x="5020145" y="4716569"/>
          <a:ext cx="2248008" cy="776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8008">
                  <a:extLst>
                    <a:ext uri="{9D8B030D-6E8A-4147-A177-3AD203B41FA5}">
                      <a16:colId xmlns:a16="http://schemas.microsoft.com/office/drawing/2014/main" val="3884725159"/>
                    </a:ext>
                  </a:extLst>
                </a:gridCol>
              </a:tblGrid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코스 추천 기능 등을 활용하여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여행 코스 계획에 참고할 수 있어서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00185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나의 여행코스를 편집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기록할 수 있어서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141792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여행코스에 등록된 관광지 정보를 쉽게 볼 수 있어서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900088"/>
                  </a:ext>
                </a:extLst>
              </a:tr>
            </a:tbl>
          </a:graphicData>
        </a:graphic>
      </p:graphicFrame>
      <p:pic>
        <p:nvPicPr>
          <p:cNvPr id="84" name="그림 83">
            <a:extLst>
              <a:ext uri="{FF2B5EF4-FFF2-40B4-BE49-F238E27FC236}">
                <a16:creationId xmlns:a16="http://schemas.microsoft.com/office/drawing/2014/main" id="{C0327188-425E-05D6-CDEE-88BC51EDE9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802354" y="4697998"/>
            <a:ext cx="300146" cy="315270"/>
          </a:xfrm>
          <a:prstGeom prst="rect">
            <a:avLst/>
          </a:prstGeom>
        </p:spPr>
      </p:pic>
      <p:graphicFrame>
        <p:nvGraphicFramePr>
          <p:cNvPr id="85" name="내용 개체 틀 7">
            <a:extLst>
              <a:ext uri="{FF2B5EF4-FFF2-40B4-BE49-F238E27FC236}">
                <a16:creationId xmlns:a16="http://schemas.microsoft.com/office/drawing/2014/main" id="{213B5EEC-3072-A0FB-218A-72DA9186EC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9517603"/>
              </p:ext>
            </p:extLst>
          </p:nvPr>
        </p:nvGraphicFramePr>
        <p:xfrm>
          <a:off x="7291463" y="4700695"/>
          <a:ext cx="2052161" cy="744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A21C9301-5303-C5DC-0C7B-1EFE47B3C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937910"/>
              </p:ext>
            </p:extLst>
          </p:nvPr>
        </p:nvGraphicFramePr>
        <p:xfrm>
          <a:off x="5020145" y="5872269"/>
          <a:ext cx="2236319" cy="818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6319">
                  <a:extLst>
                    <a:ext uri="{9D8B030D-6E8A-4147-A177-3AD203B41FA5}">
                      <a16:colId xmlns:a16="http://schemas.microsoft.com/office/drawing/2014/main" val="3884725159"/>
                    </a:ext>
                  </a:extLst>
                </a:gridCol>
              </a:tblGrid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코스 추천 기능 등을 활용하는 것이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여행 코스 계획에 도움이 되지 않아서</a:t>
                      </a:r>
                    </a:p>
                  </a:txBody>
                  <a:tcPr marL="9525" marR="9525" marT="9525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00185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여행코스에 등록할 관광지 정보가 </a:t>
                      </a:r>
                      <a: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많이 없거나 유용하지 않아서</a:t>
                      </a:r>
                    </a:p>
                  </a:txBody>
                  <a:tcPr marL="9525" marR="9525" marT="9525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141792"/>
                  </a:ext>
                </a:extLst>
              </a:tr>
              <a:tr h="251226">
                <a:tc>
                  <a:txBody>
                    <a:bodyPr/>
                    <a:lstStyle/>
                    <a:p>
                      <a:pPr marL="0" indent="0" algn="r" defTabSz="914400" rtl="0" eaLnBrk="1" fontAlgn="ctr" latinLnBrk="1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나의 여행코스를 짜기 귀찮아서</a:t>
                      </a:r>
                    </a:p>
                  </a:txBody>
                  <a:tcPr marL="9525" marR="9525" marT="9525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900088"/>
                  </a:ext>
                </a:extLst>
              </a:tr>
            </a:tbl>
          </a:graphicData>
        </a:graphic>
      </p:graphicFrame>
      <p:graphicFrame>
        <p:nvGraphicFramePr>
          <p:cNvPr id="88" name="내용 개체 틀 7">
            <a:extLst>
              <a:ext uri="{FF2B5EF4-FFF2-40B4-BE49-F238E27FC236}">
                <a16:creationId xmlns:a16="http://schemas.microsoft.com/office/drawing/2014/main" id="{DD8673AB-23BF-29AB-93FD-DE36E86FE8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333697"/>
              </p:ext>
            </p:extLst>
          </p:nvPr>
        </p:nvGraphicFramePr>
        <p:xfrm>
          <a:off x="7279774" y="5856395"/>
          <a:ext cx="2052161" cy="744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100" name="그림 99">
            <a:extLst>
              <a:ext uri="{FF2B5EF4-FFF2-40B4-BE49-F238E27FC236}">
                <a16:creationId xmlns:a16="http://schemas.microsoft.com/office/drawing/2014/main" id="{3E10A299-3021-EF17-0EB8-193DFEEA9D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60391" y="5872269"/>
            <a:ext cx="300146" cy="315270"/>
          </a:xfrm>
          <a:prstGeom prst="rect">
            <a:avLst/>
          </a:prstGeom>
        </p:spPr>
      </p:pic>
      <p:graphicFrame>
        <p:nvGraphicFramePr>
          <p:cNvPr id="59" name="차트 58">
            <a:extLst>
              <a:ext uri="{FF2B5EF4-FFF2-40B4-BE49-F238E27FC236}">
                <a16:creationId xmlns:a16="http://schemas.microsoft.com/office/drawing/2014/main" id="{F167ABF2-4D6B-0552-C9EF-75689F5C46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0823888"/>
              </p:ext>
            </p:extLst>
          </p:nvPr>
        </p:nvGraphicFramePr>
        <p:xfrm>
          <a:off x="843588" y="2548330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63" name="차트 62">
            <a:extLst>
              <a:ext uri="{FF2B5EF4-FFF2-40B4-BE49-F238E27FC236}">
                <a16:creationId xmlns:a16="http://schemas.microsoft.com/office/drawing/2014/main" id="{88AFE4AB-1198-1329-286D-D1B78BF35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5101044"/>
              </p:ext>
            </p:extLst>
          </p:nvPr>
        </p:nvGraphicFramePr>
        <p:xfrm>
          <a:off x="2858753" y="2548330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1964CB82-1170-D2A2-B951-97668643AB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6791977"/>
              </p:ext>
            </p:extLst>
          </p:nvPr>
        </p:nvGraphicFramePr>
        <p:xfrm>
          <a:off x="5441307" y="2548330"/>
          <a:ext cx="1567547" cy="1459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  <p:extLst>
      <p:ext uri="{BB962C8B-B14F-4D97-AF65-F5344CB8AC3E}">
        <p14:creationId xmlns:p14="http://schemas.microsoft.com/office/powerpoint/2010/main" val="37809858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C8B3-2D8F-745F-B84B-7CDE61C6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E5A3CB76-272D-7C45-1E58-FE2F54D473A3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569000" y="2333940"/>
            <a:ext cx="1782334" cy="463442"/>
          </a:xfrm>
        </p:spPr>
        <p:txBody>
          <a:bodyPr/>
          <a:lstStyle/>
          <a:p>
            <a:r>
              <a:rPr lang="en-US" altLang="ko-KR" dirty="0"/>
              <a:t>Part</a:t>
            </a:r>
          </a:p>
          <a:p>
            <a:r>
              <a:rPr lang="en-US" altLang="ko-KR" dirty="0"/>
              <a:t>Ⅳ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B693BC2-3E0A-E65E-13AC-F5AAB6BC0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300" y="2023977"/>
            <a:ext cx="3011296" cy="492443"/>
          </a:xfrm>
        </p:spPr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ED4663-4D29-B72F-0F99-04F83E529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주요지표 </a:t>
            </a:r>
            <a:r>
              <a:rPr lang="en-US" altLang="ko-KR" dirty="0"/>
              <a:t>Summary </a:t>
            </a:r>
            <a:r>
              <a:rPr lang="en-US" altLang="ko-KR" sz="1800" b="0" dirty="0"/>
              <a:t>5</a:t>
            </a:r>
            <a:r>
              <a:rPr lang="ko-KR" altLang="en-US" sz="1800" b="0" dirty="0"/>
              <a:t>개년 </a:t>
            </a:r>
            <a:r>
              <a:rPr lang="en-US" altLang="ko-KR" sz="1800" b="0" dirty="0"/>
              <a:t>Tracking</a:t>
            </a:r>
          </a:p>
          <a:p>
            <a:r>
              <a:rPr lang="ko-KR" altLang="en-US" dirty="0" err="1"/>
              <a:t>뉴스피드</a:t>
            </a:r>
            <a:r>
              <a:rPr lang="ko-KR" altLang="en-US" dirty="0"/>
              <a:t> 내 </a:t>
            </a:r>
            <a:r>
              <a:rPr lang="ko-KR" altLang="en-US" dirty="0" err="1"/>
              <a:t>정보성</a:t>
            </a:r>
            <a:r>
              <a:rPr lang="ko-KR" altLang="en-US" dirty="0"/>
              <a:t> 콘텐츠 접촉 시 태도</a:t>
            </a:r>
            <a:endParaRPr lang="en-US" altLang="ko-KR" dirty="0"/>
          </a:p>
          <a:p>
            <a:r>
              <a:rPr lang="ko-KR" altLang="en-US" dirty="0"/>
              <a:t>주 이용 </a:t>
            </a:r>
            <a:r>
              <a:rPr lang="en-US" altLang="ko-KR" dirty="0"/>
              <a:t>SNS</a:t>
            </a:r>
          </a:p>
          <a:p>
            <a:r>
              <a:rPr lang="ko-KR" altLang="en-US" dirty="0"/>
              <a:t>인스타그램 내 여행 채널별 선호 이유</a:t>
            </a:r>
            <a:endParaRPr lang="en-US" altLang="ko-KR" dirty="0"/>
          </a:p>
          <a:p>
            <a:r>
              <a:rPr lang="ko-KR" altLang="en-US" dirty="0"/>
              <a:t>결혼 및 자녀 </a:t>
            </a:r>
            <a:r>
              <a:rPr lang="ko-KR" altLang="en-US" dirty="0" smtClean="0"/>
              <a:t>여부</a:t>
            </a:r>
            <a:endParaRPr lang="en-US" altLang="ko-KR" dirty="0" smtClean="0"/>
          </a:p>
          <a:p>
            <a:r>
              <a:rPr lang="ko-KR" altLang="en-US" dirty="0" smtClean="0"/>
              <a:t>조사표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04767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CF8A2-499B-E387-CD00-BB027A0E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DDF3E-0D2C-A2CA-5619-E97CDB31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5372881" cy="46166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주요지표 </a:t>
            </a:r>
            <a:r>
              <a:rPr lang="en-US" altLang="ko-KR" dirty="0"/>
              <a:t>Summary </a:t>
            </a:r>
            <a:r>
              <a:rPr lang="en-US" altLang="ko-KR" sz="2400" b="0" dirty="0"/>
              <a:t>5</a:t>
            </a:r>
            <a:r>
              <a:rPr lang="ko-KR" altLang="en-US" sz="2400" b="0" dirty="0"/>
              <a:t>개년 </a:t>
            </a:r>
            <a:r>
              <a:rPr lang="en-US" altLang="ko-KR" sz="2400" b="0" dirty="0"/>
              <a:t>Tracking_1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F8FAD02-6BF2-F94E-5A14-2C0A712B7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dirty="0"/>
              <a:t>전체 응답자 기준 대한민국 구석구석은 전년 대비 전체 항목에서 소폭 상승하였으며</a:t>
            </a:r>
            <a:r>
              <a:rPr lang="en-US" altLang="ko-KR" sz="1300" dirty="0"/>
              <a:t>, ‘</a:t>
            </a:r>
            <a:r>
              <a:rPr lang="ko-KR" altLang="en-US" sz="1300" dirty="0"/>
              <a:t>정보 다양성</a:t>
            </a:r>
            <a:r>
              <a:rPr lang="en-US" altLang="ko-KR" sz="1300" dirty="0"/>
              <a:t>’, ‘</a:t>
            </a:r>
            <a:r>
              <a:rPr lang="ko-KR" altLang="en-US" sz="1300" dirty="0"/>
              <a:t>정보 최신화</a:t>
            </a:r>
            <a:r>
              <a:rPr lang="en-US" altLang="ko-KR" sz="1300" dirty="0"/>
              <a:t>’, ‘</a:t>
            </a:r>
            <a:r>
              <a:rPr lang="ko-KR" altLang="en-US" sz="1300" dirty="0"/>
              <a:t>정보 접근성</a:t>
            </a:r>
            <a:r>
              <a:rPr lang="en-US" altLang="ko-KR" sz="1300" dirty="0"/>
              <a:t>’ </a:t>
            </a:r>
            <a:r>
              <a:rPr lang="ko-KR" altLang="en-US" sz="1300" dirty="0"/>
              <a:t>측면에서 </a:t>
            </a:r>
            <a:r>
              <a:rPr lang="en-US" altLang="ko-KR" sz="1300" dirty="0"/>
              <a:t>20</a:t>
            </a:r>
            <a:r>
              <a:rPr lang="ko-KR" altLang="en-US" sz="1300" dirty="0"/>
              <a:t>년 이후 </a:t>
            </a:r>
            <a:r>
              <a:rPr lang="en-US" altLang="ko-KR" sz="1300" dirty="0"/>
              <a:t>24</a:t>
            </a:r>
            <a:r>
              <a:rPr lang="ko-KR" altLang="en-US" sz="1300" dirty="0"/>
              <a:t>년까지 지속적으로 긍정적인 평가를 받아 온 것으로 나타남</a:t>
            </a:r>
            <a:endParaRPr lang="en-US" altLang="ko-KR" sz="1300" dirty="0"/>
          </a:p>
          <a:p>
            <a:r>
              <a:rPr lang="ko-KR" altLang="en-US" sz="1300" dirty="0"/>
              <a:t>홈페이지</a:t>
            </a:r>
            <a:r>
              <a:rPr lang="en-US" altLang="ko-KR" sz="1300" dirty="0"/>
              <a:t>/</a:t>
            </a:r>
            <a:r>
              <a:rPr lang="ko-KR" altLang="en-US" sz="1300" dirty="0"/>
              <a:t>앱 이용자는 전체 응답자와 같이 모든 항목이 소폭 상승했으며</a:t>
            </a:r>
            <a:r>
              <a:rPr lang="en-US" altLang="ko-KR" sz="1300" dirty="0"/>
              <a:t>, ‘</a:t>
            </a:r>
            <a:r>
              <a:rPr lang="ko-KR" altLang="en-US" sz="1300" dirty="0"/>
              <a:t>정보 유용성</a:t>
            </a:r>
            <a:r>
              <a:rPr lang="en-US" altLang="ko-KR" sz="1300" dirty="0"/>
              <a:t>’, ‘</a:t>
            </a:r>
            <a:r>
              <a:rPr lang="ko-KR" altLang="en-US" sz="1300" dirty="0"/>
              <a:t>정보 다양성</a:t>
            </a:r>
            <a:r>
              <a:rPr lang="en-US" altLang="ko-KR" sz="1300" dirty="0"/>
              <a:t>’, ‘</a:t>
            </a:r>
            <a:r>
              <a:rPr lang="ko-KR" altLang="en-US" sz="1300" dirty="0"/>
              <a:t>정보 최신화</a:t>
            </a:r>
            <a:r>
              <a:rPr lang="en-US" altLang="ko-KR" sz="1300" dirty="0"/>
              <a:t>’ </a:t>
            </a:r>
            <a:r>
              <a:rPr lang="ko-KR" altLang="en-US" sz="1300" dirty="0"/>
              <a:t>측면에서 지속으로 </a:t>
            </a:r>
            <a:r>
              <a:rPr lang="en-US" altLang="ko-KR" sz="1300" dirty="0"/>
              <a:t/>
            </a:r>
            <a:br>
              <a:rPr lang="en-US" altLang="ko-KR" sz="1300" dirty="0"/>
            </a:br>
            <a:r>
              <a:rPr lang="ko-KR" altLang="en-US" sz="1300" dirty="0"/>
              <a:t>점수가 상승함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00703A4-E344-1F43-8242-4A5C76EEA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47995"/>
              </p:ext>
            </p:extLst>
          </p:nvPr>
        </p:nvGraphicFramePr>
        <p:xfrm>
          <a:off x="336074" y="2542132"/>
          <a:ext cx="9225441" cy="4052286"/>
        </p:xfrm>
        <a:graphic>
          <a:graphicData uri="http://schemas.openxmlformats.org/drawingml/2006/table">
            <a:tbl>
              <a:tblPr/>
              <a:tblGrid>
                <a:gridCol w="480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488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1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홈페이지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95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앱</a:t>
                      </a:r>
                      <a:endParaRPr lang="ko-KR" altLang="en-US" sz="95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1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82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전반적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만족도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추천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서비스 이용 후 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국내 여행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서비스 내 접촉 여행지 방문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신뢰성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유용성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다양성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최신화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접근성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9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전반 평가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세부 속성 평가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세로챠트-일반">
            <a:extLst>
              <a:ext uri="{FF2B5EF4-FFF2-40B4-BE49-F238E27FC236}">
                <a16:creationId xmlns:a16="http://schemas.microsoft.com/office/drawing/2014/main" id="{C611A2E7-EDAC-AAC5-E04F-5C5196CE6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9698939"/>
              </p:ext>
            </p:extLst>
          </p:nvPr>
        </p:nvGraphicFramePr>
        <p:xfrm>
          <a:off x="868081" y="2449799"/>
          <a:ext cx="8693432" cy="17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Box 168">
            <a:extLst>
              <a:ext uri="{FF2B5EF4-FFF2-40B4-BE49-F238E27FC236}">
                <a16:creationId xmlns:a16="http://schemas.microsoft.com/office/drawing/2014/main" id="{493768DE-DFC8-BF07-C17B-669D1B9CA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9460" y="2265053"/>
            <a:ext cx="916918" cy="313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36000" rIns="0" bIns="0" anchor="t" anchorCtr="0">
            <a:spAutoFit/>
          </a:bodyPr>
          <a:lstStyle/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점 환산 평균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Gap</a:t>
            </a:r>
          </a:p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(’24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-’23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)</a:t>
            </a:r>
          </a:p>
        </p:txBody>
      </p:sp>
      <p:graphicFrame>
        <p:nvGraphicFramePr>
          <p:cNvPr id="14" name="세로챠트-일반">
            <a:extLst>
              <a:ext uri="{FF2B5EF4-FFF2-40B4-BE49-F238E27FC236}">
                <a16:creationId xmlns:a16="http://schemas.microsoft.com/office/drawing/2014/main" id="{37918DD1-11F1-3EB2-E40B-907373A3E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943035"/>
              </p:ext>
            </p:extLst>
          </p:nvPr>
        </p:nvGraphicFramePr>
        <p:xfrm>
          <a:off x="868081" y="4241870"/>
          <a:ext cx="8693431" cy="17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12B8759-FE33-FB12-51A7-4C1BBFA2BAE3}"/>
              </a:ext>
            </a:extLst>
          </p:cNvPr>
          <p:cNvSpPr/>
          <p:nvPr/>
        </p:nvSpPr>
        <p:spPr bwMode="auto">
          <a:xfrm>
            <a:off x="336074" y="2269138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주요 지표 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Summary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CA9FDAFE-B82A-EF4D-32C6-A943AB1EC376}"/>
              </a:ext>
            </a:extLst>
          </p:cNvPr>
          <p:cNvGrpSpPr/>
          <p:nvPr/>
        </p:nvGrpSpPr>
        <p:grpSpPr>
          <a:xfrm>
            <a:off x="997716" y="4565250"/>
            <a:ext cx="8419284" cy="187460"/>
            <a:chOff x="997716" y="4565250"/>
            <a:chExt cx="8419284" cy="18746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5EB162E1-CB3E-8FE4-3E6E-CAC5FC427202}"/>
                </a:ext>
              </a:extLst>
            </p:cNvPr>
            <p:cNvSpPr/>
            <p:nvPr/>
          </p:nvSpPr>
          <p:spPr bwMode="auto">
            <a:xfrm>
              <a:off x="1261249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1C733FA-132B-2C12-BF9E-7222372762B0}"/>
                </a:ext>
              </a:extLst>
            </p:cNvPr>
            <p:cNvSpPr/>
            <p:nvPr/>
          </p:nvSpPr>
          <p:spPr bwMode="auto">
            <a:xfrm>
              <a:off x="2199718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94EEEE6-2CE7-DA31-8745-9A7F31679A6D}"/>
                </a:ext>
              </a:extLst>
            </p:cNvPr>
            <p:cNvSpPr/>
            <p:nvPr/>
          </p:nvSpPr>
          <p:spPr bwMode="auto">
            <a:xfrm>
              <a:off x="3138187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5D8C1803-0DDC-3897-2269-E5A32024F6A4}"/>
                </a:ext>
              </a:extLst>
            </p:cNvPr>
            <p:cNvSpPr/>
            <p:nvPr/>
          </p:nvSpPr>
          <p:spPr bwMode="auto">
            <a:xfrm>
              <a:off x="4076656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643A7869-C1BF-87D7-B6B9-9CF399874B6C}"/>
                </a:ext>
              </a:extLst>
            </p:cNvPr>
            <p:cNvSpPr/>
            <p:nvPr/>
          </p:nvSpPr>
          <p:spPr bwMode="auto">
            <a:xfrm>
              <a:off x="5015125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775A488E-E9D1-0044-1A1C-E635337020E0}"/>
                </a:ext>
              </a:extLst>
            </p:cNvPr>
            <p:cNvSpPr/>
            <p:nvPr/>
          </p:nvSpPr>
          <p:spPr bwMode="auto">
            <a:xfrm>
              <a:off x="8769000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A9F7D8F6-2829-BECC-3EDB-310CF720988B}"/>
                </a:ext>
              </a:extLst>
            </p:cNvPr>
            <p:cNvSpPr/>
            <p:nvPr/>
          </p:nvSpPr>
          <p:spPr bwMode="auto">
            <a:xfrm>
              <a:off x="7830532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331AE8A9-104C-7C30-7C2C-CE8995FFA5A5}"/>
                </a:ext>
              </a:extLst>
            </p:cNvPr>
            <p:cNvSpPr/>
            <p:nvPr/>
          </p:nvSpPr>
          <p:spPr bwMode="auto">
            <a:xfrm>
              <a:off x="6892063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C46A75ED-3173-CD00-408B-A4C60067207F}"/>
                </a:ext>
              </a:extLst>
            </p:cNvPr>
            <p:cNvSpPr/>
            <p:nvPr/>
          </p:nvSpPr>
          <p:spPr bwMode="auto">
            <a:xfrm>
              <a:off x="5953594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67" name="Group 3">
              <a:extLst>
                <a:ext uri="{FF2B5EF4-FFF2-40B4-BE49-F238E27FC236}">
                  <a16:creationId xmlns:a16="http://schemas.microsoft.com/office/drawing/2014/main" id="{44133BF6-5382-E379-B389-795C6DC2662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04251085"/>
                </p:ext>
              </p:extLst>
            </p:nvPr>
          </p:nvGraphicFramePr>
          <p:xfrm>
            <a:off x="997716" y="4568501"/>
            <a:ext cx="8419284" cy="180957"/>
          </p:xfrm>
          <a:graphic>
            <a:graphicData uri="http://schemas.openxmlformats.org/drawingml/2006/table">
              <a:tbl>
                <a:tblPr/>
                <a:tblGrid>
                  <a:gridCol w="93547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88556374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ko-KR" altLang="en-US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2.1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ko-KR" altLang="en-US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2.4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ko-KR" altLang="en-US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2.8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ko-KR" altLang="en-US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ko-KR" altLang="en-US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1.8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ko-KR" altLang="en-US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ko-KR" altLang="en-US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2.0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ko-KR" altLang="en-US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2.6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ko-KR" altLang="en-US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BF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3.1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17C1D51-DCEE-2EC4-5E63-18D9E267BC93}"/>
              </a:ext>
            </a:extLst>
          </p:cNvPr>
          <p:cNvGrpSpPr/>
          <p:nvPr/>
        </p:nvGrpSpPr>
        <p:grpSpPr>
          <a:xfrm>
            <a:off x="997716" y="2789733"/>
            <a:ext cx="8419284" cy="187460"/>
            <a:chOff x="997716" y="4565250"/>
            <a:chExt cx="8419284" cy="187460"/>
          </a:xfrm>
        </p:grpSpPr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DFAB20AF-8770-389B-C6A0-85CF450F597F}"/>
                </a:ext>
              </a:extLst>
            </p:cNvPr>
            <p:cNvSpPr/>
            <p:nvPr/>
          </p:nvSpPr>
          <p:spPr bwMode="auto">
            <a:xfrm>
              <a:off x="1261249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922D2638-3DB5-F9EA-25B9-04444A135470}"/>
                </a:ext>
              </a:extLst>
            </p:cNvPr>
            <p:cNvSpPr/>
            <p:nvPr/>
          </p:nvSpPr>
          <p:spPr bwMode="auto">
            <a:xfrm>
              <a:off x="2199718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69EA5237-8F2E-D5E3-FEB1-9975242F9839}"/>
                </a:ext>
              </a:extLst>
            </p:cNvPr>
            <p:cNvSpPr/>
            <p:nvPr/>
          </p:nvSpPr>
          <p:spPr bwMode="auto">
            <a:xfrm>
              <a:off x="3138187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73BDB6FB-D049-ABE2-FD6D-AA8EEA6BA505}"/>
                </a:ext>
              </a:extLst>
            </p:cNvPr>
            <p:cNvSpPr/>
            <p:nvPr/>
          </p:nvSpPr>
          <p:spPr bwMode="auto">
            <a:xfrm>
              <a:off x="4076656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FBC0189E-827C-CCFE-4EB1-B425FB0D3F99}"/>
                </a:ext>
              </a:extLst>
            </p:cNvPr>
            <p:cNvSpPr/>
            <p:nvPr/>
          </p:nvSpPr>
          <p:spPr bwMode="auto">
            <a:xfrm>
              <a:off x="5015125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B112E8EA-F535-572F-2BE8-8AD8B6DB4660}"/>
                </a:ext>
              </a:extLst>
            </p:cNvPr>
            <p:cNvSpPr/>
            <p:nvPr/>
          </p:nvSpPr>
          <p:spPr bwMode="auto">
            <a:xfrm>
              <a:off x="8769000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1F66C0A4-76B4-47FE-AC78-3EB95023C96C}"/>
                </a:ext>
              </a:extLst>
            </p:cNvPr>
            <p:cNvSpPr/>
            <p:nvPr/>
          </p:nvSpPr>
          <p:spPr bwMode="auto">
            <a:xfrm>
              <a:off x="7830532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EBC1C73F-36A9-B27C-DED6-3F3E15FF99BF}"/>
                </a:ext>
              </a:extLst>
            </p:cNvPr>
            <p:cNvSpPr/>
            <p:nvPr/>
          </p:nvSpPr>
          <p:spPr bwMode="auto">
            <a:xfrm>
              <a:off x="6892063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76CA34B9-DAEC-1131-47D0-DC777FD910B0}"/>
                </a:ext>
              </a:extLst>
            </p:cNvPr>
            <p:cNvSpPr/>
            <p:nvPr/>
          </p:nvSpPr>
          <p:spPr bwMode="auto">
            <a:xfrm>
              <a:off x="5953594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84" name="Group 3">
              <a:extLst>
                <a:ext uri="{FF2B5EF4-FFF2-40B4-BE49-F238E27FC236}">
                  <a16:creationId xmlns:a16="http://schemas.microsoft.com/office/drawing/2014/main" id="{179F2C1A-C603-33BF-3D97-8CF5002BA4F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6361250"/>
                </p:ext>
              </p:extLst>
            </p:nvPr>
          </p:nvGraphicFramePr>
          <p:xfrm>
            <a:off x="997716" y="4568501"/>
            <a:ext cx="8419284" cy="180957"/>
          </p:xfrm>
          <a:graphic>
            <a:graphicData uri="http://schemas.openxmlformats.org/drawingml/2006/table">
              <a:tbl>
                <a:tblPr/>
                <a:tblGrid>
                  <a:gridCol w="93547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88556374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0.5</a:t>
                        </a:r>
                      </a:p>
                    </a:txBody>
                    <a:tcPr marL="0" marR="0" marT="0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0.4</a:t>
                        </a:r>
                      </a:p>
                    </a:txBody>
                    <a:tcPr marL="0" marR="0" marT="0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0.5</a:t>
                        </a:r>
                      </a:p>
                    </a:txBody>
                    <a:tcPr marL="0" marR="0" marT="0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0.4</a:t>
                        </a:r>
                      </a:p>
                    </a:txBody>
                    <a:tcPr marL="0" marR="0" marT="0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0.5</a:t>
                        </a:r>
                      </a:p>
                    </a:txBody>
                    <a:tcPr marL="0" marR="0" marT="0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0.1</a:t>
                        </a:r>
                      </a:p>
                    </a:txBody>
                    <a:tcPr marL="0" marR="0" marT="0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0.4</a:t>
                        </a:r>
                      </a:p>
                    </a:txBody>
                    <a:tcPr marL="0" marR="0" marT="0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0.4</a:t>
                        </a:r>
                      </a:p>
                    </a:txBody>
                    <a:tcPr marL="0" marR="0" marT="0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0.3</a:t>
                        </a:r>
                      </a:p>
                    </a:txBody>
                    <a:tcPr marL="0" marR="0" marT="0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85" name="Text Box 168">
            <a:extLst>
              <a:ext uri="{FF2B5EF4-FFF2-40B4-BE49-F238E27FC236}">
                <a16:creationId xmlns:a16="http://schemas.microsoft.com/office/drawing/2014/main" id="{5FECE231-C596-241D-86A7-86FAAFABF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9460" y="4191618"/>
            <a:ext cx="916918" cy="313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36000" rIns="0" bIns="0" anchor="t" anchorCtr="0">
            <a:spAutoFit/>
          </a:bodyPr>
          <a:lstStyle/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점 환산 평균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Gap</a:t>
            </a:r>
          </a:p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(’24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-’23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)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09B3BD2-0EDB-407A-B259-63F4AED68026}"/>
              </a:ext>
            </a:extLst>
          </p:cNvPr>
          <p:cNvCxnSpPr>
            <a:cxnSpLocks/>
          </p:cNvCxnSpPr>
          <p:nvPr/>
        </p:nvCxnSpPr>
        <p:spPr>
          <a:xfrm flipV="1">
            <a:off x="7587323" y="3222051"/>
            <a:ext cx="735990" cy="7200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BF439CB-FBF1-8705-CC42-E8EEB6A7AF9A}"/>
              </a:ext>
            </a:extLst>
          </p:cNvPr>
          <p:cNvCxnSpPr>
            <a:cxnSpLocks/>
          </p:cNvCxnSpPr>
          <p:nvPr/>
        </p:nvCxnSpPr>
        <p:spPr>
          <a:xfrm flipV="1">
            <a:off x="8550885" y="3222051"/>
            <a:ext cx="735990" cy="7200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5111F41-B0E4-6B58-7121-252965CD20E1}"/>
              </a:ext>
            </a:extLst>
          </p:cNvPr>
          <p:cNvCxnSpPr>
            <a:cxnSpLocks/>
          </p:cNvCxnSpPr>
          <p:nvPr/>
        </p:nvCxnSpPr>
        <p:spPr>
          <a:xfrm flipV="1">
            <a:off x="6638965" y="3222051"/>
            <a:ext cx="735990" cy="7200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0497143-FFEC-5CC8-C7FF-2BFBDD0FB6D4}"/>
              </a:ext>
            </a:extLst>
          </p:cNvPr>
          <p:cNvCxnSpPr>
            <a:cxnSpLocks/>
          </p:cNvCxnSpPr>
          <p:nvPr/>
        </p:nvCxnSpPr>
        <p:spPr>
          <a:xfrm flipV="1">
            <a:off x="6623761" y="5020331"/>
            <a:ext cx="735990" cy="7200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2353324-1195-3CCE-8E06-6636B23082E5}"/>
              </a:ext>
            </a:extLst>
          </p:cNvPr>
          <p:cNvCxnSpPr>
            <a:cxnSpLocks/>
          </p:cNvCxnSpPr>
          <p:nvPr/>
        </p:nvCxnSpPr>
        <p:spPr>
          <a:xfrm flipV="1">
            <a:off x="7587323" y="5020331"/>
            <a:ext cx="735990" cy="7200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B1AA5A7-7028-3B29-C926-775AD5D376FD}"/>
              </a:ext>
            </a:extLst>
          </p:cNvPr>
          <p:cNvCxnSpPr>
            <a:cxnSpLocks/>
          </p:cNvCxnSpPr>
          <p:nvPr/>
        </p:nvCxnSpPr>
        <p:spPr>
          <a:xfrm flipV="1">
            <a:off x="5675403" y="5020331"/>
            <a:ext cx="735990" cy="7200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3483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205D-5B62-FB26-C1B6-E6281A37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CE072-741E-59B1-628D-80CBEE86F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주요지표 </a:t>
            </a:r>
            <a:r>
              <a:rPr lang="en-US" altLang="ko-KR" dirty="0"/>
              <a:t>Summary </a:t>
            </a:r>
            <a:r>
              <a:rPr lang="en-US" altLang="ko-KR" sz="2400" b="0" dirty="0"/>
              <a:t>5</a:t>
            </a:r>
            <a:r>
              <a:rPr lang="ko-KR" altLang="en-US" sz="2400" b="0" dirty="0"/>
              <a:t>개년 </a:t>
            </a:r>
            <a:r>
              <a:rPr lang="en-US" altLang="ko-KR" sz="2400" b="0" dirty="0"/>
              <a:t>Tracking_2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70CB0D9-FD8C-727F-D37F-F8F14BAD6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dirty="0"/>
              <a:t>인스타그램 이용자는 </a:t>
            </a:r>
            <a:r>
              <a:rPr lang="en-US" altLang="ko-KR" sz="1300" dirty="0"/>
              <a:t>‘</a:t>
            </a:r>
            <a:r>
              <a:rPr lang="ko-KR" altLang="en-US" sz="1300" dirty="0"/>
              <a:t>대한민국 구석구석 추천 의향</a:t>
            </a:r>
            <a:r>
              <a:rPr lang="en-US" altLang="ko-KR" sz="1300" dirty="0"/>
              <a:t>’, ‘</a:t>
            </a:r>
            <a:r>
              <a:rPr lang="ko-KR" altLang="en-US" sz="1300" dirty="0"/>
              <a:t>서비스 이용 후 국내 여행 의향</a:t>
            </a:r>
            <a:r>
              <a:rPr lang="en-US" altLang="ko-KR" sz="1300" dirty="0"/>
              <a:t>’</a:t>
            </a:r>
            <a:r>
              <a:rPr lang="ko-KR" altLang="en-US" sz="1300" dirty="0"/>
              <a:t>은 </a:t>
            </a:r>
            <a:r>
              <a:rPr lang="en-US" altLang="ko-KR" sz="1300" dirty="0"/>
              <a:t>23</a:t>
            </a:r>
            <a:r>
              <a:rPr lang="ko-KR" altLang="en-US" sz="1300" dirty="0"/>
              <a:t>년 소폭 상승했으나</a:t>
            </a:r>
            <a:r>
              <a:rPr lang="en-US" altLang="ko-KR" sz="1300" dirty="0"/>
              <a:t>, 24</a:t>
            </a:r>
            <a:r>
              <a:rPr lang="ko-KR" altLang="en-US" sz="1300" dirty="0"/>
              <a:t>년 다시 하락함</a:t>
            </a:r>
            <a:endParaRPr lang="en-US" altLang="ko-KR" sz="1300" dirty="0"/>
          </a:p>
          <a:p>
            <a:r>
              <a:rPr lang="ko-KR" altLang="en-US" sz="1300" dirty="0"/>
              <a:t>네이버 블로그 이용자는 </a:t>
            </a:r>
            <a:r>
              <a:rPr lang="en-US" altLang="ko-KR" sz="1300" dirty="0"/>
              <a:t>‘</a:t>
            </a:r>
            <a:r>
              <a:rPr lang="ko-KR" altLang="en-US" sz="1300" dirty="0"/>
              <a:t>정보 유용성</a:t>
            </a:r>
            <a:r>
              <a:rPr lang="en-US" altLang="ko-KR" sz="1300" dirty="0"/>
              <a:t>’, ‘</a:t>
            </a:r>
            <a:r>
              <a:rPr lang="ko-KR" altLang="en-US" sz="1300" dirty="0"/>
              <a:t>정보 다양성</a:t>
            </a:r>
            <a:r>
              <a:rPr lang="en-US" altLang="ko-KR" sz="1300" dirty="0"/>
              <a:t>’, ‘</a:t>
            </a:r>
            <a:r>
              <a:rPr lang="ko-KR" altLang="en-US" sz="1300" dirty="0"/>
              <a:t>정보 접근성</a:t>
            </a:r>
            <a:r>
              <a:rPr lang="en-US" altLang="ko-KR" sz="1300" dirty="0"/>
              <a:t>’ </a:t>
            </a:r>
            <a:r>
              <a:rPr lang="ko-KR" altLang="en-US" sz="1300" dirty="0"/>
              <a:t>측면에서 </a:t>
            </a:r>
            <a:r>
              <a:rPr lang="en-US" altLang="ko-KR" sz="1300" dirty="0"/>
              <a:t>20</a:t>
            </a:r>
            <a:r>
              <a:rPr lang="ko-KR" altLang="en-US" sz="1300" dirty="0"/>
              <a:t>년도 부터 지속적인 상승세를 보임</a:t>
            </a:r>
            <a:endParaRPr lang="en-US" altLang="ko-KR" sz="13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10FD73E-13E2-9920-2759-8F94BC46E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380815"/>
              </p:ext>
            </p:extLst>
          </p:nvPr>
        </p:nvGraphicFramePr>
        <p:xfrm>
          <a:off x="336074" y="2542132"/>
          <a:ext cx="9225441" cy="4052286"/>
        </p:xfrm>
        <a:graphic>
          <a:graphicData uri="http://schemas.openxmlformats.org/drawingml/2006/table">
            <a:tbl>
              <a:tblPr/>
              <a:tblGrid>
                <a:gridCol w="480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488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인스타</a:t>
                      </a:r>
                      <a:endParaRPr lang="en-US" altLang="ko-KR" sz="95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그램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1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네이버 </a:t>
                      </a:r>
                      <a: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블로그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1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82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전반적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만족도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추천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서비스 이용 후 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국내 여행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서비스 내 접촉 여행지 방문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신뢰성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유용성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다양성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최신화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접근성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9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전반 평가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세부 속성 평가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세로챠트-일반">
            <a:extLst>
              <a:ext uri="{FF2B5EF4-FFF2-40B4-BE49-F238E27FC236}">
                <a16:creationId xmlns:a16="http://schemas.microsoft.com/office/drawing/2014/main" id="{9FA1B55B-024B-3351-C150-ABC622A36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1941334"/>
              </p:ext>
            </p:extLst>
          </p:nvPr>
        </p:nvGraphicFramePr>
        <p:xfrm>
          <a:off x="868081" y="2449799"/>
          <a:ext cx="8693432" cy="17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Box 168">
            <a:extLst>
              <a:ext uri="{FF2B5EF4-FFF2-40B4-BE49-F238E27FC236}">
                <a16:creationId xmlns:a16="http://schemas.microsoft.com/office/drawing/2014/main" id="{A1E0FB15-4811-C913-1C9D-15CA6F322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9460" y="2265053"/>
            <a:ext cx="916918" cy="313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36000" rIns="0" bIns="0" anchor="t" anchorCtr="0">
            <a:spAutoFit/>
          </a:bodyPr>
          <a:lstStyle/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점 환산 평균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Gap</a:t>
            </a:r>
          </a:p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(’24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-’23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)</a:t>
            </a:r>
          </a:p>
        </p:txBody>
      </p:sp>
      <p:graphicFrame>
        <p:nvGraphicFramePr>
          <p:cNvPr id="14" name="세로챠트-일반">
            <a:extLst>
              <a:ext uri="{FF2B5EF4-FFF2-40B4-BE49-F238E27FC236}">
                <a16:creationId xmlns:a16="http://schemas.microsoft.com/office/drawing/2014/main" id="{55B906AC-E7C1-D80B-5E07-29CCBB7F67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1919107"/>
              </p:ext>
            </p:extLst>
          </p:nvPr>
        </p:nvGraphicFramePr>
        <p:xfrm>
          <a:off x="868081" y="4241870"/>
          <a:ext cx="8693431" cy="17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549BC34-92E2-5A64-3FE9-CA4AE3CAF9D2}"/>
              </a:ext>
            </a:extLst>
          </p:cNvPr>
          <p:cNvSpPr/>
          <p:nvPr/>
        </p:nvSpPr>
        <p:spPr bwMode="auto">
          <a:xfrm>
            <a:off x="336074" y="2269138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주요 지표 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Summary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1FD9836A-EF62-C403-66D7-B7DC041A7FEF}"/>
              </a:ext>
            </a:extLst>
          </p:cNvPr>
          <p:cNvGrpSpPr/>
          <p:nvPr/>
        </p:nvGrpSpPr>
        <p:grpSpPr>
          <a:xfrm>
            <a:off x="997716" y="4565250"/>
            <a:ext cx="8419284" cy="187460"/>
            <a:chOff x="997716" y="4565250"/>
            <a:chExt cx="8419284" cy="18746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09BF4F1A-33E6-EE3A-5F81-A03EC7A23CD5}"/>
                </a:ext>
              </a:extLst>
            </p:cNvPr>
            <p:cNvSpPr/>
            <p:nvPr/>
          </p:nvSpPr>
          <p:spPr bwMode="auto">
            <a:xfrm>
              <a:off x="1261249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ECE59DD-137C-1F57-006D-C9AD8A3500E7}"/>
                </a:ext>
              </a:extLst>
            </p:cNvPr>
            <p:cNvSpPr/>
            <p:nvPr/>
          </p:nvSpPr>
          <p:spPr bwMode="auto">
            <a:xfrm>
              <a:off x="2199718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DA918B1-FABF-FBC3-E479-361232F5B2BA}"/>
                </a:ext>
              </a:extLst>
            </p:cNvPr>
            <p:cNvSpPr/>
            <p:nvPr/>
          </p:nvSpPr>
          <p:spPr bwMode="auto">
            <a:xfrm>
              <a:off x="3138187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C9EE6F94-577B-916B-E633-7569F9783248}"/>
                </a:ext>
              </a:extLst>
            </p:cNvPr>
            <p:cNvSpPr/>
            <p:nvPr/>
          </p:nvSpPr>
          <p:spPr bwMode="auto">
            <a:xfrm>
              <a:off x="4076656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BBBC1385-0BA1-4218-F432-A33D7940638E}"/>
                </a:ext>
              </a:extLst>
            </p:cNvPr>
            <p:cNvSpPr/>
            <p:nvPr/>
          </p:nvSpPr>
          <p:spPr bwMode="auto">
            <a:xfrm>
              <a:off x="5015125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500392D4-2A7B-60D7-F94D-2389D7772B3E}"/>
                </a:ext>
              </a:extLst>
            </p:cNvPr>
            <p:cNvSpPr/>
            <p:nvPr/>
          </p:nvSpPr>
          <p:spPr bwMode="auto">
            <a:xfrm>
              <a:off x="8769000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170649ED-9EB7-81D8-00A7-B99C0F72C18A}"/>
                </a:ext>
              </a:extLst>
            </p:cNvPr>
            <p:cNvSpPr/>
            <p:nvPr/>
          </p:nvSpPr>
          <p:spPr bwMode="auto">
            <a:xfrm>
              <a:off x="7830532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7DF02A3C-2395-CBAD-FC89-BC90BA8D84C5}"/>
                </a:ext>
              </a:extLst>
            </p:cNvPr>
            <p:cNvSpPr/>
            <p:nvPr/>
          </p:nvSpPr>
          <p:spPr bwMode="auto">
            <a:xfrm>
              <a:off x="6892063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7A763781-E41F-A00E-664B-348738D1CE3E}"/>
                </a:ext>
              </a:extLst>
            </p:cNvPr>
            <p:cNvSpPr/>
            <p:nvPr/>
          </p:nvSpPr>
          <p:spPr bwMode="auto">
            <a:xfrm>
              <a:off x="5953594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67" name="Group 3">
              <a:extLst>
                <a:ext uri="{FF2B5EF4-FFF2-40B4-BE49-F238E27FC236}">
                  <a16:creationId xmlns:a16="http://schemas.microsoft.com/office/drawing/2014/main" id="{930F35E3-6060-60E1-AF3B-383FFC80318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62811384"/>
                </p:ext>
              </p:extLst>
            </p:nvPr>
          </p:nvGraphicFramePr>
          <p:xfrm>
            <a:off x="997716" y="4568501"/>
            <a:ext cx="8419284" cy="180957"/>
          </p:xfrm>
          <a:graphic>
            <a:graphicData uri="http://schemas.openxmlformats.org/drawingml/2006/table">
              <a:tbl>
                <a:tblPr/>
                <a:tblGrid>
                  <a:gridCol w="93547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88556374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1.3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0.3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0.3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0.7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1.6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1.9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1.5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85" name="Text Box 168">
            <a:extLst>
              <a:ext uri="{FF2B5EF4-FFF2-40B4-BE49-F238E27FC236}">
                <a16:creationId xmlns:a16="http://schemas.microsoft.com/office/drawing/2014/main" id="{EDC8D760-8C10-0B74-B699-F113FA528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9460" y="4191618"/>
            <a:ext cx="916918" cy="313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36000" rIns="0" bIns="0" anchor="t" anchorCtr="0">
            <a:spAutoFit/>
          </a:bodyPr>
          <a:lstStyle/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점 환산 평균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Gap</a:t>
            </a:r>
          </a:p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(’24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-’23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1684AB-F339-020F-8506-361BCEE936DA}"/>
              </a:ext>
            </a:extLst>
          </p:cNvPr>
          <p:cNvGrpSpPr/>
          <p:nvPr/>
        </p:nvGrpSpPr>
        <p:grpSpPr>
          <a:xfrm>
            <a:off x="997716" y="2789733"/>
            <a:ext cx="8419284" cy="187460"/>
            <a:chOff x="997716" y="4565250"/>
            <a:chExt cx="8419284" cy="18746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7D2319FD-AD35-BFE4-C1F6-EF5A094E348F}"/>
                </a:ext>
              </a:extLst>
            </p:cNvPr>
            <p:cNvSpPr/>
            <p:nvPr/>
          </p:nvSpPr>
          <p:spPr bwMode="auto">
            <a:xfrm>
              <a:off x="1261249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AA8D87A-A48A-1029-A586-422E5D50FF24}"/>
                </a:ext>
              </a:extLst>
            </p:cNvPr>
            <p:cNvSpPr/>
            <p:nvPr/>
          </p:nvSpPr>
          <p:spPr bwMode="auto">
            <a:xfrm>
              <a:off x="2199718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B48FFD28-A04A-F1B5-74AA-00D905BCC305}"/>
                </a:ext>
              </a:extLst>
            </p:cNvPr>
            <p:cNvSpPr/>
            <p:nvPr/>
          </p:nvSpPr>
          <p:spPr bwMode="auto">
            <a:xfrm>
              <a:off x="3138187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20B66829-C324-C408-7F86-9B4E294D7E17}"/>
                </a:ext>
              </a:extLst>
            </p:cNvPr>
            <p:cNvSpPr/>
            <p:nvPr/>
          </p:nvSpPr>
          <p:spPr bwMode="auto">
            <a:xfrm>
              <a:off x="4076656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0D66318-1159-60F7-0984-F2987AD5396D}"/>
                </a:ext>
              </a:extLst>
            </p:cNvPr>
            <p:cNvSpPr/>
            <p:nvPr/>
          </p:nvSpPr>
          <p:spPr bwMode="auto">
            <a:xfrm>
              <a:off x="5015125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56DE8C67-3E97-835D-4623-7480CF95C89B}"/>
                </a:ext>
              </a:extLst>
            </p:cNvPr>
            <p:cNvSpPr/>
            <p:nvPr/>
          </p:nvSpPr>
          <p:spPr bwMode="auto">
            <a:xfrm>
              <a:off x="8769000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A356835-E960-2FF3-0327-C67C9AA14715}"/>
                </a:ext>
              </a:extLst>
            </p:cNvPr>
            <p:cNvSpPr/>
            <p:nvPr/>
          </p:nvSpPr>
          <p:spPr bwMode="auto">
            <a:xfrm>
              <a:off x="7830532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13FBBEF-0891-278B-E53F-55DB78A3D4A7}"/>
                </a:ext>
              </a:extLst>
            </p:cNvPr>
            <p:cNvSpPr/>
            <p:nvPr/>
          </p:nvSpPr>
          <p:spPr bwMode="auto">
            <a:xfrm>
              <a:off x="6892063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AFAD556-CA34-7994-0AE6-ED36C03DB1C7}"/>
                </a:ext>
              </a:extLst>
            </p:cNvPr>
            <p:cNvSpPr/>
            <p:nvPr/>
          </p:nvSpPr>
          <p:spPr bwMode="auto">
            <a:xfrm>
              <a:off x="5953594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24" name="Group 3">
              <a:extLst>
                <a:ext uri="{FF2B5EF4-FFF2-40B4-BE49-F238E27FC236}">
                  <a16:creationId xmlns:a16="http://schemas.microsoft.com/office/drawing/2014/main" id="{F6650A29-FD89-38D7-E998-017C969582B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21994495"/>
                </p:ext>
              </p:extLst>
            </p:nvPr>
          </p:nvGraphicFramePr>
          <p:xfrm>
            <a:off x="997716" y="4568501"/>
            <a:ext cx="8419284" cy="180957"/>
          </p:xfrm>
          <a:graphic>
            <a:graphicData uri="http://schemas.openxmlformats.org/drawingml/2006/table">
              <a:tbl>
                <a:tblPr/>
                <a:tblGrid>
                  <a:gridCol w="93547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88556374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3.0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3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3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0.7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3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3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0.7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3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3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0.6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2.0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2.7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3.3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2.4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rPr>
                          <a:t>-</a:t>
                        </a:r>
                      </a:p>
                    </a:txBody>
                    <a:tcPr marL="0" marR="0" marT="0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E4B263D-2381-E651-8C46-7CD425DEC7CD}"/>
              </a:ext>
            </a:extLst>
          </p:cNvPr>
          <p:cNvCxnSpPr>
            <a:cxnSpLocks/>
          </p:cNvCxnSpPr>
          <p:nvPr/>
        </p:nvCxnSpPr>
        <p:spPr>
          <a:xfrm>
            <a:off x="1889493" y="3147745"/>
            <a:ext cx="500100" cy="10511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5CE25A4-47A3-9F7E-D940-CFEC5DE28153}"/>
              </a:ext>
            </a:extLst>
          </p:cNvPr>
          <p:cNvCxnSpPr>
            <a:cxnSpLocks/>
          </p:cNvCxnSpPr>
          <p:nvPr/>
        </p:nvCxnSpPr>
        <p:spPr>
          <a:xfrm>
            <a:off x="2833862" y="3147745"/>
            <a:ext cx="535138" cy="8519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6AE42BA-2614-056A-75BB-90CB2058A1CC}"/>
              </a:ext>
            </a:extLst>
          </p:cNvPr>
          <p:cNvCxnSpPr>
            <a:cxnSpLocks/>
          </p:cNvCxnSpPr>
          <p:nvPr/>
        </p:nvCxnSpPr>
        <p:spPr>
          <a:xfrm flipV="1">
            <a:off x="5677999" y="5002072"/>
            <a:ext cx="684076" cy="8332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32D4846-9215-7231-80D1-2FBA5024F5E4}"/>
              </a:ext>
            </a:extLst>
          </p:cNvPr>
          <p:cNvCxnSpPr>
            <a:cxnSpLocks/>
          </p:cNvCxnSpPr>
          <p:nvPr/>
        </p:nvCxnSpPr>
        <p:spPr>
          <a:xfrm flipV="1">
            <a:off x="8550044" y="5047536"/>
            <a:ext cx="684076" cy="8332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BDC62DC-C123-821B-FB6D-12FFA41AAA79}"/>
              </a:ext>
            </a:extLst>
          </p:cNvPr>
          <p:cNvCxnSpPr>
            <a:cxnSpLocks/>
          </p:cNvCxnSpPr>
          <p:nvPr/>
        </p:nvCxnSpPr>
        <p:spPr>
          <a:xfrm flipV="1">
            <a:off x="6640111" y="5034429"/>
            <a:ext cx="684076" cy="8332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0584016-7C5C-6A24-6EF1-25E40960D069}"/>
              </a:ext>
            </a:extLst>
          </p:cNvPr>
          <p:cNvCxnSpPr>
            <a:cxnSpLocks/>
          </p:cNvCxnSpPr>
          <p:nvPr/>
        </p:nvCxnSpPr>
        <p:spPr>
          <a:xfrm flipV="1">
            <a:off x="5868556" y="3207327"/>
            <a:ext cx="524307" cy="6663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1ADCC36-75D8-CDC7-26AC-5D2565FD7AC1}"/>
              </a:ext>
            </a:extLst>
          </p:cNvPr>
          <p:cNvCxnSpPr>
            <a:cxnSpLocks/>
          </p:cNvCxnSpPr>
          <p:nvPr/>
        </p:nvCxnSpPr>
        <p:spPr>
          <a:xfrm flipV="1">
            <a:off x="6640111" y="3228769"/>
            <a:ext cx="684076" cy="8332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1527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07043-56B6-A144-3D12-265C6130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63CC2-AF58-AA6F-8543-AFBC4370F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주요지표 </a:t>
            </a:r>
            <a:r>
              <a:rPr lang="en-US" altLang="ko-KR" dirty="0"/>
              <a:t>Summary </a:t>
            </a:r>
            <a:r>
              <a:rPr lang="en-US" altLang="ko-KR" sz="2400" b="0" dirty="0"/>
              <a:t>5</a:t>
            </a:r>
            <a:r>
              <a:rPr lang="ko-KR" altLang="en-US" sz="2400" b="0" dirty="0"/>
              <a:t>개년 </a:t>
            </a:r>
            <a:r>
              <a:rPr lang="en-US" altLang="ko-KR" sz="2400" b="0" dirty="0"/>
              <a:t>Tracking_3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AEEEEB1-B90A-8D50-5CDB-4ABAFE62D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dirty="0"/>
              <a:t>페이스북 이용자는 전년 대비 전체 항목에서 소폭 상승하였으며</a:t>
            </a:r>
            <a:r>
              <a:rPr lang="en-US" altLang="ko-KR" sz="1300" dirty="0"/>
              <a:t>, </a:t>
            </a:r>
            <a:r>
              <a:rPr lang="ko-KR" altLang="en-US" sz="1300" dirty="0"/>
              <a:t>전년 대비 </a:t>
            </a:r>
            <a:r>
              <a:rPr lang="en-US" altLang="ko-KR" sz="1300" dirty="0"/>
              <a:t>‘</a:t>
            </a:r>
            <a:r>
              <a:rPr lang="ko-KR" altLang="en-US" sz="1300" dirty="0"/>
              <a:t>추천의향</a:t>
            </a:r>
            <a:r>
              <a:rPr lang="en-US" altLang="ko-KR" sz="1300" dirty="0"/>
              <a:t>’(2.8</a:t>
            </a:r>
            <a:r>
              <a:rPr lang="ko-KR" altLang="en-US" sz="1300" dirty="0"/>
              <a:t>점↑</a:t>
            </a:r>
            <a:r>
              <a:rPr lang="en-US" altLang="ko-KR" sz="1300" dirty="0"/>
              <a:t>)</a:t>
            </a:r>
            <a:r>
              <a:rPr lang="ko-KR" altLang="en-US" sz="1300" dirty="0"/>
              <a:t>이 가장 많이 상승함</a:t>
            </a:r>
            <a:endParaRPr lang="en-US" altLang="ko-KR" sz="1300" dirty="0"/>
          </a:p>
          <a:p>
            <a:r>
              <a:rPr lang="ko-KR" altLang="en-US" sz="1300" dirty="0"/>
              <a:t>카카오스토리 이용자는 </a:t>
            </a:r>
            <a:r>
              <a:rPr lang="en-US" altLang="ko-KR" sz="1300" dirty="0"/>
              <a:t>‘</a:t>
            </a:r>
            <a:r>
              <a:rPr lang="ko-KR" altLang="en-US" sz="1300" dirty="0"/>
              <a:t>전반적 만족도</a:t>
            </a:r>
            <a:r>
              <a:rPr lang="en-US" altLang="ko-KR" sz="1300" dirty="0"/>
              <a:t>’ </a:t>
            </a:r>
            <a:r>
              <a:rPr lang="ko-KR" altLang="en-US" sz="1300" dirty="0"/>
              <a:t>및</a:t>
            </a:r>
            <a:r>
              <a:rPr lang="en-US" altLang="ko-KR" sz="1300" dirty="0"/>
              <a:t> ‘</a:t>
            </a:r>
            <a:r>
              <a:rPr lang="ko-KR" altLang="en-US" sz="1300" dirty="0"/>
              <a:t>정보 최신화</a:t>
            </a:r>
            <a:r>
              <a:rPr lang="en-US" altLang="ko-KR" sz="1300" dirty="0"/>
              <a:t>’ </a:t>
            </a:r>
            <a:r>
              <a:rPr lang="ko-KR" altLang="en-US" sz="1300" dirty="0"/>
              <a:t>측면 만족도에서 지속적으로 상승하는 것으로 나타남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8A1CB8-C03F-FEE9-4DFD-C73D47EBF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63776"/>
              </p:ext>
            </p:extLst>
          </p:nvPr>
        </p:nvGraphicFramePr>
        <p:xfrm>
          <a:off x="336074" y="2542132"/>
          <a:ext cx="9225441" cy="4052286"/>
        </p:xfrm>
        <a:graphic>
          <a:graphicData uri="http://schemas.openxmlformats.org/drawingml/2006/table">
            <a:tbl>
              <a:tblPr/>
              <a:tblGrid>
                <a:gridCol w="480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16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488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95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1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카카오</a:t>
                      </a:r>
                      <a:endParaRPr lang="en-US" altLang="ko-KR" sz="95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스토리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1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82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전반적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만족도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추천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서비스 이용 후 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국내 여행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서비스 내 접촉 여행지 방문 의향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신뢰성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유용성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다양성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최신화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정보 </a:t>
                      </a:r>
                      <a:b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접근성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B58A5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98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전반 평가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5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세부 속성 평가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세로챠트-일반">
            <a:extLst>
              <a:ext uri="{FF2B5EF4-FFF2-40B4-BE49-F238E27FC236}">
                <a16:creationId xmlns:a16="http://schemas.microsoft.com/office/drawing/2014/main" id="{AF1C7EB6-DBA2-D081-EDA5-4D784EF237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8018936"/>
              </p:ext>
            </p:extLst>
          </p:nvPr>
        </p:nvGraphicFramePr>
        <p:xfrm>
          <a:off x="868081" y="2449799"/>
          <a:ext cx="8693432" cy="17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Box 168">
            <a:extLst>
              <a:ext uri="{FF2B5EF4-FFF2-40B4-BE49-F238E27FC236}">
                <a16:creationId xmlns:a16="http://schemas.microsoft.com/office/drawing/2014/main" id="{9E6C942C-FD83-156B-D938-938F29A55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9460" y="2265053"/>
            <a:ext cx="916918" cy="313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36000" rIns="0" bIns="0" anchor="t" anchorCtr="0">
            <a:spAutoFit/>
          </a:bodyPr>
          <a:lstStyle/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점 환산 평균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Gap</a:t>
            </a:r>
          </a:p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(’24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-’23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)</a:t>
            </a:r>
          </a:p>
        </p:txBody>
      </p:sp>
      <p:graphicFrame>
        <p:nvGraphicFramePr>
          <p:cNvPr id="14" name="세로챠트-일반">
            <a:extLst>
              <a:ext uri="{FF2B5EF4-FFF2-40B4-BE49-F238E27FC236}">
                <a16:creationId xmlns:a16="http://schemas.microsoft.com/office/drawing/2014/main" id="{6365F3BD-E272-C597-1BF5-11DE53EF3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164685"/>
              </p:ext>
            </p:extLst>
          </p:nvPr>
        </p:nvGraphicFramePr>
        <p:xfrm>
          <a:off x="868081" y="4241870"/>
          <a:ext cx="8693431" cy="17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065521A-BA3B-A5A7-4170-016357A33802}"/>
              </a:ext>
            </a:extLst>
          </p:cNvPr>
          <p:cNvSpPr/>
          <p:nvPr/>
        </p:nvSpPr>
        <p:spPr bwMode="auto">
          <a:xfrm>
            <a:off x="336074" y="2269138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주요 지표 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Summary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E601C3C-103B-70F5-E73F-EA9DC8AA5DB9}"/>
              </a:ext>
            </a:extLst>
          </p:cNvPr>
          <p:cNvGrpSpPr/>
          <p:nvPr/>
        </p:nvGrpSpPr>
        <p:grpSpPr>
          <a:xfrm>
            <a:off x="997716" y="4565250"/>
            <a:ext cx="8419284" cy="187460"/>
            <a:chOff x="997716" y="4565250"/>
            <a:chExt cx="8419284" cy="18746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BBCE70FD-C7BF-7C4F-3B7A-D481A82416F7}"/>
                </a:ext>
              </a:extLst>
            </p:cNvPr>
            <p:cNvSpPr/>
            <p:nvPr/>
          </p:nvSpPr>
          <p:spPr bwMode="auto">
            <a:xfrm>
              <a:off x="1261249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21E1A793-6117-8906-7DB7-5D64D7D9CB67}"/>
                </a:ext>
              </a:extLst>
            </p:cNvPr>
            <p:cNvSpPr/>
            <p:nvPr/>
          </p:nvSpPr>
          <p:spPr bwMode="auto">
            <a:xfrm>
              <a:off x="2199718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CDC4B4F-9E65-8F5C-FF3E-E35F290F2F98}"/>
                </a:ext>
              </a:extLst>
            </p:cNvPr>
            <p:cNvSpPr/>
            <p:nvPr/>
          </p:nvSpPr>
          <p:spPr bwMode="auto">
            <a:xfrm>
              <a:off x="3138187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2B3FDA97-A73D-E831-14E6-67731B8B21AF}"/>
                </a:ext>
              </a:extLst>
            </p:cNvPr>
            <p:cNvSpPr/>
            <p:nvPr/>
          </p:nvSpPr>
          <p:spPr bwMode="auto">
            <a:xfrm>
              <a:off x="4076656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C301FF62-3D06-53CE-9EDD-2EFF47F7C717}"/>
                </a:ext>
              </a:extLst>
            </p:cNvPr>
            <p:cNvSpPr/>
            <p:nvPr/>
          </p:nvSpPr>
          <p:spPr bwMode="auto">
            <a:xfrm>
              <a:off x="5015125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2A05A17A-7964-903C-F8E9-AE1ADD59440F}"/>
                </a:ext>
              </a:extLst>
            </p:cNvPr>
            <p:cNvSpPr/>
            <p:nvPr/>
          </p:nvSpPr>
          <p:spPr bwMode="auto">
            <a:xfrm>
              <a:off x="8769000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5BE333E9-4999-49F1-7DF4-1A5109E2AB43}"/>
                </a:ext>
              </a:extLst>
            </p:cNvPr>
            <p:cNvSpPr/>
            <p:nvPr/>
          </p:nvSpPr>
          <p:spPr bwMode="auto">
            <a:xfrm>
              <a:off x="7830532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C2A141FA-6409-09AC-DACA-A76AFCE281CD}"/>
                </a:ext>
              </a:extLst>
            </p:cNvPr>
            <p:cNvSpPr/>
            <p:nvPr/>
          </p:nvSpPr>
          <p:spPr bwMode="auto">
            <a:xfrm>
              <a:off x="6892063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C0CD4F8C-604C-4C41-6EFE-A46C45023EB2}"/>
                </a:ext>
              </a:extLst>
            </p:cNvPr>
            <p:cNvSpPr/>
            <p:nvPr/>
          </p:nvSpPr>
          <p:spPr bwMode="auto">
            <a:xfrm>
              <a:off x="5953594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67" name="Group 3">
              <a:extLst>
                <a:ext uri="{FF2B5EF4-FFF2-40B4-BE49-F238E27FC236}">
                  <a16:creationId xmlns:a16="http://schemas.microsoft.com/office/drawing/2014/main" id="{741EA137-7238-BDAE-C658-0E35E4597EB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11840630"/>
                </p:ext>
              </p:extLst>
            </p:nvPr>
          </p:nvGraphicFramePr>
          <p:xfrm>
            <a:off x="997716" y="4568501"/>
            <a:ext cx="8419284" cy="180957"/>
          </p:xfrm>
          <a:graphic>
            <a:graphicData uri="http://schemas.openxmlformats.org/drawingml/2006/table">
              <a:tbl>
                <a:tblPr/>
                <a:tblGrid>
                  <a:gridCol w="93547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88556374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0.4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1.6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1.3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0.4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▼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0032CC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0.2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0.4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rPr>
                          <a:t>-</a:t>
                        </a:r>
                        <a:endParaRPr lang="en-US" altLang="ko-KR" sz="1000" b="1" i="0" u="none" strike="noStrike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32CC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85" name="Text Box 168">
            <a:extLst>
              <a:ext uri="{FF2B5EF4-FFF2-40B4-BE49-F238E27FC236}">
                <a16:creationId xmlns:a16="http://schemas.microsoft.com/office/drawing/2014/main" id="{D70F67D6-7ED0-6D6C-085F-FA828C7C9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9460" y="4191618"/>
            <a:ext cx="916918" cy="313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36000" rIns="0" bIns="0" anchor="t" anchorCtr="0">
            <a:spAutoFit/>
          </a:bodyPr>
          <a:lstStyle/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점 환산 평균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Gap</a:t>
            </a:r>
          </a:p>
          <a:p>
            <a:pPr algn="r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(’24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-’23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73C73D3-6659-567B-4B75-932A47B94579}"/>
              </a:ext>
            </a:extLst>
          </p:cNvPr>
          <p:cNvGrpSpPr/>
          <p:nvPr/>
        </p:nvGrpSpPr>
        <p:grpSpPr>
          <a:xfrm>
            <a:off x="997716" y="2789733"/>
            <a:ext cx="8419284" cy="187460"/>
            <a:chOff x="997716" y="4565250"/>
            <a:chExt cx="8419284" cy="18746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4C835454-5009-545E-3C86-325D69A86E27}"/>
                </a:ext>
              </a:extLst>
            </p:cNvPr>
            <p:cNvSpPr/>
            <p:nvPr/>
          </p:nvSpPr>
          <p:spPr bwMode="auto">
            <a:xfrm>
              <a:off x="1261249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743D6C3D-FDE0-CA18-5AA5-54B759489F59}"/>
                </a:ext>
              </a:extLst>
            </p:cNvPr>
            <p:cNvSpPr/>
            <p:nvPr/>
          </p:nvSpPr>
          <p:spPr bwMode="auto">
            <a:xfrm>
              <a:off x="2199718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BE456A1-A7FB-3F17-13BD-D7250C05CF69}"/>
                </a:ext>
              </a:extLst>
            </p:cNvPr>
            <p:cNvSpPr/>
            <p:nvPr/>
          </p:nvSpPr>
          <p:spPr bwMode="auto">
            <a:xfrm>
              <a:off x="3138187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ED61DF3-F66B-1238-AB9D-2C3D4FD13314}"/>
                </a:ext>
              </a:extLst>
            </p:cNvPr>
            <p:cNvSpPr/>
            <p:nvPr/>
          </p:nvSpPr>
          <p:spPr bwMode="auto">
            <a:xfrm>
              <a:off x="4076656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CCA37E9-1B05-B3BA-C32E-E9A07B847A4E}"/>
                </a:ext>
              </a:extLst>
            </p:cNvPr>
            <p:cNvSpPr/>
            <p:nvPr/>
          </p:nvSpPr>
          <p:spPr bwMode="auto">
            <a:xfrm>
              <a:off x="5015125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E968544C-9A38-3406-D265-031FE887A7FC}"/>
                </a:ext>
              </a:extLst>
            </p:cNvPr>
            <p:cNvSpPr/>
            <p:nvPr/>
          </p:nvSpPr>
          <p:spPr bwMode="auto">
            <a:xfrm>
              <a:off x="8769000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8FB20B8-1295-0293-306D-E7801F01D1C0}"/>
                </a:ext>
              </a:extLst>
            </p:cNvPr>
            <p:cNvSpPr/>
            <p:nvPr/>
          </p:nvSpPr>
          <p:spPr bwMode="auto">
            <a:xfrm>
              <a:off x="7830532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844C36A-344A-E19E-2398-8727D0050242}"/>
                </a:ext>
              </a:extLst>
            </p:cNvPr>
            <p:cNvSpPr/>
            <p:nvPr/>
          </p:nvSpPr>
          <p:spPr bwMode="auto">
            <a:xfrm>
              <a:off x="6892063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D31041D-727D-6182-DE9D-6E364ED002D8}"/>
                </a:ext>
              </a:extLst>
            </p:cNvPr>
            <p:cNvSpPr/>
            <p:nvPr/>
          </p:nvSpPr>
          <p:spPr bwMode="auto">
            <a:xfrm>
              <a:off x="5953594" y="4565250"/>
              <a:ext cx="379751" cy="187460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20" name="Group 3">
              <a:extLst>
                <a:ext uri="{FF2B5EF4-FFF2-40B4-BE49-F238E27FC236}">
                  <a16:creationId xmlns:a16="http://schemas.microsoft.com/office/drawing/2014/main" id="{E84CF284-A32E-3843-7C0D-2EC463201B3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21767980"/>
                </p:ext>
              </p:extLst>
            </p:nvPr>
          </p:nvGraphicFramePr>
          <p:xfrm>
            <a:off x="997716" y="4568501"/>
            <a:ext cx="8419284" cy="180957"/>
          </p:xfrm>
          <a:graphic>
            <a:graphicData uri="http://schemas.openxmlformats.org/drawingml/2006/table">
              <a:tbl>
                <a:tblPr/>
                <a:tblGrid>
                  <a:gridCol w="93547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88556374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  <a:gridCol w="935476">
                    <a:extLst>
                      <a:ext uri="{9D8B030D-6E8A-4147-A177-3AD203B41FA5}">
                        <a16:colId xmlns:a16="http://schemas.microsoft.com/office/drawing/2014/main" val="235493887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2.1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2.8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2.6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2.1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1.6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1.3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0.7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ko-KR" altLang="en-US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▲</a:t>
                        </a:r>
                        <a:r>
                          <a:rPr lang="en-US" altLang="ko-KR"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rPr>
                          <a:t>0.6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ctr" defTabSz="914400" rtl="0" eaLnBrk="1" fontAlgn="t" latinLnBrk="1" hangingPunct="1"/>
                        <a:r>
                          <a:rPr lang="en-US" sz="10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rPr>
                          <a:t>-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D9C7EBF-D300-4E53-9860-071599F29D14}"/>
              </a:ext>
            </a:extLst>
          </p:cNvPr>
          <p:cNvCxnSpPr>
            <a:cxnSpLocks/>
          </p:cNvCxnSpPr>
          <p:nvPr/>
        </p:nvCxnSpPr>
        <p:spPr>
          <a:xfrm flipV="1">
            <a:off x="888136" y="4960473"/>
            <a:ext cx="684076" cy="8332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6E5AEEC-15FD-EF69-8F4F-F20EDCCA8A61}"/>
              </a:ext>
            </a:extLst>
          </p:cNvPr>
          <p:cNvCxnSpPr>
            <a:cxnSpLocks/>
          </p:cNvCxnSpPr>
          <p:nvPr/>
        </p:nvCxnSpPr>
        <p:spPr>
          <a:xfrm flipV="1">
            <a:off x="7593187" y="5005717"/>
            <a:ext cx="684076" cy="8332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4824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A418C-4C12-9446-255A-0E8E28488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B9F8A-92E1-DF9E-20B6-3C342762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뉴스피드</a:t>
            </a:r>
            <a:r>
              <a:rPr lang="ko-KR" altLang="en-US" dirty="0"/>
              <a:t> 내 </a:t>
            </a:r>
            <a:r>
              <a:rPr lang="ko-KR" altLang="en-US" dirty="0" err="1"/>
              <a:t>정보성</a:t>
            </a:r>
            <a:r>
              <a:rPr lang="ko-KR" altLang="en-US" dirty="0"/>
              <a:t> 콘텐츠 접촉 시 태도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28DD8AD-8059-322C-15D2-66EA15331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dirty="0" err="1"/>
              <a:t>뉴스피드</a:t>
            </a:r>
            <a:r>
              <a:rPr lang="ko-KR" altLang="en-US" sz="1300" dirty="0"/>
              <a:t> 내 </a:t>
            </a:r>
            <a:r>
              <a:rPr lang="ko-KR" altLang="en-US" sz="1300" dirty="0" err="1"/>
              <a:t>정보성</a:t>
            </a:r>
            <a:r>
              <a:rPr lang="ko-KR" altLang="en-US" sz="1300" dirty="0"/>
              <a:t> 콘텐츠 접촉 시 </a:t>
            </a:r>
            <a:r>
              <a:rPr lang="en-US" altLang="ko-KR" sz="1300" dirty="0"/>
              <a:t>‘</a:t>
            </a:r>
            <a:r>
              <a:rPr lang="ko-KR" altLang="en-US" sz="1300" dirty="0"/>
              <a:t>나만 보기</a:t>
            </a:r>
            <a:r>
              <a:rPr lang="en-US" altLang="ko-KR" sz="1300" dirty="0"/>
              <a:t>/</a:t>
            </a:r>
            <a:r>
              <a:rPr lang="ko-KR" altLang="en-US" sz="1300" dirty="0"/>
              <a:t>비공개 메신저 등을 통해 친구와 공유</a:t>
            </a:r>
            <a:r>
              <a:rPr lang="en-US" altLang="ko-KR" sz="1300" dirty="0"/>
              <a:t>’(38.8%)</a:t>
            </a:r>
            <a:r>
              <a:rPr lang="ko-KR" altLang="en-US" sz="1300" dirty="0"/>
              <a:t>를 가장 많이 하는 것으로 조사됨</a:t>
            </a:r>
            <a:endParaRPr lang="en-US" altLang="ko-KR" sz="1300" dirty="0"/>
          </a:p>
          <a:p>
            <a:r>
              <a:rPr lang="ko-KR" altLang="en-US" sz="1300" dirty="0"/>
              <a:t>다음으로 </a:t>
            </a:r>
            <a:r>
              <a:rPr lang="en-US" altLang="ko-KR" sz="1300" dirty="0"/>
              <a:t>‘</a:t>
            </a:r>
            <a:r>
              <a:rPr lang="ko-KR" altLang="en-US" sz="1300" dirty="0"/>
              <a:t>친구 태그</a:t>
            </a:r>
            <a:r>
              <a:rPr lang="en-US" altLang="ko-KR" sz="1300" dirty="0"/>
              <a:t>/</a:t>
            </a:r>
            <a:r>
              <a:rPr lang="ko-KR" altLang="en-US" sz="1300" dirty="0"/>
              <a:t>댓글</a:t>
            </a:r>
            <a:r>
              <a:rPr lang="en-US" altLang="ko-KR" sz="1300" dirty="0"/>
              <a:t>/</a:t>
            </a:r>
            <a:r>
              <a:rPr lang="ko-KR" altLang="en-US" sz="1300" dirty="0"/>
              <a:t>저장</a:t>
            </a:r>
            <a:r>
              <a:rPr lang="en-US" altLang="ko-KR" sz="1300" dirty="0"/>
              <a:t>/</a:t>
            </a:r>
            <a:r>
              <a:rPr lang="ko-KR" altLang="en-US" sz="1300" dirty="0"/>
              <a:t>공유</a:t>
            </a:r>
            <a:r>
              <a:rPr lang="en-US" altLang="ko-KR" sz="1300" dirty="0"/>
              <a:t>/</a:t>
            </a:r>
            <a:r>
              <a:rPr lang="ko-KR" altLang="en-US" sz="1300" dirty="0"/>
              <a:t>좋아요 등의 행동을 주로 함</a:t>
            </a:r>
            <a:r>
              <a:rPr lang="en-US" altLang="ko-KR" sz="1300" dirty="0"/>
              <a:t>’(32.6%), ‘</a:t>
            </a:r>
            <a:r>
              <a:rPr lang="ko-KR" altLang="en-US" sz="1300" dirty="0"/>
              <a:t>보기만 함</a:t>
            </a:r>
            <a:r>
              <a:rPr lang="en-US" altLang="ko-KR" sz="1300" dirty="0"/>
              <a:t>’(21.3%) </a:t>
            </a:r>
            <a:r>
              <a:rPr lang="ko-KR" altLang="en-US" sz="1300" dirty="0"/>
              <a:t>등의 순으로 나타남</a:t>
            </a:r>
            <a:r>
              <a:rPr lang="en-US" altLang="ko-KR" sz="1300" dirty="0"/>
              <a:t/>
            </a:r>
            <a:br>
              <a:rPr lang="en-US" altLang="ko-KR" sz="1300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- 50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대는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친구 태그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댓글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저장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공유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좋아요 등의 행동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’(40.7%)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주로 하는 것으로 나타남</a:t>
            </a:r>
          </a:p>
          <a:p>
            <a:endParaRPr lang="ko-KR" altLang="en-US" dirty="0"/>
          </a:p>
        </p:txBody>
      </p:sp>
      <p:graphicFrame>
        <p:nvGraphicFramePr>
          <p:cNvPr id="6" name="내용 개체 틀 7">
            <a:extLst>
              <a:ext uri="{FF2B5EF4-FFF2-40B4-BE49-F238E27FC236}">
                <a16:creationId xmlns:a16="http://schemas.microsoft.com/office/drawing/2014/main" id="{AB067156-73FB-E2F3-8F76-7543EE2B81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7741809"/>
              </p:ext>
            </p:extLst>
          </p:nvPr>
        </p:nvGraphicFramePr>
        <p:xfrm>
          <a:off x="2623040" y="2061000"/>
          <a:ext cx="686596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2793735F-1213-873C-2094-8EFCD420A0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72491" y="2578901"/>
            <a:ext cx="535217" cy="393620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BD92B71-AB5B-5AC4-F03C-18CD0D762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77853"/>
              </p:ext>
            </p:extLst>
          </p:nvPr>
        </p:nvGraphicFramePr>
        <p:xfrm>
          <a:off x="336061" y="3805201"/>
          <a:ext cx="9225459" cy="2792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729850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729850">
                  <a:extLst>
                    <a:ext uri="{9D8B030D-6E8A-4147-A177-3AD203B41FA5}">
                      <a16:colId xmlns:a16="http://schemas.microsoft.com/office/drawing/2014/main" val="1090915213"/>
                    </a:ext>
                  </a:extLst>
                </a:gridCol>
                <a:gridCol w="1729850">
                  <a:extLst>
                    <a:ext uri="{9D8B030D-6E8A-4147-A177-3AD203B41FA5}">
                      <a16:colId xmlns:a16="http://schemas.microsoft.com/office/drawing/2014/main" val="3158404847"/>
                    </a:ext>
                  </a:extLst>
                </a:gridCol>
                <a:gridCol w="1729850">
                  <a:extLst>
                    <a:ext uri="{9D8B030D-6E8A-4147-A177-3AD203B41FA5}">
                      <a16:colId xmlns:a16="http://schemas.microsoft.com/office/drawing/2014/main" val="1115374204"/>
                    </a:ext>
                  </a:extLst>
                </a:gridCol>
              </a:tblGrid>
              <a:tr h="31230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나만 보기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비공개 메신저 등을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통해 친구와 공유함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친구 태그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댓글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저장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공유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좋아요 등의 행동을 주로 함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보기만 함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기업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기관 발행 콘텐츠는 필요할 때 채널에 가서 봄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(9,953)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39.6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(9,247)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38.8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19.4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8.7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16523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165234">
                <a:tc rowSpan="4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(2,028)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7881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(6,136)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233229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(337)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37.4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10401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9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  <a:endParaRPr lang="ko-KR" altLang="en-US" sz="2000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(746)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45.6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94096"/>
                  </a:ext>
                </a:extLst>
              </a:tr>
              <a:tr h="16523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(3,225)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(6,022)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39.3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16.8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165234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(34)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38.2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(1,065)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35.5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(3,108)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30.5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(3,054)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(1,266)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165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(720)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36.7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96557E-A161-3E78-AB4B-868E3242CDC2}"/>
              </a:ext>
            </a:extLst>
          </p:cNvPr>
          <p:cNvSpPr txBox="1"/>
          <p:nvPr/>
        </p:nvSpPr>
        <p:spPr>
          <a:xfrm>
            <a:off x="273000" y="2534239"/>
            <a:ext cx="1800275" cy="646331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대한민국 구석구석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SNS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이용자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(n=9,247),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6EEAD26-FDBF-22EE-704F-3CC4E704A83E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 err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정보성</a:t>
            </a: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콘텐츠 접촉 시 태도</a:t>
            </a:r>
          </a:p>
        </p:txBody>
      </p:sp>
    </p:spTree>
    <p:extLst>
      <p:ext uri="{BB962C8B-B14F-4D97-AF65-F5344CB8AC3E}">
        <p14:creationId xmlns:p14="http://schemas.microsoft.com/office/powerpoint/2010/main" val="17642469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991FC-7F48-8FB0-5112-E7B658BB6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7">
            <a:extLst>
              <a:ext uri="{FF2B5EF4-FFF2-40B4-BE49-F238E27FC236}">
                <a16:creationId xmlns:a16="http://schemas.microsoft.com/office/drawing/2014/main" id="{BF58DF35-F2A2-A8AC-6362-8B7DC048E9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7241864"/>
              </p:ext>
            </p:extLst>
          </p:nvPr>
        </p:nvGraphicFramePr>
        <p:xfrm>
          <a:off x="2625890" y="1932508"/>
          <a:ext cx="6919200" cy="1928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510AD088-F194-9435-A0FE-9EE6A59585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7112890"/>
              </p:ext>
            </p:extLst>
          </p:nvPr>
        </p:nvGraphicFramePr>
        <p:xfrm>
          <a:off x="2623040" y="2061000"/>
          <a:ext cx="6919200" cy="1774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DE3C136E-C465-B89E-D60B-FC6D35CD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 이용 </a:t>
            </a:r>
            <a:r>
              <a:rPr lang="en-US" altLang="ko-KR" dirty="0"/>
              <a:t>SNS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11C15DB-1298-31C3-436F-73D878D42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dirty="0"/>
              <a:t>주 이용 </a:t>
            </a:r>
            <a:r>
              <a:rPr lang="en-US" altLang="ko-KR" sz="1300" dirty="0"/>
              <a:t>SNS</a:t>
            </a:r>
            <a:r>
              <a:rPr lang="ko-KR" altLang="en-US" sz="1300" dirty="0"/>
              <a:t>는 </a:t>
            </a:r>
            <a:r>
              <a:rPr lang="en-US" altLang="ko-KR" sz="1300" dirty="0"/>
              <a:t>1</a:t>
            </a:r>
            <a:r>
              <a:rPr lang="ko-KR" altLang="en-US" sz="1300" dirty="0"/>
              <a:t>순위 기준 </a:t>
            </a:r>
            <a:r>
              <a:rPr lang="en-US" altLang="ko-KR" sz="1300" dirty="0"/>
              <a:t>‘</a:t>
            </a:r>
            <a:r>
              <a:rPr lang="ko-KR" altLang="en-US" sz="1300" dirty="0"/>
              <a:t>인스타그램</a:t>
            </a:r>
            <a:r>
              <a:rPr lang="en-US" altLang="ko-KR" sz="1300" dirty="0"/>
              <a:t>’(30.3%)</a:t>
            </a:r>
            <a:r>
              <a:rPr lang="ko-KR" altLang="en-US" sz="1300" dirty="0"/>
              <a:t>으로 나타났으며</a:t>
            </a:r>
            <a:r>
              <a:rPr lang="en-US" altLang="ko-KR" sz="1300" dirty="0"/>
              <a:t>, 1+2+3</a:t>
            </a:r>
            <a:r>
              <a:rPr lang="ko-KR" altLang="en-US" sz="1300" dirty="0"/>
              <a:t>순위 기준 </a:t>
            </a:r>
            <a:r>
              <a:rPr lang="en-US" altLang="ko-KR" sz="1300" dirty="0"/>
              <a:t>‘</a:t>
            </a:r>
            <a:r>
              <a:rPr lang="ko-KR" altLang="en-US" sz="1300" dirty="0"/>
              <a:t>유튜브</a:t>
            </a:r>
            <a:r>
              <a:rPr lang="en-US" altLang="ko-KR" sz="1300" dirty="0"/>
              <a:t>’(72.5%)</a:t>
            </a:r>
            <a:r>
              <a:rPr lang="ko-KR" altLang="en-US" sz="1300" dirty="0"/>
              <a:t>로 나타남</a:t>
            </a:r>
            <a:r>
              <a:rPr lang="en-US" altLang="ko-KR" sz="1300" dirty="0"/>
              <a:t/>
            </a:r>
            <a:br>
              <a:rPr lang="en-US" altLang="ko-KR" sz="1300" dirty="0"/>
            </a:b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연령대가 낮을수록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인스타그램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’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이용률이 높고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 이상은 카카오스토리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(20.2%)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비율이 상대적으로 높음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41A901D-1F80-98DC-FCEA-2E9DAE5CDC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30000" y="3177498"/>
            <a:ext cx="535217" cy="39362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4F52D42-17E3-3A23-F64A-96FAEF82E4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729000" y="2503134"/>
            <a:ext cx="535217" cy="39362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016FB1E6-D76D-DBC5-1746-E1D7565CBD77}"/>
              </a:ext>
            </a:extLst>
          </p:cNvPr>
          <p:cNvGrpSpPr/>
          <p:nvPr/>
        </p:nvGrpSpPr>
        <p:grpSpPr>
          <a:xfrm>
            <a:off x="5025000" y="2299516"/>
            <a:ext cx="719687" cy="153888"/>
            <a:chOff x="5062476" y="2276475"/>
            <a:chExt cx="719687" cy="153888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D6A0D37-A814-71EC-5268-417E2ADA242D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 Box 168">
              <a:extLst>
                <a:ext uri="{FF2B5EF4-FFF2-40B4-BE49-F238E27FC236}">
                  <a16:creationId xmlns:a16="http://schemas.microsoft.com/office/drawing/2014/main" id="{DB9FB462-D26D-00A5-6D6D-0B7D5A714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682627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1+2+3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FC1B837-0143-0F29-8874-C0D71ECB1162}"/>
              </a:ext>
            </a:extLst>
          </p:cNvPr>
          <p:cNvGrpSpPr/>
          <p:nvPr/>
        </p:nvGrpSpPr>
        <p:grpSpPr>
          <a:xfrm>
            <a:off x="6270431" y="2299516"/>
            <a:ext cx="679360" cy="153888"/>
            <a:chOff x="5062476" y="2276475"/>
            <a:chExt cx="679360" cy="15388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26C6236-749F-B7C4-9F90-5632905EB095}"/>
                </a:ext>
              </a:extLst>
            </p:cNvPr>
            <p:cNvSpPr/>
            <p:nvPr/>
          </p:nvSpPr>
          <p:spPr>
            <a:xfrm>
              <a:off x="5062476" y="2316901"/>
              <a:ext cx="64800" cy="648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Text Box 168">
              <a:extLst>
                <a:ext uri="{FF2B5EF4-FFF2-40B4-BE49-F238E27FC236}">
                  <a16:creationId xmlns:a16="http://schemas.microsoft.com/office/drawing/2014/main" id="{1D3ABDD3-526F-7D87-60C6-D08CA22DF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536" y="2276475"/>
              <a:ext cx="642300" cy="1538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r" fontAlgn="base" latinLnBrk="0">
                <a:defRPr sz="9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>
                <a:defRPr lang="ko-KR" altLang="en-US" sz="1000" b="0" i="0" u="none" strike="noStrike" kern="1200" spc="-50" baseline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effectLst/>
                  <a:latin typeface="+mn-lt"/>
                  <a:ea typeface="+mn-ea"/>
                  <a:cs typeface="+mn-cs"/>
                </a:defRPr>
              </a:pPr>
              <a:r>
                <a:rPr lang="en-US" altLang="ko-KR" sz="1000" spc="-50" dirty="0">
                  <a:solidFill>
                    <a:srgbClr val="000000"/>
                  </a:solidFill>
                </a:rPr>
                <a:t>1+2+3</a:t>
              </a:r>
              <a:r>
                <a:rPr lang="ko-KR" altLang="en-US" sz="1000" spc="-50" dirty="0">
                  <a:solidFill>
                    <a:srgbClr val="000000"/>
                  </a:solidFill>
                </a:rPr>
                <a:t>순위</a:t>
              </a:r>
              <a:endParaRPr lang="en-US" altLang="ko-KR" sz="1000" spc="-50" dirty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57BFE49A-D291-2A33-8E6F-8394E5624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710210"/>
              </p:ext>
            </p:extLst>
          </p:nvPr>
        </p:nvGraphicFramePr>
        <p:xfrm>
          <a:off x="336061" y="3805200"/>
          <a:ext cx="9225457" cy="278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926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1124478">
                  <a:extLst>
                    <a:ext uri="{9D8B030D-6E8A-4147-A177-3AD203B41FA5}">
                      <a16:colId xmlns:a16="http://schemas.microsoft.com/office/drawing/2014/main" val="3027759271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768822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768822">
                  <a:extLst>
                    <a:ext uri="{9D8B030D-6E8A-4147-A177-3AD203B41FA5}">
                      <a16:colId xmlns:a16="http://schemas.microsoft.com/office/drawing/2014/main" val="1589335295"/>
                    </a:ext>
                  </a:extLst>
                </a:gridCol>
                <a:gridCol w="768822">
                  <a:extLst>
                    <a:ext uri="{9D8B030D-6E8A-4147-A177-3AD203B41FA5}">
                      <a16:colId xmlns:a16="http://schemas.microsoft.com/office/drawing/2014/main" val="694293312"/>
                    </a:ext>
                  </a:extLst>
                </a:gridCol>
                <a:gridCol w="768822">
                  <a:extLst>
                    <a:ext uri="{9D8B030D-6E8A-4147-A177-3AD203B41FA5}">
                      <a16:colId xmlns:a16="http://schemas.microsoft.com/office/drawing/2014/main" val="3201981477"/>
                    </a:ext>
                  </a:extLst>
                </a:gridCol>
                <a:gridCol w="768822">
                  <a:extLst>
                    <a:ext uri="{9D8B030D-6E8A-4147-A177-3AD203B41FA5}">
                      <a16:colId xmlns:a16="http://schemas.microsoft.com/office/drawing/2014/main" val="3552540319"/>
                    </a:ext>
                  </a:extLst>
                </a:gridCol>
                <a:gridCol w="768822">
                  <a:extLst>
                    <a:ext uri="{9D8B030D-6E8A-4147-A177-3AD203B41FA5}">
                      <a16:colId xmlns:a16="http://schemas.microsoft.com/office/drawing/2014/main" val="3672903335"/>
                    </a:ext>
                  </a:extLst>
                </a:gridCol>
                <a:gridCol w="768822">
                  <a:extLst>
                    <a:ext uri="{9D8B030D-6E8A-4147-A177-3AD203B41FA5}">
                      <a16:colId xmlns:a16="http://schemas.microsoft.com/office/drawing/2014/main" val="3855781803"/>
                    </a:ext>
                  </a:extLst>
                </a:gridCol>
                <a:gridCol w="768822">
                  <a:extLst>
                    <a:ext uri="{9D8B030D-6E8A-4147-A177-3AD203B41FA5}">
                      <a16:colId xmlns:a16="http://schemas.microsoft.com/office/drawing/2014/main" val="1698628937"/>
                    </a:ext>
                  </a:extLst>
                </a:gridCol>
                <a:gridCol w="768822">
                  <a:extLst>
                    <a:ext uri="{9D8B030D-6E8A-4147-A177-3AD203B41FA5}">
                      <a16:colId xmlns:a16="http://schemas.microsoft.com/office/drawing/2014/main" val="3892494175"/>
                    </a:ext>
                  </a:extLst>
                </a:gridCol>
              </a:tblGrid>
              <a:tr h="30318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인스타그램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유튜브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네이버 블로그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카카오스토리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페이스북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네이버 밴드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엑스</a:t>
                      </a:r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</a:t>
                      </a:r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. </a:t>
                      </a: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트위터</a:t>
                      </a:r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틱톡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스레드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(15,754)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42.1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  <a:endParaRPr kumimoji="0" lang="ko-KR" altLang="en-US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31.1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9.3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-</a:t>
                      </a:r>
                      <a:endParaRPr kumimoji="0" lang="ko-KR" altLang="en-US" sz="1000" b="1" i="0" u="none" strike="noStrike" kern="12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 전체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(11,974)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30.3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6.8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4.6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22601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GAP(24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-23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GAP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8.4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▼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2CCA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▲</a:t>
                      </a: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22601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성별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남성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(4,344)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32.1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19.6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6470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(7,630)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7.1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884"/>
                  </a:ext>
                </a:extLst>
              </a:tr>
              <a:tr h="226017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19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이하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(46)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45.7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28.3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17.4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28987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20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(1,505)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39.3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85952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30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(4,173)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34.7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24.6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3.1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12960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40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(3,803)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29.5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26.9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00658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(1,561)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21.1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25.0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14.3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67280"/>
                  </a:ext>
                </a:extLst>
              </a:tr>
              <a:tr h="226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60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세 이상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(886)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13.4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27.5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23.4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20.2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6.4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5.2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1.5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+mn-cs"/>
                        </a:rPr>
                        <a:t>0.7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992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E1F9D1-A906-EEDB-FBAC-3D83F34C3364}"/>
              </a:ext>
            </a:extLst>
          </p:cNvPr>
          <p:cNvSpPr txBox="1"/>
          <p:nvPr/>
        </p:nvSpPr>
        <p:spPr>
          <a:xfrm>
            <a:off x="273000" y="2534239"/>
            <a:ext cx="1800275" cy="133882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회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 신규 문항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유튜브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스레드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fontAlgn="base" latinLnBrk="0">
              <a:buFont typeface="Arial" panose="020B0604020202020204" pitchFamily="34" charset="0"/>
              <a:buChar char="•"/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※ 1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순위 기준 </a:t>
            </a:r>
            <a:r>
              <a:rPr lang="ko-KR" altLang="en-US" sz="9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응답값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표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base" latinLnBrk="0"/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848A47-C385-DCC6-4B53-E6EE70C4F6A5}"/>
              </a:ext>
            </a:extLst>
          </p:cNvPr>
          <p:cNvSpPr/>
          <p:nvPr/>
        </p:nvSpPr>
        <p:spPr bwMode="auto">
          <a:xfrm>
            <a:off x="337048" y="2268724"/>
            <a:ext cx="1715278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주 이용 </a:t>
            </a:r>
            <a:r>
              <a:rPr lang="en-US" altLang="ko-KR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SNS</a:t>
            </a:r>
            <a:endParaRPr lang="ko-KR" altLang="en-US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248351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EF3D-FF55-007B-BFCC-FBBE5241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A1A9-BBF0-DF89-C23A-4B785AE1B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인스타그램 내 여행 채널별 선호 이유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286A60A-C7D3-0FD6-E550-B372AAED6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dirty="0"/>
              <a:t>대한민국 구석구석 인스타그램 채널은 </a:t>
            </a:r>
            <a:r>
              <a:rPr lang="en-US" altLang="ko-KR" sz="1300" dirty="0"/>
              <a:t>‘</a:t>
            </a:r>
            <a:r>
              <a:rPr lang="ko-KR" altLang="en-US" sz="1300" dirty="0"/>
              <a:t>콘텐츠 신뢰도</a:t>
            </a:r>
            <a:r>
              <a:rPr lang="en-US" altLang="ko-KR" sz="1300" dirty="0"/>
              <a:t>’(35.8%) </a:t>
            </a:r>
            <a:r>
              <a:rPr lang="ko-KR" altLang="en-US" sz="1300" dirty="0"/>
              <a:t>때문에 선호하며</a:t>
            </a:r>
            <a:r>
              <a:rPr lang="en-US" altLang="ko-KR" sz="1300" dirty="0"/>
              <a:t>, ‘</a:t>
            </a:r>
            <a:r>
              <a:rPr lang="ko-KR" altLang="en-US" sz="1300" dirty="0"/>
              <a:t>고품질 이미지</a:t>
            </a:r>
            <a:r>
              <a:rPr lang="en-US" altLang="ko-KR" sz="1300" dirty="0"/>
              <a:t>/</a:t>
            </a:r>
            <a:r>
              <a:rPr lang="ko-KR" altLang="en-US" sz="1300" dirty="0"/>
              <a:t>영상</a:t>
            </a:r>
            <a:r>
              <a:rPr lang="en-US" altLang="ko-KR" sz="1300" dirty="0"/>
              <a:t>‘(13.9%)</a:t>
            </a:r>
            <a:r>
              <a:rPr lang="ko-KR" altLang="en-US" sz="1300" dirty="0"/>
              <a:t>으로 인해 선호한다는 </a:t>
            </a:r>
            <a:r>
              <a:rPr lang="en-US" altLang="ko-KR" sz="1300" dirty="0"/>
              <a:t/>
            </a:r>
            <a:br>
              <a:rPr lang="en-US" altLang="ko-KR" sz="1300" dirty="0"/>
            </a:br>
            <a:r>
              <a:rPr lang="ko-KR" altLang="en-US" sz="1300" dirty="0"/>
              <a:t>의견이 </a:t>
            </a:r>
            <a:r>
              <a:rPr lang="en-US" altLang="ko-KR" sz="1300" dirty="0"/>
              <a:t>23</a:t>
            </a:r>
            <a:r>
              <a:rPr lang="ko-KR" altLang="en-US" sz="1300" dirty="0"/>
              <a:t>년 대비 </a:t>
            </a:r>
            <a:r>
              <a:rPr lang="en-US" altLang="ko-KR" sz="1300" dirty="0"/>
              <a:t>4.4%p </a:t>
            </a:r>
            <a:r>
              <a:rPr lang="ko-KR" altLang="en-US" sz="1300" dirty="0"/>
              <a:t>상승함</a:t>
            </a:r>
            <a:endParaRPr lang="en-US" altLang="ko-KR" sz="1300" dirty="0"/>
          </a:p>
          <a:p>
            <a:r>
              <a:rPr lang="ko-KR" altLang="en-US" sz="1300" dirty="0"/>
              <a:t>다른 여행 인스타그램의 선호 이유는 주로 채널에 </a:t>
            </a:r>
            <a:r>
              <a:rPr lang="en-US" altLang="ko-KR" sz="1300" dirty="0"/>
              <a:t>‘</a:t>
            </a:r>
            <a:r>
              <a:rPr lang="ko-KR" altLang="en-US" sz="1300" dirty="0"/>
              <a:t>자주 노출</a:t>
            </a:r>
            <a:r>
              <a:rPr lang="en-US" altLang="ko-KR" sz="1300" dirty="0"/>
              <a:t>’</a:t>
            </a:r>
            <a:r>
              <a:rPr lang="ko-KR" altLang="en-US" sz="1300" dirty="0"/>
              <a:t>되어 선호하는 것으로 나타남</a:t>
            </a:r>
            <a:endParaRPr lang="en-US" altLang="ko-KR" sz="1300" dirty="0"/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0E616EA3-0D13-9603-3516-1D88E33CDF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344305"/>
              </p:ext>
            </p:extLst>
          </p:nvPr>
        </p:nvGraphicFramePr>
        <p:xfrm>
          <a:off x="336061" y="2331085"/>
          <a:ext cx="9225454" cy="4265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9404">
                  <a:extLst>
                    <a:ext uri="{9D8B030D-6E8A-4147-A177-3AD203B41FA5}">
                      <a16:colId xmlns:a16="http://schemas.microsoft.com/office/drawing/2014/main" val="3186171745"/>
                    </a:ext>
                  </a:extLst>
                </a:gridCol>
                <a:gridCol w="576655">
                  <a:extLst>
                    <a:ext uri="{9D8B030D-6E8A-4147-A177-3AD203B41FA5}">
                      <a16:colId xmlns:a16="http://schemas.microsoft.com/office/drawing/2014/main" val="3225002329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3647090923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905384157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859992631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3393659339"/>
                    </a:ext>
                  </a:extLst>
                </a:gridCol>
                <a:gridCol w="1383879">
                  <a:extLst>
                    <a:ext uri="{9D8B030D-6E8A-4147-A177-3AD203B41FA5}">
                      <a16:colId xmlns:a16="http://schemas.microsoft.com/office/drawing/2014/main" val="2195631877"/>
                    </a:ext>
                  </a:extLst>
                </a:gridCol>
              </a:tblGrid>
              <a:tr h="257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사례수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콘텐츠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정보성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콘텐츠 신뢰도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자주 노출됨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고품질 이미지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영상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다른 채널과 차별화된 서비스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53938"/>
                  </a:ext>
                </a:extLst>
              </a:tr>
              <a:tr h="25715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(8,023)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23.9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26.7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20.1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15.6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12.6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72572"/>
                  </a:ext>
                </a:extLst>
              </a:tr>
              <a:tr h="6252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대한민국구석구석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(@</a:t>
                      </a: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kto9suk9suk)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(4,865)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257496"/>
                  </a:ext>
                </a:extLst>
              </a:tr>
              <a:tr h="6252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여행에미치다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(@</a:t>
                      </a: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yeomi.travel)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(1,454)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36173"/>
                  </a:ext>
                </a:extLst>
              </a:tr>
              <a:tr h="6252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여행여기서행복할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 것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(@travel_behappyhere)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(265)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8901"/>
                  </a:ext>
                </a:extLst>
              </a:tr>
              <a:tr h="6252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여행다녀왔습니다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(@</a:t>
                      </a: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travelmenu1)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(350)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74951"/>
                  </a:ext>
                </a:extLst>
              </a:tr>
              <a:tr h="6252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블림프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(@</a:t>
                      </a: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blimp.official)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(168)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331326"/>
                  </a:ext>
                </a:extLst>
              </a:tr>
              <a:tr h="6252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동행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/>
                      </a:r>
                      <a:b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(@</a:t>
                      </a:r>
                      <a:r>
                        <a:rPr lang="en-US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travel_seasia)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(353)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52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62698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187F1E7E-67A5-BBDE-CDBF-EA5CC49DFE1B}"/>
              </a:ext>
            </a:extLst>
          </p:cNvPr>
          <p:cNvSpPr txBox="1"/>
          <p:nvPr/>
        </p:nvSpPr>
        <p:spPr>
          <a:xfrm>
            <a:off x="273000" y="6597650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자주 노출됨 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24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rPr>
              <a:t>년 신규 문항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E4EF9B-3D26-52C7-8D59-D959055C1A36}"/>
              </a:ext>
            </a:extLst>
          </p:cNvPr>
          <p:cNvSpPr txBox="1"/>
          <p:nvPr/>
        </p:nvSpPr>
        <p:spPr>
          <a:xfrm>
            <a:off x="273000" y="2100253"/>
            <a:ext cx="28403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인스타그램 여행 채널별 최선호자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%]</a:t>
            </a:r>
          </a:p>
        </p:txBody>
      </p:sp>
      <p:graphicFrame>
        <p:nvGraphicFramePr>
          <p:cNvPr id="38" name="내용 개체 틀 7">
            <a:extLst>
              <a:ext uri="{FF2B5EF4-FFF2-40B4-BE49-F238E27FC236}">
                <a16:creationId xmlns:a16="http://schemas.microsoft.com/office/drawing/2014/main" id="{877F0FB7-B132-862B-D118-8BCDB35115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3475940"/>
              </p:ext>
            </p:extLst>
          </p:nvPr>
        </p:nvGraphicFramePr>
        <p:xfrm>
          <a:off x="8147803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0" name="내용 개체 틀 7">
            <a:extLst>
              <a:ext uri="{FF2B5EF4-FFF2-40B4-BE49-F238E27FC236}">
                <a16:creationId xmlns:a16="http://schemas.microsoft.com/office/drawing/2014/main" id="{E2E90956-9692-EF54-BBEC-1724E0D571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0008852"/>
              </p:ext>
            </p:extLst>
          </p:nvPr>
        </p:nvGraphicFramePr>
        <p:xfrm>
          <a:off x="6768596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내용 개체 틀 7">
            <a:extLst>
              <a:ext uri="{FF2B5EF4-FFF2-40B4-BE49-F238E27FC236}">
                <a16:creationId xmlns:a16="http://schemas.microsoft.com/office/drawing/2014/main" id="{02AAB814-7C79-989C-A6C3-BABC830B3A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2303315"/>
              </p:ext>
            </p:extLst>
          </p:nvPr>
        </p:nvGraphicFramePr>
        <p:xfrm>
          <a:off x="5379817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내용 개체 틀 7">
            <a:extLst>
              <a:ext uri="{FF2B5EF4-FFF2-40B4-BE49-F238E27FC236}">
                <a16:creationId xmlns:a16="http://schemas.microsoft.com/office/drawing/2014/main" id="{3861BE3F-93BB-7AEF-C8C4-9E5B1C225C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817101"/>
              </p:ext>
            </p:extLst>
          </p:nvPr>
        </p:nvGraphicFramePr>
        <p:xfrm>
          <a:off x="3998975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6" name="내용 개체 틀 7">
            <a:extLst>
              <a:ext uri="{FF2B5EF4-FFF2-40B4-BE49-F238E27FC236}">
                <a16:creationId xmlns:a16="http://schemas.microsoft.com/office/drawing/2014/main" id="{67970A5A-8BDE-2FCC-8C70-88525CDF0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473828"/>
              </p:ext>
            </p:extLst>
          </p:nvPr>
        </p:nvGraphicFramePr>
        <p:xfrm>
          <a:off x="2623127" y="2827833"/>
          <a:ext cx="1393873" cy="376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55" name="그림 54">
            <a:extLst>
              <a:ext uri="{FF2B5EF4-FFF2-40B4-BE49-F238E27FC236}">
                <a16:creationId xmlns:a16="http://schemas.microsoft.com/office/drawing/2014/main" id="{AA7B3857-861F-5EF9-DBC9-46CED14D255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48814" y="3123098"/>
            <a:ext cx="338236" cy="248752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0DAA757-462A-7D52-E360-A9A054220D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126764" y="3758098"/>
            <a:ext cx="338236" cy="24875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9C452918-7D20-466F-C64D-5A4F9407F90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19336" y="4390558"/>
            <a:ext cx="338236" cy="248752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8B0C2ED0-EB33-3727-0361-DCF48E05B57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44824" y="5007778"/>
            <a:ext cx="338236" cy="24875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479F507D-BDD3-EDE7-049A-A9399C1C5D8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11716" y="5023018"/>
            <a:ext cx="338236" cy="248752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015E31C-6E60-3DF5-7C33-E9C8B05933C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78764" y="5640238"/>
            <a:ext cx="338236" cy="24875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7ED1011-87B7-1A57-A18C-99625168C6E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35324" y="6272698"/>
            <a:ext cx="338236" cy="248752"/>
          </a:xfrm>
          <a:prstGeom prst="rect">
            <a:avLst/>
          </a:prstGeom>
        </p:spPr>
      </p:pic>
      <p:sp>
        <p:nvSpPr>
          <p:cNvPr id="6" name="Text Box 168">
            <a:extLst>
              <a:ext uri="{FF2B5EF4-FFF2-40B4-BE49-F238E27FC236}">
                <a16:creationId xmlns:a16="http://schemas.microsoft.com/office/drawing/2014/main" id="{3C7CA4DB-050D-9FA8-4D91-B6DCC6173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060" y="2122587"/>
            <a:ext cx="535217" cy="15388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>
              <a:defRPr lang="ko-KR" altLang="en-US" sz="1000" b="0" i="0" u="none" strike="noStrike" kern="1200" spc="-50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altLang="ko-KR" sz="1000" spc="-50" dirty="0">
                <a:solidFill>
                  <a:srgbClr val="000000"/>
                </a:solidFill>
              </a:rPr>
              <a:t>23</a:t>
            </a:r>
            <a:r>
              <a:rPr lang="ko-KR" altLang="en-US" sz="1000" spc="-50" dirty="0">
                <a:solidFill>
                  <a:srgbClr val="000000"/>
                </a:solidFill>
              </a:rPr>
              <a:t>년</a:t>
            </a:r>
            <a:endParaRPr lang="en-US" altLang="ko-KR" sz="1000" spc="-50" dirty="0">
              <a:solidFill>
                <a:srgbClr val="000000"/>
              </a:solidFill>
            </a:endParaRPr>
          </a:p>
        </p:txBody>
      </p:sp>
      <p:sp>
        <p:nvSpPr>
          <p:cNvPr id="10" name="Text Box 168">
            <a:extLst>
              <a:ext uri="{FF2B5EF4-FFF2-40B4-BE49-F238E27FC236}">
                <a16:creationId xmlns:a16="http://schemas.microsoft.com/office/drawing/2014/main" id="{F915C04E-ADA8-0FD6-2FA4-52B0E7DA5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4060" y="2122587"/>
            <a:ext cx="535217" cy="15388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>
              <a:defRPr lang="ko-KR" altLang="en-US" sz="1000" b="0" i="0" u="none" strike="noStrike" kern="1200" spc="-50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altLang="ko-KR" sz="1000" spc="-50" dirty="0">
                <a:solidFill>
                  <a:srgbClr val="000000"/>
                </a:solidFill>
              </a:rPr>
              <a:t>24</a:t>
            </a:r>
            <a:r>
              <a:rPr lang="ko-KR" altLang="en-US" sz="1000" spc="-50" dirty="0">
                <a:solidFill>
                  <a:srgbClr val="000000"/>
                </a:solidFill>
              </a:rPr>
              <a:t>년</a:t>
            </a:r>
            <a:endParaRPr lang="en-US" altLang="ko-KR" sz="1000" spc="-50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49F013-6B94-CD17-8977-82ED45AB0F6E}"/>
              </a:ext>
            </a:extLst>
          </p:cNvPr>
          <p:cNvSpPr/>
          <p:nvPr/>
        </p:nvSpPr>
        <p:spPr>
          <a:xfrm>
            <a:off x="8653326" y="2163013"/>
            <a:ext cx="64800" cy="64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6A6A6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915A95-B74B-32CF-5953-31078BBFDD84}"/>
              </a:ext>
            </a:extLst>
          </p:cNvPr>
          <p:cNvSpPr/>
          <p:nvPr/>
        </p:nvSpPr>
        <p:spPr>
          <a:xfrm>
            <a:off x="9146962" y="2163013"/>
            <a:ext cx="64800" cy="64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25545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C4E6-0889-9AAF-C249-725FB05D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7F30B-3C3A-4670-2CC4-EE92AAC2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결혼 및 자녀 여부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1AEF0F5-B1C7-3501-38E3-160C89179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sz="1300" dirty="0"/>
              <a:t>결혼 및 자녀 여부별로 살펴보면</a:t>
            </a:r>
            <a:r>
              <a:rPr lang="en-US" altLang="ko-KR" sz="1300" dirty="0"/>
              <a:t>, ‘</a:t>
            </a:r>
            <a:r>
              <a:rPr lang="ko-KR" altLang="en-US" sz="1300" dirty="0"/>
              <a:t>기혼</a:t>
            </a:r>
            <a:r>
              <a:rPr lang="en-US" altLang="ko-KR" sz="1300" dirty="0"/>
              <a:t>’, ‘</a:t>
            </a:r>
            <a:r>
              <a:rPr lang="ko-KR" altLang="en-US" sz="1300" dirty="0"/>
              <a:t>자녀 </a:t>
            </a:r>
            <a:r>
              <a:rPr lang="en-US" altLang="ko-KR" sz="1300" dirty="0"/>
              <a:t>1</a:t>
            </a:r>
            <a:r>
              <a:rPr lang="ko-KR" altLang="en-US" sz="1300" dirty="0"/>
              <a:t>명</a:t>
            </a:r>
            <a:r>
              <a:rPr lang="en-US" altLang="ko-KR" sz="1300" dirty="0"/>
              <a:t>'</a:t>
            </a:r>
            <a:r>
              <a:rPr lang="ko-KR" altLang="en-US" sz="1300" dirty="0"/>
              <a:t>이 있는 그룹에서 대한민국 구석구석 전반적 만족도</a:t>
            </a:r>
            <a:r>
              <a:rPr lang="en-US" altLang="ko-KR" sz="1300" dirty="0"/>
              <a:t>, </a:t>
            </a:r>
            <a:r>
              <a:rPr lang="ko-KR" altLang="en-US" sz="1300" dirty="0"/>
              <a:t>추천의향</a:t>
            </a:r>
            <a:r>
              <a:rPr lang="en-US" altLang="ko-KR" sz="1300" dirty="0"/>
              <a:t>, </a:t>
            </a:r>
            <a:r>
              <a:rPr lang="ko-KR" altLang="en-US" sz="1300" dirty="0"/>
              <a:t>서비스 접촉 후 국내 </a:t>
            </a:r>
            <a:r>
              <a:rPr lang="en-US" altLang="ko-KR" sz="1300" dirty="0"/>
              <a:t/>
            </a:r>
            <a:br>
              <a:rPr lang="en-US" altLang="ko-KR" sz="1300" dirty="0"/>
            </a:br>
            <a:r>
              <a:rPr lang="ko-KR" altLang="en-US" sz="1300" dirty="0"/>
              <a:t>여행 의향</a:t>
            </a:r>
            <a:r>
              <a:rPr lang="en-US" altLang="ko-KR" sz="1300" dirty="0"/>
              <a:t>, </a:t>
            </a:r>
            <a:r>
              <a:rPr lang="ko-KR" altLang="en-US" sz="1300" dirty="0"/>
              <a:t>접촉 여행지 방문 의향 등 모든 방면에서 높게 평가하는 경향을 보임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91AA951-6779-DBFF-D694-C663E5E1A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483502"/>
              </p:ext>
            </p:extLst>
          </p:nvPr>
        </p:nvGraphicFramePr>
        <p:xfrm>
          <a:off x="344488" y="2841028"/>
          <a:ext cx="4481547" cy="1454686"/>
        </p:xfrm>
        <a:graphic>
          <a:graphicData uri="http://schemas.openxmlformats.org/drawingml/2006/table">
            <a:tbl>
              <a:tblPr/>
              <a:tblGrid>
                <a:gridCol w="6402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9925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기혼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미혼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미응답</a:t>
                      </a:r>
                      <a:endParaRPr lang="ko-KR" altLang="en-US" sz="8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없음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r>
                        <a:rPr lang="ko-KR" altLang="en-US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 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49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(6,606)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(5,036)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(2,426)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(2,893)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210">
                <a:tc gridSpan="3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결혼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자녀여부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세로챠트-일반">
            <a:extLst>
              <a:ext uri="{FF2B5EF4-FFF2-40B4-BE49-F238E27FC236}">
                <a16:creationId xmlns:a16="http://schemas.microsoft.com/office/drawing/2014/main" id="{D72468DF-7D4E-921D-BE61-EA30C1615B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771390"/>
              </p:ext>
            </p:extLst>
          </p:nvPr>
        </p:nvGraphicFramePr>
        <p:xfrm>
          <a:off x="331006" y="2357012"/>
          <a:ext cx="4536511" cy="1454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Box 168">
            <a:extLst>
              <a:ext uri="{FF2B5EF4-FFF2-40B4-BE49-F238E27FC236}">
                <a16:creationId xmlns:a16="http://schemas.microsoft.com/office/drawing/2014/main" id="{6C705B27-3AE3-E801-460E-849623886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88" y="2421113"/>
            <a:ext cx="665184" cy="123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z="800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z="800" spc="-50" dirty="0">
                <a:solidFill>
                  <a:schemeClr val="tx1"/>
                </a:solidFill>
                <a:latin typeface="+mj-ea"/>
                <a:ea typeface="+mj-ea"/>
              </a:rPr>
              <a:t>점 환산 평균</a:t>
            </a:r>
            <a:endParaRPr lang="en-US" altLang="ko-KR" sz="800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9A18FEF-AAF7-A07C-851F-A7340187927C}"/>
              </a:ext>
            </a:extLst>
          </p:cNvPr>
          <p:cNvGrpSpPr/>
          <p:nvPr/>
        </p:nvGrpSpPr>
        <p:grpSpPr>
          <a:xfrm>
            <a:off x="360324" y="2656776"/>
            <a:ext cx="4481547" cy="180957"/>
            <a:chOff x="5000932" y="2888043"/>
            <a:chExt cx="3841678" cy="180957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35FA68C3-2FDD-F966-84B7-5AE377E2556B}"/>
                </a:ext>
              </a:extLst>
            </p:cNvPr>
            <p:cNvSpPr/>
            <p:nvPr/>
          </p:nvSpPr>
          <p:spPr bwMode="auto">
            <a:xfrm>
              <a:off x="5164172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B46BE7B0-2BC8-5CA5-929C-A755EE50EBB8}"/>
                </a:ext>
              </a:extLst>
            </p:cNvPr>
            <p:cNvSpPr/>
            <p:nvPr/>
          </p:nvSpPr>
          <p:spPr bwMode="auto">
            <a:xfrm>
              <a:off x="5711878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76A18867-38DF-90BF-F9D7-7CF5E9D332C4}"/>
                </a:ext>
              </a:extLst>
            </p:cNvPr>
            <p:cNvSpPr/>
            <p:nvPr/>
          </p:nvSpPr>
          <p:spPr bwMode="auto">
            <a:xfrm>
              <a:off x="6259583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424F66D5-C413-E7DD-84FB-FC4B9A4F3418}"/>
                </a:ext>
              </a:extLst>
            </p:cNvPr>
            <p:cNvSpPr/>
            <p:nvPr/>
          </p:nvSpPr>
          <p:spPr bwMode="auto">
            <a:xfrm>
              <a:off x="6807290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D322E20F-CAE0-DCC4-A3DE-B5DF57FE27B5}"/>
                </a:ext>
              </a:extLst>
            </p:cNvPr>
            <p:cNvSpPr/>
            <p:nvPr/>
          </p:nvSpPr>
          <p:spPr bwMode="auto">
            <a:xfrm>
              <a:off x="7354997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E9F6FC1F-38DE-4E7F-A48B-84E44FA74839}"/>
                </a:ext>
              </a:extLst>
            </p:cNvPr>
            <p:cNvSpPr/>
            <p:nvPr/>
          </p:nvSpPr>
          <p:spPr bwMode="auto">
            <a:xfrm>
              <a:off x="8450410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3A1DFBE0-128D-9EAD-C07F-77A3F7A9CFFA}"/>
                </a:ext>
              </a:extLst>
            </p:cNvPr>
            <p:cNvSpPr/>
            <p:nvPr/>
          </p:nvSpPr>
          <p:spPr bwMode="auto">
            <a:xfrm>
              <a:off x="7902703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37" name="Group 3">
              <a:extLst>
                <a:ext uri="{FF2B5EF4-FFF2-40B4-BE49-F238E27FC236}">
                  <a16:creationId xmlns:a16="http://schemas.microsoft.com/office/drawing/2014/main" id="{0285D84D-9B1E-2E26-6095-E1617CDA13A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46951733"/>
                </p:ext>
              </p:extLst>
            </p:nvPr>
          </p:nvGraphicFramePr>
          <p:xfrm>
            <a:off x="5000932" y="2888043"/>
            <a:ext cx="3841678" cy="180957"/>
          </p:xfrm>
          <a:graphic>
            <a:graphicData uri="http://schemas.openxmlformats.org/drawingml/2006/table">
              <a:tbl>
                <a:tblPr/>
                <a:tblGrid>
                  <a:gridCol w="64022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86.6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84.0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80.1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84.0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87.0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86.6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EA4C727-6931-4646-0D66-ED718F6B70CA}"/>
              </a:ext>
            </a:extLst>
          </p:cNvPr>
          <p:cNvSpPr/>
          <p:nvPr/>
        </p:nvSpPr>
        <p:spPr bwMode="auto">
          <a:xfrm>
            <a:off x="345000" y="2130185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전반적 만족도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8E2F3E4-2BEE-9C55-EED5-3D5DFD4BFB07}"/>
              </a:ext>
            </a:extLst>
          </p:cNvPr>
          <p:cNvSpPr/>
          <p:nvPr/>
        </p:nvSpPr>
        <p:spPr bwMode="auto">
          <a:xfrm>
            <a:off x="5038997" y="2130185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추천 의향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9C1C0786-5CB7-58FC-EE82-29214F772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187207"/>
              </p:ext>
            </p:extLst>
          </p:nvPr>
        </p:nvGraphicFramePr>
        <p:xfrm>
          <a:off x="344488" y="5142964"/>
          <a:ext cx="4481547" cy="1454686"/>
        </p:xfrm>
        <a:graphic>
          <a:graphicData uri="http://schemas.openxmlformats.org/drawingml/2006/table">
            <a:tbl>
              <a:tblPr/>
              <a:tblGrid>
                <a:gridCol w="6402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9925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기혼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미혼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미응답</a:t>
                      </a:r>
                      <a:endParaRPr lang="ko-KR" altLang="en-US" sz="8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없음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r>
                        <a:rPr lang="ko-KR" altLang="en-US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 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49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(6,606)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(5,036)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(2,426)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(2,893)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210">
                <a:tc gridSpan="3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결혼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자녀여부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" name="세로챠트-일반">
            <a:extLst>
              <a:ext uri="{FF2B5EF4-FFF2-40B4-BE49-F238E27FC236}">
                <a16:creationId xmlns:a16="http://schemas.microsoft.com/office/drawing/2014/main" id="{6C85BBEA-672D-0E77-AC55-94FEE16901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3162362"/>
              </p:ext>
            </p:extLst>
          </p:nvPr>
        </p:nvGraphicFramePr>
        <p:xfrm>
          <a:off x="331006" y="4658948"/>
          <a:ext cx="4536511" cy="1454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7" name="Text Box 168">
            <a:extLst>
              <a:ext uri="{FF2B5EF4-FFF2-40B4-BE49-F238E27FC236}">
                <a16:creationId xmlns:a16="http://schemas.microsoft.com/office/drawing/2014/main" id="{04219D56-9E13-C0E4-748B-57C87C154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88" y="4723049"/>
            <a:ext cx="665184" cy="123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z="800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z="800" spc="-50" dirty="0">
                <a:solidFill>
                  <a:schemeClr val="tx1"/>
                </a:solidFill>
                <a:latin typeface="+mj-ea"/>
                <a:ea typeface="+mj-ea"/>
              </a:rPr>
              <a:t>점 환산 평균</a:t>
            </a:r>
            <a:endParaRPr lang="en-US" altLang="ko-KR" sz="800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36818486-7F45-3F20-90FD-55FE18B0E62E}"/>
              </a:ext>
            </a:extLst>
          </p:cNvPr>
          <p:cNvGrpSpPr/>
          <p:nvPr/>
        </p:nvGrpSpPr>
        <p:grpSpPr>
          <a:xfrm>
            <a:off x="360324" y="4958712"/>
            <a:ext cx="4481547" cy="180957"/>
            <a:chOff x="5000932" y="2888043"/>
            <a:chExt cx="3841678" cy="180957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0B2028FC-3FB2-C67D-B43F-C98C1A99ABA2}"/>
                </a:ext>
              </a:extLst>
            </p:cNvPr>
            <p:cNvSpPr/>
            <p:nvPr/>
          </p:nvSpPr>
          <p:spPr bwMode="auto">
            <a:xfrm>
              <a:off x="5164172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B29F22B5-9BDF-82BC-A197-01DAC3CEA216}"/>
                </a:ext>
              </a:extLst>
            </p:cNvPr>
            <p:cNvSpPr/>
            <p:nvPr/>
          </p:nvSpPr>
          <p:spPr bwMode="auto">
            <a:xfrm>
              <a:off x="5711878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9E05908-B76E-4440-C45C-9506884BFF87}"/>
                </a:ext>
              </a:extLst>
            </p:cNvPr>
            <p:cNvSpPr/>
            <p:nvPr/>
          </p:nvSpPr>
          <p:spPr bwMode="auto">
            <a:xfrm>
              <a:off x="6259583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5806B63E-0825-1745-FEC5-B3A0E86E8E3B}"/>
                </a:ext>
              </a:extLst>
            </p:cNvPr>
            <p:cNvSpPr/>
            <p:nvPr/>
          </p:nvSpPr>
          <p:spPr bwMode="auto">
            <a:xfrm>
              <a:off x="6807290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977DA9CC-9744-719D-52CE-6E78FB566175}"/>
                </a:ext>
              </a:extLst>
            </p:cNvPr>
            <p:cNvSpPr/>
            <p:nvPr/>
          </p:nvSpPr>
          <p:spPr bwMode="auto">
            <a:xfrm>
              <a:off x="7354997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43BBB992-9B81-52B4-3839-5B7114F3E494}"/>
                </a:ext>
              </a:extLst>
            </p:cNvPr>
            <p:cNvSpPr/>
            <p:nvPr/>
          </p:nvSpPr>
          <p:spPr bwMode="auto">
            <a:xfrm>
              <a:off x="8450410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4D489C23-259C-2FF9-1B60-33C2CB4CAA8B}"/>
                </a:ext>
              </a:extLst>
            </p:cNvPr>
            <p:cNvSpPr/>
            <p:nvPr/>
          </p:nvSpPr>
          <p:spPr bwMode="auto">
            <a:xfrm>
              <a:off x="7902703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96" name="Group 3">
              <a:extLst>
                <a:ext uri="{FF2B5EF4-FFF2-40B4-BE49-F238E27FC236}">
                  <a16:creationId xmlns:a16="http://schemas.microsoft.com/office/drawing/2014/main" id="{DC255F52-948F-110B-E5A1-BAA9BE3BDBC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84922398"/>
                </p:ext>
              </p:extLst>
            </p:nvPr>
          </p:nvGraphicFramePr>
          <p:xfrm>
            <a:off x="5000932" y="2888043"/>
            <a:ext cx="3841678" cy="180957"/>
          </p:xfrm>
          <a:graphic>
            <a:graphicData uri="http://schemas.openxmlformats.org/drawingml/2006/table">
              <a:tbl>
                <a:tblPr/>
                <a:tblGrid>
                  <a:gridCol w="64022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86.7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83.9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81.9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84.2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87.1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86.4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A542BDBE-F3DF-7056-A166-70EDC6524B0E}"/>
              </a:ext>
            </a:extLst>
          </p:cNvPr>
          <p:cNvSpPr/>
          <p:nvPr/>
        </p:nvSpPr>
        <p:spPr bwMode="auto">
          <a:xfrm>
            <a:off x="5038997" y="4432121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접촉 여행지 방문 의향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8E00098B-3906-DD52-6DEE-26B7E64552B7}"/>
              </a:ext>
            </a:extLst>
          </p:cNvPr>
          <p:cNvSpPr/>
          <p:nvPr/>
        </p:nvSpPr>
        <p:spPr bwMode="auto">
          <a:xfrm>
            <a:off x="345000" y="4429237"/>
            <a:ext cx="1559344" cy="226827"/>
          </a:xfrm>
          <a:prstGeom prst="roundRect">
            <a:avLst>
              <a:gd name="adj" fmla="val 50000"/>
            </a:avLst>
          </a:prstGeom>
          <a:solidFill>
            <a:srgbClr val="2E8ED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800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379" latinLnBrk="0">
              <a:defRPr lang="ko-KR" altLang="en-US" sz="800" b="0" i="0" u="none" strike="noStrike" kern="1200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ko-KR" altLang="en-US" sz="11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국내 여행의향</a:t>
            </a:r>
            <a:endParaRPr lang="en-US" altLang="ko-KR" sz="110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75FFA716-15C4-AF66-DBF9-01C519CA7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483502"/>
              </p:ext>
            </p:extLst>
          </p:nvPr>
        </p:nvGraphicFramePr>
        <p:xfrm>
          <a:off x="5030744" y="2841028"/>
          <a:ext cx="4481547" cy="1454686"/>
        </p:xfrm>
        <a:graphic>
          <a:graphicData uri="http://schemas.openxmlformats.org/drawingml/2006/table">
            <a:tbl>
              <a:tblPr/>
              <a:tblGrid>
                <a:gridCol w="6402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9925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기혼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미혼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미응답</a:t>
                      </a:r>
                      <a:endParaRPr lang="ko-KR" altLang="en-US" sz="8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없음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r>
                        <a:rPr lang="ko-KR" altLang="en-US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 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49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(6,606)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(5,036)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(2,426)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(2,893)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210">
                <a:tc gridSpan="3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결혼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자녀여부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2" name="세로챠트-일반">
            <a:extLst>
              <a:ext uri="{FF2B5EF4-FFF2-40B4-BE49-F238E27FC236}">
                <a16:creationId xmlns:a16="http://schemas.microsoft.com/office/drawing/2014/main" id="{45A8F6B9-43A8-113D-9373-140DEEC6D6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8650299"/>
              </p:ext>
            </p:extLst>
          </p:nvPr>
        </p:nvGraphicFramePr>
        <p:xfrm>
          <a:off x="5017262" y="2357012"/>
          <a:ext cx="4536511" cy="1454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3" name="Text Box 168">
            <a:extLst>
              <a:ext uri="{FF2B5EF4-FFF2-40B4-BE49-F238E27FC236}">
                <a16:creationId xmlns:a16="http://schemas.microsoft.com/office/drawing/2014/main" id="{A123B766-2399-0180-64C9-0E0B67C22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5744" y="2421113"/>
            <a:ext cx="665184" cy="123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z="800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z="800" spc="-50" dirty="0">
                <a:solidFill>
                  <a:schemeClr val="tx1"/>
                </a:solidFill>
                <a:latin typeface="+mj-ea"/>
                <a:ea typeface="+mj-ea"/>
              </a:rPr>
              <a:t>점 환산 평균</a:t>
            </a:r>
            <a:endParaRPr lang="en-US" altLang="ko-KR" sz="800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58E35D64-B366-2E56-EBE1-4BFBCBCC144C}"/>
              </a:ext>
            </a:extLst>
          </p:cNvPr>
          <p:cNvGrpSpPr/>
          <p:nvPr/>
        </p:nvGrpSpPr>
        <p:grpSpPr>
          <a:xfrm>
            <a:off x="5046580" y="2656776"/>
            <a:ext cx="4481547" cy="180957"/>
            <a:chOff x="5000932" y="2888043"/>
            <a:chExt cx="3841678" cy="180957"/>
          </a:xfrm>
        </p:grpSpPr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98D6342C-AFC9-2997-DEE1-6FFA3D7A926F}"/>
                </a:ext>
              </a:extLst>
            </p:cNvPr>
            <p:cNvSpPr/>
            <p:nvPr/>
          </p:nvSpPr>
          <p:spPr bwMode="auto">
            <a:xfrm>
              <a:off x="5164172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C3F0E71A-D119-5CFA-8613-2AF8A6151EEE}"/>
                </a:ext>
              </a:extLst>
            </p:cNvPr>
            <p:cNvSpPr/>
            <p:nvPr/>
          </p:nvSpPr>
          <p:spPr bwMode="auto">
            <a:xfrm>
              <a:off x="5711878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32AAF583-E32B-8C10-5364-2A572738B1FB}"/>
                </a:ext>
              </a:extLst>
            </p:cNvPr>
            <p:cNvSpPr/>
            <p:nvPr/>
          </p:nvSpPr>
          <p:spPr bwMode="auto">
            <a:xfrm>
              <a:off x="6259583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98058373-022E-EE26-8A56-281E6C3C9A68}"/>
                </a:ext>
              </a:extLst>
            </p:cNvPr>
            <p:cNvSpPr/>
            <p:nvPr/>
          </p:nvSpPr>
          <p:spPr bwMode="auto">
            <a:xfrm>
              <a:off x="6807290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80784095-3A9A-F632-0241-7396BBA69DC2}"/>
                </a:ext>
              </a:extLst>
            </p:cNvPr>
            <p:cNvSpPr/>
            <p:nvPr/>
          </p:nvSpPr>
          <p:spPr bwMode="auto">
            <a:xfrm>
              <a:off x="7354997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589FF2AB-1FE1-6413-0B32-8E87F8D54B65}"/>
                </a:ext>
              </a:extLst>
            </p:cNvPr>
            <p:cNvSpPr/>
            <p:nvPr/>
          </p:nvSpPr>
          <p:spPr bwMode="auto">
            <a:xfrm>
              <a:off x="8450410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2D0B629A-471D-9F97-8379-D4B58B9725D9}"/>
                </a:ext>
              </a:extLst>
            </p:cNvPr>
            <p:cNvSpPr/>
            <p:nvPr/>
          </p:nvSpPr>
          <p:spPr bwMode="auto">
            <a:xfrm>
              <a:off x="7902703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132" name="Group 3">
              <a:extLst>
                <a:ext uri="{FF2B5EF4-FFF2-40B4-BE49-F238E27FC236}">
                  <a16:creationId xmlns:a16="http://schemas.microsoft.com/office/drawing/2014/main" id="{46168704-84A3-DD3E-784A-EFB21BB8B5B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51714409"/>
                </p:ext>
              </p:extLst>
            </p:nvPr>
          </p:nvGraphicFramePr>
          <p:xfrm>
            <a:off x="5000932" y="2888043"/>
            <a:ext cx="3841678" cy="180957"/>
          </p:xfrm>
          <a:graphic>
            <a:graphicData uri="http://schemas.openxmlformats.org/drawingml/2006/table">
              <a:tbl>
                <a:tblPr/>
                <a:tblGrid>
                  <a:gridCol w="64022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85.4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82.7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79.8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82.8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86.0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85.4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84.3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aphicFrame>
        <p:nvGraphicFramePr>
          <p:cNvPr id="133" name="표 132">
            <a:extLst>
              <a:ext uri="{FF2B5EF4-FFF2-40B4-BE49-F238E27FC236}">
                <a16:creationId xmlns:a16="http://schemas.microsoft.com/office/drawing/2014/main" id="{980DC664-F18A-594E-81A9-BF216EA10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187207"/>
              </p:ext>
            </p:extLst>
          </p:nvPr>
        </p:nvGraphicFramePr>
        <p:xfrm>
          <a:off x="5030744" y="5142964"/>
          <a:ext cx="4481547" cy="1454686"/>
        </p:xfrm>
        <a:graphic>
          <a:graphicData uri="http://schemas.openxmlformats.org/drawingml/2006/table">
            <a:tbl>
              <a:tblPr/>
              <a:tblGrid>
                <a:gridCol w="64022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822986187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2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99256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7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기혼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미혼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미응답</a:t>
                      </a:r>
                      <a:endParaRPr lang="ko-KR" altLang="en-US" sz="8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없음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r>
                        <a:rPr lang="ko-KR" altLang="en-US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r>
                        <a:rPr lang="ko-KR" altLang="en-US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명 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49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(6,606)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(5,036)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(332)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(6,128)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(2,426)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(2,893)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ko-KR" sz="8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(527)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210">
                <a:tc gridSpan="3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결혼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ko-KR" altLang="en-US" sz="900" b="0" i="0" u="none" strike="noStrike" kern="12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자녀여부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endParaRPr lang="ko-KR" altLang="en-US" sz="1000" b="0" i="0" u="none" strike="noStrike" kern="12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58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4" name="세로챠트-일반">
            <a:extLst>
              <a:ext uri="{FF2B5EF4-FFF2-40B4-BE49-F238E27FC236}">
                <a16:creationId xmlns:a16="http://schemas.microsoft.com/office/drawing/2014/main" id="{34553120-EC8F-C7A4-63F1-8D9B570FE8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8010672"/>
              </p:ext>
            </p:extLst>
          </p:nvPr>
        </p:nvGraphicFramePr>
        <p:xfrm>
          <a:off x="5017262" y="4658948"/>
          <a:ext cx="4536511" cy="1454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5" name="Text Box 168">
            <a:extLst>
              <a:ext uri="{FF2B5EF4-FFF2-40B4-BE49-F238E27FC236}">
                <a16:creationId xmlns:a16="http://schemas.microsoft.com/office/drawing/2014/main" id="{D2B1BC8B-665E-E828-3FE1-F75B41475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5744" y="4723049"/>
            <a:ext cx="665184" cy="123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sz="800" spc="-5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  <a:r>
              <a:rPr lang="ko-KR" altLang="en-US" sz="800" spc="-50" dirty="0">
                <a:solidFill>
                  <a:schemeClr val="tx1"/>
                </a:solidFill>
                <a:latin typeface="+mj-ea"/>
                <a:ea typeface="+mj-ea"/>
              </a:rPr>
              <a:t>점 환산 평균</a:t>
            </a:r>
            <a:endParaRPr lang="en-US" altLang="ko-KR" sz="800" spc="-5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8F645418-6079-539F-8F3B-21764317CCE6}"/>
              </a:ext>
            </a:extLst>
          </p:cNvPr>
          <p:cNvGrpSpPr/>
          <p:nvPr/>
        </p:nvGrpSpPr>
        <p:grpSpPr>
          <a:xfrm>
            <a:off x="5046580" y="4958712"/>
            <a:ext cx="4481547" cy="180957"/>
            <a:chOff x="5000932" y="2888043"/>
            <a:chExt cx="3841678" cy="180957"/>
          </a:xfrm>
        </p:grpSpPr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BDC5B998-56DA-73CE-B020-3C0C86E531E8}"/>
                </a:ext>
              </a:extLst>
            </p:cNvPr>
            <p:cNvSpPr/>
            <p:nvPr/>
          </p:nvSpPr>
          <p:spPr bwMode="auto">
            <a:xfrm>
              <a:off x="5164172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9DB8D9D5-F993-D5FB-1879-9E825C2C2B9F}"/>
                </a:ext>
              </a:extLst>
            </p:cNvPr>
            <p:cNvSpPr/>
            <p:nvPr/>
          </p:nvSpPr>
          <p:spPr bwMode="auto">
            <a:xfrm>
              <a:off x="5711878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E79BCABC-1CFD-82BC-A950-1A925AFDDA3D}"/>
                </a:ext>
              </a:extLst>
            </p:cNvPr>
            <p:cNvSpPr/>
            <p:nvPr/>
          </p:nvSpPr>
          <p:spPr bwMode="auto">
            <a:xfrm>
              <a:off x="6259583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21EFB47B-46F8-D6D0-31B2-9885521A1C33}"/>
                </a:ext>
              </a:extLst>
            </p:cNvPr>
            <p:cNvSpPr/>
            <p:nvPr/>
          </p:nvSpPr>
          <p:spPr bwMode="auto">
            <a:xfrm>
              <a:off x="6807290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C2748398-472C-AB29-329F-47C96EC4BB63}"/>
                </a:ext>
              </a:extLst>
            </p:cNvPr>
            <p:cNvSpPr/>
            <p:nvPr/>
          </p:nvSpPr>
          <p:spPr bwMode="auto">
            <a:xfrm>
              <a:off x="7354997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4439BAB5-E9C4-CB60-E58B-06B5678CE4E2}"/>
                </a:ext>
              </a:extLst>
            </p:cNvPr>
            <p:cNvSpPr/>
            <p:nvPr/>
          </p:nvSpPr>
          <p:spPr bwMode="auto">
            <a:xfrm>
              <a:off x="8450410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89F68600-5708-75DE-C24E-8C46DD33A849}"/>
                </a:ext>
              </a:extLst>
            </p:cNvPr>
            <p:cNvSpPr/>
            <p:nvPr/>
          </p:nvSpPr>
          <p:spPr bwMode="auto">
            <a:xfrm>
              <a:off x="7902703" y="2888905"/>
              <a:ext cx="243314" cy="145695"/>
            </a:xfrm>
            <a:prstGeom prst="roundRect">
              <a:avLst/>
            </a:prstGeom>
            <a:solidFill>
              <a:srgbClr val="FFE285">
                <a:alpha val="58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graphicFrame>
          <p:nvGraphicFramePr>
            <p:cNvPr id="144" name="Group 3">
              <a:extLst>
                <a:ext uri="{FF2B5EF4-FFF2-40B4-BE49-F238E27FC236}">
                  <a16:creationId xmlns:a16="http://schemas.microsoft.com/office/drawing/2014/main" id="{839E7237-875D-505E-0172-C5504DDFB6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21304052"/>
                </p:ext>
              </p:extLst>
            </p:nvPr>
          </p:nvGraphicFramePr>
          <p:xfrm>
            <a:off x="5000932" y="2888043"/>
            <a:ext cx="3841678" cy="180957"/>
          </p:xfrm>
          <a:graphic>
            <a:graphicData uri="http://schemas.openxmlformats.org/drawingml/2006/table">
              <a:tbl>
                <a:tblPr/>
                <a:tblGrid>
                  <a:gridCol w="64022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1945034770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369328352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3428050138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237413469"/>
                      </a:ext>
                    </a:extLst>
                  </a:gridCol>
                  <a:gridCol w="640221">
                    <a:extLst>
                      <a:ext uri="{9D8B030D-6E8A-4147-A177-3AD203B41FA5}">
                        <a16:colId xmlns:a16="http://schemas.microsoft.com/office/drawing/2014/main" val="1958200692"/>
                      </a:ext>
                    </a:extLst>
                  </a:gridCol>
                </a:tblGrid>
                <a:tr h="180957"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86.6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84.0</a:t>
                        </a:r>
                      </a:p>
                    </a:txBody>
                    <a:tcPr marL="9525" marR="9525" marT="9525" marB="0" anchor="ctr">
                      <a:lnL cap="flat">
                        <a:noFill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81.9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84.2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86.9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86.4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1007995" rtl="0" eaLnBrk="1" fontAlgn="t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000" b="1" i="0" u="none" strike="noStrike" kern="1200" spc="-50" baseline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r>
                          <a:rPr lang="en-US" altLang="ko-KR" sz="900" b="1" i="0" u="none" strike="noStrike" kern="1200" spc="-50" baseline="0" dirty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a:t>86.2</a:t>
                        </a:r>
                      </a:p>
                    </a:txBody>
                    <a:tcPr marL="9525" marR="9525" marT="9525" marB="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146" name="그림 145">
            <a:extLst>
              <a:ext uri="{FF2B5EF4-FFF2-40B4-BE49-F238E27FC236}">
                <a16:creationId xmlns:a16="http://schemas.microsoft.com/office/drawing/2014/main" id="{E961FE04-E944-D0B7-B386-9C34A36A391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57174" y="2612558"/>
            <a:ext cx="338236" cy="248752"/>
          </a:xfrm>
          <a:prstGeom prst="rect">
            <a:avLst/>
          </a:prstGeom>
        </p:spPr>
      </p:pic>
      <p:pic>
        <p:nvPicPr>
          <p:cNvPr id="147" name="그림 146">
            <a:extLst>
              <a:ext uri="{FF2B5EF4-FFF2-40B4-BE49-F238E27FC236}">
                <a16:creationId xmlns:a16="http://schemas.microsoft.com/office/drawing/2014/main" id="{FAABD8F4-E23E-0875-3998-55678E0247F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9234" y="2612558"/>
            <a:ext cx="338236" cy="248752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524E98A6-1CF8-3FC5-6E47-78F15D0F65A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80202" y="2612558"/>
            <a:ext cx="338236" cy="248752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BC8A8A55-5285-DEF4-377C-9BC014AD094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765540" y="2612558"/>
            <a:ext cx="338236" cy="248752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8872557C-CA3E-343D-FBBA-2192130230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9234" y="4924814"/>
            <a:ext cx="338236" cy="248752"/>
          </a:xfrm>
          <a:prstGeom prst="rect">
            <a:avLst/>
          </a:prstGeom>
        </p:spPr>
      </p:pic>
      <p:pic>
        <p:nvPicPr>
          <p:cNvPr id="151" name="그림 150">
            <a:extLst>
              <a:ext uri="{FF2B5EF4-FFF2-40B4-BE49-F238E27FC236}">
                <a16:creationId xmlns:a16="http://schemas.microsoft.com/office/drawing/2014/main" id="{F1B45558-F25D-4EC2-CCED-EFAFC34AC72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79284" y="4924814"/>
            <a:ext cx="338236" cy="248752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81DE4110-0077-EF8F-437D-1F439D83F15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80202" y="4924814"/>
            <a:ext cx="338236" cy="248752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14D87DAA-E8B8-90A0-B553-6D99124F72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765449" y="4924814"/>
            <a:ext cx="338236" cy="248752"/>
          </a:xfrm>
          <a:prstGeom prst="rect">
            <a:avLst/>
          </a:prstGeom>
        </p:spPr>
      </p:pic>
      <p:sp>
        <p:nvSpPr>
          <p:cNvPr id="5" name="Text Box 168">
            <a:extLst>
              <a:ext uri="{FF2B5EF4-FFF2-40B4-BE49-F238E27FC236}">
                <a16:creationId xmlns:a16="http://schemas.microsoft.com/office/drawing/2014/main" id="{8DC0CCBE-C2F4-5C17-C34A-ABBD7ABBF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6668671"/>
            <a:ext cx="2390473" cy="1384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r" fontAlgn="base" latinLnBrk="0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 fontAlgn="base" latinLnBrk="0"/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[Base: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전체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(n=11,974),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단위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%,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(100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점 환산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41007864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E0007-C95B-6704-10A6-7FA8A2CB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5AADB-5980-AD08-0766-7FD562598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5B95C7-B584-C6D1-FB0A-A1E416C7E6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60"/>
          <a:stretch/>
        </p:blipFill>
        <p:spPr>
          <a:xfrm>
            <a:off x="633413" y="837000"/>
            <a:ext cx="8639175" cy="577944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48256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74A52-3CD2-16E7-E30A-5A1EC5E4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C62D0-7EDF-C0B6-0B23-16FACD5A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75529A-9207-88C5-8CD0-732679D8D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" y="836612"/>
            <a:ext cx="8639175" cy="57610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517859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E9113-8116-0D18-8C9C-5F7BBD38E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FE62B-82D3-F2B9-C133-1EF7EBED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5D4151-5C05-FEF2-6F0F-FDBF96988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00" y="837000"/>
            <a:ext cx="8625000" cy="57606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57028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BB02C-2A3D-D59C-7ADF-77A0FEAB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4D649-3039-4367-1749-BFB07772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91A249-993D-4E87-4AE6-D5B0FCFF8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" y="836613"/>
            <a:ext cx="8639175" cy="57610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716842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B2016-BFEC-D940-E7A5-117C2676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56928-FD08-4542-6473-7EF2A143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5964C9-70C6-8916-7CCB-F47A7D09C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" y="836613"/>
            <a:ext cx="8639176" cy="57610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032056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4349-CC25-9132-8677-FD3C25AF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9AC90-E3AE-ABC1-DC06-682829B2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E24813-0E75-0134-32C5-B64897442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" y="836613"/>
            <a:ext cx="8639176" cy="57610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189843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5B08A-4BA2-39B4-EDDC-8DEFB0CD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F2606-CD62-79D7-DEDA-B8172A69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851FFC-456E-166D-97CE-5FCF58D76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" y="836613"/>
            <a:ext cx="8639175" cy="57610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58695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A16C-F8BD-4DD5-D938-169BDE258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CD6FA-7B21-F25C-F6D4-58FF20F0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01F0E8-6D98-0233-F526-4945905DC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" y="836613"/>
            <a:ext cx="8639176" cy="57610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229035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8E62-9E58-45F5-9E2F-19E723953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54A68-AB94-E30A-D0D9-09B1E7366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AB0604-1814-AA2B-B5D5-19680C22D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" y="836613"/>
            <a:ext cx="8639175" cy="576103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355129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B2D4-AD3B-AF2F-8C07-484150C2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66D6B-A352-3369-DF62-2FAF91A63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120079"/>
            <a:ext cx="1433406" cy="461665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조사표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9F490C-630D-3D1C-BC45-275C7A53D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" y="862991"/>
            <a:ext cx="8639176" cy="57346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911681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68B822-24CF-2ACF-6004-9FC26D0A9F55}"/>
              </a:ext>
            </a:extLst>
          </p:cNvPr>
          <p:cNvSpPr txBox="1"/>
          <p:nvPr/>
        </p:nvSpPr>
        <p:spPr>
          <a:xfrm>
            <a:off x="2830860" y="2853000"/>
            <a:ext cx="42420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600" dirty="0">
                <a:ln>
                  <a:solidFill>
                    <a:srgbClr val="AACF1C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THANK YOU SO MUCH</a:t>
            </a:r>
            <a:endParaRPr lang="ko-KR" altLang="en-US" sz="2600" dirty="0">
              <a:ln>
                <a:solidFill>
                  <a:srgbClr val="AACF1C">
                    <a:alpha val="0"/>
                  </a:srgbClr>
                </a:solidFill>
              </a:ln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9956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KoPub돋움체 Bold"/>
        <a:ea typeface="KoPub돋움체 Bold"/>
        <a:cs typeface=""/>
      </a:majorFont>
      <a:minorFont>
        <a:latin typeface="KoPub돋움체 Bold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5875">
          <a:solidFill>
            <a:schemeClr val="bg1">
              <a:lumMod val="65000"/>
            </a:schemeClr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265709BDE2F2A469EAFFD726D9D54BD" ma:contentTypeVersion="18" ma:contentTypeDescription="새 문서를 만듭니다." ma:contentTypeScope="" ma:versionID="c122e967f2339b7fee3d11c9fc5fa1cb">
  <xsd:schema xmlns:xsd="http://www.w3.org/2001/XMLSchema" xmlns:xs="http://www.w3.org/2001/XMLSchema" xmlns:p="http://schemas.microsoft.com/office/2006/metadata/properties" xmlns:ns3="e65f650f-a7f4-466e-a94a-b0e3dea3e2d1" xmlns:ns4="f1dda105-2bd4-435e-814b-a1676b207d70" targetNamespace="http://schemas.microsoft.com/office/2006/metadata/properties" ma:root="true" ma:fieldsID="4c448bf115bc1acdd20cd3c1baf8a7a1" ns3:_="" ns4:_="">
    <xsd:import namespace="e65f650f-a7f4-466e-a94a-b0e3dea3e2d1"/>
    <xsd:import namespace="f1dda105-2bd4-435e-814b-a1676b207d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5f650f-a7f4-466e-a94a-b0e3dea3e2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da105-2bd4-435e-814b-a1676b207d7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5f650f-a7f4-466e-a94a-b0e3dea3e2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640341-DA7E-4ADE-8949-0ECBE9ED62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5f650f-a7f4-466e-a94a-b0e3dea3e2d1"/>
    <ds:schemaRef ds:uri="f1dda105-2bd4-435e-814b-a1676b207d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6F5846-39F9-489B-AC89-CD7905422F71}">
  <ds:schemaRefs>
    <ds:schemaRef ds:uri="f1dda105-2bd4-435e-814b-a1676b207d70"/>
    <ds:schemaRef ds:uri="http://schemas.openxmlformats.org/package/2006/metadata/core-properties"/>
    <ds:schemaRef ds:uri="e65f650f-a7f4-466e-a94a-b0e3dea3e2d1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B0264CD-36EE-40ED-A1DD-BC636852B7E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59e3379-f31b-4fc2-8d2b-0cebe247785c}" enabled="0" method="" siteId="{359e3379-f31b-4fc2-8d2b-0cebe24778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[GR 제안서] 2015년 일터혁신지수 조사</Template>
  <TotalTime>46809</TotalTime>
  <Words>10625</Words>
  <Application>Microsoft Office PowerPoint</Application>
  <PresentationFormat>A4 용지(210x297mm)</PresentationFormat>
  <Paragraphs>4118</Paragraphs>
  <Slides>71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84" baseType="lpstr">
      <vt:lpstr>Wingdings</vt:lpstr>
      <vt:lpstr>함초롬돋움</vt:lpstr>
      <vt:lpstr>Tahoma</vt:lpstr>
      <vt:lpstr>KoPub돋움체 Medium</vt:lpstr>
      <vt:lpstr>KoPubWorld돋움체 Bold</vt:lpstr>
      <vt:lpstr>맑은 고딕</vt:lpstr>
      <vt:lpstr>맑은 고딕 Semilight</vt:lpstr>
      <vt:lpstr>Arial</vt:lpstr>
      <vt:lpstr>현대하모니 B</vt:lpstr>
      <vt:lpstr>굴림</vt:lpstr>
      <vt:lpstr>KoPub돋움체 Bold</vt:lpstr>
      <vt:lpstr>Calibri Light</vt:lpstr>
      <vt:lpstr>Office 테마</vt:lpstr>
      <vt:lpstr>PowerPoint 프레젠테이션</vt:lpstr>
      <vt:lpstr>PowerPoint 프레젠테이션</vt:lpstr>
      <vt:lpstr>조사 개요</vt:lpstr>
      <vt:lpstr>1. 조사 목적 및 설계 </vt:lpstr>
      <vt:lpstr>2. 응답자 현황</vt:lpstr>
      <vt:lpstr>주요 조사 내용</vt:lpstr>
      <vt:lpstr>1. 국내 여행 정보 수집 과정</vt:lpstr>
      <vt:lpstr>1. 국내 여행 정보 수집 과정</vt:lpstr>
      <vt:lpstr>1. 국내 여행 정보 수집 과정</vt:lpstr>
      <vt:lpstr>주요 조사 내용</vt:lpstr>
      <vt:lpstr>2.1 대한민국 구석구석_홈페이지/앱 이용 현황</vt:lpstr>
      <vt:lpstr>2.1 대한민국 구석구석_홈페이지/앱 이용 현황</vt:lpstr>
      <vt:lpstr>2.1 대한민국 구석구석_홈페이지/앱 이용 현황</vt:lpstr>
      <vt:lpstr>2.1 대한민국 구석구석_홈페이지/앱 이용 현황</vt:lpstr>
      <vt:lpstr>2.1 대한민국 구석구석_홈페이지/앱 이용 현황</vt:lpstr>
      <vt:lpstr>2.1 대한민국 구석구석_홈페이지/앱 이용 현황</vt:lpstr>
      <vt:lpstr>주요 조사 내용</vt:lpstr>
      <vt:lpstr>2.2 대한민국 구석구석_SNS 이용 현황</vt:lpstr>
      <vt:lpstr>2.2 대한민국 구석구석_SNS 이용 현황</vt:lpstr>
      <vt:lpstr>2.2 대한민국 구석구석_SNS 이용 현황</vt:lpstr>
      <vt:lpstr>2.2 대한민국 구석구석_SNS 이용 현황</vt:lpstr>
      <vt:lpstr>주요 조사 내용</vt:lpstr>
      <vt:lpstr>3. 대한민국 구석구석 서비스만족도</vt:lpstr>
      <vt:lpstr>3. 대한민국 구석구석 서비스만족도</vt:lpstr>
      <vt:lpstr>3. 대한민국 구석구석 서비스만족도</vt:lpstr>
      <vt:lpstr>3. 대한민국 구석구석 서비스만족도</vt:lpstr>
      <vt:lpstr>3. 대한민국 구석구석 서비스만족도</vt:lpstr>
      <vt:lpstr>3. 대한민국 구석구석 서비스만족도</vt:lpstr>
      <vt:lpstr>3. 대한민국 구석구석 서비스만족도</vt:lpstr>
      <vt:lpstr>3. 대한민국 구석구석 서비스만족도</vt:lpstr>
      <vt:lpstr>3. 대한민국 구석구석 서비스만족도</vt:lpstr>
      <vt:lpstr>주요 조사 내용</vt:lpstr>
      <vt:lpstr>4. 대한민국 구석구석 홈페이지/앱 콘텐츠 만족도</vt:lpstr>
      <vt:lpstr>4. 대한민국 구석구석 홈페이지/앱 콘텐츠 만족도</vt:lpstr>
      <vt:lpstr>4. 대한민국 구석구석 홈페이지/앱 콘텐츠 만족도</vt:lpstr>
      <vt:lpstr>4. 대한민국 구석구석 홈페이지/앱 콘텐츠 만족도</vt:lpstr>
      <vt:lpstr>4. 대한민국 구석구석 홈페이지/앱 콘텐츠 만족도</vt:lpstr>
      <vt:lpstr>4. 대한민국 구석구석 홈페이지/앱 콘텐츠 만족도</vt:lpstr>
      <vt:lpstr>4. 대한민국 구석구석 홈페이지/앱 콘텐츠 만족도</vt:lpstr>
      <vt:lpstr>4. 대한민국 구석구석 홈페이지/앱 콘텐츠 만족도</vt:lpstr>
      <vt:lpstr>4. 대한민국 구석구석 홈페이지/앱 콘텐츠 만족도</vt:lpstr>
      <vt:lpstr>4. 대한민국 구석구석 홈페이지/앱 콘텐츠 만족도</vt:lpstr>
      <vt:lpstr>4. 대한민국 구석구석 홈페이지/앱 콘텐츠 만족도</vt:lpstr>
      <vt:lpstr>주요 조사 내용</vt:lpstr>
      <vt:lpstr>5. 대한민국 구석구석 메인 화면 선호 의견</vt:lpstr>
      <vt:lpstr>조사 결과 요약</vt:lpstr>
      <vt:lpstr>1. 대한민국 구석구석 [홈페이지/앱] 이용 행태</vt:lpstr>
      <vt:lpstr>2. 대한민국 구석구석 [SNS] 이용 행태</vt:lpstr>
      <vt:lpstr>3. 대한민국 구석구석 이용 만족도</vt:lpstr>
      <vt:lpstr>4. 대한민국 구석구석 [홈페이지/앱] 사용편의성 평가</vt:lpstr>
      <vt:lpstr>5. 대한민국 구석구석 [홈페이지/앱] 콘텐츠 평가 1</vt:lpstr>
      <vt:lpstr>5. 대한민국 구석구석 [홈페이지/앱] 콘텐츠 평가 2</vt:lpstr>
      <vt:lpstr>Appendix</vt:lpstr>
      <vt:lpstr>1. 주요지표 Summary 5개년 Tracking_1</vt:lpstr>
      <vt:lpstr>1. 주요지표 Summary 5개년 Tracking_2</vt:lpstr>
      <vt:lpstr>1. 주요지표 Summary 5개년 Tracking_3</vt:lpstr>
      <vt:lpstr>2. 뉴스피드 내 정보성 콘텐츠 접촉 시 태도</vt:lpstr>
      <vt:lpstr>3. 주 이용 SNS</vt:lpstr>
      <vt:lpstr>4. 인스타그램 내 여행 채널별 선호 이유</vt:lpstr>
      <vt:lpstr>5. 결혼 및 자녀 여부</vt:lpstr>
      <vt:lpstr>6. 조사표 </vt:lpstr>
      <vt:lpstr>6. 조사표 </vt:lpstr>
      <vt:lpstr>6. 조사표 </vt:lpstr>
      <vt:lpstr>6. 조사표 </vt:lpstr>
      <vt:lpstr>6. 조사표 </vt:lpstr>
      <vt:lpstr>6. 조사표 </vt:lpstr>
      <vt:lpstr>6. 조사표 </vt:lpstr>
      <vt:lpstr>6. 조사표 </vt:lpstr>
      <vt:lpstr>6. 조사표 </vt:lpstr>
      <vt:lpstr>6. 조사표 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lyk</dc:creator>
  <cp:lastModifiedBy>황승현</cp:lastModifiedBy>
  <cp:revision>2399</cp:revision>
  <cp:lastPrinted>2024-12-19T02:28:07Z</cp:lastPrinted>
  <dcterms:created xsi:type="dcterms:W3CDTF">2015-04-01T00:25:52Z</dcterms:created>
  <dcterms:modified xsi:type="dcterms:W3CDTF">2024-12-24T02:35:52Z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0x0101006265709BDE2F2A469EAFFD726D9D54BD</vt:lpwstr>
  </property>
</Properties>
</file>